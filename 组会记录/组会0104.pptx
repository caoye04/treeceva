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97" r:id="rId2"/>
    <p:sldId id="327" r:id="rId3"/>
    <p:sldId id="368" r:id="rId4"/>
  </p:sldIdLst>
  <p:sldSz cx="12192000" cy="6858000"/>
  <p:notesSz cx="6858000" cy="9144000"/>
  <p:custDataLst>
    <p:tags r:id="rId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E5F6"/>
    <a:srgbClr val="FFFFFF"/>
    <a:srgbClr val="FBE3D6"/>
    <a:srgbClr val="F2CFEE"/>
    <a:srgbClr val="FFB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121" d="100"/>
          <a:sy n="121" d="100"/>
        </p:scale>
        <p:origin x="523"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7840E2-13A5-46A9-A265-C77FF1EECC77}" type="datetimeFigureOut">
              <a:rPr lang="zh-CN" altLang="en-US" smtClean="0"/>
              <a:t>2026/1/4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9686F9-7E47-4853-B8F4-FBCF71CB48D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99090" y="302697"/>
            <a:ext cx="7087197" cy="584775"/>
          </a:xfrm>
          <a:prstGeom prst="rect">
            <a:avLst/>
          </a:prstGeom>
          <a:noFill/>
        </p:spPr>
        <p:txBody>
          <a:bodyPr wrap="none" rtlCol="0">
            <a:spAutoFit/>
          </a:bodyPr>
          <a:lstStyle/>
          <a:p>
            <a:r>
              <a:rPr lang="zh-CN" altLang="en-US" sz="3200" dirty="0"/>
              <a:t>上周会议纪要：</a:t>
            </a:r>
            <a:r>
              <a:rPr lang="zh-CN" altLang="en-US" sz="3200" dirty="0">
                <a:sym typeface="+mn-ea"/>
              </a:rPr>
              <a:t>2025</a:t>
            </a:r>
            <a:r>
              <a:rPr lang="en-US" altLang="zh-CN" sz="3200" dirty="0">
                <a:sym typeface="+mn-ea"/>
              </a:rPr>
              <a:t>1225 </a:t>
            </a:r>
            <a:r>
              <a:rPr lang="zh-CN" altLang="en-US" sz="3200" dirty="0">
                <a:sym typeface="+mn-ea"/>
              </a:rPr>
              <a:t>会议纪要 </a:t>
            </a:r>
            <a:r>
              <a:rPr lang="en-US" altLang="zh-CN" sz="3200" dirty="0">
                <a:sym typeface="+mn-ea"/>
              </a:rPr>
              <a:t>12</a:t>
            </a:r>
          </a:p>
        </p:txBody>
      </p:sp>
      <p:sp>
        <p:nvSpPr>
          <p:cNvPr id="4" name="文本框 3"/>
          <p:cNvSpPr txBox="1"/>
          <p:nvPr/>
        </p:nvSpPr>
        <p:spPr>
          <a:xfrm>
            <a:off x="249752" y="1122986"/>
            <a:ext cx="11818620" cy="235378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2000" dirty="0">
                <a:latin typeface="+mn-ea"/>
                <a:cs typeface="+mn-ea"/>
                <a:sym typeface="+mn-ea"/>
              </a:rPr>
              <a:t>讨论后续发展方向</a:t>
            </a:r>
            <a:endParaRPr lang="en-US" altLang="zh-CN" sz="2000" dirty="0">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2000" b="0" dirty="0">
                <a:solidFill>
                  <a:schemeClr val="tx1"/>
                </a:solidFill>
                <a:latin typeface="+mn-ea"/>
                <a:cs typeface="+mn-ea"/>
                <a:sym typeface="+mn-ea"/>
              </a:rPr>
              <a:t>对</a:t>
            </a:r>
            <a:r>
              <a:rPr lang="en-US" altLang="zh-CN" sz="2000" b="0" dirty="0" err="1">
                <a:solidFill>
                  <a:schemeClr val="tx1"/>
                </a:solidFill>
                <a:latin typeface="+mn-ea"/>
                <a:cs typeface="+mn-ea"/>
                <a:sym typeface="+mn-ea"/>
              </a:rPr>
              <a:t>Semcoder</a:t>
            </a:r>
            <a:r>
              <a:rPr lang="zh-CN" altLang="en-US" sz="2000" b="0" dirty="0">
                <a:solidFill>
                  <a:schemeClr val="tx1"/>
                </a:solidFill>
                <a:latin typeface="+mn-ea"/>
                <a:cs typeface="+mn-ea"/>
                <a:sym typeface="+mn-ea"/>
              </a:rPr>
              <a:t>和</a:t>
            </a:r>
            <a:r>
              <a:rPr lang="en-US" altLang="zh-CN" sz="2000" b="0" dirty="0">
                <a:solidFill>
                  <a:schemeClr val="tx1"/>
                </a:solidFill>
                <a:latin typeface="+mn-ea"/>
                <a:cs typeface="+mn-ea"/>
                <a:sym typeface="+mn-ea"/>
              </a:rPr>
              <a:t>CodeReasoner</a:t>
            </a:r>
            <a:r>
              <a:rPr lang="zh-CN" altLang="en-US" sz="2000" b="0" dirty="0">
                <a:solidFill>
                  <a:schemeClr val="tx1"/>
                </a:solidFill>
                <a:latin typeface="+mn-ea"/>
                <a:cs typeface="+mn-ea"/>
                <a:sym typeface="+mn-ea"/>
              </a:rPr>
              <a:t>的方法论其实有一定参考性做了具体的方法论分析。</a:t>
            </a: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2000" b="0" dirty="0">
                <a:solidFill>
                  <a:schemeClr val="tx1"/>
                </a:solidFill>
                <a:latin typeface="+mn-ea"/>
                <a:cs typeface="+mn-ea"/>
                <a:sym typeface="+mn-ea"/>
              </a:rPr>
              <a:t>设计并确认了主实验，并稳步进行实验</a:t>
            </a:r>
            <a:endParaRPr lang="en-US" altLang="zh-CN" sz="20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2000" b="0" dirty="0">
                <a:solidFill>
                  <a:schemeClr val="tx1"/>
                </a:solidFill>
                <a:latin typeface="+mn-ea"/>
                <a:cs typeface="+mn-ea"/>
                <a:sym typeface="+mn-ea"/>
              </a:rPr>
              <a:t>多次调参试图提升模型表现</a:t>
            </a: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2000" dirty="0">
                <a:latin typeface="+mn-ea"/>
                <a:cs typeface="+mn-ea"/>
                <a:sym typeface="+mn-ea"/>
              </a:rPr>
              <a:t>后续再最多尝试一周，如果没有成效需要即使收手</a:t>
            </a:r>
            <a:endParaRPr lang="en-US" altLang="zh-CN" sz="2000" dirty="0">
              <a:latin typeface="+mn-ea"/>
              <a:cs typeface="+mn-ea"/>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7640" y="83622"/>
            <a:ext cx="2646878" cy="584775"/>
          </a:xfrm>
          <a:prstGeom prst="rect">
            <a:avLst/>
          </a:prstGeom>
          <a:noFill/>
        </p:spPr>
        <p:txBody>
          <a:bodyPr wrap="none" rtlCol="0">
            <a:spAutoFit/>
          </a:bodyPr>
          <a:lstStyle/>
          <a:p>
            <a:r>
              <a:rPr lang="zh-CN" altLang="en-US" sz="3200" dirty="0"/>
              <a:t>本周内容总结</a:t>
            </a:r>
          </a:p>
        </p:txBody>
      </p:sp>
      <p:graphicFrame>
        <p:nvGraphicFramePr>
          <p:cNvPr id="3" name="表格 2"/>
          <p:cNvGraphicFramePr>
            <a:graphicFrameLocks noGrp="1"/>
          </p:cNvGraphicFramePr>
          <p:nvPr>
            <p:custDataLst>
              <p:tags r:id="rId1"/>
            </p:custDataLst>
            <p:extLst>
              <p:ext uri="{D42A27DB-BD31-4B8C-83A1-F6EECF244321}">
                <p14:modId xmlns:p14="http://schemas.microsoft.com/office/powerpoint/2010/main" val="3606454952"/>
              </p:ext>
            </p:extLst>
          </p:nvPr>
        </p:nvGraphicFramePr>
        <p:xfrm>
          <a:off x="196850" y="668655"/>
          <a:ext cx="11798300" cy="5410527"/>
        </p:xfrm>
        <a:graphic>
          <a:graphicData uri="http://schemas.openxmlformats.org/drawingml/2006/table">
            <a:tbl>
              <a:tblPr firstRow="1" bandRow="1">
                <a:tableStyleId>{073A0DAA-6AF3-43AB-8588-CEC1D06C72B9}</a:tableStyleId>
              </a:tblPr>
              <a:tblGrid>
                <a:gridCol w="1210310">
                  <a:extLst>
                    <a:ext uri="{9D8B030D-6E8A-4147-A177-3AD203B41FA5}">
                      <a16:colId xmlns:a16="http://schemas.microsoft.com/office/drawing/2014/main" val="20000"/>
                    </a:ext>
                  </a:extLst>
                </a:gridCol>
                <a:gridCol w="10587990">
                  <a:extLst>
                    <a:ext uri="{9D8B030D-6E8A-4147-A177-3AD203B41FA5}">
                      <a16:colId xmlns:a16="http://schemas.microsoft.com/office/drawing/2014/main" val="20001"/>
                    </a:ext>
                  </a:extLst>
                </a:gridCol>
              </a:tblGrid>
              <a:tr h="2965124">
                <a:tc>
                  <a:txBody>
                    <a:bodyPr/>
                    <a:lstStyle/>
                    <a:p>
                      <a:pPr algn="ctr"/>
                      <a:r>
                        <a:rPr lang="zh-CN" altLang="en-US" sz="1800" b="0" dirty="0">
                          <a:solidFill>
                            <a:schemeClr val="tx1"/>
                          </a:solidFill>
                          <a:latin typeface="+mn-ea"/>
                          <a:ea typeface="+mn-ea"/>
                        </a:rPr>
                        <a:t>细节进展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1800" b="0" dirty="0">
                          <a:solidFill>
                            <a:schemeClr val="tx1"/>
                          </a:solidFill>
                          <a:latin typeface="+mn-ea"/>
                          <a:cs typeface="+mn-ea"/>
                          <a:sym typeface="+mn-ea"/>
                        </a:rPr>
                        <a:t>[NEW] </a:t>
                      </a:r>
                      <a:r>
                        <a:rPr lang="zh-CN" altLang="en-US" sz="1800" b="0" dirty="0">
                          <a:solidFill>
                            <a:schemeClr val="tx1"/>
                          </a:solidFill>
                          <a:latin typeface="+mn-ea"/>
                          <a:cs typeface="+mn-ea"/>
                          <a:sym typeface="+mn-ea"/>
                        </a:rPr>
                        <a:t>尝试对之前的</a:t>
                      </a:r>
                      <a:r>
                        <a:rPr lang="en-US" altLang="zh-CN" sz="1800" b="0" dirty="0">
                          <a:solidFill>
                            <a:schemeClr val="tx1"/>
                          </a:solidFill>
                          <a:latin typeface="+mn-ea"/>
                          <a:cs typeface="+mn-ea"/>
                          <a:sym typeface="+mn-ea"/>
                        </a:rPr>
                        <a:t>235</a:t>
                      </a:r>
                      <a:r>
                        <a:rPr lang="zh-CN" altLang="en-US" sz="1800" b="0" dirty="0">
                          <a:solidFill>
                            <a:schemeClr val="tx1"/>
                          </a:solidFill>
                          <a:latin typeface="+mn-ea"/>
                          <a:cs typeface="+mn-ea"/>
                          <a:sym typeface="+mn-ea"/>
                        </a:rPr>
                        <a:t>条高难数据集做高难增广，增广出</a:t>
                      </a:r>
                      <a:r>
                        <a:rPr lang="en-US" altLang="zh-CN" sz="1800" b="0" dirty="0">
                          <a:solidFill>
                            <a:schemeClr val="tx1"/>
                          </a:solidFill>
                          <a:latin typeface="+mn-ea"/>
                          <a:cs typeface="+mn-ea"/>
                          <a:sym typeface="+mn-ea"/>
                        </a:rPr>
                        <a:t>1w5</a:t>
                      </a:r>
                      <a:r>
                        <a:rPr lang="zh-CN" altLang="en-US" sz="1800" b="0" dirty="0">
                          <a:solidFill>
                            <a:schemeClr val="tx1"/>
                          </a:solidFill>
                          <a:latin typeface="+mn-ea"/>
                          <a:cs typeface="+mn-ea"/>
                          <a:sym typeface="+mn-ea"/>
                        </a:rPr>
                        <a:t>条原始</a:t>
                      </a:r>
                      <a:r>
                        <a:rPr lang="en-US" altLang="zh-CN" sz="1800" b="0" dirty="0">
                          <a:solidFill>
                            <a:schemeClr val="tx1"/>
                          </a:solidFill>
                          <a:latin typeface="+mn-ea"/>
                          <a:cs typeface="+mn-ea"/>
                          <a:sym typeface="+mn-ea"/>
                        </a:rPr>
                        <a:t>code</a:t>
                      </a:r>
                      <a:r>
                        <a:rPr lang="zh-CN" altLang="en-US" sz="1800" b="0" dirty="0">
                          <a:solidFill>
                            <a:schemeClr val="tx1"/>
                          </a:solidFill>
                          <a:latin typeface="+mn-ea"/>
                          <a:cs typeface="+mn-ea"/>
                          <a:sym typeface="+mn-ea"/>
                        </a:rPr>
                        <a:t>，最终产出</a:t>
                      </a:r>
                      <a:r>
                        <a:rPr lang="en-US" altLang="zh-CN" sz="1800" b="0" dirty="0">
                          <a:solidFill>
                            <a:schemeClr val="tx1"/>
                          </a:solidFill>
                          <a:latin typeface="+mn-ea"/>
                          <a:cs typeface="+mn-ea"/>
                          <a:sym typeface="+mn-ea"/>
                        </a:rPr>
                        <a:t>6600</a:t>
                      </a:r>
                      <a:r>
                        <a:rPr lang="zh-CN" altLang="en-US" sz="1800" b="0" dirty="0">
                          <a:solidFill>
                            <a:schemeClr val="tx1"/>
                          </a:solidFill>
                          <a:latin typeface="+mn-ea"/>
                          <a:cs typeface="+mn-ea"/>
                          <a:sym typeface="+mn-ea"/>
                        </a:rPr>
                        <a:t>条带</a:t>
                      </a:r>
                      <a:r>
                        <a:rPr lang="en-US" altLang="zh-CN" sz="1800" b="0" dirty="0" err="1">
                          <a:solidFill>
                            <a:schemeClr val="tx1"/>
                          </a:solidFill>
                          <a:latin typeface="+mn-ea"/>
                          <a:cs typeface="+mn-ea"/>
                          <a:sym typeface="+mn-ea"/>
                        </a:rPr>
                        <a:t>format_cot</a:t>
                      </a:r>
                      <a:r>
                        <a:rPr lang="zh-CN" altLang="en-US" sz="1800" b="0" dirty="0">
                          <a:solidFill>
                            <a:schemeClr val="tx1"/>
                          </a:solidFill>
                          <a:latin typeface="+mn-ea"/>
                          <a:cs typeface="+mn-ea"/>
                          <a:sym typeface="+mn-ea"/>
                        </a:rPr>
                        <a:t>和</a:t>
                      </a:r>
                      <a:r>
                        <a:rPr lang="en-US" altLang="zh-CN" sz="1800" b="0" dirty="0" err="1">
                          <a:solidFill>
                            <a:schemeClr val="tx1"/>
                          </a:solidFill>
                          <a:latin typeface="+mn-ea"/>
                          <a:cs typeface="+mn-ea"/>
                          <a:sym typeface="+mn-ea"/>
                        </a:rPr>
                        <a:t>natural_cot</a:t>
                      </a:r>
                      <a:r>
                        <a:rPr lang="zh-CN" altLang="en-US" sz="1800" b="0" dirty="0">
                          <a:solidFill>
                            <a:schemeClr val="tx1"/>
                          </a:solidFill>
                          <a:latin typeface="+mn-ea"/>
                          <a:cs typeface="+mn-ea"/>
                          <a:sym typeface="+mn-ea"/>
                        </a:rPr>
                        <a:t>的高难数据集（一堆</a:t>
                      </a:r>
                      <a:r>
                        <a:rPr lang="en-US" altLang="zh-CN" sz="1800" b="0" dirty="0">
                          <a:solidFill>
                            <a:schemeClr val="tx1"/>
                          </a:solidFill>
                          <a:latin typeface="+mn-ea"/>
                          <a:cs typeface="+mn-ea"/>
                          <a:sym typeface="+mn-ea"/>
                        </a:rPr>
                        <a:t>trace</a:t>
                      </a:r>
                      <a:r>
                        <a:rPr lang="zh-CN" altLang="en-US" sz="1800" b="0" dirty="0">
                          <a:solidFill>
                            <a:schemeClr val="tx1"/>
                          </a:solidFill>
                          <a:latin typeface="+mn-ea"/>
                          <a:cs typeface="+mn-ea"/>
                          <a:sym typeface="+mn-ea"/>
                        </a:rPr>
                        <a:t>文件大小超过</a:t>
                      </a:r>
                      <a:r>
                        <a:rPr lang="en-US" altLang="zh-CN" sz="1800" b="0" dirty="0">
                          <a:solidFill>
                            <a:schemeClr val="tx1"/>
                          </a:solidFill>
                          <a:latin typeface="+mn-ea"/>
                          <a:cs typeface="+mn-ea"/>
                          <a:sym typeface="+mn-ea"/>
                        </a:rPr>
                        <a:t>100M</a:t>
                      </a:r>
                      <a:r>
                        <a:rPr lang="zh-CN" altLang="en-US" sz="1800" b="0" dirty="0">
                          <a:solidFill>
                            <a:schemeClr val="tx1"/>
                          </a:solidFill>
                          <a:latin typeface="+mn-ea"/>
                          <a:cs typeface="+mn-ea"/>
                          <a:sym typeface="+mn-ea"/>
                        </a:rPr>
                        <a:t>）</a:t>
                      </a:r>
                      <a:endParaRPr lang="en-US" altLang="zh-CN" sz="18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1800" b="0" dirty="0">
                          <a:solidFill>
                            <a:schemeClr val="tx1"/>
                          </a:solidFill>
                          <a:latin typeface="+mn-ea"/>
                          <a:cs typeface="+mn-ea"/>
                          <a:sym typeface="+mn-ea"/>
                        </a:rPr>
                        <a:t>[NEW] </a:t>
                      </a:r>
                      <a:r>
                        <a:rPr lang="zh-CN" altLang="en-US" sz="1800" b="0" dirty="0">
                          <a:solidFill>
                            <a:schemeClr val="tx1"/>
                          </a:solidFill>
                          <a:latin typeface="+mn-ea"/>
                          <a:cs typeface="+mn-ea"/>
                          <a:sym typeface="+mn-ea"/>
                        </a:rPr>
                        <a:t>进行了多次调参工作，但实验评估效果一般</a:t>
                      </a:r>
                      <a:endParaRPr lang="en-US" altLang="zh-CN" sz="18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1800" b="0" dirty="0">
                          <a:solidFill>
                            <a:schemeClr val="tx1"/>
                          </a:solidFill>
                          <a:latin typeface="+mn-ea"/>
                          <a:cs typeface="+mn-ea"/>
                          <a:sym typeface="+mn-ea"/>
                        </a:rPr>
                        <a:t>[TODO] </a:t>
                      </a:r>
                      <a:r>
                        <a:rPr lang="zh-CN" altLang="en-US" sz="1800" b="0" dirty="0">
                          <a:solidFill>
                            <a:schemeClr val="tx1"/>
                          </a:solidFill>
                          <a:latin typeface="+mn-ea"/>
                          <a:cs typeface="+mn-ea"/>
                          <a:sym typeface="+mn-ea"/>
                        </a:rPr>
                        <a:t>后续尝试转型分析</a:t>
                      </a:r>
                      <a:r>
                        <a:rPr lang="en-US" altLang="zh-CN" sz="1800" b="0" dirty="0">
                          <a:solidFill>
                            <a:schemeClr val="tx1"/>
                          </a:solidFill>
                          <a:latin typeface="+mn-ea"/>
                          <a:cs typeface="+mn-ea"/>
                          <a:sym typeface="+mn-ea"/>
                        </a:rPr>
                        <a:t>or</a:t>
                      </a:r>
                      <a:r>
                        <a:rPr lang="zh-CN" altLang="en-US" sz="1800" b="0" dirty="0">
                          <a:solidFill>
                            <a:schemeClr val="tx1"/>
                          </a:solidFill>
                          <a:latin typeface="+mn-ea"/>
                          <a:cs typeface="+mn-ea"/>
                          <a:sym typeface="+mn-ea"/>
                        </a:rPr>
                        <a:t>寻找新方案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112849">
                <a:tc>
                  <a:txBody>
                    <a:bodyPr/>
                    <a:lstStyle/>
                    <a:p>
                      <a:pPr algn="ctr"/>
                      <a:r>
                        <a:rPr lang="zh-CN" altLang="en-US" sz="1800" b="0" dirty="0">
                          <a:solidFill>
                            <a:schemeClr val="tx1"/>
                          </a:solidFill>
                          <a:latin typeface="+mn-ea"/>
                          <a:ea typeface="+mn-ea"/>
                        </a:rPr>
                        <a:t>总结</a:t>
                      </a:r>
                      <a:endParaRPr lang="en-US" altLang="zh-CN" sz="18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0" indent="-457200">
                        <a:lnSpc>
                          <a:spcPct val="150000"/>
                        </a:lnSpc>
                        <a:buAutoNum type="arabicPeriod"/>
                      </a:pPr>
                      <a:r>
                        <a:rPr lang="zh-CN" altLang="en-US" sz="1800" b="0" i="0" dirty="0">
                          <a:solidFill>
                            <a:schemeClr val="tx1"/>
                          </a:solidFill>
                          <a:effectLst/>
                          <a:latin typeface="+mn-ea"/>
                          <a:ea typeface="+mn-ea"/>
                          <a:cs typeface="Times New Roman" panose="02020603050405020304" pitchFamily="18" charset="0"/>
                        </a:rPr>
                        <a:t>这一周的最后挣扎评估工作还是没有成功，很遗憾</a:t>
                      </a:r>
                      <a:endParaRPr lang="en-US" altLang="zh-CN" sz="1800" b="0" i="0" dirty="0">
                        <a:solidFill>
                          <a:schemeClr val="tx1"/>
                        </a:solidFill>
                        <a:effectLst/>
                        <a:latin typeface="+mn-ea"/>
                        <a:ea typeface="+mn-ea"/>
                        <a:cs typeface="Times New Roman" panose="02020603050405020304" pitchFamily="18" charset="0"/>
                      </a:endParaRPr>
                    </a:p>
                    <a:p>
                      <a:pPr marL="457200" indent="-457200">
                        <a:lnSpc>
                          <a:spcPct val="150000"/>
                        </a:lnSpc>
                        <a:buAutoNum type="arabicPeriod"/>
                      </a:pPr>
                      <a:r>
                        <a:rPr lang="zh-CN" altLang="en-US" sz="1800" b="0" i="0" dirty="0">
                          <a:solidFill>
                            <a:schemeClr val="tx1"/>
                          </a:solidFill>
                          <a:effectLst/>
                          <a:latin typeface="+mn-ea"/>
                          <a:ea typeface="+mn-ea"/>
                          <a:cs typeface="Times New Roman" panose="02020603050405020304" pitchFamily="18" charset="0"/>
                        </a:rPr>
                        <a:t>后续会系统性探讨新转型和新方案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332554">
                <a:tc>
                  <a:txBody>
                    <a:bodyPr/>
                    <a:lstStyle/>
                    <a:p>
                      <a:pPr algn="ctr">
                        <a:buNone/>
                      </a:pPr>
                      <a:r>
                        <a:rPr lang="zh-CN" altLang="en-US" sz="1800" b="0">
                          <a:solidFill>
                            <a:schemeClr val="tx1"/>
                          </a:solidFill>
                          <a:latin typeface="+mn-ea"/>
                          <a:ea typeface="+mn-ea"/>
                        </a:rPr>
                        <a:t>评价</a:t>
                      </a:r>
                      <a:endParaRPr lang="zh-CN" altLang="en-US" sz="18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0" indent="-457200" algn="l">
                        <a:lnSpc>
                          <a:spcPct val="150000"/>
                        </a:lnSpc>
                        <a:buAutoNum type="arabicPeriod"/>
                      </a:pPr>
                      <a:r>
                        <a:rPr lang="en-US" altLang="zh-CN" sz="1800" b="0" dirty="0">
                          <a:solidFill>
                            <a:schemeClr val="tx1"/>
                          </a:solidFill>
                          <a:latin typeface="+mn-ea"/>
                          <a:ea typeface="+mn-ea"/>
                        </a:rPr>
                        <a:t> </a:t>
                      </a:r>
                      <a:endParaRPr lang="zh-CN" altLang="en-US" sz="18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进展一：</a:t>
            </a:r>
            <a:r>
              <a:rPr lang="zh-CN" altLang="en-US" sz="2400" b="0" dirty="0">
                <a:solidFill>
                  <a:schemeClr val="tx1"/>
                </a:solidFill>
                <a:latin typeface="+mn-ea"/>
                <a:cs typeface="+mn-ea"/>
                <a:sym typeface="+mn-ea"/>
              </a:rPr>
              <a:t>高难大量数据集生产工作</a:t>
            </a:r>
            <a:endParaRPr lang="en-US" altLang="zh-CN" sz="2400" dirty="0">
              <a:solidFill>
                <a:schemeClr val="tx1"/>
              </a:solidFill>
              <a:sym typeface="+mn-ea"/>
            </a:endParaRPr>
          </a:p>
        </p:txBody>
      </p:sp>
      <p:sp>
        <p:nvSpPr>
          <p:cNvPr id="3" name="文本框 2">
            <a:extLst>
              <a:ext uri="{FF2B5EF4-FFF2-40B4-BE49-F238E27FC236}">
                <a16:creationId xmlns:a16="http://schemas.microsoft.com/office/drawing/2014/main" id="{7D8BB5FD-FDCC-C7C2-3F38-76B463B37F5E}"/>
              </a:ext>
            </a:extLst>
          </p:cNvPr>
          <p:cNvSpPr txBox="1"/>
          <p:nvPr/>
        </p:nvSpPr>
        <p:spPr>
          <a:xfrm>
            <a:off x="344805" y="871981"/>
            <a:ext cx="11655907" cy="1323439"/>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600" dirty="0">
                <a:latin typeface="+mn-ea"/>
              </a:rPr>
              <a:t>方法论：</a:t>
            </a:r>
            <a:r>
              <a:rPr lang="zh-CN" altLang="en-US" sz="1600" b="0" i="0" dirty="0">
                <a:solidFill>
                  <a:srgbClr val="000000"/>
                </a:solidFill>
                <a:effectLst/>
                <a:latin typeface="+mn-ea"/>
              </a:rPr>
              <a:t>基于之前的</a:t>
            </a:r>
            <a:r>
              <a:rPr lang="en-US" altLang="zh-CN" sz="1600" b="0" i="0" dirty="0">
                <a:solidFill>
                  <a:srgbClr val="000000"/>
                </a:solidFill>
                <a:effectLst/>
                <a:latin typeface="+mn-ea"/>
              </a:rPr>
              <a:t>235</a:t>
            </a:r>
            <a:r>
              <a:rPr lang="zh-CN" altLang="en-US" sz="1600" b="0" i="0" dirty="0">
                <a:solidFill>
                  <a:srgbClr val="000000"/>
                </a:solidFill>
                <a:effectLst/>
                <a:latin typeface="+mn-ea"/>
              </a:rPr>
              <a:t>条手工挑选的数据集作为种子，生产了大量的高难数据，共</a:t>
            </a:r>
            <a:r>
              <a:rPr lang="en-US" altLang="zh-CN" sz="1600" b="0" i="0" dirty="0">
                <a:solidFill>
                  <a:srgbClr val="000000"/>
                </a:solidFill>
                <a:effectLst/>
                <a:latin typeface="+mn-ea"/>
              </a:rPr>
              <a:t>1w5</a:t>
            </a:r>
            <a:r>
              <a:rPr lang="zh-CN" altLang="en-US" sz="1600" b="0" i="0" dirty="0">
                <a:solidFill>
                  <a:srgbClr val="000000"/>
                </a:solidFill>
                <a:effectLst/>
                <a:latin typeface="+mn-ea"/>
              </a:rPr>
              <a:t>条</a:t>
            </a:r>
            <a:endParaRPr lang="en-US" altLang="zh-CN" sz="1600" b="0" i="0" dirty="0">
              <a:solidFill>
                <a:srgbClr val="000000"/>
              </a:solidFill>
              <a:effectLst/>
              <a:latin typeface="+mn-ea"/>
            </a:endParaRPr>
          </a:p>
          <a:p>
            <a:r>
              <a:rPr lang="en-US" altLang="zh-CN" sz="1600" dirty="0">
                <a:solidFill>
                  <a:srgbClr val="000000"/>
                </a:solidFill>
                <a:latin typeface="+mn-ea"/>
              </a:rPr>
              <a:t>	</a:t>
            </a:r>
            <a:r>
              <a:rPr lang="zh-CN" altLang="en-US" sz="1600" dirty="0">
                <a:solidFill>
                  <a:srgbClr val="000000"/>
                </a:solidFill>
                <a:latin typeface="+mn-ea"/>
              </a:rPr>
              <a:t>去除一部分无法运行产出答案和最终答案为无限循环小数和代码极端长的</a:t>
            </a:r>
            <a:r>
              <a:rPr lang="en-US" altLang="zh-CN" sz="1600" dirty="0">
                <a:solidFill>
                  <a:srgbClr val="000000"/>
                </a:solidFill>
                <a:latin typeface="+mn-ea"/>
              </a:rPr>
              <a:t>case</a:t>
            </a:r>
            <a:r>
              <a:rPr lang="zh-CN" altLang="en-US" sz="1600" dirty="0">
                <a:solidFill>
                  <a:srgbClr val="000000"/>
                </a:solidFill>
                <a:latin typeface="+mn-ea"/>
              </a:rPr>
              <a:t>后，还剩</a:t>
            </a:r>
            <a:r>
              <a:rPr lang="en-US" altLang="zh-CN" sz="1600" dirty="0">
                <a:solidFill>
                  <a:srgbClr val="000000"/>
                </a:solidFill>
                <a:latin typeface="+mn-ea"/>
              </a:rPr>
              <a:t>1w1</a:t>
            </a:r>
            <a:r>
              <a:rPr lang="zh-CN" altLang="en-US" sz="1600" dirty="0">
                <a:solidFill>
                  <a:srgbClr val="000000"/>
                </a:solidFill>
                <a:latin typeface="+mn-ea"/>
              </a:rPr>
              <a:t>条</a:t>
            </a:r>
            <a:endParaRPr lang="en-US" altLang="zh-CN" sz="1600" dirty="0">
              <a:solidFill>
                <a:srgbClr val="000000"/>
              </a:solidFill>
              <a:latin typeface="+mn-ea"/>
            </a:endParaRPr>
          </a:p>
          <a:p>
            <a:r>
              <a:rPr lang="en-US" altLang="zh-CN" sz="1600" dirty="0">
                <a:solidFill>
                  <a:srgbClr val="000000"/>
                </a:solidFill>
                <a:latin typeface="+mn-ea"/>
              </a:rPr>
              <a:t>	</a:t>
            </a:r>
            <a:r>
              <a:rPr lang="zh-CN" altLang="en-US" sz="1600" dirty="0">
                <a:solidFill>
                  <a:srgbClr val="000000"/>
                </a:solidFill>
                <a:latin typeface="+mn-ea"/>
              </a:rPr>
              <a:t>基于</a:t>
            </a:r>
            <a:r>
              <a:rPr lang="en-US" altLang="zh-CN" sz="1600" dirty="0">
                <a:solidFill>
                  <a:srgbClr val="000000"/>
                </a:solidFill>
                <a:latin typeface="+mn-ea"/>
              </a:rPr>
              <a:t>1w1</a:t>
            </a:r>
            <a:r>
              <a:rPr lang="zh-CN" altLang="en-US" sz="1600" dirty="0">
                <a:solidFill>
                  <a:srgbClr val="000000"/>
                </a:solidFill>
                <a:latin typeface="+mn-ea"/>
              </a:rPr>
              <a:t>进行</a:t>
            </a:r>
            <a:r>
              <a:rPr lang="en-US" altLang="zh-CN" sz="1600" dirty="0">
                <a:solidFill>
                  <a:srgbClr val="000000"/>
                </a:solidFill>
                <a:latin typeface="+mn-ea"/>
              </a:rPr>
              <a:t>cot</a:t>
            </a:r>
            <a:r>
              <a:rPr lang="zh-CN" altLang="en-US" sz="1600" dirty="0">
                <a:solidFill>
                  <a:srgbClr val="000000"/>
                </a:solidFill>
                <a:latin typeface="+mn-ea"/>
              </a:rPr>
              <a:t>生产，但因为难度太高，经常遇到恶意多层嵌套循环代码，导致运行</a:t>
            </a:r>
            <a:r>
              <a:rPr lang="en-US" altLang="zh-CN" sz="1600" dirty="0" err="1">
                <a:solidFill>
                  <a:srgbClr val="000000"/>
                </a:solidFill>
                <a:latin typeface="+mn-ea"/>
              </a:rPr>
              <a:t>oom</a:t>
            </a:r>
            <a:endParaRPr lang="en-US" altLang="zh-CN" sz="1600" dirty="0">
              <a:solidFill>
                <a:srgbClr val="000000"/>
              </a:solidFill>
              <a:latin typeface="+mn-ea"/>
            </a:endParaRPr>
          </a:p>
          <a:p>
            <a:r>
              <a:rPr lang="en-US" altLang="zh-CN" sz="1600" dirty="0">
                <a:latin typeface="+mn-ea"/>
              </a:rPr>
              <a:t>	</a:t>
            </a:r>
            <a:r>
              <a:rPr lang="zh-CN" altLang="en-US" sz="1600" dirty="0">
                <a:latin typeface="+mn-ea"/>
              </a:rPr>
              <a:t>后续对流程进行了部分性能监控和时间监控优化，降低</a:t>
            </a:r>
            <a:r>
              <a:rPr lang="en-US" altLang="zh-CN" sz="1600" dirty="0">
                <a:latin typeface="+mn-ea"/>
              </a:rPr>
              <a:t>OOM</a:t>
            </a:r>
            <a:r>
              <a:rPr lang="zh-CN" altLang="en-US" sz="1600" dirty="0">
                <a:latin typeface="+mn-ea"/>
              </a:rPr>
              <a:t>频率，但是仍然需要人工监控和调整</a:t>
            </a:r>
            <a:endParaRPr lang="en-US" altLang="zh-CN" sz="1600" dirty="0">
              <a:latin typeface="+mn-ea"/>
            </a:endParaRPr>
          </a:p>
          <a:p>
            <a:r>
              <a:rPr lang="en-US" altLang="zh-CN" sz="1600" dirty="0">
                <a:latin typeface="+mn-ea"/>
              </a:rPr>
              <a:t>	</a:t>
            </a:r>
            <a:r>
              <a:rPr lang="zh-CN" altLang="en-US" sz="1600" dirty="0">
                <a:latin typeface="+mn-ea"/>
              </a:rPr>
              <a:t>目前产出了</a:t>
            </a:r>
            <a:r>
              <a:rPr lang="en-US" altLang="zh-CN" sz="1600" dirty="0">
                <a:latin typeface="+mn-ea"/>
              </a:rPr>
              <a:t>6600</a:t>
            </a:r>
            <a:r>
              <a:rPr lang="zh-CN" altLang="en-US" sz="1600" dirty="0">
                <a:latin typeface="+mn-ea"/>
              </a:rPr>
              <a:t>条</a:t>
            </a:r>
            <a:r>
              <a:rPr lang="en-US" altLang="zh-CN" sz="1600" dirty="0" err="1">
                <a:latin typeface="+mn-ea"/>
              </a:rPr>
              <a:t>format_cot</a:t>
            </a:r>
            <a:r>
              <a:rPr lang="zh-CN" altLang="en-US" sz="1600" dirty="0">
                <a:latin typeface="+mn-ea"/>
              </a:rPr>
              <a:t>和</a:t>
            </a:r>
            <a:r>
              <a:rPr lang="en-US" altLang="zh-CN" sz="1600" dirty="0">
                <a:latin typeface="+mn-ea"/>
              </a:rPr>
              <a:t>4200</a:t>
            </a:r>
            <a:r>
              <a:rPr lang="zh-CN" altLang="en-US" sz="1600" dirty="0">
                <a:latin typeface="+mn-ea"/>
              </a:rPr>
              <a:t>条</a:t>
            </a:r>
            <a:r>
              <a:rPr lang="en-US" altLang="zh-CN" sz="1600" dirty="0" err="1">
                <a:latin typeface="+mn-ea"/>
              </a:rPr>
              <a:t>natural_cot</a:t>
            </a:r>
            <a:endParaRPr lang="en-US" altLang="zh-CN" sz="1600" dirty="0">
              <a:latin typeface="+mn-ea"/>
            </a:endParaRPr>
          </a:p>
        </p:txBody>
      </p:sp>
      <p:sp>
        <p:nvSpPr>
          <p:cNvPr id="5" name="文本框 4">
            <a:extLst>
              <a:ext uri="{FF2B5EF4-FFF2-40B4-BE49-F238E27FC236}">
                <a16:creationId xmlns:a16="http://schemas.microsoft.com/office/drawing/2014/main" id="{EB19B839-B2EF-9254-D9D6-CF559AA015AD}"/>
              </a:ext>
            </a:extLst>
          </p:cNvPr>
          <p:cNvSpPr txBox="1"/>
          <p:nvPr/>
        </p:nvSpPr>
        <p:spPr>
          <a:xfrm>
            <a:off x="344805" y="2480426"/>
            <a:ext cx="9537021" cy="83099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600" dirty="0"/>
              <a:t>为什么做？</a:t>
            </a:r>
            <a:endParaRPr lang="en-US" altLang="zh-CN" sz="1600" dirty="0"/>
          </a:p>
          <a:p>
            <a:r>
              <a:rPr lang="zh-CN" altLang="en-US" sz="1600" dirty="0"/>
              <a:t>之前探讨认为可能</a:t>
            </a:r>
            <a:r>
              <a:rPr lang="en-US" altLang="zh-CN" sz="1600" dirty="0"/>
              <a:t>1k</a:t>
            </a:r>
            <a:r>
              <a:rPr lang="zh-CN" altLang="en-US" sz="1600" dirty="0"/>
              <a:t>量一是简单二是量少无法学习到很多知识，希望能在自动化低成本的框架内，生成足量高难度数据集，无论是目前工作，还是后续转型情况，都可以提供训练集支撑</a:t>
            </a:r>
            <a:endParaRPr lang="en-US" altLang="zh-CN" sz="1600" dirty="0"/>
          </a:p>
        </p:txBody>
      </p:sp>
      <p:sp>
        <p:nvSpPr>
          <p:cNvPr id="2" name="文本框 1">
            <a:extLst>
              <a:ext uri="{FF2B5EF4-FFF2-40B4-BE49-F238E27FC236}">
                <a16:creationId xmlns:a16="http://schemas.microsoft.com/office/drawing/2014/main" id="{E06B1455-7851-FA8D-4B7A-191D5A722738}"/>
              </a:ext>
            </a:extLst>
          </p:cNvPr>
          <p:cNvSpPr txBox="1"/>
          <p:nvPr/>
        </p:nvSpPr>
        <p:spPr>
          <a:xfrm>
            <a:off x="344805" y="3554388"/>
            <a:ext cx="9537021" cy="33855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600" dirty="0"/>
              <a:t>目前数据情况：</a:t>
            </a:r>
            <a:endParaRPr lang="en-US" altLang="zh-CN" sz="1600" dirty="0"/>
          </a:p>
        </p:txBody>
      </p:sp>
      <p:pic>
        <p:nvPicPr>
          <p:cNvPr id="9" name="图片 8">
            <a:extLst>
              <a:ext uri="{FF2B5EF4-FFF2-40B4-BE49-F238E27FC236}">
                <a16:creationId xmlns:a16="http://schemas.microsoft.com/office/drawing/2014/main" id="{DD757A3A-C2A8-BDD4-DA1D-BA3BE19C13F7}"/>
              </a:ext>
            </a:extLst>
          </p:cNvPr>
          <p:cNvPicPr>
            <a:picLocks noChangeAspect="1"/>
          </p:cNvPicPr>
          <p:nvPr/>
        </p:nvPicPr>
        <p:blipFill>
          <a:blip r:embed="rId2"/>
          <a:stretch>
            <a:fillRect/>
          </a:stretch>
        </p:blipFill>
        <p:spPr>
          <a:xfrm>
            <a:off x="472383" y="4813015"/>
            <a:ext cx="4749155" cy="1094720"/>
          </a:xfrm>
          <a:prstGeom prst="rect">
            <a:avLst/>
          </a:prstGeom>
          <a:ln>
            <a:solidFill>
              <a:schemeClr val="tx1"/>
            </a:solidFill>
          </a:ln>
        </p:spPr>
      </p:pic>
      <p:pic>
        <p:nvPicPr>
          <p:cNvPr id="12" name="图片 11">
            <a:extLst>
              <a:ext uri="{FF2B5EF4-FFF2-40B4-BE49-F238E27FC236}">
                <a16:creationId xmlns:a16="http://schemas.microsoft.com/office/drawing/2014/main" id="{B60674EC-1DE8-D868-986B-82DD52552787}"/>
              </a:ext>
            </a:extLst>
          </p:cNvPr>
          <p:cNvPicPr>
            <a:picLocks noChangeAspect="1"/>
          </p:cNvPicPr>
          <p:nvPr/>
        </p:nvPicPr>
        <p:blipFill>
          <a:blip r:embed="rId3"/>
          <a:stretch>
            <a:fillRect/>
          </a:stretch>
        </p:blipFill>
        <p:spPr>
          <a:xfrm>
            <a:off x="472384" y="4386443"/>
            <a:ext cx="4749156" cy="426571"/>
          </a:xfrm>
          <a:prstGeom prst="rect">
            <a:avLst/>
          </a:prstGeom>
          <a:ln>
            <a:solidFill>
              <a:schemeClr val="tx1"/>
            </a:solidFill>
          </a:ln>
        </p:spPr>
      </p:pic>
      <p:pic>
        <p:nvPicPr>
          <p:cNvPr id="7" name="图片 6">
            <a:extLst>
              <a:ext uri="{FF2B5EF4-FFF2-40B4-BE49-F238E27FC236}">
                <a16:creationId xmlns:a16="http://schemas.microsoft.com/office/drawing/2014/main" id="{CCAB3704-A022-B247-2210-A1AEAA8750D0}"/>
              </a:ext>
            </a:extLst>
          </p:cNvPr>
          <p:cNvPicPr>
            <a:picLocks noChangeAspect="1"/>
          </p:cNvPicPr>
          <p:nvPr/>
        </p:nvPicPr>
        <p:blipFill>
          <a:blip r:embed="rId4"/>
          <a:stretch>
            <a:fillRect/>
          </a:stretch>
        </p:blipFill>
        <p:spPr>
          <a:xfrm>
            <a:off x="6419714" y="4911184"/>
            <a:ext cx="4783411" cy="973399"/>
          </a:xfrm>
          <a:prstGeom prst="rect">
            <a:avLst/>
          </a:prstGeom>
          <a:ln>
            <a:solidFill>
              <a:schemeClr val="tx1"/>
            </a:solidFill>
          </a:ln>
        </p:spPr>
      </p:pic>
      <p:pic>
        <p:nvPicPr>
          <p:cNvPr id="10" name="图片 9">
            <a:extLst>
              <a:ext uri="{FF2B5EF4-FFF2-40B4-BE49-F238E27FC236}">
                <a16:creationId xmlns:a16="http://schemas.microsoft.com/office/drawing/2014/main" id="{B36CEEA4-E5A0-F8A9-2B0B-64BD33ED7CC5}"/>
              </a:ext>
            </a:extLst>
          </p:cNvPr>
          <p:cNvPicPr>
            <a:picLocks noChangeAspect="1"/>
          </p:cNvPicPr>
          <p:nvPr/>
        </p:nvPicPr>
        <p:blipFill>
          <a:blip r:embed="rId5"/>
          <a:stretch>
            <a:fillRect/>
          </a:stretch>
        </p:blipFill>
        <p:spPr>
          <a:xfrm>
            <a:off x="6419718" y="4386443"/>
            <a:ext cx="4783407" cy="517940"/>
          </a:xfrm>
          <a:prstGeom prst="rect">
            <a:avLst/>
          </a:prstGeom>
          <a:ln>
            <a:solidFill>
              <a:schemeClr val="tx1"/>
            </a:solid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20179637,20211662,50039266,2156468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29*505"/>
  <p:tag name="TABLE_ENDDRAG_RECT" val="21*141*929*50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342</Words>
  <Application>Microsoft Office PowerPoint</Application>
  <PresentationFormat>宽屏</PresentationFormat>
  <Paragraphs>25</Paragraphs>
  <Slides>3</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vt:i4>
      </vt:variant>
    </vt:vector>
  </HeadingPairs>
  <TitlesOfParts>
    <vt:vector size="8" baseType="lpstr">
      <vt:lpstr>等线</vt:lpstr>
      <vt:lpstr>等线 Light</vt:lpstr>
      <vt:lpstr>Arial</vt:lpstr>
      <vt:lpstr>Calibri</vt:lpstr>
      <vt:lpstr>Office 主题​​</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caoye541@gmail.com</dc:creator>
  <cp:lastModifiedBy>caoye541@gmail.com</cp:lastModifiedBy>
  <cp:revision>128</cp:revision>
  <dcterms:created xsi:type="dcterms:W3CDTF">2025-10-01T20:32:00Z</dcterms:created>
  <dcterms:modified xsi:type="dcterms:W3CDTF">2026-01-04T09:42:46Z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A9D8EE090709422594ECCEF0F366ED29_13</vt:lpwstr>
  </property>
  <property fmtid="{D5CDD505-2E9C-101B-9397-08002B2CF9AE}" pid="3" name="KSOProductBuildVer">
    <vt:lpwstr>2052-12.1.0.23542</vt:lpwstr>
  </property>
</Properties>
</file>