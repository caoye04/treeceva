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397" r:id="rId3"/>
    <p:sldId id="327" r:id="rId4"/>
    <p:sldId id="368" r:id="rId6"/>
    <p:sldId id="435" r:id="rId7"/>
    <p:sldId id="436" r:id="rId8"/>
    <p:sldId id="434" r:id="rId9"/>
    <p:sldId id="432" r:id="rId10"/>
    <p:sldId id="433" r:id="rId11"/>
    <p:sldId id="431" r:id="rId12"/>
    <p:sldId id="426" r:id="rId13"/>
    <p:sldId id="410" r:id="rId14"/>
    <p:sldId id="412" r:id="rId15"/>
    <p:sldId id="413" r:id="rId16"/>
    <p:sldId id="414" r:id="rId17"/>
    <p:sldId id="415" r:id="rId18"/>
    <p:sldId id="416" r:id="rId19"/>
    <p:sldId id="417" r:id="rId20"/>
    <p:sldId id="418" r:id="rId21"/>
    <p:sldId id="419" r:id="rId22"/>
    <p:sldId id="422" r:id="rId23"/>
    <p:sldId id="420" r:id="rId24"/>
    <p:sldId id="421" r:id="rId25"/>
    <p:sldId id="423" r:id="rId26"/>
    <p:sldId id="424" r:id="rId27"/>
    <p:sldId id="425" r:id="rId28"/>
    <p:sldId id="427" r:id="rId29"/>
    <p:sldId id="428" r:id="rId30"/>
    <p:sldId id="429" r:id="rId31"/>
    <p:sldId id="430" r:id="rId32"/>
  </p:sldIdLst>
  <p:sldSz cx="12192000" cy="6858000"/>
  <p:notesSz cx="6858000" cy="9144000"/>
  <p:custDataLst>
    <p:tags r:id="rId3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8E5F6"/>
    <a:srgbClr val="FFFFFF"/>
    <a:srgbClr val="FBE3D6"/>
    <a:srgbClr val="F2CFEE"/>
    <a:srgbClr val="FFB7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6" autoAdjust="0"/>
    <p:restoredTop sz="94660"/>
  </p:normalViewPr>
  <p:slideViewPr>
    <p:cSldViewPr snapToGrid="0">
      <p:cViewPr varScale="1">
        <p:scale>
          <a:sx n="121" d="100"/>
          <a:sy n="121" d="100"/>
        </p:scale>
        <p:origin x="523" y="1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6" Type="http://schemas.openxmlformats.org/officeDocument/2006/relationships/tags" Target="tags/tag6.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837840E2-13A5-46A9-A265-C77FF1EECC7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79686F9-7E47-4853-B8F4-FBCF71CB48DC}"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837840E2-13A5-46A9-A265-C77FF1EECC7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79686F9-7E47-4853-B8F4-FBCF71CB48DC}"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837840E2-13A5-46A9-A265-C77FF1EECC7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79686F9-7E47-4853-B8F4-FBCF71CB48DC}"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837840E2-13A5-46A9-A265-C77FF1EECC77}"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79686F9-7E47-4853-B8F4-FBCF71CB48DC}"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837840E2-13A5-46A9-A265-C77FF1EECC77}"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79686F9-7E47-4853-B8F4-FBCF71CB48DC}"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837840E2-13A5-46A9-A265-C77FF1EECC7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79686F9-7E47-4853-B8F4-FBCF71CB48DC}"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37840E2-13A5-46A9-A265-C77FF1EECC77}"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79686F9-7E47-4853-B8F4-FBCF71CB48DC}"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37840E2-13A5-46A9-A265-C77FF1EECC77}"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79686F9-7E47-4853-B8F4-FBCF71CB48DC}"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37840E2-13A5-46A9-A265-C77FF1EECC77}"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79686F9-7E47-4853-B8F4-FBCF71CB48DC}"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837840E2-13A5-46A9-A265-C77FF1EECC7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79686F9-7E47-4853-B8F4-FBCF71CB48DC}"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837840E2-13A5-46A9-A265-C77FF1EECC7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79686F9-7E47-4853-B8F4-FBCF71CB48DC}"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37840E2-13A5-46A9-A265-C77FF1EECC77}"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79686F9-7E47-4853-B8F4-FBCF71CB48DC}"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1.png"/><Relationship Id="rId1" Type="http://schemas.openxmlformats.org/officeDocument/2006/relationships/image" Target="../media/image8.pn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8.pn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image" Target="../media/image8.png"/></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image" Target="../media/image9.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6.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9.png"/><Relationship Id="rId1" Type="http://schemas.openxmlformats.org/officeDocument/2006/relationships/image" Target="../media/image18.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1.png"/><Relationship Id="rId1" Type="http://schemas.openxmlformats.org/officeDocument/2006/relationships/image" Target="../media/image20.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2.png"/></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99090" y="302697"/>
            <a:ext cx="7087197" cy="584775"/>
          </a:xfrm>
          <a:prstGeom prst="rect">
            <a:avLst/>
          </a:prstGeom>
          <a:noFill/>
        </p:spPr>
        <p:txBody>
          <a:bodyPr wrap="none" rtlCol="0">
            <a:spAutoFit/>
          </a:bodyPr>
          <a:lstStyle/>
          <a:p>
            <a:r>
              <a:rPr lang="zh-CN" altLang="en-US" sz="3200" dirty="0"/>
              <a:t>上周会议纪要：</a:t>
            </a:r>
            <a:r>
              <a:rPr lang="zh-CN" altLang="en-US" sz="3200" dirty="0">
                <a:sym typeface="+mn-ea"/>
              </a:rPr>
              <a:t>2025</a:t>
            </a:r>
            <a:r>
              <a:rPr lang="en-US" altLang="zh-CN" sz="3200" dirty="0">
                <a:sym typeface="+mn-ea"/>
              </a:rPr>
              <a:t>0115</a:t>
            </a:r>
            <a:r>
              <a:rPr lang="zh-CN" altLang="en-US" sz="3200" dirty="0">
                <a:sym typeface="+mn-ea"/>
              </a:rPr>
              <a:t> 会议纪要 </a:t>
            </a:r>
            <a:r>
              <a:rPr lang="en-US" altLang="zh-CN" sz="3200" dirty="0">
                <a:sym typeface="+mn-ea"/>
              </a:rPr>
              <a:t>14</a:t>
            </a:r>
            <a:endParaRPr lang="en-US" altLang="zh-CN" sz="3200" dirty="0">
              <a:sym typeface="+mn-ea"/>
            </a:endParaRPr>
          </a:p>
        </p:txBody>
      </p:sp>
      <p:sp>
        <p:nvSpPr>
          <p:cNvPr id="4" name="文本框 3"/>
          <p:cNvSpPr txBox="1"/>
          <p:nvPr/>
        </p:nvSpPr>
        <p:spPr>
          <a:xfrm>
            <a:off x="186690" y="882966"/>
            <a:ext cx="11818620" cy="3415030"/>
          </a:xfrm>
          <a:prstGeom prst="rect">
            <a:avLst/>
          </a:prstGeom>
          <a:noFill/>
        </p:spPr>
        <p:txBody>
          <a:bodyPr wrap="square">
            <a:spAutoFit/>
          </a:bodyPr>
          <a:lstStyle/>
          <a:p>
            <a:pPr marL="342900" marR="0" lvl="0" indent="-342900" algn="l" defTabSz="914400" rtl="0" eaLnBrk="1" fontAlgn="auto" latinLnBrk="0" hangingPunct="1">
              <a:lnSpc>
                <a:spcPct val="150000"/>
              </a:lnSpc>
              <a:spcBef>
                <a:spcPts val="0"/>
              </a:spcBef>
              <a:spcAft>
                <a:spcPts val="0"/>
              </a:spcAft>
              <a:buClrTx/>
              <a:buSzTx/>
              <a:buFontTx/>
              <a:buAutoNum type="arabicPeriod"/>
              <a:defRPr/>
            </a:pPr>
            <a:r>
              <a:rPr lang="en-US" altLang="zh-CN" dirty="0">
                <a:latin typeface="+mn-ea"/>
                <a:cs typeface="+mn-ea"/>
                <a:sym typeface="+mn-ea"/>
              </a:rPr>
              <a:t>[</a:t>
            </a:r>
            <a:r>
              <a:rPr lang="zh-CN" altLang="en-US" dirty="0">
                <a:latin typeface="+mn-ea"/>
                <a:cs typeface="+mn-ea"/>
                <a:sym typeface="+mn-ea"/>
              </a:rPr>
              <a:t>理解性实验</a:t>
            </a:r>
            <a:r>
              <a:rPr lang="en-US" altLang="zh-CN" dirty="0">
                <a:latin typeface="+mn-ea"/>
                <a:cs typeface="+mn-ea"/>
                <a:sym typeface="+mn-ea"/>
              </a:rPr>
              <a:t>] </a:t>
            </a:r>
            <a:r>
              <a:rPr lang="zh-CN" altLang="en-US" dirty="0">
                <a:latin typeface="+mn-ea"/>
                <a:cs typeface="+mn-ea"/>
                <a:sym typeface="+mn-ea"/>
              </a:rPr>
              <a:t>做</a:t>
            </a:r>
            <a:r>
              <a:rPr lang="en-US" altLang="zh-CN" dirty="0">
                <a:latin typeface="+mn-ea"/>
                <a:cs typeface="+mn-ea"/>
                <a:sym typeface="+mn-ea"/>
              </a:rPr>
              <a:t>500</a:t>
            </a:r>
            <a:r>
              <a:rPr lang="zh-CN" altLang="en-US" dirty="0">
                <a:latin typeface="+mn-ea"/>
                <a:cs typeface="+mn-ea"/>
                <a:sym typeface="+mn-ea"/>
              </a:rPr>
              <a:t>个评估点的</a:t>
            </a:r>
            <a:r>
              <a:rPr lang="zh-CN" altLang="en-US" dirty="0">
                <a:latin typeface="+mn-ea"/>
                <a:cs typeface="+mn-ea"/>
                <a:sym typeface="+mn-ea"/>
              </a:rPr>
              <a:t>评估集，测试</a:t>
            </a:r>
            <a:r>
              <a:rPr lang="en-US" altLang="zh-CN" dirty="0">
                <a:latin typeface="+mn-ea"/>
                <a:cs typeface="+mn-ea"/>
                <a:sym typeface="+mn-ea"/>
              </a:rPr>
              <a:t>CodeReasoner</a:t>
            </a:r>
            <a:r>
              <a:rPr lang="zh-CN" altLang="en-US" dirty="0">
                <a:latin typeface="+mn-ea"/>
                <a:cs typeface="+mn-ea"/>
                <a:sym typeface="+mn-ea"/>
              </a:rPr>
              <a:t>、</a:t>
            </a:r>
            <a:r>
              <a:rPr lang="en-US" altLang="zh-CN" dirty="0">
                <a:latin typeface="+mn-ea"/>
                <a:cs typeface="+mn-ea"/>
                <a:sym typeface="+mn-ea"/>
              </a:rPr>
              <a:t>Jung</a:t>
            </a:r>
            <a:r>
              <a:rPr lang="zh-CN" altLang="en-US" dirty="0">
                <a:latin typeface="+mn-ea"/>
                <a:cs typeface="+mn-ea"/>
                <a:sym typeface="+mn-ea"/>
              </a:rPr>
              <a:t>、</a:t>
            </a:r>
            <a:r>
              <a:rPr lang="en-US" altLang="zh-CN" dirty="0" err="1">
                <a:latin typeface="+mn-ea"/>
                <a:cs typeface="+mn-ea"/>
                <a:sym typeface="+mn-ea"/>
              </a:rPr>
              <a:t>CodeIO</a:t>
            </a:r>
            <a:r>
              <a:rPr lang="zh-CN" altLang="en-US" dirty="0">
                <a:latin typeface="+mn-ea"/>
                <a:cs typeface="+mn-ea"/>
                <a:sym typeface="+mn-ea"/>
              </a:rPr>
              <a:t>等工作在这个评估点集的训练前后的表现差异。如果没有提升说明发现了新模型代码能力提升盲区</a:t>
            </a:r>
            <a:endParaRPr lang="en-US" altLang="zh-CN" dirty="0">
              <a:latin typeface="+mn-ea"/>
              <a:cs typeface="+mn-ea"/>
              <a:sym typeface="+mn-ea"/>
            </a:endParaRPr>
          </a:p>
          <a:p>
            <a:pPr marL="342900" marR="0" lvl="0" indent="-342900" algn="l" defTabSz="914400" rtl="0" eaLnBrk="1" fontAlgn="auto" latinLnBrk="0" hangingPunct="1">
              <a:lnSpc>
                <a:spcPct val="150000"/>
              </a:lnSpc>
              <a:spcBef>
                <a:spcPts val="0"/>
              </a:spcBef>
              <a:spcAft>
                <a:spcPts val="0"/>
              </a:spcAft>
              <a:buClrTx/>
              <a:buSzTx/>
              <a:buFontTx/>
              <a:buAutoNum type="arabicPeriod"/>
              <a:defRPr/>
            </a:pPr>
            <a:r>
              <a:rPr lang="en-US" altLang="zh-CN" dirty="0">
                <a:latin typeface="+mn-ea"/>
                <a:cs typeface="+mn-ea"/>
                <a:sym typeface="+mn-ea"/>
              </a:rPr>
              <a:t>[</a:t>
            </a:r>
            <a:r>
              <a:rPr lang="zh-CN" altLang="en-US" dirty="0">
                <a:latin typeface="+mn-ea"/>
                <a:cs typeface="+mn-ea"/>
                <a:sym typeface="+mn-ea"/>
              </a:rPr>
              <a:t>相关工作调研</a:t>
            </a:r>
            <a:r>
              <a:rPr lang="en-US" altLang="zh-CN" dirty="0">
                <a:latin typeface="+mn-ea"/>
                <a:cs typeface="+mn-ea"/>
                <a:sym typeface="+mn-ea"/>
              </a:rPr>
              <a:t>] </a:t>
            </a:r>
            <a:r>
              <a:rPr lang="zh-CN" altLang="en-US" dirty="0">
                <a:latin typeface="+mn-ea"/>
                <a:cs typeface="+mn-ea"/>
                <a:sym typeface="+mn-ea"/>
              </a:rPr>
              <a:t>调研代码推理能力评估集的工作，包括训练集形式</a:t>
            </a:r>
            <a:r>
              <a:rPr lang="en-US" altLang="zh-CN" dirty="0">
                <a:latin typeface="+mn-ea"/>
                <a:cs typeface="+mn-ea"/>
                <a:sym typeface="+mn-ea"/>
              </a:rPr>
              <a:t>、</a:t>
            </a:r>
            <a:r>
              <a:rPr lang="zh-CN" altLang="en-US" dirty="0">
                <a:latin typeface="+mn-ea"/>
                <a:cs typeface="+mn-ea"/>
                <a:sym typeface="+mn-ea"/>
              </a:rPr>
              <a:t>构建、论文写法</a:t>
            </a:r>
            <a:r>
              <a:rPr lang="en-US" altLang="zh-CN" dirty="0">
                <a:latin typeface="+mn-ea"/>
                <a:cs typeface="+mn-ea"/>
                <a:sym typeface="+mn-ea"/>
              </a:rPr>
              <a:t>、</a:t>
            </a:r>
            <a:r>
              <a:rPr lang="zh-CN" altLang="en-US" dirty="0">
                <a:latin typeface="+mn-ea"/>
                <a:cs typeface="+mn-ea"/>
                <a:sym typeface="+mn-ea"/>
              </a:rPr>
              <a:t>借鉴意义与启发等等</a:t>
            </a:r>
            <a:endParaRPr lang="en-US" altLang="zh-CN" dirty="0">
              <a:latin typeface="+mn-ea"/>
              <a:cs typeface="+mn-ea"/>
              <a:sym typeface="+mn-ea"/>
            </a:endParaRPr>
          </a:p>
          <a:p>
            <a:pPr marL="342900" indent="-342900">
              <a:lnSpc>
                <a:spcPct val="150000"/>
              </a:lnSpc>
              <a:buFontTx/>
              <a:buAutoNum type="arabicPeriod"/>
              <a:defRPr/>
            </a:pPr>
            <a:r>
              <a:rPr lang="en-US" altLang="zh-CN" b="0" dirty="0">
                <a:solidFill>
                  <a:schemeClr val="tx1"/>
                </a:solidFill>
                <a:latin typeface="+mn-ea"/>
                <a:cs typeface="+mn-ea"/>
                <a:sym typeface="+mn-ea"/>
              </a:rPr>
              <a:t>[</a:t>
            </a:r>
            <a:r>
              <a:rPr lang="zh-CN" altLang="en-US" b="0" dirty="0">
                <a:solidFill>
                  <a:schemeClr val="tx1"/>
                </a:solidFill>
                <a:latin typeface="+mn-ea"/>
                <a:cs typeface="+mn-ea"/>
                <a:sym typeface="+mn-ea"/>
              </a:rPr>
              <a:t>结论</a:t>
            </a:r>
            <a:r>
              <a:rPr lang="en-US" altLang="zh-CN" b="0" dirty="0">
                <a:solidFill>
                  <a:schemeClr val="tx1"/>
                </a:solidFill>
                <a:latin typeface="+mn-ea"/>
                <a:cs typeface="+mn-ea"/>
                <a:sym typeface="+mn-ea"/>
              </a:rPr>
              <a:t>] </a:t>
            </a:r>
            <a:r>
              <a:rPr lang="zh-CN" altLang="en-US" b="0" dirty="0">
                <a:solidFill>
                  <a:schemeClr val="tx1"/>
                </a:solidFill>
                <a:latin typeface="+mn-ea"/>
                <a:ea typeface="+mn-ea"/>
              </a:rPr>
              <a:t>我们目前难度很高</a:t>
            </a:r>
            <a:r>
              <a:rPr lang="en-US" altLang="zh-CN" b="0" dirty="0">
                <a:solidFill>
                  <a:schemeClr val="tx1"/>
                </a:solidFill>
                <a:latin typeface="+mn-ea"/>
                <a:ea typeface="+mn-ea"/>
              </a:rPr>
              <a:t>+</a:t>
            </a:r>
            <a:r>
              <a:rPr lang="zh-CN" altLang="en-US" b="0" dirty="0">
                <a:solidFill>
                  <a:schemeClr val="tx1"/>
                </a:solidFill>
                <a:latin typeface="+mn-ea"/>
                <a:ea typeface="+mn-ea"/>
              </a:rPr>
              <a:t>相关代码推理训练工作评估降低</a:t>
            </a:r>
            <a:r>
              <a:rPr lang="en-US" altLang="zh-CN" b="0" dirty="0">
                <a:solidFill>
                  <a:schemeClr val="tx1"/>
                </a:solidFill>
                <a:latin typeface="+mn-ea"/>
                <a:ea typeface="+mn-ea"/>
              </a:rPr>
              <a:t>（</a:t>
            </a:r>
            <a:r>
              <a:rPr lang="zh-CN" altLang="en-US" b="0" dirty="0">
                <a:solidFill>
                  <a:schemeClr val="tx1"/>
                </a:solidFill>
                <a:latin typeface="+mn-ea"/>
                <a:ea typeface="+mn-ea"/>
              </a:rPr>
              <a:t>正向</a:t>
            </a:r>
            <a:r>
              <a:rPr lang="en-US" altLang="zh-CN" b="0" dirty="0">
                <a:solidFill>
                  <a:schemeClr val="tx1"/>
                </a:solidFill>
                <a:latin typeface="+mn-ea"/>
                <a:ea typeface="+mn-ea"/>
              </a:rPr>
              <a:t>insight）</a:t>
            </a:r>
            <a:endParaRPr lang="en-US" altLang="zh-CN" b="0" dirty="0">
              <a:solidFill>
                <a:schemeClr val="tx1"/>
              </a:solidFill>
              <a:latin typeface="+mn-ea"/>
              <a:ea typeface="+mn-ea"/>
            </a:endParaRPr>
          </a:p>
          <a:p>
            <a:pPr marL="342900" marR="0" lvl="0" indent="-342900" algn="l" defTabSz="914400" rtl="0" eaLnBrk="1" fontAlgn="auto" latinLnBrk="0" hangingPunct="1">
              <a:lnSpc>
                <a:spcPct val="150000"/>
              </a:lnSpc>
              <a:spcBef>
                <a:spcPts val="0"/>
              </a:spcBef>
              <a:spcAft>
                <a:spcPts val="0"/>
              </a:spcAft>
              <a:buClrTx/>
              <a:buSzTx/>
              <a:buFontTx/>
              <a:buAutoNum type="arabicPeriod"/>
              <a:defRPr/>
            </a:pPr>
            <a:r>
              <a:rPr lang="en-US" altLang="zh-CN" b="0" dirty="0">
                <a:solidFill>
                  <a:schemeClr val="tx1"/>
                </a:solidFill>
                <a:latin typeface="+mn-ea"/>
                <a:cs typeface="+mn-ea"/>
                <a:sym typeface="+mn-ea"/>
              </a:rPr>
              <a:t>[</a:t>
            </a:r>
            <a:r>
              <a:rPr lang="zh-CN" altLang="en-US" b="0" dirty="0">
                <a:solidFill>
                  <a:schemeClr val="tx1"/>
                </a:solidFill>
                <a:latin typeface="+mn-ea"/>
                <a:cs typeface="+mn-ea"/>
                <a:sym typeface="+mn-ea"/>
              </a:rPr>
              <a:t>结论</a:t>
            </a:r>
            <a:r>
              <a:rPr lang="en-US" altLang="zh-CN" b="0" dirty="0">
                <a:solidFill>
                  <a:schemeClr val="tx1"/>
                </a:solidFill>
                <a:latin typeface="+mn-ea"/>
                <a:cs typeface="+mn-ea"/>
                <a:sym typeface="+mn-ea"/>
              </a:rPr>
              <a:t>] </a:t>
            </a:r>
            <a:r>
              <a:rPr lang="zh-CN" altLang="en-US" b="0" dirty="0">
                <a:solidFill>
                  <a:schemeClr val="tx1"/>
                </a:solidFill>
                <a:latin typeface="+mn-ea"/>
                <a:ea typeface="+mn-ea"/>
              </a:rPr>
              <a:t>小模型正确率太低</a:t>
            </a:r>
            <a:r>
              <a:rPr lang="en-US" altLang="zh-CN" b="0" dirty="0">
                <a:solidFill>
                  <a:schemeClr val="tx1"/>
                </a:solidFill>
                <a:latin typeface="+mn-ea"/>
                <a:ea typeface="+mn-ea"/>
              </a:rPr>
              <a:t>，</a:t>
            </a:r>
            <a:r>
              <a:rPr lang="zh-CN" altLang="en-US" b="0" dirty="0">
                <a:solidFill>
                  <a:schemeClr val="tx1"/>
                </a:solidFill>
                <a:latin typeface="+mn-ea"/>
                <a:ea typeface="+mn-ea"/>
              </a:rPr>
              <a:t>导致可信度不高</a:t>
            </a:r>
            <a:r>
              <a:rPr lang="en-US" altLang="zh-CN" b="0" dirty="0">
                <a:solidFill>
                  <a:schemeClr val="tx1"/>
                </a:solidFill>
                <a:latin typeface="+mn-ea"/>
                <a:ea typeface="+mn-ea"/>
              </a:rPr>
              <a:t>， </a:t>
            </a:r>
            <a:r>
              <a:rPr lang="zh-CN" altLang="en-US" b="0" dirty="0">
                <a:solidFill>
                  <a:schemeClr val="tx1"/>
                </a:solidFill>
                <a:latin typeface="+mn-ea"/>
                <a:ea typeface="+mn-ea"/>
              </a:rPr>
              <a:t>希望提高正确率在看上面</a:t>
            </a:r>
            <a:r>
              <a:rPr lang="en-US" altLang="zh-CN" b="0" dirty="0">
                <a:solidFill>
                  <a:schemeClr val="tx1"/>
                </a:solidFill>
                <a:latin typeface="+mn-ea"/>
                <a:ea typeface="+mn-ea"/>
              </a:rPr>
              <a:t>insight</a:t>
            </a:r>
            <a:r>
              <a:rPr lang="zh-CN" altLang="en-US" b="0" dirty="0">
                <a:solidFill>
                  <a:schemeClr val="tx1"/>
                </a:solidFill>
                <a:latin typeface="+mn-ea"/>
                <a:ea typeface="+mn-ea"/>
              </a:rPr>
              <a:t>是否通用</a:t>
            </a:r>
            <a:endParaRPr lang="en-US" altLang="zh-CN" b="0" dirty="0">
              <a:solidFill>
                <a:schemeClr val="tx1"/>
              </a:solidFill>
              <a:latin typeface="+mn-ea"/>
              <a:ea typeface="+mn-ea"/>
            </a:endParaRPr>
          </a:p>
          <a:p>
            <a:pPr marL="342900" marR="0" lvl="0" indent="-342900" algn="l" defTabSz="914400" rtl="0" eaLnBrk="1" fontAlgn="auto" latinLnBrk="0" hangingPunct="1">
              <a:lnSpc>
                <a:spcPct val="150000"/>
              </a:lnSpc>
              <a:spcBef>
                <a:spcPts val="0"/>
              </a:spcBef>
              <a:spcAft>
                <a:spcPts val="0"/>
              </a:spcAft>
              <a:buClrTx/>
              <a:buSzTx/>
              <a:buFontTx/>
              <a:buAutoNum type="arabicPeriod"/>
              <a:defRPr/>
            </a:pPr>
            <a:r>
              <a:rPr lang="en-US" altLang="zh-CN" dirty="0">
                <a:latin typeface="+mn-ea"/>
                <a:cs typeface="+mn-ea"/>
                <a:sym typeface="+mn-ea"/>
              </a:rPr>
              <a:t>[todo1] </a:t>
            </a:r>
            <a:r>
              <a:rPr lang="zh-CN" altLang="en-US" b="0" dirty="0">
                <a:solidFill>
                  <a:schemeClr val="tx1"/>
                </a:solidFill>
                <a:latin typeface="+mn-ea"/>
                <a:ea typeface="+mn-ea"/>
              </a:rPr>
              <a:t>参考</a:t>
            </a:r>
            <a:r>
              <a:rPr lang="en-US" altLang="zh-CN" b="0" dirty="0" err="1">
                <a:solidFill>
                  <a:schemeClr val="tx1"/>
                </a:solidFill>
                <a:latin typeface="+mn-ea"/>
                <a:ea typeface="+mn-ea"/>
              </a:rPr>
              <a:t>CruxEval</a:t>
            </a:r>
            <a:r>
              <a:rPr lang="zh-CN" altLang="en-US" b="0" dirty="0">
                <a:solidFill>
                  <a:schemeClr val="tx1"/>
                </a:solidFill>
                <a:latin typeface="+mn-ea"/>
                <a:ea typeface="+mn-ea"/>
              </a:rPr>
              <a:t>的</a:t>
            </a:r>
            <a:r>
              <a:rPr lang="en-US" altLang="zh-CN" b="0" dirty="0">
                <a:solidFill>
                  <a:schemeClr val="tx1"/>
                </a:solidFill>
                <a:latin typeface="+mn-ea"/>
                <a:ea typeface="+mn-ea"/>
              </a:rPr>
              <a:t>cot</a:t>
            </a:r>
            <a:r>
              <a:rPr lang="zh-CN" altLang="en-US" b="0" dirty="0">
                <a:solidFill>
                  <a:schemeClr val="tx1"/>
                </a:solidFill>
                <a:latin typeface="+mn-ea"/>
                <a:ea typeface="+mn-ea"/>
              </a:rPr>
              <a:t>写法</a:t>
            </a:r>
            <a:r>
              <a:rPr lang="zh-CN" altLang="en-US" dirty="0">
                <a:latin typeface="+mn-ea"/>
              </a:rPr>
              <a:t>，做</a:t>
            </a:r>
            <a:r>
              <a:rPr lang="en-US" altLang="zh-CN" dirty="0">
                <a:latin typeface="+mn-ea"/>
              </a:rPr>
              <a:t>cot think</a:t>
            </a:r>
            <a:r>
              <a:rPr lang="zh-CN" altLang="en-US" dirty="0">
                <a:latin typeface="+mn-ea"/>
              </a:rPr>
              <a:t>评估，看是否能提升小模型的正确率</a:t>
            </a:r>
            <a:endParaRPr lang="en-US" altLang="zh-CN" dirty="0">
              <a:latin typeface="+mn-ea"/>
            </a:endParaRPr>
          </a:p>
          <a:p>
            <a:pPr marL="342900" marR="0" lvl="0" indent="-342900" algn="l" defTabSz="914400" rtl="0" eaLnBrk="1" fontAlgn="auto" latinLnBrk="0" hangingPunct="1">
              <a:lnSpc>
                <a:spcPct val="150000"/>
              </a:lnSpc>
              <a:spcBef>
                <a:spcPts val="0"/>
              </a:spcBef>
              <a:spcAft>
                <a:spcPts val="0"/>
              </a:spcAft>
              <a:buClrTx/>
              <a:buSzTx/>
              <a:buFontTx/>
              <a:buAutoNum type="arabicPeriod"/>
              <a:defRPr/>
            </a:pPr>
            <a:r>
              <a:rPr lang="en-US" altLang="zh-CN" b="0" dirty="0">
                <a:solidFill>
                  <a:schemeClr val="tx1"/>
                </a:solidFill>
                <a:latin typeface="+mn-ea"/>
                <a:cs typeface="+mn-ea"/>
                <a:sym typeface="+mn-ea"/>
              </a:rPr>
              <a:t>[todo2] </a:t>
            </a:r>
            <a:r>
              <a:rPr lang="zh-CN" altLang="en-US" b="0" dirty="0">
                <a:solidFill>
                  <a:schemeClr val="tx1"/>
                </a:solidFill>
                <a:latin typeface="+mn-ea"/>
                <a:cs typeface="+mn-ea"/>
                <a:sym typeface="+mn-ea"/>
              </a:rPr>
              <a:t>尝试训代码模型，看是否在我们的评估集上有提升</a:t>
            </a:r>
            <a:endParaRPr lang="zh-CN" altLang="en-US" b="0" dirty="0">
              <a:solidFill>
                <a:schemeClr val="tx1"/>
              </a:solidFill>
              <a:latin typeface="+mn-ea"/>
              <a:cs typeface="+mn-ea"/>
              <a:sym typeface="+mn-ea"/>
            </a:endParaRPr>
          </a:p>
          <a:p>
            <a:pPr marL="342900" marR="0" lvl="0" indent="-342900" algn="l" defTabSz="914400" rtl="0" eaLnBrk="1" fontAlgn="auto" latinLnBrk="0" hangingPunct="1">
              <a:lnSpc>
                <a:spcPct val="150000"/>
              </a:lnSpc>
              <a:spcBef>
                <a:spcPts val="0"/>
              </a:spcBef>
              <a:spcAft>
                <a:spcPts val="0"/>
              </a:spcAft>
              <a:buClrTx/>
              <a:buSzTx/>
              <a:buFontTx/>
              <a:buAutoNum type="arabicPeriod"/>
              <a:defRPr/>
            </a:pPr>
            <a:r>
              <a:rPr lang="en-US" altLang="zh-CN" b="0" dirty="0">
                <a:solidFill>
                  <a:schemeClr val="tx1"/>
                </a:solidFill>
                <a:latin typeface="+mn-ea"/>
                <a:cs typeface="+mn-ea"/>
                <a:sym typeface="+mn-ea"/>
              </a:rPr>
              <a:t>[todo3] </a:t>
            </a:r>
            <a:r>
              <a:rPr lang="zh-CN" altLang="en-US" b="0" dirty="0">
                <a:solidFill>
                  <a:schemeClr val="tx1"/>
                </a:solidFill>
                <a:latin typeface="+mn-ea"/>
                <a:cs typeface="+mn-ea"/>
                <a:sym typeface="+mn-ea"/>
              </a:rPr>
              <a:t>尝试各个大小和类型的模型</a:t>
            </a:r>
            <a:r>
              <a:rPr lang="en-US" altLang="zh-CN" b="0" dirty="0">
                <a:solidFill>
                  <a:schemeClr val="tx1"/>
                </a:solidFill>
                <a:latin typeface="+mn-ea"/>
                <a:cs typeface="+mn-ea"/>
                <a:sym typeface="+mn-ea"/>
              </a:rPr>
              <a:t>，</a:t>
            </a:r>
            <a:r>
              <a:rPr lang="zh-CN" altLang="en-US" b="0" dirty="0">
                <a:solidFill>
                  <a:schemeClr val="tx1"/>
                </a:solidFill>
                <a:latin typeface="+mn-ea"/>
                <a:cs typeface="+mn-ea"/>
                <a:sym typeface="+mn-ea"/>
              </a:rPr>
              <a:t>看他们的</a:t>
            </a:r>
            <a:r>
              <a:rPr lang="zh-CN" altLang="en-US" b="0" dirty="0">
                <a:solidFill>
                  <a:schemeClr val="tx1"/>
                </a:solidFill>
                <a:latin typeface="+mn-ea"/>
                <a:cs typeface="+mn-ea"/>
                <a:sym typeface="+mn-ea"/>
              </a:rPr>
              <a:t>正确率</a:t>
            </a:r>
            <a:endParaRPr lang="zh-CN" altLang="en-US" b="0" dirty="0">
              <a:solidFill>
                <a:schemeClr val="tx1"/>
              </a:solidFill>
              <a:latin typeface="+mn-ea"/>
              <a:cs typeface="+mn-ea"/>
              <a:sym typeface="+mn-ea"/>
            </a:endParaRPr>
          </a:p>
        </p:txBody>
      </p:sp>
      <p:graphicFrame>
        <p:nvGraphicFramePr>
          <p:cNvPr id="3" name="表格 2"/>
          <p:cNvGraphicFramePr/>
          <p:nvPr>
            <p:custDataLst>
              <p:tags r:id="rId1"/>
            </p:custDataLst>
          </p:nvPr>
        </p:nvGraphicFramePr>
        <p:xfrm>
          <a:off x="5180330" y="4226560"/>
          <a:ext cx="7011670" cy="2560320"/>
        </p:xfrm>
        <a:graphic>
          <a:graphicData uri="http://schemas.openxmlformats.org/drawingml/2006/table">
            <a:tbl>
              <a:tblPr firstRow="1" bandRow="1">
                <a:tableStyleId>{5C22544A-7EE6-4342-B048-85BDC9FD1C3A}</a:tableStyleId>
              </a:tblPr>
              <a:tblGrid>
                <a:gridCol w="3524885"/>
                <a:gridCol w="3486785"/>
              </a:tblGrid>
              <a:tr h="365760">
                <a:tc>
                  <a:txBody>
                    <a:bodyPr/>
                    <a:lstStyle/>
                    <a:p>
                      <a:pPr algn="ctr">
                        <a:buNone/>
                      </a:pPr>
                      <a:r>
                        <a:rPr lang="zh-CN" altLang="en-US" dirty="0"/>
                        <a:t>模型</a:t>
                      </a:r>
                      <a:endParaRPr lang="zh-CN" altLang="en-US" dirty="0"/>
                    </a:p>
                  </a:txBody>
                  <a:tcPr anchor="ctr">
                    <a:solidFill>
                      <a:schemeClr val="tx1">
                        <a:lumMod val="85000"/>
                        <a:lumOff val="15000"/>
                      </a:schemeClr>
                    </a:solidFill>
                  </a:tcPr>
                </a:tc>
                <a:tc>
                  <a:txBody>
                    <a:bodyPr/>
                    <a:lstStyle/>
                    <a:p>
                      <a:pPr algn="ctr">
                        <a:buNone/>
                      </a:pPr>
                      <a:r>
                        <a:rPr lang="zh-CN" altLang="en-US"/>
                        <a:t>正确率</a:t>
                      </a:r>
                      <a:r>
                        <a:rPr lang="en-US" altLang="zh-CN"/>
                        <a:t> Acc （temp=0）</a:t>
                      </a:r>
                      <a:endParaRPr lang="en-US" altLang="zh-CN"/>
                    </a:p>
                  </a:txBody>
                  <a:tcPr anchor="ctr">
                    <a:solidFill>
                      <a:schemeClr val="tx1">
                        <a:lumMod val="85000"/>
                        <a:lumOff val="15000"/>
                      </a:schemeClr>
                    </a:solidFill>
                  </a:tcPr>
                </a:tc>
              </a:tr>
              <a:tr h="365760">
                <a:tc>
                  <a:txBody>
                    <a:bodyPr/>
                    <a:lstStyle/>
                    <a:p>
                      <a:pPr algn="ctr">
                        <a:buNone/>
                      </a:pPr>
                      <a:r>
                        <a:rPr lang="en-US" altLang="zh-CN" sz="1800" dirty="0">
                          <a:latin typeface="Times New Roman" panose="02020503050405090304" pitchFamily="18" charset="0"/>
                          <a:cs typeface="Times New Roman" panose="02020503050405090304" pitchFamily="18" charset="0"/>
                          <a:sym typeface="+mn-ea"/>
                        </a:rPr>
                        <a:t>DeepseekV3.2</a:t>
                      </a:r>
                      <a:endParaRPr lang="zh-CN" altLang="en-US" dirty="0"/>
                    </a:p>
                  </a:txBody>
                  <a:tcPr anchor="ctr">
                    <a:solidFill>
                      <a:schemeClr val="bg2">
                        <a:lumMod val="90000"/>
                      </a:schemeClr>
                    </a:solidFill>
                  </a:tcPr>
                </a:tc>
                <a:tc>
                  <a:txBody>
                    <a:bodyPr/>
                    <a:lstStyle/>
                    <a:p>
                      <a:pPr algn="ctr">
                        <a:buNone/>
                      </a:pPr>
                      <a:r>
                        <a:rPr lang="en-US" altLang="zh-CN"/>
                        <a:t>73.5%</a:t>
                      </a:r>
                      <a:endParaRPr lang="en-US" altLang="zh-CN"/>
                    </a:p>
                  </a:txBody>
                  <a:tcPr anchor="ctr">
                    <a:solidFill>
                      <a:schemeClr val="bg2">
                        <a:lumMod val="90000"/>
                      </a:schemeClr>
                    </a:solidFill>
                  </a:tcPr>
                </a:tc>
              </a:tr>
              <a:tr h="365760">
                <a:tc>
                  <a:txBody>
                    <a:bodyPr/>
                    <a:lstStyle/>
                    <a:p>
                      <a:pPr algn="ctr">
                        <a:buNone/>
                      </a:pPr>
                      <a:r>
                        <a:rPr lang="en-US" altLang="zh-CN" sz="1800" dirty="0">
                          <a:latin typeface="Times New Roman" panose="02020503050405090304" pitchFamily="18" charset="0"/>
                          <a:cs typeface="Times New Roman" panose="02020503050405090304" pitchFamily="18" charset="0"/>
                          <a:sym typeface="+mn-ea"/>
                        </a:rPr>
                        <a:t>ClaudeSonnet4.5</a:t>
                      </a:r>
                      <a:endParaRPr lang="zh-CN" altLang="en-US" dirty="0"/>
                    </a:p>
                  </a:txBody>
                  <a:tcPr anchor="ctr">
                    <a:solidFill>
                      <a:schemeClr val="bg2">
                        <a:lumMod val="90000"/>
                      </a:schemeClr>
                    </a:solidFill>
                  </a:tcPr>
                </a:tc>
                <a:tc>
                  <a:txBody>
                    <a:bodyPr/>
                    <a:lstStyle/>
                    <a:p>
                      <a:pPr algn="ctr">
                        <a:buNone/>
                      </a:pPr>
                      <a:r>
                        <a:rPr lang="en-US" altLang="zh-CN"/>
                        <a:t>76.2%</a:t>
                      </a:r>
                      <a:endParaRPr lang="en-US" altLang="zh-CN"/>
                    </a:p>
                  </a:txBody>
                  <a:tcPr anchor="ctr">
                    <a:solidFill>
                      <a:schemeClr val="bg2">
                        <a:lumMod val="90000"/>
                      </a:schemeClr>
                    </a:solidFill>
                  </a:tcPr>
                </a:tc>
              </a:tr>
              <a:tr h="365760">
                <a:tc>
                  <a:txBody>
                    <a:bodyPr/>
                    <a:lstStyle/>
                    <a:p>
                      <a:pPr algn="ctr">
                        <a:buNone/>
                      </a:pPr>
                      <a:r>
                        <a:rPr lang="en-US" altLang="zh-CN" sz="1800" dirty="0">
                          <a:latin typeface="Times New Roman" panose="02020503050405090304" pitchFamily="18" charset="0"/>
                          <a:cs typeface="Times New Roman" panose="02020503050405090304" pitchFamily="18" charset="0"/>
                          <a:sym typeface="+mn-ea"/>
                        </a:rPr>
                        <a:t>Qwen2.5-code-7B-Instrcut</a:t>
                      </a:r>
                      <a:endParaRPr lang="zh-CN" altLang="en-US"/>
                    </a:p>
                  </a:txBody>
                  <a:tcPr anchor="ctr">
                    <a:solidFill>
                      <a:schemeClr val="accent6">
                        <a:lumMod val="20000"/>
                        <a:lumOff val="80000"/>
                      </a:schemeClr>
                    </a:solidFill>
                  </a:tcPr>
                </a:tc>
                <a:tc>
                  <a:txBody>
                    <a:bodyPr/>
                    <a:lstStyle/>
                    <a:p>
                      <a:pPr algn="ctr">
                        <a:buNone/>
                      </a:pPr>
                      <a:r>
                        <a:rPr lang="en-US" altLang="zh-CN" dirty="0"/>
                        <a:t>3.6%</a:t>
                      </a:r>
                      <a:endParaRPr lang="en-US" altLang="zh-CN" dirty="0"/>
                    </a:p>
                  </a:txBody>
                  <a:tcPr anchor="ctr">
                    <a:solidFill>
                      <a:schemeClr val="accent6">
                        <a:lumMod val="20000"/>
                        <a:lumOff val="80000"/>
                      </a:schemeClr>
                    </a:solidFill>
                  </a:tcPr>
                </a:tc>
              </a:tr>
              <a:tr h="365760">
                <a:tc>
                  <a:txBody>
                    <a:bodyPr/>
                    <a:lstStyle/>
                    <a:p>
                      <a:pPr algn="ctr">
                        <a:buNone/>
                      </a:pPr>
                      <a:r>
                        <a:rPr lang="en-US" altLang="zh-CN" sz="1800" dirty="0">
                          <a:latin typeface="Times New Roman" panose="02020503050405090304" pitchFamily="18" charset="0"/>
                          <a:cs typeface="Times New Roman" panose="02020503050405090304" pitchFamily="18" charset="0"/>
                          <a:sym typeface="+mn-ea"/>
                        </a:rPr>
                        <a:t>CodeReasoner-7b</a:t>
                      </a:r>
                      <a:endParaRPr lang="en-US" altLang="zh-CN" sz="1800" dirty="0">
                        <a:latin typeface="Times New Roman" panose="02020503050405090304" pitchFamily="18" charset="0"/>
                        <a:cs typeface="Times New Roman" panose="02020503050405090304" pitchFamily="18" charset="0"/>
                        <a:sym typeface="+mn-ea"/>
                      </a:endParaRPr>
                    </a:p>
                  </a:txBody>
                  <a:tcPr anchor="ctr">
                    <a:solidFill>
                      <a:schemeClr val="accent6">
                        <a:lumMod val="20000"/>
                        <a:lumOff val="80000"/>
                      </a:schemeClr>
                    </a:solidFill>
                  </a:tcPr>
                </a:tc>
                <a:tc>
                  <a:txBody>
                    <a:bodyPr/>
                    <a:lstStyle/>
                    <a:p>
                      <a:pPr algn="ctr">
                        <a:buNone/>
                      </a:pPr>
                      <a:r>
                        <a:rPr lang="en-US" altLang="zh-CN" dirty="0"/>
                        <a:t>2.8%</a:t>
                      </a:r>
                      <a:endParaRPr lang="en-US" altLang="zh-CN" dirty="0"/>
                    </a:p>
                  </a:txBody>
                  <a:tcPr anchor="ctr">
                    <a:solidFill>
                      <a:schemeClr val="accent6">
                        <a:lumMod val="20000"/>
                        <a:lumOff val="80000"/>
                      </a:schemeClr>
                    </a:solidFill>
                  </a:tcPr>
                </a:tc>
              </a:tr>
              <a:tr h="365760">
                <a:tc>
                  <a:txBody>
                    <a:bodyPr/>
                    <a:lstStyle/>
                    <a:p>
                      <a:pPr algn="ctr">
                        <a:buNone/>
                      </a:pPr>
                      <a:r>
                        <a:rPr lang="en-US" altLang="zh-CN" sz="1800" dirty="0">
                          <a:latin typeface="Times New Roman" panose="02020503050405090304" pitchFamily="18" charset="0"/>
                          <a:cs typeface="Times New Roman" panose="02020503050405090304" pitchFamily="18" charset="0"/>
                          <a:sym typeface="+mn-ea"/>
                        </a:rPr>
                        <a:t>Qwen2.5-Coder-7B</a:t>
                      </a:r>
                      <a:endParaRPr lang="en-US" altLang="zh-CN" sz="1800" dirty="0">
                        <a:latin typeface="Times New Roman" panose="02020503050405090304" pitchFamily="18" charset="0"/>
                        <a:cs typeface="Times New Roman" panose="02020503050405090304" pitchFamily="18" charset="0"/>
                        <a:sym typeface="+mn-ea"/>
                      </a:endParaRPr>
                    </a:p>
                  </a:txBody>
                  <a:tcPr anchor="ctr">
                    <a:solidFill>
                      <a:schemeClr val="accent5">
                        <a:lumMod val="20000"/>
                        <a:lumOff val="80000"/>
                      </a:schemeClr>
                    </a:solidFill>
                  </a:tcPr>
                </a:tc>
                <a:tc>
                  <a:txBody>
                    <a:bodyPr/>
                    <a:lstStyle/>
                    <a:p>
                      <a:pPr algn="ctr">
                        <a:buNone/>
                      </a:pPr>
                      <a:r>
                        <a:rPr lang="en-US" altLang="zh-CN" dirty="0"/>
                        <a:t>4.2%</a:t>
                      </a:r>
                      <a:endParaRPr lang="en-US" altLang="zh-CN" dirty="0"/>
                    </a:p>
                  </a:txBody>
                  <a:tcPr anchor="ctr">
                    <a:solidFill>
                      <a:schemeClr val="accent5">
                        <a:lumMod val="20000"/>
                        <a:lumOff val="80000"/>
                      </a:schemeClr>
                    </a:solidFill>
                  </a:tcPr>
                </a:tc>
              </a:tr>
              <a:tr h="365760">
                <a:tc>
                  <a:txBody>
                    <a:bodyPr/>
                    <a:lstStyle/>
                    <a:p>
                      <a:pPr algn="ctr">
                        <a:buNone/>
                      </a:pPr>
                      <a:r>
                        <a:rPr lang="en-US" altLang="zh-CN" sz="1800" dirty="0">
                          <a:latin typeface="Times New Roman" panose="02020503050405090304" pitchFamily="18" charset="0"/>
                          <a:cs typeface="Times New Roman" panose="02020503050405090304" pitchFamily="18" charset="0"/>
                          <a:sym typeface="+mn-ea"/>
                        </a:rPr>
                        <a:t>CodeIO</a:t>
                      </a:r>
                      <a:endParaRPr lang="en-US" altLang="zh-CN" sz="1800" dirty="0">
                        <a:latin typeface="Times New Roman" panose="02020503050405090304" pitchFamily="18" charset="0"/>
                        <a:cs typeface="Times New Roman" panose="02020503050405090304" pitchFamily="18" charset="0"/>
                        <a:sym typeface="+mn-ea"/>
                      </a:endParaRPr>
                    </a:p>
                  </a:txBody>
                  <a:tcPr anchor="ctr">
                    <a:solidFill>
                      <a:schemeClr val="accent5">
                        <a:lumMod val="20000"/>
                        <a:lumOff val="80000"/>
                      </a:schemeClr>
                    </a:solidFill>
                  </a:tcPr>
                </a:tc>
                <a:tc>
                  <a:txBody>
                    <a:bodyPr/>
                    <a:lstStyle/>
                    <a:p>
                      <a:pPr algn="ctr">
                        <a:buNone/>
                      </a:pPr>
                      <a:r>
                        <a:rPr lang="en-US" altLang="zh-CN" dirty="0"/>
                        <a:t>3.4%</a:t>
                      </a:r>
                      <a:endParaRPr lang="en-US" altLang="zh-CN" dirty="0"/>
                    </a:p>
                  </a:txBody>
                  <a:tcPr anchor="ctr">
                    <a:solidFill>
                      <a:schemeClr val="accent5">
                        <a:lumMod val="20000"/>
                        <a:lumOff val="80000"/>
                      </a:schemeClr>
                    </a:solidFill>
                  </a:tcPr>
                </a:tc>
              </a:tr>
            </a:tbl>
          </a:graphicData>
        </a:graphic>
      </p:graphicFrame>
      <p:pic>
        <p:nvPicPr>
          <p:cNvPr id="5" name="图片 4" descr="dataset_distribution"/>
          <p:cNvPicPr>
            <a:picLocks noChangeAspect="1"/>
          </p:cNvPicPr>
          <p:nvPr/>
        </p:nvPicPr>
        <p:blipFill>
          <a:blip r:embed="rId2"/>
          <a:stretch>
            <a:fillRect/>
          </a:stretch>
        </p:blipFill>
        <p:spPr>
          <a:xfrm>
            <a:off x="59690" y="4657090"/>
            <a:ext cx="5086350" cy="1543050"/>
          </a:xfrm>
          <a:prstGeom prst="rect">
            <a:avLst/>
          </a:prstGeom>
          <a:ln>
            <a:solidFill>
              <a:schemeClr val="accent1"/>
            </a:solid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27640" y="83622"/>
            <a:ext cx="2646878" cy="584775"/>
          </a:xfrm>
          <a:prstGeom prst="rect">
            <a:avLst/>
          </a:prstGeom>
          <a:noFill/>
        </p:spPr>
        <p:txBody>
          <a:bodyPr wrap="none" rtlCol="0">
            <a:spAutoFit/>
          </a:bodyPr>
          <a:lstStyle/>
          <a:p>
            <a:r>
              <a:rPr lang="zh-CN" altLang="en-US" sz="3200" dirty="0"/>
              <a:t>本周内容总结</a:t>
            </a:r>
            <a:endParaRPr lang="zh-CN" altLang="en-US" sz="3200" dirty="0"/>
          </a:p>
        </p:txBody>
      </p:sp>
      <p:graphicFrame>
        <p:nvGraphicFramePr>
          <p:cNvPr id="3" name="表格 2"/>
          <p:cNvGraphicFramePr>
            <a:graphicFrameLocks noGrp="1"/>
          </p:cNvGraphicFramePr>
          <p:nvPr>
            <p:custDataLst>
              <p:tags r:id="rId1"/>
            </p:custDataLst>
          </p:nvPr>
        </p:nvGraphicFramePr>
        <p:xfrm>
          <a:off x="196850" y="668655"/>
          <a:ext cx="11857355" cy="5981700"/>
        </p:xfrm>
        <a:graphic>
          <a:graphicData uri="http://schemas.openxmlformats.org/drawingml/2006/table">
            <a:tbl>
              <a:tblPr firstRow="1" bandRow="1">
                <a:tableStyleId>{073A0DAA-6AF3-43AB-8588-CEC1D06C72B9}</a:tableStyleId>
              </a:tblPr>
              <a:tblGrid>
                <a:gridCol w="1210310"/>
                <a:gridCol w="10647045"/>
              </a:tblGrid>
              <a:tr h="2169795">
                <a:tc>
                  <a:txBody>
                    <a:bodyPr/>
                    <a:lstStyle/>
                    <a:p>
                      <a:pPr algn="ctr"/>
                      <a:r>
                        <a:rPr lang="zh-CN" altLang="en-US" sz="1800" b="0" dirty="0">
                          <a:solidFill>
                            <a:schemeClr val="tx1"/>
                          </a:solidFill>
                          <a:latin typeface="+mn-ea"/>
                          <a:ea typeface="+mn-ea"/>
                        </a:rPr>
                        <a:t>细节进展</a:t>
                      </a:r>
                      <a:endParaRPr lang="zh-CN" altLang="en-US" sz="1800" b="0" dirty="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342900" marR="0" lvl="0" indent="-342900" algn="l" defTabSz="914400" rtl="0" eaLnBrk="1" fontAlgn="auto" latinLnBrk="0" hangingPunct="1">
                        <a:lnSpc>
                          <a:spcPct val="150000"/>
                        </a:lnSpc>
                        <a:spcBef>
                          <a:spcPts val="0"/>
                        </a:spcBef>
                        <a:spcAft>
                          <a:spcPts val="0"/>
                        </a:spcAft>
                        <a:buClrTx/>
                        <a:buSzTx/>
                        <a:buFontTx/>
                        <a:buAutoNum type="arabicPeriod"/>
                        <a:defRPr/>
                      </a:pPr>
                      <a:r>
                        <a:rPr lang="zh-CN" altLang="en-US" sz="1800" b="0" dirty="0">
                          <a:solidFill>
                            <a:schemeClr val="tx1"/>
                          </a:solidFill>
                          <a:latin typeface="+mn-ea"/>
                          <a:cs typeface="+mn-ea"/>
                          <a:sym typeface="+mn-ea"/>
                        </a:rPr>
                        <a:t>上周重点是“快速理解性实验”</a:t>
                      </a:r>
                      <a:r>
                        <a:rPr lang="en-US" altLang="zh-CN" sz="1800" b="0" dirty="0">
                          <a:solidFill>
                            <a:schemeClr val="tx1"/>
                          </a:solidFill>
                          <a:latin typeface="+mn-ea"/>
                          <a:cs typeface="+mn-ea"/>
                          <a:sym typeface="+mn-ea"/>
                        </a:rPr>
                        <a:t>，</a:t>
                      </a:r>
                      <a:r>
                        <a:rPr lang="zh-CN" altLang="en-US" sz="1800" b="0" dirty="0">
                          <a:solidFill>
                            <a:schemeClr val="tx1"/>
                          </a:solidFill>
                          <a:latin typeface="+mn-ea"/>
                          <a:cs typeface="+mn-ea"/>
                          <a:sym typeface="+mn-ea"/>
                        </a:rPr>
                        <a:t>得到了重点</a:t>
                      </a:r>
                      <a:r>
                        <a:rPr lang="en-US" altLang="zh-CN" sz="1800" b="0" dirty="0">
                          <a:solidFill>
                            <a:schemeClr val="tx1"/>
                          </a:solidFill>
                          <a:latin typeface="+mn-ea"/>
                          <a:cs typeface="+mn-ea"/>
                          <a:sym typeface="+mn-ea"/>
                        </a:rPr>
                        <a:t>insight：</a:t>
                      </a:r>
                      <a:r>
                        <a:rPr lang="zh-CN" altLang="en-US" sz="1800" b="0" dirty="0">
                          <a:solidFill>
                            <a:schemeClr val="tx1"/>
                          </a:solidFill>
                          <a:latin typeface="+mn-ea"/>
                          <a:cs typeface="+mn-ea"/>
                          <a:sym typeface="+mn-ea"/>
                        </a:rPr>
                        <a:t>我们很难</a:t>
                      </a:r>
                      <a:r>
                        <a:rPr lang="en-US" altLang="zh-CN" sz="1800" b="0" dirty="0">
                          <a:solidFill>
                            <a:schemeClr val="tx1"/>
                          </a:solidFill>
                          <a:latin typeface="+mn-ea"/>
                          <a:cs typeface="+mn-ea"/>
                          <a:sym typeface="+mn-ea"/>
                        </a:rPr>
                        <a:t>+code</a:t>
                      </a:r>
                      <a:r>
                        <a:rPr lang="zh-CN" altLang="en-US" sz="1800" b="0" dirty="0">
                          <a:solidFill>
                            <a:schemeClr val="tx1"/>
                          </a:solidFill>
                          <a:latin typeface="+mn-ea"/>
                          <a:cs typeface="+mn-ea"/>
                          <a:sym typeface="+mn-ea"/>
                        </a:rPr>
                        <a:t>训练工作在我们这里</a:t>
                      </a:r>
                      <a:r>
                        <a:rPr lang="zh-CN" altLang="en-US" sz="1800" b="0" dirty="0">
                          <a:solidFill>
                            <a:schemeClr val="tx1"/>
                          </a:solidFill>
                          <a:latin typeface="+mn-ea"/>
                          <a:cs typeface="+mn-ea"/>
                          <a:sym typeface="+mn-ea"/>
                        </a:rPr>
                        <a:t>下降</a:t>
                      </a:r>
                      <a:endParaRPr lang="zh-CN" altLang="en-US" sz="1800" b="0" dirty="0">
                        <a:solidFill>
                          <a:schemeClr val="tx1"/>
                        </a:solidFill>
                        <a:latin typeface="+mn-ea"/>
                        <a:cs typeface="+mn-ea"/>
                        <a:sym typeface="+mn-ea"/>
                      </a:endParaRPr>
                    </a:p>
                    <a:p>
                      <a:pPr marL="342900" marR="0" lvl="0" indent="-342900" algn="l" defTabSz="914400" rtl="0" eaLnBrk="1" fontAlgn="auto" latinLnBrk="0" hangingPunct="1">
                        <a:lnSpc>
                          <a:spcPct val="150000"/>
                        </a:lnSpc>
                        <a:spcBef>
                          <a:spcPts val="0"/>
                        </a:spcBef>
                        <a:spcAft>
                          <a:spcPts val="0"/>
                        </a:spcAft>
                        <a:buClrTx/>
                        <a:buSzTx/>
                        <a:buFontTx/>
                        <a:buAutoNum type="arabicPeriod"/>
                        <a:defRPr/>
                      </a:pPr>
                      <a:r>
                        <a:rPr lang="zh-CN" altLang="en-US" sz="1800" b="0" dirty="0">
                          <a:solidFill>
                            <a:schemeClr val="tx1"/>
                          </a:solidFill>
                          <a:latin typeface="+mn-ea"/>
                          <a:cs typeface="+mn-ea"/>
                          <a:sym typeface="+mn-ea"/>
                        </a:rPr>
                        <a:t>这周重点是“扩大性理解性实验”</a:t>
                      </a:r>
                      <a:r>
                        <a:rPr lang="en-US" altLang="zh-CN" sz="1800" b="0" dirty="0">
                          <a:solidFill>
                            <a:schemeClr val="tx1"/>
                          </a:solidFill>
                          <a:latin typeface="+mn-ea"/>
                          <a:cs typeface="+mn-ea"/>
                          <a:sym typeface="+mn-ea"/>
                        </a:rPr>
                        <a:t>，</a:t>
                      </a:r>
                      <a:r>
                        <a:rPr lang="zh-CN" altLang="en-US" sz="1800" b="0" dirty="0">
                          <a:solidFill>
                            <a:schemeClr val="tx1"/>
                          </a:solidFill>
                          <a:latin typeface="+mn-ea"/>
                          <a:cs typeface="+mn-ea"/>
                          <a:sym typeface="+mn-ea"/>
                        </a:rPr>
                        <a:t>做的更全面</a:t>
                      </a:r>
                      <a:r>
                        <a:rPr lang="en-US" altLang="zh-CN" sz="1800" b="0" dirty="0">
                          <a:solidFill>
                            <a:schemeClr val="tx1"/>
                          </a:solidFill>
                          <a:latin typeface="+mn-ea"/>
                          <a:cs typeface="+mn-ea"/>
                          <a:sym typeface="+mn-ea"/>
                        </a:rPr>
                        <a:t>，</a:t>
                      </a:r>
                      <a:r>
                        <a:rPr lang="zh-CN" altLang="en-US" sz="1800" b="0" dirty="0">
                          <a:solidFill>
                            <a:schemeClr val="tx1"/>
                          </a:solidFill>
                          <a:latin typeface="+mn-ea"/>
                          <a:cs typeface="+mn-ea"/>
                          <a:sym typeface="+mn-ea"/>
                        </a:rPr>
                        <a:t>从三个方面让</a:t>
                      </a:r>
                      <a:r>
                        <a:rPr lang="zh-CN" altLang="en-US" sz="1800" b="0" dirty="0">
                          <a:solidFill>
                            <a:schemeClr val="tx1"/>
                          </a:solidFill>
                          <a:latin typeface="+mn-ea"/>
                          <a:cs typeface="+mn-ea"/>
                          <a:sym typeface="+mn-ea"/>
                        </a:rPr>
                        <a:t>实验数据</a:t>
                      </a:r>
                      <a:r>
                        <a:rPr lang="zh-CN" altLang="en-US" sz="1800" b="0" dirty="0">
                          <a:solidFill>
                            <a:schemeClr val="tx1"/>
                          </a:solidFill>
                          <a:latin typeface="+mn-ea"/>
                          <a:cs typeface="+mn-ea"/>
                          <a:sym typeface="+mn-ea"/>
                        </a:rPr>
                        <a:t>更可靠</a:t>
                      </a:r>
                      <a:endParaRPr lang="zh-CN" altLang="en-US" sz="1800" b="0" dirty="0">
                        <a:solidFill>
                          <a:schemeClr val="tx1"/>
                        </a:solidFill>
                        <a:latin typeface="+mn-ea"/>
                        <a:cs typeface="+mn-ea"/>
                        <a:sym typeface="+mn-ea"/>
                      </a:endParaRPr>
                    </a:p>
                    <a:p>
                      <a:pPr marL="342900" marR="0" lvl="0" indent="-342900" algn="l" defTabSz="914400" rtl="0" eaLnBrk="1" fontAlgn="auto" latinLnBrk="0" hangingPunct="1">
                        <a:lnSpc>
                          <a:spcPct val="150000"/>
                        </a:lnSpc>
                        <a:spcBef>
                          <a:spcPts val="0"/>
                        </a:spcBef>
                        <a:spcAft>
                          <a:spcPts val="0"/>
                        </a:spcAft>
                        <a:buClrTx/>
                        <a:buSzTx/>
                        <a:buFontTx/>
                        <a:buAutoNum type="arabicPeriod"/>
                        <a:defRPr/>
                      </a:pPr>
                      <a:r>
                        <a:rPr lang="en-US" altLang="zh-CN" sz="1800" b="0" dirty="0">
                          <a:solidFill>
                            <a:schemeClr val="tx1"/>
                          </a:solidFill>
                          <a:latin typeface="+mn-ea"/>
                          <a:cs typeface="+mn-ea"/>
                          <a:sym typeface="+mn-ea"/>
                        </a:rPr>
                        <a:t>[NEW] </a:t>
                      </a:r>
                      <a:r>
                        <a:rPr lang="zh-CN" altLang="en-US" sz="1800" b="0" dirty="0">
                          <a:solidFill>
                            <a:schemeClr val="tx1"/>
                          </a:solidFill>
                          <a:latin typeface="+mn-ea"/>
                          <a:cs typeface="+mn-ea"/>
                          <a:sym typeface="+mn-ea"/>
                        </a:rPr>
                        <a:t>完成了显式</a:t>
                      </a:r>
                      <a:r>
                        <a:rPr lang="en-US" altLang="zh-CN" sz="1800" b="0" dirty="0">
                          <a:solidFill>
                            <a:schemeClr val="tx1"/>
                          </a:solidFill>
                          <a:latin typeface="+mn-ea"/>
                          <a:cs typeface="+mn-ea"/>
                          <a:sym typeface="+mn-ea"/>
                        </a:rPr>
                        <a:t>COT</a:t>
                      </a:r>
                      <a:r>
                        <a:rPr lang="zh-CN" altLang="en-US" sz="1800" b="0" dirty="0">
                          <a:solidFill>
                            <a:schemeClr val="tx1"/>
                          </a:solidFill>
                          <a:latin typeface="+mn-ea"/>
                          <a:cs typeface="+mn-ea"/>
                          <a:sym typeface="+mn-ea"/>
                        </a:rPr>
                        <a:t>评估方案</a:t>
                      </a:r>
                      <a:r>
                        <a:rPr lang="en-US" altLang="zh-CN" sz="1800" b="0" dirty="0">
                          <a:solidFill>
                            <a:schemeClr val="tx1"/>
                          </a:solidFill>
                          <a:latin typeface="+mn-ea"/>
                          <a:cs typeface="+mn-ea"/>
                          <a:sym typeface="+mn-ea"/>
                        </a:rPr>
                        <a:t>，</a:t>
                      </a:r>
                      <a:r>
                        <a:rPr lang="zh-CN" altLang="en-US" sz="1800" b="0" dirty="0">
                          <a:solidFill>
                            <a:schemeClr val="tx1"/>
                          </a:solidFill>
                          <a:latin typeface="+mn-ea"/>
                          <a:cs typeface="+mn-ea"/>
                          <a:sym typeface="+mn-ea"/>
                        </a:rPr>
                        <a:t>并对之前的</a:t>
                      </a:r>
                      <a:r>
                        <a:rPr lang="en-US" altLang="zh-CN" sz="1800" b="0" dirty="0">
                          <a:solidFill>
                            <a:schemeClr val="tx1"/>
                          </a:solidFill>
                          <a:latin typeface="+mn-ea"/>
                          <a:cs typeface="+mn-ea"/>
                          <a:sym typeface="+mn-ea"/>
                        </a:rPr>
                        <a:t>7B</a:t>
                      </a:r>
                      <a:r>
                        <a:rPr lang="zh-CN" altLang="en-US" sz="1800" b="0" dirty="0">
                          <a:solidFill>
                            <a:schemeClr val="tx1"/>
                          </a:solidFill>
                          <a:latin typeface="+mn-ea"/>
                          <a:cs typeface="+mn-ea"/>
                          <a:sym typeface="+mn-ea"/>
                        </a:rPr>
                        <a:t>小模型重新进行了</a:t>
                      </a:r>
                      <a:r>
                        <a:rPr lang="zh-CN" altLang="en-US" sz="1800" b="0" dirty="0">
                          <a:solidFill>
                            <a:schemeClr val="tx1"/>
                          </a:solidFill>
                          <a:latin typeface="+mn-ea"/>
                          <a:cs typeface="+mn-ea"/>
                          <a:sym typeface="+mn-ea"/>
                        </a:rPr>
                        <a:t>显式</a:t>
                      </a:r>
                      <a:r>
                        <a:rPr lang="en-US" altLang="zh-CN" sz="1800" b="0" dirty="0">
                          <a:solidFill>
                            <a:schemeClr val="tx1"/>
                          </a:solidFill>
                          <a:latin typeface="+mn-ea"/>
                          <a:cs typeface="+mn-ea"/>
                          <a:sym typeface="+mn-ea"/>
                        </a:rPr>
                        <a:t>COT</a:t>
                      </a:r>
                      <a:r>
                        <a:rPr lang="zh-CN" altLang="en-US" sz="1800" b="0" dirty="0">
                          <a:solidFill>
                            <a:schemeClr val="tx1"/>
                          </a:solidFill>
                          <a:latin typeface="+mn-ea"/>
                          <a:cs typeface="+mn-ea"/>
                          <a:sym typeface="+mn-ea"/>
                        </a:rPr>
                        <a:t>评估</a:t>
                      </a:r>
                      <a:endParaRPr lang="zh-CN" altLang="en-US" sz="1800" b="0" dirty="0">
                        <a:solidFill>
                          <a:schemeClr val="tx1"/>
                        </a:solidFill>
                        <a:latin typeface="+mn-ea"/>
                        <a:cs typeface="+mn-ea"/>
                        <a:sym typeface="+mn-ea"/>
                      </a:endParaRPr>
                    </a:p>
                    <a:p>
                      <a:pPr marL="342900" marR="0" lvl="0" indent="-342900" algn="l" defTabSz="914400" rtl="0" eaLnBrk="1" fontAlgn="auto" latinLnBrk="0" hangingPunct="1">
                        <a:lnSpc>
                          <a:spcPct val="150000"/>
                        </a:lnSpc>
                        <a:spcBef>
                          <a:spcPts val="0"/>
                        </a:spcBef>
                        <a:spcAft>
                          <a:spcPts val="0"/>
                        </a:spcAft>
                        <a:buClrTx/>
                        <a:buSzTx/>
                        <a:buFontTx/>
                        <a:buAutoNum type="arabicPeriod"/>
                        <a:defRPr/>
                      </a:pPr>
                      <a:r>
                        <a:rPr lang="en-US" altLang="zh-CN" sz="1800" b="0" dirty="0">
                          <a:solidFill>
                            <a:schemeClr val="tx1"/>
                          </a:solidFill>
                          <a:latin typeface="+mn-ea"/>
                          <a:cs typeface="+mn-ea"/>
                          <a:sym typeface="+mn-ea"/>
                        </a:rPr>
                        <a:t>[NEW] </a:t>
                      </a:r>
                      <a:r>
                        <a:rPr lang="zh-CN" altLang="en-US" sz="1800" b="0" dirty="0">
                          <a:solidFill>
                            <a:schemeClr val="tx1"/>
                          </a:solidFill>
                          <a:latin typeface="+mn-ea"/>
                          <a:cs typeface="+mn-ea"/>
                          <a:sym typeface="+mn-ea"/>
                        </a:rPr>
                        <a:t>构建了新的训练集</a:t>
                      </a:r>
                      <a:r>
                        <a:rPr lang="en-US" altLang="zh-CN" sz="1800" b="0" dirty="0">
                          <a:solidFill>
                            <a:schemeClr val="tx1"/>
                          </a:solidFill>
                          <a:latin typeface="+mn-ea"/>
                          <a:cs typeface="+mn-ea"/>
                          <a:sym typeface="+mn-ea"/>
                        </a:rPr>
                        <a:t>（500），</a:t>
                      </a:r>
                      <a:r>
                        <a:rPr lang="zh-CN" altLang="en-US" sz="1800" b="0" dirty="0">
                          <a:solidFill>
                            <a:schemeClr val="tx1"/>
                          </a:solidFill>
                          <a:latin typeface="+mn-ea"/>
                          <a:cs typeface="+mn-ea"/>
                          <a:sym typeface="+mn-ea"/>
                        </a:rPr>
                        <a:t>训练了两个模型</a:t>
                      </a:r>
                      <a:r>
                        <a:rPr lang="en-US" altLang="zh-CN" sz="1800" b="0" dirty="0">
                          <a:solidFill>
                            <a:schemeClr val="tx1"/>
                          </a:solidFill>
                          <a:latin typeface="+mn-ea"/>
                          <a:cs typeface="+mn-ea"/>
                          <a:sym typeface="+mn-ea"/>
                        </a:rPr>
                        <a:t>，</a:t>
                      </a:r>
                      <a:r>
                        <a:rPr lang="zh-CN" altLang="en-US" sz="1800" b="0" dirty="0">
                          <a:solidFill>
                            <a:schemeClr val="tx1"/>
                          </a:solidFill>
                          <a:latin typeface="+mn-ea"/>
                          <a:cs typeface="+mn-ea"/>
                          <a:sym typeface="+mn-ea"/>
                        </a:rPr>
                        <a:t>并进行了</a:t>
                      </a:r>
                      <a:r>
                        <a:rPr lang="zh-CN" altLang="en-US" sz="1800" b="0" dirty="0">
                          <a:solidFill>
                            <a:schemeClr val="tx1"/>
                          </a:solidFill>
                          <a:latin typeface="+mn-ea"/>
                          <a:cs typeface="+mn-ea"/>
                          <a:sym typeface="+mn-ea"/>
                        </a:rPr>
                        <a:t>评估</a:t>
                      </a:r>
                      <a:endParaRPr lang="zh-CN" altLang="en-US" sz="1800" b="0" dirty="0">
                        <a:solidFill>
                          <a:schemeClr val="tx1"/>
                        </a:solidFill>
                        <a:latin typeface="+mn-ea"/>
                        <a:cs typeface="+mn-ea"/>
                        <a:sym typeface="+mn-ea"/>
                      </a:endParaRPr>
                    </a:p>
                    <a:p>
                      <a:pPr marL="342900" marR="0" lvl="0" indent="-342900" algn="l" defTabSz="914400" rtl="0" eaLnBrk="1" fontAlgn="auto" latinLnBrk="0" hangingPunct="1">
                        <a:lnSpc>
                          <a:spcPct val="150000"/>
                        </a:lnSpc>
                        <a:spcBef>
                          <a:spcPts val="0"/>
                        </a:spcBef>
                        <a:spcAft>
                          <a:spcPts val="0"/>
                        </a:spcAft>
                        <a:buClrTx/>
                        <a:buSzTx/>
                        <a:buFontTx/>
                        <a:buAutoNum type="arabicPeriod"/>
                        <a:defRPr/>
                      </a:pPr>
                      <a:r>
                        <a:rPr lang="en-US" altLang="zh-CN" sz="1800" b="0" dirty="0">
                          <a:solidFill>
                            <a:schemeClr val="tx1"/>
                          </a:solidFill>
                          <a:latin typeface="+mn-ea"/>
                          <a:cs typeface="+mn-ea"/>
                          <a:sym typeface="+mn-ea"/>
                        </a:rPr>
                        <a:t>[NEW] </a:t>
                      </a:r>
                      <a:r>
                        <a:rPr lang="zh-CN" altLang="en-US" sz="1800" b="0" dirty="0">
                          <a:solidFill>
                            <a:schemeClr val="tx1"/>
                          </a:solidFill>
                          <a:latin typeface="+mn-ea"/>
                          <a:cs typeface="+mn-ea"/>
                          <a:sym typeface="+mn-ea"/>
                        </a:rPr>
                        <a:t>评估了更多的更大的模型</a:t>
                      </a:r>
                      <a:r>
                        <a:rPr lang="en-US" altLang="zh-CN" sz="1800" b="0" dirty="0">
                          <a:solidFill>
                            <a:schemeClr val="tx1"/>
                          </a:solidFill>
                          <a:latin typeface="+mn-ea"/>
                          <a:cs typeface="+mn-ea"/>
                          <a:sym typeface="+mn-ea"/>
                        </a:rPr>
                        <a:t>，</a:t>
                      </a:r>
                      <a:r>
                        <a:rPr lang="zh-CN" altLang="en-US" sz="1800" b="0" dirty="0">
                          <a:solidFill>
                            <a:schemeClr val="tx1"/>
                          </a:solidFill>
                          <a:latin typeface="+mn-ea"/>
                          <a:cs typeface="+mn-ea"/>
                          <a:sym typeface="+mn-ea"/>
                        </a:rPr>
                        <a:t>丰富实验数据</a:t>
                      </a:r>
                      <a:r>
                        <a:rPr lang="zh-CN" altLang="en-US" sz="1800" b="0" dirty="0">
                          <a:solidFill>
                            <a:schemeClr val="tx1"/>
                          </a:solidFill>
                          <a:latin typeface="+mn-ea"/>
                          <a:cs typeface="+mn-ea"/>
                          <a:sym typeface="+mn-ea"/>
                        </a:rPr>
                        <a:t>结论</a:t>
                      </a:r>
                      <a:endParaRPr lang="zh-CN" altLang="en-US" sz="1800" b="0" dirty="0">
                        <a:solidFill>
                          <a:schemeClr val="tx1"/>
                        </a:solidFill>
                        <a:latin typeface="+mn-ea"/>
                        <a:cs typeface="+mn-ea"/>
                        <a:sym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074545">
                <a:tc>
                  <a:txBody>
                    <a:bodyPr/>
                    <a:lstStyle/>
                    <a:p>
                      <a:pPr algn="ctr"/>
                      <a:r>
                        <a:rPr lang="zh-CN" altLang="en-US" sz="1800" b="0" dirty="0">
                          <a:solidFill>
                            <a:schemeClr val="tx1"/>
                          </a:solidFill>
                          <a:latin typeface="+mn-ea"/>
                          <a:ea typeface="+mn-ea"/>
                        </a:rPr>
                        <a:t>总结与</a:t>
                      </a:r>
                      <a:r>
                        <a:rPr lang="zh-CN" altLang="en-US" sz="1800" b="0" dirty="0">
                          <a:solidFill>
                            <a:schemeClr val="tx1"/>
                          </a:solidFill>
                          <a:latin typeface="+mn-ea"/>
                          <a:ea typeface="+mn-ea"/>
                        </a:rPr>
                        <a:t>结论</a:t>
                      </a:r>
                      <a:endParaRPr lang="zh-CN" altLang="en-US" sz="1800" b="0" dirty="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457200" indent="-457200">
                        <a:lnSpc>
                          <a:spcPct val="150000"/>
                        </a:lnSpc>
                        <a:buAutoNum type="arabicPeriod"/>
                      </a:pPr>
                      <a:r>
                        <a:rPr lang="zh-CN" altLang="en-US" sz="1800">
                          <a:ea typeface="+mn-lt"/>
                          <a:cs typeface="+mn-lt"/>
                          <a:sym typeface="+mn-ea"/>
                        </a:rPr>
                        <a:t>显式</a:t>
                      </a:r>
                      <a:r>
                        <a:rPr lang="en-US" altLang="zh-CN" sz="1800">
                          <a:ea typeface="+mn-lt"/>
                          <a:cs typeface="+mn-lt"/>
                          <a:sym typeface="+mn-ea"/>
                        </a:rPr>
                        <a:t>CoT</a:t>
                      </a:r>
                      <a:r>
                        <a:rPr lang="zh-CN" altLang="en-US" sz="1800">
                          <a:ea typeface="+mn-lt"/>
                          <a:cs typeface="+mn-lt"/>
                          <a:sym typeface="+mn-ea"/>
                        </a:rPr>
                        <a:t>对推理能力不足但结构对齐的模型（在预训练阶段见过</a:t>
                      </a:r>
                      <a:r>
                        <a:rPr lang="en-US" altLang="zh-CN" sz="1800">
                          <a:ea typeface="+mn-lt"/>
                          <a:cs typeface="+mn-lt"/>
                          <a:sym typeface="+mn-ea"/>
                        </a:rPr>
                        <a:t>reasoning</a:t>
                      </a:r>
                      <a:r>
                        <a:rPr lang="zh-CN" altLang="en-US" sz="1800">
                          <a:ea typeface="+mn-lt"/>
                          <a:cs typeface="+mn-lt"/>
                          <a:sym typeface="+mn-ea"/>
                        </a:rPr>
                        <a:t>），有显著提升效果</a:t>
                      </a:r>
                      <a:endParaRPr lang="zh-CN" altLang="en-US" sz="1800">
                        <a:ea typeface="+mn-lt"/>
                        <a:cs typeface="+mn-lt"/>
                        <a:sym typeface="+mn-ea"/>
                      </a:endParaRPr>
                    </a:p>
                    <a:p>
                      <a:pPr marL="457200" indent="-457200">
                        <a:lnSpc>
                          <a:spcPct val="150000"/>
                        </a:lnSpc>
                        <a:buAutoNum type="arabicPeriod"/>
                      </a:pPr>
                      <a:r>
                        <a:rPr lang="zh-CN" altLang="en-US" sz="1800">
                          <a:ea typeface="+mn-lt"/>
                          <a:cs typeface="+mn-lt"/>
                          <a:sym typeface="+mn-ea"/>
                        </a:rPr>
                        <a:t>做了显式</a:t>
                      </a:r>
                      <a:r>
                        <a:rPr lang="en-US" altLang="zh-CN" sz="1800">
                          <a:ea typeface="+mn-lt"/>
                          <a:cs typeface="+mn-lt"/>
                          <a:sym typeface="+mn-ea"/>
                        </a:rPr>
                        <a:t>COT</a:t>
                      </a:r>
                      <a:r>
                        <a:rPr lang="zh-CN" altLang="en-US" sz="1800">
                          <a:ea typeface="+mn-lt"/>
                          <a:cs typeface="+mn-lt"/>
                          <a:sym typeface="+mn-ea"/>
                        </a:rPr>
                        <a:t>评估后</a:t>
                      </a:r>
                      <a:r>
                        <a:rPr lang="en-US" altLang="zh-CN" sz="1800">
                          <a:ea typeface="+mn-lt"/>
                          <a:cs typeface="+mn-lt"/>
                          <a:sym typeface="+mn-ea"/>
                        </a:rPr>
                        <a:t>，CodeReasoner</a:t>
                      </a:r>
                      <a:r>
                        <a:rPr lang="zh-CN" altLang="en-US" sz="1800">
                          <a:ea typeface="+mn-lt"/>
                          <a:cs typeface="+mn-lt"/>
                          <a:sym typeface="+mn-ea"/>
                        </a:rPr>
                        <a:t>有很好的提升</a:t>
                      </a:r>
                      <a:r>
                        <a:rPr lang="en-US" altLang="zh-CN" sz="1800">
                          <a:ea typeface="+mn-lt"/>
                          <a:cs typeface="+mn-lt"/>
                          <a:sym typeface="+mn-ea"/>
                        </a:rPr>
                        <a:t>，</a:t>
                      </a:r>
                      <a:r>
                        <a:rPr lang="zh-CN" altLang="en-US" sz="1800">
                          <a:ea typeface="+mn-lt"/>
                          <a:cs typeface="+mn-lt"/>
                          <a:sym typeface="+mn-ea"/>
                        </a:rPr>
                        <a:t>但是</a:t>
                      </a:r>
                      <a:r>
                        <a:rPr lang="en-US" altLang="zh-CN" sz="1800">
                          <a:ea typeface="+mn-lt"/>
                          <a:cs typeface="+mn-lt"/>
                          <a:sym typeface="+mn-ea"/>
                        </a:rPr>
                        <a:t>CodeIO</a:t>
                      </a:r>
                      <a:r>
                        <a:rPr lang="zh-CN" altLang="en-US" sz="1800">
                          <a:ea typeface="+mn-lt"/>
                          <a:cs typeface="+mn-lt"/>
                          <a:sym typeface="+mn-ea"/>
                        </a:rPr>
                        <a:t>下降更大</a:t>
                      </a:r>
                      <a:endParaRPr lang="zh-CN" altLang="en-US" sz="1800">
                        <a:ea typeface="+mn-lt"/>
                        <a:cs typeface="+mn-lt"/>
                      </a:endParaRPr>
                    </a:p>
                    <a:p>
                      <a:pPr marL="457200" indent="-457200">
                        <a:lnSpc>
                          <a:spcPct val="150000"/>
                        </a:lnSpc>
                        <a:buAutoNum type="arabicPeriod"/>
                      </a:pPr>
                      <a:r>
                        <a:rPr lang="zh-CN" altLang="en-US" sz="1800">
                          <a:ea typeface="+mn-lt"/>
                          <a:cs typeface="+mn-lt"/>
                          <a:sym typeface="+mn-ea"/>
                        </a:rPr>
                        <a:t>我们的训练模型不会有下降</a:t>
                      </a:r>
                      <a:r>
                        <a:rPr lang="en-US" altLang="zh-CN" sz="1800">
                          <a:ea typeface="+mn-lt"/>
                          <a:cs typeface="+mn-lt"/>
                          <a:sym typeface="+mn-ea"/>
                        </a:rPr>
                        <a:t>，</a:t>
                      </a:r>
                      <a:r>
                        <a:rPr lang="zh-CN" altLang="en-US" sz="1800">
                          <a:ea typeface="+mn-lt"/>
                          <a:cs typeface="+mn-lt"/>
                          <a:sym typeface="+mn-ea"/>
                        </a:rPr>
                        <a:t>整体是提升的</a:t>
                      </a:r>
                      <a:r>
                        <a:rPr lang="en-US" altLang="zh-CN" sz="1800">
                          <a:ea typeface="+mn-lt"/>
                          <a:cs typeface="+mn-lt"/>
                          <a:sym typeface="+mn-ea"/>
                        </a:rPr>
                        <a:t>。</a:t>
                      </a:r>
                      <a:r>
                        <a:rPr lang="zh-CN" altLang="en-US" sz="1800">
                          <a:ea typeface="+mn-lt"/>
                          <a:cs typeface="+mn-lt"/>
                          <a:sym typeface="+mn-ea"/>
                        </a:rPr>
                        <a:t>但是提升幅度很小</a:t>
                      </a:r>
                      <a:r>
                        <a:rPr lang="en-US" altLang="zh-CN" sz="1800">
                          <a:ea typeface="+mn-lt"/>
                          <a:cs typeface="+mn-lt"/>
                          <a:sym typeface="+mn-ea"/>
                        </a:rPr>
                        <a:t>，</a:t>
                      </a:r>
                      <a:r>
                        <a:rPr lang="zh-CN" altLang="en-US" sz="1800">
                          <a:ea typeface="+mn-lt"/>
                          <a:cs typeface="+mn-lt"/>
                          <a:sym typeface="+mn-ea"/>
                        </a:rPr>
                        <a:t>猜测是训练数据少导致的</a:t>
                      </a:r>
                      <a:endParaRPr lang="zh-CN" altLang="en-US" sz="1800">
                        <a:ea typeface="+mn-lt"/>
                        <a:cs typeface="+mn-lt"/>
                      </a:endParaRPr>
                    </a:p>
                    <a:p>
                      <a:pPr marL="457200" indent="-457200">
                        <a:lnSpc>
                          <a:spcPct val="150000"/>
                        </a:lnSpc>
                        <a:buAutoNum type="arabicPeriod"/>
                      </a:pPr>
                      <a:r>
                        <a:rPr lang="zh-CN" altLang="en-US" sz="1800">
                          <a:ea typeface="+mn-lt"/>
                          <a:cs typeface="+mn-lt"/>
                          <a:sym typeface="+mn-ea"/>
                        </a:rPr>
                        <a:t>大参数量模型在这个上面表现均不错</a:t>
                      </a:r>
                      <a:r>
                        <a:rPr lang="en-US" altLang="zh-CN" sz="1800">
                          <a:ea typeface="+mn-lt"/>
                          <a:cs typeface="+mn-lt"/>
                          <a:sym typeface="+mn-ea"/>
                        </a:rPr>
                        <a:t>，</a:t>
                      </a:r>
                      <a:r>
                        <a:rPr lang="zh-CN" altLang="en-US" sz="1800">
                          <a:ea typeface="+mn-lt"/>
                          <a:cs typeface="+mn-lt"/>
                          <a:sym typeface="+mn-ea"/>
                        </a:rPr>
                        <a:t>且参数量越大表现越好</a:t>
                      </a:r>
                      <a:endParaRPr lang="en-US" altLang="zh-CN" sz="1800" b="0" i="0" dirty="0">
                        <a:solidFill>
                          <a:schemeClr val="tx1"/>
                        </a:solidFill>
                        <a:effectLst/>
                        <a:latin typeface="+mn-ea"/>
                        <a:ea typeface="+mn-ea"/>
                        <a:cs typeface="Times New Roman" panose="0202050305040509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1664335">
                <a:tc>
                  <a:txBody>
                    <a:bodyPr/>
                    <a:lstStyle/>
                    <a:p>
                      <a:pPr algn="ctr">
                        <a:buNone/>
                      </a:pPr>
                      <a:r>
                        <a:rPr lang="en-US" altLang="zh-CN" sz="1800" b="0" dirty="0">
                          <a:solidFill>
                            <a:schemeClr val="tx1"/>
                          </a:solidFill>
                          <a:latin typeface="+mn-ea"/>
                          <a:ea typeface="+mn-ea"/>
                        </a:rPr>
                        <a:t>TODO</a:t>
                      </a:r>
                      <a:endParaRPr lang="en-US" altLang="zh-CN" sz="1800" b="0" dirty="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457200" indent="-457200" algn="l">
                        <a:lnSpc>
                          <a:spcPct val="150000"/>
                        </a:lnSpc>
                        <a:buAutoNum type="arabicPeriod"/>
                      </a:pPr>
                      <a:r>
                        <a:rPr lang="en-US" altLang="zh-CN" sz="1800" b="0" dirty="0">
                          <a:solidFill>
                            <a:schemeClr val="tx1"/>
                          </a:solidFill>
                          <a:latin typeface="+mn-ea"/>
                          <a:ea typeface="+mn-ea"/>
                        </a:rPr>
                        <a:t>[Todo1] </a:t>
                      </a:r>
                      <a:r>
                        <a:rPr lang="zh-CN" altLang="en-US" sz="1800" b="0" dirty="0">
                          <a:solidFill>
                            <a:schemeClr val="tx1"/>
                          </a:solidFill>
                          <a:latin typeface="+mn-ea"/>
                          <a:ea typeface="+mn-ea"/>
                        </a:rPr>
                        <a:t>扩大训练集规模</a:t>
                      </a:r>
                      <a:r>
                        <a:rPr lang="en-US" altLang="zh-CN" sz="1800" b="0" dirty="0">
                          <a:solidFill>
                            <a:schemeClr val="tx1"/>
                          </a:solidFill>
                          <a:latin typeface="+mn-ea"/>
                          <a:ea typeface="+mn-ea"/>
                        </a:rPr>
                        <a:t>，</a:t>
                      </a:r>
                      <a:r>
                        <a:rPr lang="zh-CN" altLang="en-US" sz="1800" b="0" dirty="0">
                          <a:solidFill>
                            <a:schemeClr val="tx1"/>
                          </a:solidFill>
                          <a:latin typeface="+mn-ea"/>
                          <a:ea typeface="+mn-ea"/>
                        </a:rPr>
                        <a:t>进行训练</a:t>
                      </a:r>
                      <a:r>
                        <a:rPr lang="zh-CN" altLang="en-US" sz="1800" b="0" dirty="0">
                          <a:solidFill>
                            <a:schemeClr val="tx1"/>
                          </a:solidFill>
                          <a:latin typeface="+mn-ea"/>
                          <a:ea typeface="+mn-ea"/>
                        </a:rPr>
                        <a:t>评估实验</a:t>
                      </a:r>
                      <a:endParaRPr lang="zh-CN" altLang="en-US" sz="1800" b="0" dirty="0">
                        <a:solidFill>
                          <a:schemeClr val="tx1"/>
                        </a:solidFill>
                        <a:latin typeface="+mn-ea"/>
                        <a:ea typeface="+mn-ea"/>
                      </a:endParaRPr>
                    </a:p>
                    <a:p>
                      <a:pPr marL="457200" indent="-457200" algn="l">
                        <a:lnSpc>
                          <a:spcPct val="150000"/>
                        </a:lnSpc>
                        <a:buAutoNum type="arabicPeriod"/>
                      </a:pPr>
                      <a:r>
                        <a:rPr lang="en-US" altLang="zh-CN" sz="1800" b="0" dirty="0">
                          <a:solidFill>
                            <a:schemeClr val="tx1"/>
                          </a:solidFill>
                          <a:latin typeface="+mn-ea"/>
                          <a:ea typeface="+mn-ea"/>
                        </a:rPr>
                        <a:t>[Todo2] </a:t>
                      </a:r>
                      <a:r>
                        <a:rPr lang="zh-CN" altLang="en-US" sz="1800" b="0" dirty="0">
                          <a:solidFill>
                            <a:schemeClr val="tx1"/>
                          </a:solidFill>
                          <a:latin typeface="+mn-ea"/>
                          <a:ea typeface="+mn-ea"/>
                        </a:rPr>
                        <a:t>不带</a:t>
                      </a:r>
                      <a:r>
                        <a:rPr lang="en-US" altLang="zh-CN" sz="1800" b="0" dirty="0">
                          <a:solidFill>
                            <a:schemeClr val="tx1"/>
                          </a:solidFill>
                          <a:latin typeface="+mn-ea"/>
                          <a:ea typeface="+mn-ea"/>
                        </a:rPr>
                        <a:t>cot</a:t>
                      </a:r>
                      <a:r>
                        <a:rPr lang="zh-CN" altLang="en-US" sz="1800" b="0" dirty="0">
                          <a:solidFill>
                            <a:schemeClr val="tx1"/>
                          </a:solidFill>
                          <a:latin typeface="+mn-ea"/>
                          <a:ea typeface="+mn-ea"/>
                        </a:rPr>
                        <a:t>的微调后实验</a:t>
                      </a:r>
                      <a:r>
                        <a:rPr lang="zh-CN" altLang="en-US" sz="1800" b="0" dirty="0">
                          <a:solidFill>
                            <a:schemeClr val="tx1"/>
                          </a:solidFill>
                          <a:latin typeface="+mn-ea"/>
                          <a:ea typeface="+mn-ea"/>
                        </a:rPr>
                        <a:t>评估</a:t>
                      </a:r>
                      <a:endParaRPr lang="zh-CN" altLang="en-US" sz="1800" b="0" dirty="0">
                        <a:solidFill>
                          <a:schemeClr val="tx1"/>
                        </a:solidFill>
                        <a:latin typeface="+mn-ea"/>
                        <a:ea typeface="+mn-ea"/>
                      </a:endParaRPr>
                    </a:p>
                    <a:p>
                      <a:pPr marL="457200" indent="-457200" algn="l">
                        <a:lnSpc>
                          <a:spcPct val="150000"/>
                        </a:lnSpc>
                        <a:buAutoNum type="arabicPeriod"/>
                      </a:pPr>
                      <a:r>
                        <a:rPr lang="en-US" altLang="zh-CN" sz="1800" b="0" dirty="0">
                          <a:solidFill>
                            <a:schemeClr val="tx1"/>
                          </a:solidFill>
                          <a:latin typeface="+mn-ea"/>
                          <a:ea typeface="+mn-ea"/>
                        </a:rPr>
                        <a:t>[Todo3] </a:t>
                      </a:r>
                      <a:r>
                        <a:rPr lang="zh-CN" altLang="en-US" sz="1800" b="0" dirty="0">
                          <a:solidFill>
                            <a:schemeClr val="tx1"/>
                          </a:solidFill>
                          <a:latin typeface="+mn-ea"/>
                          <a:ea typeface="+mn-ea"/>
                        </a:rPr>
                        <a:t>考虑后续怎么做</a:t>
                      </a:r>
                      <a:r>
                        <a:rPr lang="en-US" altLang="zh-CN" sz="1800" b="0" dirty="0">
                          <a:solidFill>
                            <a:schemeClr val="tx1"/>
                          </a:solidFill>
                          <a:latin typeface="+mn-ea"/>
                          <a:ea typeface="+mn-ea"/>
                        </a:rPr>
                        <a:t>，</a:t>
                      </a:r>
                      <a:r>
                        <a:rPr lang="zh-CN" altLang="en-US" sz="1800" b="0" dirty="0">
                          <a:solidFill>
                            <a:schemeClr val="tx1"/>
                          </a:solidFill>
                          <a:latin typeface="+mn-ea"/>
                          <a:ea typeface="+mn-ea"/>
                        </a:rPr>
                        <a:t>怎么把逻辑说圆</a:t>
                      </a:r>
                      <a:r>
                        <a:rPr lang="en-US" altLang="zh-CN" sz="1800" b="0" dirty="0">
                          <a:solidFill>
                            <a:schemeClr val="tx1"/>
                          </a:solidFill>
                          <a:latin typeface="+mn-ea"/>
                          <a:ea typeface="+mn-ea"/>
                        </a:rPr>
                        <a:t>。</a:t>
                      </a:r>
                      <a:r>
                        <a:rPr lang="zh-CN" altLang="en-US" sz="1800" b="0" dirty="0">
                          <a:solidFill>
                            <a:schemeClr val="tx1"/>
                          </a:solidFill>
                          <a:latin typeface="+mn-ea"/>
                          <a:ea typeface="+mn-ea"/>
                        </a:rPr>
                        <a:t>评估集</a:t>
                      </a:r>
                      <a:r>
                        <a:rPr lang="en-US" altLang="zh-CN" sz="1800" b="0" dirty="0">
                          <a:solidFill>
                            <a:schemeClr val="tx1"/>
                          </a:solidFill>
                          <a:latin typeface="+mn-ea"/>
                          <a:ea typeface="+mn-ea"/>
                        </a:rPr>
                        <a:t>+</a:t>
                      </a:r>
                      <a:r>
                        <a:rPr lang="zh-CN" altLang="en-US" sz="1800" b="0" dirty="0">
                          <a:solidFill>
                            <a:schemeClr val="tx1"/>
                          </a:solidFill>
                          <a:latin typeface="+mn-ea"/>
                          <a:ea typeface="+mn-ea"/>
                        </a:rPr>
                        <a:t>训练集</a:t>
                      </a:r>
                      <a:r>
                        <a:rPr lang="en-US" altLang="zh-CN" sz="1800" b="0" dirty="0">
                          <a:solidFill>
                            <a:schemeClr val="tx1"/>
                          </a:solidFill>
                          <a:latin typeface="+mn-ea"/>
                          <a:ea typeface="+mn-ea"/>
                        </a:rPr>
                        <a:t> </a:t>
                      </a:r>
                      <a:r>
                        <a:rPr lang="zh-CN" altLang="en-US" sz="1800" b="0" dirty="0">
                          <a:solidFill>
                            <a:schemeClr val="tx1"/>
                          </a:solidFill>
                          <a:latin typeface="+mn-ea"/>
                          <a:ea typeface="+mn-ea"/>
                        </a:rPr>
                        <a:t>工作</a:t>
                      </a:r>
                      <a:r>
                        <a:rPr lang="en-US" altLang="zh-CN" sz="1800" b="0" dirty="0">
                          <a:solidFill>
                            <a:schemeClr val="tx1"/>
                          </a:solidFill>
                          <a:latin typeface="+mn-ea"/>
                          <a:ea typeface="+mn-ea"/>
                        </a:rPr>
                        <a:t>？</a:t>
                      </a:r>
                      <a:r>
                        <a:rPr lang="zh-CN" altLang="en-US" sz="1800" b="0" dirty="0">
                          <a:solidFill>
                            <a:schemeClr val="tx1"/>
                          </a:solidFill>
                          <a:latin typeface="+mn-ea"/>
                          <a:ea typeface="+mn-ea"/>
                        </a:rPr>
                        <a:t>体现训练</a:t>
                      </a:r>
                      <a:r>
                        <a:rPr lang="zh-CN" altLang="en-US" sz="1800" b="0" dirty="0">
                          <a:solidFill>
                            <a:schemeClr val="tx1"/>
                          </a:solidFill>
                          <a:latin typeface="+mn-ea"/>
                          <a:ea typeface="+mn-ea"/>
                        </a:rPr>
                        <a:t>能力</a:t>
                      </a:r>
                      <a:endParaRPr lang="zh-CN" altLang="en-US" sz="1800" b="0" dirty="0">
                        <a:solidFill>
                          <a:schemeClr val="tx1"/>
                        </a:solidFill>
                        <a:latin typeface="+mn-ea"/>
                        <a:ea typeface="+mn-ea"/>
                      </a:endParaRPr>
                    </a:p>
                    <a:p>
                      <a:pPr marL="457200" indent="-457200" algn="l">
                        <a:lnSpc>
                          <a:spcPct val="150000"/>
                        </a:lnSpc>
                        <a:buAutoNum type="arabicPeriod"/>
                      </a:pPr>
                      <a:r>
                        <a:rPr lang="zh-CN" altLang="en-US" sz="1800" b="0" dirty="0">
                          <a:solidFill>
                            <a:schemeClr val="tx1"/>
                          </a:solidFill>
                          <a:latin typeface="+mn-ea"/>
                          <a:ea typeface="+mn-ea"/>
                        </a:rPr>
                        <a:t>年后改国自然本子</a:t>
                      </a:r>
                      <a:r>
                        <a:rPr lang="en-US" altLang="zh-CN" sz="1800" b="0" dirty="0">
                          <a:solidFill>
                            <a:schemeClr val="tx1"/>
                          </a:solidFill>
                          <a:latin typeface="+mn-ea"/>
                          <a:ea typeface="+mn-ea"/>
                        </a:rPr>
                        <a:t> ddl-</a:t>
                      </a:r>
                      <a:r>
                        <a:rPr lang="zh-CN" altLang="en-US" sz="1800" b="0" dirty="0">
                          <a:solidFill>
                            <a:schemeClr val="tx1"/>
                          </a:solidFill>
                          <a:latin typeface="+mn-ea"/>
                          <a:ea typeface="+mn-ea"/>
                        </a:rPr>
                        <a:t>三月初</a:t>
                      </a:r>
                      <a:r>
                        <a:rPr lang="en-US" altLang="zh-CN" sz="1800" b="0" dirty="0">
                          <a:solidFill>
                            <a:schemeClr val="tx1"/>
                          </a:solidFill>
                          <a:latin typeface="+mn-ea"/>
                          <a:ea typeface="+mn-ea"/>
                        </a:rPr>
                        <a:t>（</a:t>
                      </a:r>
                      <a:r>
                        <a:rPr lang="zh-CN" altLang="en-US" sz="1800" b="0" dirty="0">
                          <a:solidFill>
                            <a:schemeClr val="tx1"/>
                          </a:solidFill>
                          <a:latin typeface="+mn-ea"/>
                          <a:ea typeface="+mn-ea"/>
                        </a:rPr>
                        <a:t>基于北自然再改</a:t>
                      </a:r>
                      <a:r>
                        <a:rPr lang="en-US" altLang="zh-CN" sz="1800" b="0" dirty="0">
                          <a:solidFill>
                            <a:schemeClr val="tx1"/>
                          </a:solidFill>
                          <a:latin typeface="+mn-ea"/>
                          <a:ea typeface="+mn-ea"/>
                        </a:rPr>
                        <a:t>）</a:t>
                      </a:r>
                      <a:endParaRPr lang="en-US" altLang="zh-CN" sz="1800" b="0" dirty="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44805" y="302895"/>
            <a:ext cx="11298555" cy="460375"/>
          </a:xfrm>
          <a:prstGeom prst="rect">
            <a:avLst/>
          </a:prstGeom>
          <a:noFill/>
        </p:spPr>
        <p:txBody>
          <a:bodyPr wrap="square" rtlCol="0">
            <a:spAutoFit/>
          </a:bodyPr>
          <a:lstStyle/>
          <a:p>
            <a:pPr algn="l"/>
            <a:r>
              <a:rPr lang="zh-CN" altLang="en-US" sz="2400">
                <a:solidFill>
                  <a:schemeClr val="tx1"/>
                </a:solidFill>
              </a:rPr>
              <a:t>进展一：</a:t>
            </a:r>
            <a:r>
              <a:rPr lang="zh-CN" altLang="en-US" sz="2400" dirty="0">
                <a:latin typeface="+mn-ea"/>
                <a:cs typeface="+mn-ea"/>
                <a:sym typeface="+mn-ea"/>
              </a:rPr>
              <a:t>完成了显式</a:t>
            </a:r>
            <a:r>
              <a:rPr lang="en-US" altLang="zh-CN" sz="2400" dirty="0">
                <a:latin typeface="+mn-ea"/>
                <a:cs typeface="+mn-ea"/>
                <a:sym typeface="+mn-ea"/>
              </a:rPr>
              <a:t>COT</a:t>
            </a:r>
            <a:r>
              <a:rPr lang="zh-CN" altLang="en-US" sz="2400" dirty="0">
                <a:latin typeface="+mn-ea"/>
                <a:cs typeface="+mn-ea"/>
                <a:sym typeface="+mn-ea"/>
              </a:rPr>
              <a:t>评估方案</a:t>
            </a:r>
            <a:r>
              <a:rPr lang="en-US" altLang="zh-CN" sz="2400" dirty="0">
                <a:latin typeface="+mn-ea"/>
                <a:cs typeface="+mn-ea"/>
                <a:sym typeface="+mn-ea"/>
              </a:rPr>
              <a:t>，</a:t>
            </a:r>
            <a:r>
              <a:rPr lang="zh-CN" altLang="en-US" sz="2400" dirty="0">
                <a:latin typeface="+mn-ea"/>
                <a:cs typeface="+mn-ea"/>
                <a:sym typeface="+mn-ea"/>
              </a:rPr>
              <a:t>并对之前的</a:t>
            </a:r>
            <a:r>
              <a:rPr lang="en-US" altLang="zh-CN" sz="2400" dirty="0">
                <a:latin typeface="+mn-ea"/>
                <a:cs typeface="+mn-ea"/>
                <a:sym typeface="+mn-ea"/>
              </a:rPr>
              <a:t>7B</a:t>
            </a:r>
            <a:r>
              <a:rPr lang="zh-CN" altLang="en-US" sz="2400" dirty="0">
                <a:latin typeface="+mn-ea"/>
                <a:cs typeface="+mn-ea"/>
                <a:sym typeface="+mn-ea"/>
              </a:rPr>
              <a:t>小模型重新进行了显式</a:t>
            </a:r>
            <a:r>
              <a:rPr lang="en-US" altLang="zh-CN" sz="2400" dirty="0">
                <a:latin typeface="+mn-ea"/>
                <a:cs typeface="+mn-ea"/>
                <a:sym typeface="+mn-ea"/>
              </a:rPr>
              <a:t>COT</a:t>
            </a:r>
            <a:r>
              <a:rPr lang="zh-CN" altLang="en-US" sz="2400" dirty="0">
                <a:latin typeface="+mn-ea"/>
                <a:cs typeface="+mn-ea"/>
                <a:sym typeface="+mn-ea"/>
              </a:rPr>
              <a:t>评估</a:t>
            </a:r>
            <a:endParaRPr lang="zh-CN" altLang="en-US" sz="2400" dirty="0">
              <a:solidFill>
                <a:schemeClr val="tx1"/>
              </a:solidFill>
            </a:endParaRPr>
          </a:p>
        </p:txBody>
      </p:sp>
      <p:graphicFrame>
        <p:nvGraphicFramePr>
          <p:cNvPr id="10" name="表格 9"/>
          <p:cNvGraphicFramePr/>
          <p:nvPr>
            <p:custDataLst>
              <p:tags r:id="rId1"/>
            </p:custDataLst>
          </p:nvPr>
        </p:nvGraphicFramePr>
        <p:xfrm>
          <a:off x="513080" y="2464435"/>
          <a:ext cx="10332720" cy="4163060"/>
        </p:xfrm>
        <a:graphic>
          <a:graphicData uri="http://schemas.openxmlformats.org/drawingml/2006/table">
            <a:tbl>
              <a:tblPr firstRow="1" bandRow="1">
                <a:tableStyleId>{5C22544A-7EE6-4342-B048-85BDC9FD1C3A}</a:tableStyleId>
              </a:tblPr>
              <a:tblGrid>
                <a:gridCol w="3383280"/>
                <a:gridCol w="3457575"/>
                <a:gridCol w="3491865"/>
              </a:tblGrid>
              <a:tr h="736600">
                <a:tc>
                  <a:txBody>
                    <a:bodyPr/>
                    <a:lstStyle/>
                    <a:p>
                      <a:pPr algn="ctr">
                        <a:buNone/>
                      </a:pPr>
                      <a:r>
                        <a:rPr lang="zh-CN" altLang="en-US" dirty="0"/>
                        <a:t>模型</a:t>
                      </a:r>
                      <a:endParaRPr lang="zh-CN" altLang="en-US" dirty="0"/>
                    </a:p>
                  </a:txBody>
                  <a:tcPr anchor="ctr">
                    <a:solidFill>
                      <a:schemeClr val="tx1">
                        <a:lumMod val="85000"/>
                        <a:lumOff val="15000"/>
                      </a:schemeClr>
                    </a:solidFill>
                  </a:tcPr>
                </a:tc>
                <a:tc>
                  <a:txBody>
                    <a:bodyPr/>
                    <a:lstStyle/>
                    <a:p>
                      <a:pPr algn="ctr">
                        <a:buNone/>
                      </a:pPr>
                      <a:r>
                        <a:rPr lang="zh-CN" altLang="en-US"/>
                        <a:t>正确率</a:t>
                      </a:r>
                      <a:r>
                        <a:rPr lang="en-US" altLang="zh-CN"/>
                        <a:t> Acc（with</a:t>
                      </a:r>
                      <a:r>
                        <a:rPr lang="en-US" altLang="zh-CN"/>
                        <a:t>out </a:t>
                      </a:r>
                      <a:r>
                        <a:rPr lang="en-US" altLang="zh-CN"/>
                        <a:t>think）</a:t>
                      </a:r>
                      <a:endParaRPr lang="en-US" altLang="zh-CN"/>
                    </a:p>
                  </a:txBody>
                  <a:tcPr anchor="ctr">
                    <a:solidFill>
                      <a:schemeClr val="tx1">
                        <a:lumMod val="85000"/>
                        <a:lumOff val="15000"/>
                      </a:schemeClr>
                    </a:solidFill>
                  </a:tcPr>
                </a:tc>
                <a:tc>
                  <a:txBody>
                    <a:bodyPr/>
                    <a:p>
                      <a:pPr algn="ctr">
                        <a:buNone/>
                      </a:pPr>
                      <a:r>
                        <a:rPr lang="zh-CN" altLang="en-US"/>
                        <a:t>正确率</a:t>
                      </a:r>
                      <a:r>
                        <a:rPr lang="en-US" altLang="zh-CN"/>
                        <a:t> Acc（with</a:t>
                      </a:r>
                      <a:r>
                        <a:rPr lang="en-US" altLang="zh-CN"/>
                        <a:t> </a:t>
                      </a:r>
                      <a:r>
                        <a:rPr lang="en-US" altLang="zh-CN"/>
                        <a:t>think）</a:t>
                      </a:r>
                      <a:endParaRPr lang="en-US" altLang="zh-CN"/>
                    </a:p>
                  </a:txBody>
                  <a:tcPr anchor="ctr">
                    <a:solidFill>
                      <a:schemeClr val="tx1">
                        <a:lumMod val="85000"/>
                        <a:lumOff val="15000"/>
                      </a:schemeClr>
                    </a:solidFill>
                  </a:tcPr>
                </a:tc>
              </a:tr>
              <a:tr h="565150">
                <a:tc>
                  <a:txBody>
                    <a:bodyPr/>
                    <a:lstStyle/>
                    <a:p>
                      <a:pPr algn="ctr">
                        <a:buNone/>
                      </a:pPr>
                      <a:r>
                        <a:rPr lang="en-US" altLang="zh-CN" sz="2000" dirty="0">
                          <a:latin typeface="Times New Roman" panose="02020503050405090304" pitchFamily="18" charset="0"/>
                          <a:cs typeface="Times New Roman" panose="02020503050405090304" pitchFamily="18" charset="0"/>
                          <a:sym typeface="+mn-ea"/>
                        </a:rPr>
                        <a:t>Deep</a:t>
                      </a:r>
                      <a:r>
                        <a:rPr lang="en-US" altLang="zh-CN" sz="2000" dirty="0">
                          <a:latin typeface="Times New Roman" panose="02020503050405090304" pitchFamily="18" charset="0"/>
                          <a:cs typeface="Times New Roman" panose="02020503050405090304" pitchFamily="18" charset="0"/>
                          <a:sym typeface="+mn-ea"/>
                        </a:rPr>
                        <a:t>SeekV3.2</a:t>
                      </a:r>
                      <a:endParaRPr lang="en-US" altLang="zh-CN" sz="2000" dirty="0">
                        <a:latin typeface="Times New Roman" panose="02020503050405090304" pitchFamily="18" charset="0"/>
                        <a:cs typeface="Times New Roman" panose="02020503050405090304" pitchFamily="18" charset="0"/>
                        <a:sym typeface="+mn-ea"/>
                      </a:endParaRPr>
                    </a:p>
                  </a:txBody>
                  <a:tcPr anchor="ctr">
                    <a:solidFill>
                      <a:schemeClr val="bg2">
                        <a:lumMod val="90000"/>
                      </a:schemeClr>
                    </a:solidFill>
                  </a:tcPr>
                </a:tc>
                <a:tc>
                  <a:txBody>
                    <a:bodyPr/>
                    <a:lstStyle/>
                    <a:p>
                      <a:pPr algn="ctr">
                        <a:buNone/>
                      </a:pPr>
                      <a:r>
                        <a:rPr lang="en-US" altLang="zh-CN" sz="2000">
                          <a:latin typeface="Times New Roman" panose="02020503050405090304" pitchFamily="18" charset="0"/>
                          <a:cs typeface="Times New Roman" panose="02020503050405090304" pitchFamily="18" charset="0"/>
                        </a:rPr>
                        <a:t>73.5%</a:t>
                      </a:r>
                      <a:endParaRPr lang="en-US" altLang="zh-CN" sz="2000">
                        <a:latin typeface="Times New Roman" panose="02020503050405090304" pitchFamily="18" charset="0"/>
                        <a:cs typeface="Times New Roman" panose="02020503050405090304" pitchFamily="18" charset="0"/>
                      </a:endParaRPr>
                    </a:p>
                  </a:txBody>
                  <a:tcPr anchor="ctr">
                    <a:solidFill>
                      <a:schemeClr val="bg2">
                        <a:lumMod val="90000"/>
                      </a:schemeClr>
                    </a:solidFill>
                  </a:tcPr>
                </a:tc>
                <a:tc>
                  <a:txBody>
                    <a:bodyPr/>
                    <a:p>
                      <a:pPr algn="ctr">
                        <a:buNone/>
                      </a:pPr>
                      <a:r>
                        <a:rPr lang="en-US" altLang="zh-CN" sz="2000">
                          <a:latin typeface="Times New Roman" panose="02020503050405090304" pitchFamily="18" charset="0"/>
                          <a:cs typeface="Times New Roman" panose="02020503050405090304" pitchFamily="18" charset="0"/>
                        </a:rPr>
                        <a:t>76.4%</a:t>
                      </a:r>
                      <a:endParaRPr lang="en-US" altLang="zh-CN" sz="2000">
                        <a:latin typeface="Times New Roman" panose="02020503050405090304" pitchFamily="18" charset="0"/>
                        <a:cs typeface="Times New Roman" panose="02020503050405090304" pitchFamily="18" charset="0"/>
                      </a:endParaRPr>
                    </a:p>
                  </a:txBody>
                  <a:tcPr anchor="ctr">
                    <a:solidFill>
                      <a:schemeClr val="bg2">
                        <a:lumMod val="90000"/>
                      </a:schemeClr>
                    </a:solidFill>
                  </a:tcPr>
                </a:tc>
              </a:tr>
              <a:tr h="563880">
                <a:tc>
                  <a:txBody>
                    <a:bodyPr/>
                    <a:lstStyle/>
                    <a:p>
                      <a:pPr algn="ctr">
                        <a:buNone/>
                      </a:pPr>
                      <a:r>
                        <a:rPr lang="en-US" altLang="zh-CN" sz="2000" dirty="0">
                          <a:latin typeface="Times New Roman" panose="02020503050405090304" pitchFamily="18" charset="0"/>
                          <a:cs typeface="Times New Roman" panose="02020503050405090304" pitchFamily="18" charset="0"/>
                          <a:sym typeface="+mn-ea"/>
                        </a:rPr>
                        <a:t>ClaudeSonnet4.5</a:t>
                      </a:r>
                      <a:endParaRPr lang="en-US" altLang="zh-CN" sz="2000" dirty="0">
                        <a:latin typeface="Times New Roman" panose="02020503050405090304" pitchFamily="18" charset="0"/>
                        <a:cs typeface="Times New Roman" panose="02020503050405090304" pitchFamily="18" charset="0"/>
                        <a:sym typeface="+mn-ea"/>
                      </a:endParaRPr>
                    </a:p>
                  </a:txBody>
                  <a:tcPr anchor="ctr">
                    <a:solidFill>
                      <a:schemeClr val="bg2">
                        <a:lumMod val="90000"/>
                      </a:schemeClr>
                    </a:solidFill>
                  </a:tcPr>
                </a:tc>
                <a:tc>
                  <a:txBody>
                    <a:bodyPr/>
                    <a:lstStyle/>
                    <a:p>
                      <a:pPr algn="ctr">
                        <a:buNone/>
                      </a:pPr>
                      <a:r>
                        <a:rPr lang="en-US" altLang="zh-CN" sz="2000">
                          <a:latin typeface="Times New Roman" panose="02020503050405090304" pitchFamily="18" charset="0"/>
                          <a:cs typeface="Times New Roman" panose="02020503050405090304" pitchFamily="18" charset="0"/>
                        </a:rPr>
                        <a:t>76.2%</a:t>
                      </a:r>
                      <a:endParaRPr lang="en-US" altLang="zh-CN" sz="2000">
                        <a:latin typeface="Times New Roman" panose="02020503050405090304" pitchFamily="18" charset="0"/>
                        <a:cs typeface="Times New Roman" panose="02020503050405090304" pitchFamily="18" charset="0"/>
                      </a:endParaRPr>
                    </a:p>
                  </a:txBody>
                  <a:tcPr anchor="ctr">
                    <a:solidFill>
                      <a:schemeClr val="bg2">
                        <a:lumMod val="90000"/>
                      </a:schemeClr>
                    </a:solidFill>
                  </a:tcPr>
                </a:tc>
                <a:tc>
                  <a:txBody>
                    <a:bodyPr/>
                    <a:p>
                      <a:pPr algn="ctr">
                        <a:buNone/>
                      </a:pPr>
                      <a:r>
                        <a:rPr lang="en-US" altLang="zh-CN" sz="2000">
                          <a:latin typeface="Times New Roman" panose="02020503050405090304" pitchFamily="18" charset="0"/>
                          <a:cs typeface="Times New Roman" panose="02020503050405090304" pitchFamily="18" charset="0"/>
                        </a:rPr>
                        <a:t>76.2%</a:t>
                      </a:r>
                      <a:endParaRPr lang="en-US" altLang="zh-CN" sz="2000">
                        <a:latin typeface="Times New Roman" panose="02020503050405090304" pitchFamily="18" charset="0"/>
                        <a:cs typeface="Times New Roman" panose="02020503050405090304" pitchFamily="18" charset="0"/>
                      </a:endParaRPr>
                    </a:p>
                  </a:txBody>
                  <a:tcPr anchor="ctr">
                    <a:solidFill>
                      <a:schemeClr val="bg2">
                        <a:lumMod val="90000"/>
                      </a:schemeClr>
                    </a:solidFill>
                  </a:tcPr>
                </a:tc>
              </a:tr>
              <a:tr h="603885">
                <a:tc>
                  <a:txBody>
                    <a:bodyPr/>
                    <a:lstStyle/>
                    <a:p>
                      <a:pPr algn="ctr">
                        <a:buNone/>
                      </a:pPr>
                      <a:r>
                        <a:rPr lang="en-US" altLang="zh-CN" sz="2000" dirty="0">
                          <a:latin typeface="Times New Roman" panose="02020503050405090304" pitchFamily="18" charset="0"/>
                          <a:cs typeface="Times New Roman" panose="02020503050405090304" pitchFamily="18" charset="0"/>
                          <a:sym typeface="+mn-ea"/>
                        </a:rPr>
                        <a:t>Qwen2.5-Coder-7B-Instru</a:t>
                      </a:r>
                      <a:r>
                        <a:rPr lang="en-US" altLang="zh-CN" sz="2000" dirty="0">
                          <a:latin typeface="Times New Roman" panose="02020503050405090304" pitchFamily="18" charset="0"/>
                          <a:cs typeface="Times New Roman" panose="02020503050405090304" pitchFamily="18" charset="0"/>
                          <a:sym typeface="+mn-ea"/>
                        </a:rPr>
                        <a:t>ct</a:t>
                      </a:r>
                      <a:endParaRPr lang="en-US" altLang="zh-CN" sz="2000" dirty="0">
                        <a:latin typeface="Times New Roman" panose="02020503050405090304" pitchFamily="18" charset="0"/>
                        <a:cs typeface="Times New Roman" panose="02020503050405090304" pitchFamily="18" charset="0"/>
                        <a:sym typeface="+mn-ea"/>
                      </a:endParaRPr>
                    </a:p>
                  </a:txBody>
                  <a:tcPr anchor="ctr">
                    <a:solidFill>
                      <a:schemeClr val="accent6">
                        <a:lumMod val="20000"/>
                        <a:lumOff val="80000"/>
                      </a:schemeClr>
                    </a:solidFill>
                  </a:tcPr>
                </a:tc>
                <a:tc>
                  <a:txBody>
                    <a:bodyPr/>
                    <a:lstStyle/>
                    <a:p>
                      <a:pPr algn="ctr">
                        <a:buNone/>
                      </a:pPr>
                      <a:r>
                        <a:rPr lang="en-US" altLang="zh-CN" sz="2000" dirty="0">
                          <a:latin typeface="Times New Roman" panose="02020503050405090304" pitchFamily="18" charset="0"/>
                          <a:cs typeface="Times New Roman" panose="02020503050405090304" pitchFamily="18" charset="0"/>
                        </a:rPr>
                        <a:t>3.6%</a:t>
                      </a:r>
                      <a:endParaRPr lang="en-US" altLang="zh-CN" sz="2000" dirty="0">
                        <a:latin typeface="Times New Roman" panose="02020503050405090304" pitchFamily="18" charset="0"/>
                        <a:cs typeface="Times New Roman" panose="02020503050405090304" pitchFamily="18" charset="0"/>
                      </a:endParaRPr>
                    </a:p>
                  </a:txBody>
                  <a:tcPr anchor="ctr">
                    <a:solidFill>
                      <a:schemeClr val="accent6">
                        <a:lumMod val="20000"/>
                        <a:lumOff val="80000"/>
                      </a:schemeClr>
                    </a:solidFill>
                  </a:tcPr>
                </a:tc>
                <a:tc>
                  <a:txBody>
                    <a:bodyPr/>
                    <a:p>
                      <a:pPr algn="ctr">
                        <a:buNone/>
                      </a:pPr>
                      <a:r>
                        <a:rPr lang="en-US" altLang="zh-CN" sz="2000" dirty="0">
                          <a:latin typeface="Times New Roman" panose="02020503050405090304" pitchFamily="18" charset="0"/>
                          <a:cs typeface="Times New Roman" panose="02020503050405090304" pitchFamily="18" charset="0"/>
                        </a:rPr>
                        <a:t>10.4%</a:t>
                      </a:r>
                      <a:endParaRPr lang="en-US" altLang="zh-CN" sz="2000" dirty="0">
                        <a:latin typeface="Times New Roman" panose="02020503050405090304" pitchFamily="18" charset="0"/>
                        <a:cs typeface="Times New Roman" panose="02020503050405090304" pitchFamily="18" charset="0"/>
                      </a:endParaRPr>
                    </a:p>
                  </a:txBody>
                  <a:tcPr anchor="ctr">
                    <a:solidFill>
                      <a:schemeClr val="accent6">
                        <a:lumMod val="20000"/>
                        <a:lumOff val="80000"/>
                      </a:schemeClr>
                    </a:solidFill>
                  </a:tcPr>
                </a:tc>
              </a:tr>
              <a:tr h="563880">
                <a:tc>
                  <a:txBody>
                    <a:bodyPr/>
                    <a:lstStyle/>
                    <a:p>
                      <a:pPr algn="ctr">
                        <a:buNone/>
                      </a:pPr>
                      <a:r>
                        <a:rPr lang="en-US" altLang="zh-CN" sz="2000" dirty="0">
                          <a:latin typeface="Times New Roman" panose="02020503050405090304" pitchFamily="18" charset="0"/>
                          <a:cs typeface="Times New Roman" panose="02020503050405090304" pitchFamily="18" charset="0"/>
                          <a:sym typeface="+mn-ea"/>
                        </a:rPr>
                        <a:t>CodeReasoner-7b</a:t>
                      </a:r>
                      <a:endParaRPr lang="en-US" altLang="zh-CN" sz="2000" dirty="0">
                        <a:latin typeface="Times New Roman" panose="02020503050405090304" pitchFamily="18" charset="0"/>
                        <a:cs typeface="Times New Roman" panose="02020503050405090304" pitchFamily="18" charset="0"/>
                        <a:sym typeface="+mn-ea"/>
                      </a:endParaRPr>
                    </a:p>
                  </a:txBody>
                  <a:tcPr anchor="ctr">
                    <a:solidFill>
                      <a:schemeClr val="accent6">
                        <a:lumMod val="20000"/>
                        <a:lumOff val="80000"/>
                      </a:schemeClr>
                    </a:solidFill>
                  </a:tcPr>
                </a:tc>
                <a:tc>
                  <a:txBody>
                    <a:bodyPr/>
                    <a:lstStyle/>
                    <a:p>
                      <a:pPr algn="ctr">
                        <a:buNone/>
                      </a:pPr>
                      <a:r>
                        <a:rPr lang="en-US" altLang="zh-CN" sz="2000" dirty="0">
                          <a:latin typeface="Times New Roman" panose="02020503050405090304" pitchFamily="18" charset="0"/>
                          <a:cs typeface="Times New Roman" panose="02020503050405090304" pitchFamily="18" charset="0"/>
                        </a:rPr>
                        <a:t>2.8%</a:t>
                      </a:r>
                      <a:endParaRPr lang="en-US" altLang="zh-CN" sz="2000" dirty="0">
                        <a:latin typeface="Times New Roman" panose="02020503050405090304" pitchFamily="18" charset="0"/>
                        <a:cs typeface="Times New Roman" panose="02020503050405090304" pitchFamily="18" charset="0"/>
                      </a:endParaRPr>
                    </a:p>
                  </a:txBody>
                  <a:tcPr anchor="ctr">
                    <a:solidFill>
                      <a:schemeClr val="accent6">
                        <a:lumMod val="20000"/>
                        <a:lumOff val="80000"/>
                      </a:schemeClr>
                    </a:solidFill>
                  </a:tcPr>
                </a:tc>
                <a:tc>
                  <a:txBody>
                    <a:bodyPr/>
                    <a:p>
                      <a:pPr algn="ctr">
                        <a:buNone/>
                      </a:pPr>
                      <a:r>
                        <a:rPr lang="en-US" altLang="zh-CN" sz="2000" dirty="0">
                          <a:latin typeface="Times New Roman" panose="02020503050405090304" pitchFamily="18" charset="0"/>
                          <a:cs typeface="Times New Roman" panose="02020503050405090304" pitchFamily="18" charset="0"/>
                        </a:rPr>
                        <a:t>15.2% </a:t>
                      </a:r>
                      <a:r>
                        <a:rPr lang="zh-CN" altLang="en-US" sz="2000" dirty="0">
                          <a:latin typeface="Times New Roman" panose="02020503050405090304" pitchFamily="18" charset="0"/>
                          <a:cs typeface="Times New Roman" panose="02020503050405090304" pitchFamily="18" charset="0"/>
                        </a:rPr>
                        <a:t>⬆️</a:t>
                      </a:r>
                      <a:endParaRPr lang="zh-CN" altLang="en-US" sz="2000" dirty="0">
                        <a:latin typeface="Times New Roman" panose="02020503050405090304" pitchFamily="18" charset="0"/>
                        <a:cs typeface="Times New Roman" panose="02020503050405090304" pitchFamily="18" charset="0"/>
                      </a:endParaRPr>
                    </a:p>
                  </a:txBody>
                  <a:tcPr anchor="ctr">
                    <a:solidFill>
                      <a:schemeClr val="accent6">
                        <a:lumMod val="20000"/>
                        <a:lumOff val="80000"/>
                      </a:schemeClr>
                    </a:solidFill>
                  </a:tcPr>
                </a:tc>
              </a:tr>
              <a:tr h="564515">
                <a:tc>
                  <a:txBody>
                    <a:bodyPr/>
                    <a:lstStyle/>
                    <a:p>
                      <a:pPr algn="ctr">
                        <a:buNone/>
                      </a:pPr>
                      <a:r>
                        <a:rPr lang="en-US" altLang="zh-CN" sz="2000" dirty="0">
                          <a:latin typeface="Times New Roman" panose="02020503050405090304" pitchFamily="18" charset="0"/>
                          <a:cs typeface="Times New Roman" panose="02020503050405090304" pitchFamily="18" charset="0"/>
                          <a:sym typeface="+mn-ea"/>
                        </a:rPr>
                        <a:t>Qwen2.5-Coder-7B</a:t>
                      </a:r>
                      <a:endParaRPr lang="en-US" altLang="zh-CN" sz="2000" dirty="0">
                        <a:latin typeface="Times New Roman" panose="02020503050405090304" pitchFamily="18" charset="0"/>
                        <a:cs typeface="Times New Roman" panose="02020503050405090304" pitchFamily="18" charset="0"/>
                        <a:sym typeface="+mn-ea"/>
                      </a:endParaRPr>
                    </a:p>
                  </a:txBody>
                  <a:tcPr anchor="ctr">
                    <a:solidFill>
                      <a:schemeClr val="accent5">
                        <a:lumMod val="20000"/>
                        <a:lumOff val="80000"/>
                      </a:schemeClr>
                    </a:solidFill>
                  </a:tcPr>
                </a:tc>
                <a:tc>
                  <a:txBody>
                    <a:bodyPr/>
                    <a:lstStyle/>
                    <a:p>
                      <a:pPr algn="ctr">
                        <a:buNone/>
                      </a:pPr>
                      <a:r>
                        <a:rPr lang="en-US" altLang="zh-CN" sz="2000" dirty="0">
                          <a:latin typeface="Times New Roman" panose="02020503050405090304" pitchFamily="18" charset="0"/>
                          <a:cs typeface="Times New Roman" panose="02020503050405090304" pitchFamily="18" charset="0"/>
                        </a:rPr>
                        <a:t>4.2%</a:t>
                      </a:r>
                      <a:endParaRPr lang="en-US" altLang="zh-CN" sz="2000" dirty="0">
                        <a:latin typeface="Times New Roman" panose="02020503050405090304" pitchFamily="18" charset="0"/>
                        <a:cs typeface="Times New Roman" panose="02020503050405090304" pitchFamily="18" charset="0"/>
                      </a:endParaRPr>
                    </a:p>
                  </a:txBody>
                  <a:tcPr anchor="ctr">
                    <a:solidFill>
                      <a:schemeClr val="accent5">
                        <a:lumMod val="20000"/>
                        <a:lumOff val="80000"/>
                      </a:schemeClr>
                    </a:solidFill>
                  </a:tcPr>
                </a:tc>
                <a:tc>
                  <a:txBody>
                    <a:bodyPr/>
                    <a:p>
                      <a:pPr algn="ctr">
                        <a:buNone/>
                      </a:pPr>
                      <a:r>
                        <a:rPr lang="en-US" altLang="zh-CN" sz="2000" dirty="0">
                          <a:latin typeface="Times New Roman" panose="02020503050405090304" pitchFamily="18" charset="0"/>
                          <a:cs typeface="Times New Roman" panose="02020503050405090304" pitchFamily="18" charset="0"/>
                        </a:rPr>
                        <a:t>6.4%</a:t>
                      </a:r>
                      <a:endParaRPr lang="zh-CN" altLang="en-US" sz="2000" dirty="0">
                        <a:latin typeface="Times New Roman" panose="02020503050405090304" pitchFamily="18" charset="0"/>
                        <a:cs typeface="Times New Roman" panose="02020503050405090304" pitchFamily="18" charset="0"/>
                      </a:endParaRPr>
                    </a:p>
                  </a:txBody>
                  <a:tcPr anchor="ctr">
                    <a:solidFill>
                      <a:schemeClr val="accent5">
                        <a:lumMod val="20000"/>
                        <a:lumOff val="80000"/>
                      </a:schemeClr>
                    </a:solidFill>
                  </a:tcPr>
                </a:tc>
              </a:tr>
              <a:tr h="565150">
                <a:tc>
                  <a:txBody>
                    <a:bodyPr/>
                    <a:lstStyle/>
                    <a:p>
                      <a:pPr algn="ctr">
                        <a:buNone/>
                      </a:pPr>
                      <a:r>
                        <a:rPr lang="en-US" altLang="zh-CN" sz="2000" dirty="0">
                          <a:latin typeface="Times New Roman" panose="02020503050405090304" pitchFamily="18" charset="0"/>
                          <a:cs typeface="Times New Roman" panose="02020503050405090304" pitchFamily="18" charset="0"/>
                          <a:sym typeface="+mn-ea"/>
                        </a:rPr>
                        <a:t>CodeIO</a:t>
                      </a:r>
                      <a:endParaRPr lang="en-US" altLang="zh-CN" sz="2000" dirty="0">
                        <a:latin typeface="Times New Roman" panose="02020503050405090304" pitchFamily="18" charset="0"/>
                        <a:cs typeface="Times New Roman" panose="02020503050405090304" pitchFamily="18" charset="0"/>
                        <a:sym typeface="+mn-ea"/>
                      </a:endParaRPr>
                    </a:p>
                  </a:txBody>
                  <a:tcPr anchor="ctr">
                    <a:solidFill>
                      <a:schemeClr val="accent5">
                        <a:lumMod val="20000"/>
                        <a:lumOff val="80000"/>
                      </a:schemeClr>
                    </a:solidFill>
                  </a:tcPr>
                </a:tc>
                <a:tc>
                  <a:txBody>
                    <a:bodyPr/>
                    <a:lstStyle/>
                    <a:p>
                      <a:pPr algn="ctr">
                        <a:buNone/>
                      </a:pPr>
                      <a:r>
                        <a:rPr lang="en-US" altLang="zh-CN" sz="2000" dirty="0">
                          <a:latin typeface="Times New Roman" panose="02020503050405090304" pitchFamily="18" charset="0"/>
                          <a:cs typeface="Times New Roman" panose="02020503050405090304" pitchFamily="18" charset="0"/>
                        </a:rPr>
                        <a:t>3.4%</a:t>
                      </a:r>
                      <a:endParaRPr lang="en-US" altLang="zh-CN" sz="2000" dirty="0">
                        <a:latin typeface="Times New Roman" panose="02020503050405090304" pitchFamily="18" charset="0"/>
                        <a:cs typeface="Times New Roman" panose="02020503050405090304" pitchFamily="18" charset="0"/>
                      </a:endParaRPr>
                    </a:p>
                  </a:txBody>
                  <a:tcPr anchor="ctr">
                    <a:solidFill>
                      <a:schemeClr val="accent5">
                        <a:lumMod val="20000"/>
                        <a:lumOff val="80000"/>
                      </a:schemeClr>
                    </a:solidFill>
                  </a:tcPr>
                </a:tc>
                <a:tc>
                  <a:txBody>
                    <a:bodyPr/>
                    <a:p>
                      <a:pPr algn="ctr">
                        <a:buNone/>
                      </a:pPr>
                      <a:r>
                        <a:rPr lang="en-US" altLang="zh-CN" sz="2000" dirty="0">
                          <a:latin typeface="Times New Roman" panose="02020503050405090304" pitchFamily="18" charset="0"/>
                          <a:cs typeface="Times New Roman" panose="02020503050405090304" pitchFamily="18" charset="0"/>
                        </a:rPr>
                        <a:t>4.8% </a:t>
                      </a:r>
                      <a:r>
                        <a:rPr lang="zh-CN" altLang="en-US" sz="2000" dirty="0">
                          <a:latin typeface="Times New Roman" panose="02020503050405090304" pitchFamily="18" charset="0"/>
                          <a:cs typeface="Times New Roman" panose="02020503050405090304" pitchFamily="18" charset="0"/>
                        </a:rPr>
                        <a:t>⬇️</a:t>
                      </a:r>
                      <a:endParaRPr lang="zh-CN" altLang="en-US" sz="2000" dirty="0">
                        <a:latin typeface="Times New Roman" panose="02020503050405090304" pitchFamily="18" charset="0"/>
                        <a:cs typeface="Times New Roman" panose="02020503050405090304" pitchFamily="18" charset="0"/>
                      </a:endParaRPr>
                    </a:p>
                  </a:txBody>
                  <a:tcPr anchor="ctr">
                    <a:solidFill>
                      <a:schemeClr val="accent5">
                        <a:lumMod val="20000"/>
                        <a:lumOff val="80000"/>
                      </a:schemeClr>
                    </a:solidFill>
                  </a:tcPr>
                </a:tc>
              </a:tr>
            </a:tbl>
          </a:graphicData>
        </a:graphic>
      </p:graphicFrame>
      <p:sp>
        <p:nvSpPr>
          <p:cNvPr id="11" name="文本框 10"/>
          <p:cNvSpPr txBox="1"/>
          <p:nvPr/>
        </p:nvSpPr>
        <p:spPr>
          <a:xfrm>
            <a:off x="262890" y="969010"/>
            <a:ext cx="11298555" cy="1322070"/>
          </a:xfrm>
          <a:prstGeom prst="rect">
            <a:avLst/>
          </a:prstGeom>
          <a:noFill/>
        </p:spPr>
        <p:txBody>
          <a:bodyPr wrap="square" rtlCol="0">
            <a:spAutoFit/>
          </a:bodyPr>
          <a:p>
            <a:r>
              <a:rPr lang="en-US" altLang="zh-CN" sz="2000">
                <a:ea typeface="+mn-lt"/>
                <a:cs typeface="+mn-lt"/>
              </a:rPr>
              <a:t>Insight1</a:t>
            </a:r>
            <a:endParaRPr lang="en-US" altLang="zh-CN" sz="2000">
              <a:ea typeface="+mn-lt"/>
              <a:cs typeface="+mn-lt"/>
            </a:endParaRPr>
          </a:p>
          <a:p>
            <a:r>
              <a:rPr lang="en-US" altLang="zh-CN" sz="2000">
                <a:ea typeface="+mn-lt"/>
                <a:cs typeface="+mn-lt"/>
              </a:rPr>
              <a:t>1. </a:t>
            </a:r>
            <a:r>
              <a:rPr lang="zh-CN" altLang="en-US" sz="2000">
                <a:ea typeface="+mn-lt"/>
                <a:cs typeface="+mn-lt"/>
              </a:rPr>
              <a:t>对于目前已经很强的大模型，强制显式</a:t>
            </a:r>
            <a:r>
              <a:rPr lang="en-US" altLang="zh-CN" sz="2000">
                <a:ea typeface="+mn-lt"/>
                <a:cs typeface="+mn-lt"/>
              </a:rPr>
              <a:t>CoT</a:t>
            </a:r>
            <a:r>
              <a:rPr lang="zh-CN" altLang="en-US" sz="2000">
                <a:ea typeface="+mn-lt"/>
                <a:cs typeface="+mn-lt"/>
              </a:rPr>
              <a:t>不会大幅度影响其结果</a:t>
            </a:r>
            <a:endParaRPr lang="zh-CN" altLang="en-US" sz="2000">
              <a:ea typeface="+mn-lt"/>
              <a:cs typeface="+mn-lt"/>
            </a:endParaRPr>
          </a:p>
          <a:p>
            <a:r>
              <a:rPr lang="en-US" altLang="zh-CN" sz="2000">
                <a:ea typeface="+mn-lt"/>
                <a:cs typeface="+mn-lt"/>
              </a:rPr>
              <a:t>2. </a:t>
            </a:r>
            <a:r>
              <a:rPr lang="zh-CN" altLang="en-US" sz="2000">
                <a:ea typeface="+mn-lt"/>
                <a:cs typeface="+mn-lt"/>
              </a:rPr>
              <a:t>显式</a:t>
            </a:r>
            <a:r>
              <a:rPr lang="en-US" altLang="zh-CN" sz="2000">
                <a:ea typeface="+mn-lt"/>
                <a:cs typeface="+mn-lt"/>
              </a:rPr>
              <a:t>CoT</a:t>
            </a:r>
            <a:r>
              <a:rPr lang="zh-CN" altLang="en-US" sz="2000">
                <a:ea typeface="+mn-lt"/>
                <a:cs typeface="+mn-lt"/>
              </a:rPr>
              <a:t>对推理能力不足但结构对齐的模型（在预训练阶段见过</a:t>
            </a:r>
            <a:r>
              <a:rPr lang="en-US" altLang="zh-CN" sz="2000">
                <a:ea typeface="+mn-lt"/>
                <a:cs typeface="+mn-lt"/>
              </a:rPr>
              <a:t>reasoning</a:t>
            </a:r>
            <a:r>
              <a:rPr lang="zh-CN" altLang="en-US" sz="2000">
                <a:ea typeface="+mn-lt"/>
                <a:cs typeface="+mn-lt"/>
              </a:rPr>
              <a:t>），有显著提升效果</a:t>
            </a:r>
            <a:endParaRPr lang="zh-CN" altLang="en-US" sz="2000">
              <a:ea typeface="+mn-lt"/>
              <a:cs typeface="+mn-lt"/>
            </a:endParaRPr>
          </a:p>
          <a:p>
            <a:r>
              <a:rPr lang="en-US" altLang="zh-CN" sz="2000">
                <a:ea typeface="+mn-lt"/>
                <a:cs typeface="+mn-lt"/>
              </a:rPr>
              <a:t>3. Qwen2.5-Coder</a:t>
            </a:r>
            <a:r>
              <a:rPr lang="zh-CN" altLang="en-US" sz="2000">
                <a:ea typeface="+mn-lt"/>
                <a:cs typeface="+mn-lt"/>
              </a:rPr>
              <a:t>擅长代码生成，对于代码推理和指令对齐方面较弱。</a:t>
            </a:r>
            <a:endParaRPr lang="zh-CN" altLang="en-US" sz="2000">
              <a:ea typeface="+mn-lt"/>
              <a:cs typeface="+mn-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44805" y="302895"/>
            <a:ext cx="10500995" cy="460375"/>
          </a:xfrm>
          <a:prstGeom prst="rect">
            <a:avLst/>
          </a:prstGeom>
          <a:noFill/>
        </p:spPr>
        <p:txBody>
          <a:bodyPr wrap="square" rtlCol="0">
            <a:spAutoFit/>
          </a:bodyPr>
          <a:lstStyle/>
          <a:p>
            <a:pPr algn="l"/>
            <a:r>
              <a:rPr lang="zh-CN" altLang="en-US" sz="2400">
                <a:solidFill>
                  <a:schemeClr val="tx1"/>
                </a:solidFill>
              </a:rPr>
              <a:t>进展二：</a:t>
            </a:r>
            <a:r>
              <a:rPr lang="zh-CN" altLang="en-US" sz="2400" dirty="0">
                <a:latin typeface="+mn-ea"/>
                <a:cs typeface="+mn-ea"/>
                <a:sym typeface="+mn-ea"/>
              </a:rPr>
              <a:t>完成了</a:t>
            </a:r>
            <a:r>
              <a:rPr lang="zh-CN" altLang="en-US" sz="2400" dirty="0">
                <a:latin typeface="+mn-ea"/>
                <a:cs typeface="+mn-ea"/>
                <a:sym typeface="+mn-ea"/>
              </a:rPr>
              <a:t>代码模型训练</a:t>
            </a:r>
            <a:r>
              <a:rPr lang="en-US" altLang="zh-CN" sz="2400" dirty="0">
                <a:latin typeface="+mn-ea"/>
                <a:cs typeface="+mn-ea"/>
                <a:sym typeface="+mn-ea"/>
              </a:rPr>
              <a:t>，</a:t>
            </a:r>
            <a:r>
              <a:rPr lang="zh-CN" altLang="en-US" sz="2400" dirty="0">
                <a:latin typeface="+mn-ea"/>
                <a:cs typeface="+mn-ea"/>
                <a:sym typeface="+mn-ea"/>
              </a:rPr>
              <a:t>并进行了评估与</a:t>
            </a:r>
            <a:r>
              <a:rPr lang="zh-CN" altLang="en-US" sz="2400" dirty="0">
                <a:latin typeface="+mn-ea"/>
                <a:cs typeface="+mn-ea"/>
                <a:sym typeface="+mn-ea"/>
              </a:rPr>
              <a:t>对比</a:t>
            </a:r>
            <a:endParaRPr lang="zh-CN" altLang="en-US" sz="2400" dirty="0">
              <a:latin typeface="+mn-ea"/>
              <a:cs typeface="+mn-ea"/>
              <a:sym typeface="+mn-ea"/>
            </a:endParaRPr>
          </a:p>
        </p:txBody>
      </p:sp>
      <p:sp>
        <p:nvSpPr>
          <p:cNvPr id="5" name="文本框 4"/>
          <p:cNvSpPr txBox="1"/>
          <p:nvPr/>
        </p:nvSpPr>
        <p:spPr>
          <a:xfrm>
            <a:off x="344805" y="763270"/>
            <a:ext cx="11188700" cy="1753235"/>
          </a:xfrm>
          <a:prstGeom prst="rect">
            <a:avLst/>
          </a:prstGeom>
          <a:noFill/>
        </p:spPr>
        <p:txBody>
          <a:bodyPr wrap="square" rtlCol="0">
            <a:spAutoFit/>
          </a:bodyPr>
          <a:lstStyle/>
          <a:p>
            <a:pPr>
              <a:lnSpc>
                <a:spcPct val="150000"/>
              </a:lnSpc>
            </a:pPr>
            <a:r>
              <a:rPr lang="zh-CN" altLang="en-US" dirty="0">
                <a:latin typeface="Times New Roman" panose="02020503050405090304" pitchFamily="18" charset="0"/>
                <a:cs typeface="Times New Roman" panose="02020503050405090304" pitchFamily="18" charset="0"/>
              </a:rPr>
              <a:t>训练设置如下</a:t>
            </a:r>
            <a:r>
              <a:rPr lang="en-US" altLang="zh-CN" dirty="0">
                <a:latin typeface="Times New Roman" panose="02020503050405090304" pitchFamily="18" charset="0"/>
                <a:cs typeface="Times New Roman" panose="02020503050405090304" pitchFamily="18" charset="0"/>
              </a:rPr>
              <a:t>：</a:t>
            </a:r>
            <a:endParaRPr lang="en-US" altLang="zh-CN" dirty="0">
              <a:latin typeface="Times New Roman" panose="02020503050405090304" pitchFamily="18" charset="0"/>
              <a:cs typeface="Times New Roman" panose="02020503050405090304" pitchFamily="18" charset="0"/>
            </a:endParaRPr>
          </a:p>
          <a:p>
            <a:pPr>
              <a:lnSpc>
                <a:spcPct val="150000"/>
              </a:lnSpc>
            </a:pPr>
            <a:r>
              <a:rPr lang="en-US" altLang="zh-CN" dirty="0">
                <a:latin typeface="Times New Roman" panose="02020503050405090304" pitchFamily="18" charset="0"/>
                <a:cs typeface="Times New Roman" panose="02020503050405090304" pitchFamily="18" charset="0"/>
              </a:rPr>
              <a:t>1. </a:t>
            </a:r>
            <a:r>
              <a:rPr lang="zh-CN" altLang="en-US" dirty="0">
                <a:latin typeface="Times New Roman" panose="02020503050405090304" pitchFamily="18" charset="0"/>
                <a:cs typeface="Times New Roman" panose="02020503050405090304" pitchFamily="18" charset="0"/>
              </a:rPr>
              <a:t>训练集</a:t>
            </a:r>
            <a:r>
              <a:rPr lang="en-US" altLang="zh-CN" dirty="0">
                <a:latin typeface="Times New Roman" panose="02020503050405090304" pitchFamily="18" charset="0"/>
                <a:cs typeface="Times New Roman" panose="02020503050405090304" pitchFamily="18" charset="0"/>
              </a:rPr>
              <a:t>：</a:t>
            </a:r>
            <a:r>
              <a:rPr lang="zh-CN" altLang="en-US" dirty="0">
                <a:latin typeface="Times New Roman" panose="02020503050405090304" pitchFamily="18" charset="0"/>
                <a:cs typeface="Times New Roman" panose="02020503050405090304" pitchFamily="18" charset="0"/>
              </a:rPr>
              <a:t>去除评估</a:t>
            </a:r>
            <a:r>
              <a:rPr lang="en-US" altLang="zh-CN" dirty="0">
                <a:latin typeface="Times New Roman" panose="02020503050405090304" pitchFamily="18" charset="0"/>
                <a:cs typeface="Times New Roman" panose="02020503050405090304" pitchFamily="18" charset="0"/>
              </a:rPr>
              <a:t>id、</a:t>
            </a:r>
            <a:r>
              <a:rPr lang="zh-CN" altLang="en-US" dirty="0">
                <a:latin typeface="Times New Roman" panose="02020503050405090304" pitchFamily="18" charset="0"/>
                <a:cs typeface="Times New Roman" panose="02020503050405090304" pitchFamily="18" charset="0"/>
              </a:rPr>
              <a:t>限制</a:t>
            </a:r>
            <a:r>
              <a:rPr lang="en-US" altLang="zh-CN" dirty="0">
                <a:latin typeface="Times New Roman" panose="02020503050405090304" pitchFamily="18" charset="0"/>
                <a:cs typeface="Times New Roman" panose="02020503050405090304" pitchFamily="18" charset="0"/>
              </a:rPr>
              <a:t>code</a:t>
            </a:r>
            <a:r>
              <a:rPr lang="zh-CN" altLang="en-US" dirty="0">
                <a:latin typeface="Times New Roman" panose="02020503050405090304" pitchFamily="18" charset="0"/>
                <a:cs typeface="Times New Roman" panose="02020503050405090304" pitchFamily="18" charset="0"/>
              </a:rPr>
              <a:t>长度大于</a:t>
            </a:r>
            <a:r>
              <a:rPr lang="en-US" altLang="zh-CN" dirty="0">
                <a:latin typeface="Times New Roman" panose="02020503050405090304" pitchFamily="18" charset="0"/>
                <a:cs typeface="Times New Roman" panose="02020503050405090304" pitchFamily="18" charset="0"/>
              </a:rPr>
              <a:t>70</a:t>
            </a:r>
            <a:r>
              <a:rPr lang="zh-CN" altLang="en-US" dirty="0">
                <a:latin typeface="Times New Roman" panose="02020503050405090304" pitchFamily="18" charset="0"/>
                <a:cs typeface="Times New Roman" panose="02020503050405090304" pitchFamily="18" charset="0"/>
              </a:rPr>
              <a:t>行</a:t>
            </a:r>
            <a:r>
              <a:rPr lang="en-US" altLang="zh-CN" dirty="0">
                <a:latin typeface="Times New Roman" panose="02020503050405090304" pitchFamily="18" charset="0"/>
                <a:cs typeface="Times New Roman" panose="02020503050405090304" pitchFamily="18" charset="0"/>
              </a:rPr>
              <a:t>、</a:t>
            </a:r>
            <a:r>
              <a:rPr lang="zh-CN" altLang="en-US" dirty="0">
                <a:latin typeface="Times New Roman" panose="02020503050405090304" pitchFamily="18" charset="0"/>
                <a:cs typeface="Times New Roman" panose="02020503050405090304" pitchFamily="18" charset="0"/>
              </a:rPr>
              <a:t>随机取</a:t>
            </a:r>
            <a:r>
              <a:rPr lang="en-US" altLang="zh-CN" dirty="0">
                <a:latin typeface="Times New Roman" panose="02020503050405090304" pitchFamily="18" charset="0"/>
                <a:cs typeface="Times New Roman" panose="02020503050405090304" pitchFamily="18" charset="0"/>
              </a:rPr>
              <a:t>id，</a:t>
            </a:r>
            <a:r>
              <a:rPr lang="zh-CN" altLang="en-US" dirty="0">
                <a:latin typeface="Times New Roman" panose="02020503050405090304" pitchFamily="18" charset="0"/>
                <a:cs typeface="Times New Roman" panose="02020503050405090304" pitchFamily="18" charset="0"/>
              </a:rPr>
              <a:t>最终得到</a:t>
            </a:r>
            <a:r>
              <a:rPr lang="en-US" altLang="zh-CN" dirty="0">
                <a:latin typeface="Times New Roman" panose="02020503050405090304" pitchFamily="18" charset="0"/>
                <a:cs typeface="Times New Roman" panose="02020503050405090304" pitchFamily="18" charset="0"/>
              </a:rPr>
              <a:t>500</a:t>
            </a:r>
            <a:r>
              <a:rPr lang="zh-CN" altLang="en-US" dirty="0">
                <a:latin typeface="Times New Roman" panose="02020503050405090304" pitchFamily="18" charset="0"/>
                <a:cs typeface="Times New Roman" panose="02020503050405090304" pitchFamily="18" charset="0"/>
              </a:rPr>
              <a:t>个训练</a:t>
            </a:r>
            <a:r>
              <a:rPr lang="zh-CN" altLang="en-US" dirty="0">
                <a:latin typeface="Times New Roman" panose="02020503050405090304" pitchFamily="18" charset="0"/>
                <a:cs typeface="Times New Roman" panose="02020503050405090304" pitchFamily="18" charset="0"/>
              </a:rPr>
              <a:t>点</a:t>
            </a:r>
            <a:endParaRPr lang="zh-CN" altLang="en-US" dirty="0">
              <a:latin typeface="Times New Roman" panose="02020503050405090304" pitchFamily="18" charset="0"/>
              <a:cs typeface="Times New Roman" panose="02020503050405090304" pitchFamily="18" charset="0"/>
            </a:endParaRPr>
          </a:p>
          <a:p>
            <a:pPr>
              <a:lnSpc>
                <a:spcPct val="150000"/>
              </a:lnSpc>
            </a:pPr>
            <a:r>
              <a:rPr lang="en-US" altLang="zh-CN" dirty="0">
                <a:latin typeface="Times New Roman" panose="02020503050405090304" pitchFamily="18" charset="0"/>
                <a:cs typeface="Times New Roman" panose="02020503050405090304" pitchFamily="18" charset="0"/>
              </a:rPr>
              <a:t>2. </a:t>
            </a:r>
            <a:r>
              <a:rPr lang="zh-CN" altLang="en-US" dirty="0">
                <a:latin typeface="Times New Roman" panose="02020503050405090304" pitchFamily="18" charset="0"/>
                <a:cs typeface="Times New Roman" panose="02020503050405090304" pitchFamily="18" charset="0"/>
              </a:rPr>
              <a:t>基座模型</a:t>
            </a:r>
            <a:r>
              <a:rPr lang="en-US" altLang="zh-CN" dirty="0">
                <a:latin typeface="Times New Roman" panose="02020503050405090304" pitchFamily="18" charset="0"/>
                <a:cs typeface="Times New Roman" panose="02020503050405090304" pitchFamily="18" charset="0"/>
              </a:rPr>
              <a:t>：</a:t>
            </a:r>
            <a:r>
              <a:rPr lang="zh-CN" altLang="en-US" dirty="0">
                <a:latin typeface="Times New Roman" panose="02020503050405090304" pitchFamily="18" charset="0"/>
                <a:cs typeface="Times New Roman" panose="02020503050405090304" pitchFamily="18" charset="0"/>
              </a:rPr>
              <a:t>选取</a:t>
            </a:r>
            <a:r>
              <a:rPr lang="en-US" altLang="zh-CN" dirty="0">
                <a:latin typeface="Times New Roman" panose="02020503050405090304" pitchFamily="18" charset="0"/>
                <a:cs typeface="Times New Roman" panose="02020503050405090304" pitchFamily="18" charset="0"/>
              </a:rPr>
              <a:t>codeio</a:t>
            </a:r>
            <a:r>
              <a:rPr lang="zh-CN" altLang="en-US" dirty="0">
                <a:latin typeface="Times New Roman" panose="02020503050405090304" pitchFamily="18" charset="0"/>
                <a:cs typeface="Times New Roman" panose="02020503050405090304" pitchFamily="18" charset="0"/>
              </a:rPr>
              <a:t>和</a:t>
            </a:r>
            <a:r>
              <a:rPr lang="en-US" altLang="zh-CN" dirty="0">
                <a:latin typeface="Times New Roman" panose="02020503050405090304" pitchFamily="18" charset="0"/>
                <a:cs typeface="Times New Roman" panose="02020503050405090304" pitchFamily="18" charset="0"/>
              </a:rPr>
              <a:t>codeResonner</a:t>
            </a:r>
            <a:r>
              <a:rPr lang="zh-CN" altLang="en-US" dirty="0">
                <a:latin typeface="Times New Roman" panose="02020503050405090304" pitchFamily="18" charset="0"/>
                <a:cs typeface="Times New Roman" panose="02020503050405090304" pitchFamily="18" charset="0"/>
              </a:rPr>
              <a:t>的对应两个基座模型</a:t>
            </a:r>
            <a:r>
              <a:rPr lang="en-US" altLang="zh-CN" dirty="0">
                <a:latin typeface="Times New Roman" panose="02020503050405090304" pitchFamily="18" charset="0"/>
                <a:cs typeface="Times New Roman" panose="02020503050405090304" pitchFamily="18" charset="0"/>
                <a:sym typeface="+mn-ea"/>
              </a:rPr>
              <a:t>Qwen2.5-Code</a:t>
            </a:r>
            <a:r>
              <a:rPr lang="en-US" altLang="zh-CN" dirty="0">
                <a:latin typeface="Times New Roman" panose="02020503050405090304" pitchFamily="18" charset="0"/>
                <a:cs typeface="Times New Roman" panose="02020503050405090304" pitchFamily="18" charset="0"/>
                <a:sym typeface="+mn-ea"/>
              </a:rPr>
              <a:t>r-7B、Qwen2.5-Coder-7B-Instruct</a:t>
            </a:r>
            <a:endParaRPr lang="en-US" altLang="zh-CN" dirty="0">
              <a:latin typeface="Times New Roman" panose="02020503050405090304" pitchFamily="18" charset="0"/>
              <a:cs typeface="Times New Roman" panose="02020503050405090304" pitchFamily="18" charset="0"/>
              <a:sym typeface="+mn-ea"/>
            </a:endParaRPr>
          </a:p>
          <a:p>
            <a:pPr>
              <a:lnSpc>
                <a:spcPct val="150000"/>
              </a:lnSpc>
            </a:pPr>
            <a:r>
              <a:rPr lang="en-US" altLang="zh-CN" dirty="0">
                <a:latin typeface="Times New Roman" panose="02020503050405090304" pitchFamily="18" charset="0"/>
                <a:cs typeface="Times New Roman" panose="02020503050405090304" pitchFamily="18" charset="0"/>
              </a:rPr>
              <a:t>3. </a:t>
            </a:r>
            <a:r>
              <a:rPr lang="zh-CN" altLang="en-US" dirty="0">
                <a:latin typeface="Times New Roman" panose="02020503050405090304" pitchFamily="18" charset="0"/>
                <a:cs typeface="Times New Roman" panose="02020503050405090304" pitchFamily="18" charset="0"/>
              </a:rPr>
              <a:t>评估</a:t>
            </a:r>
            <a:r>
              <a:rPr lang="en-US" altLang="zh-CN" dirty="0">
                <a:latin typeface="Times New Roman" panose="02020503050405090304" pitchFamily="18" charset="0"/>
                <a:cs typeface="Times New Roman" panose="02020503050405090304" pitchFamily="18" charset="0"/>
              </a:rPr>
              <a:t>：</a:t>
            </a:r>
            <a:r>
              <a:rPr lang="zh-CN" altLang="en-US" dirty="0">
                <a:latin typeface="Times New Roman" panose="02020503050405090304" pitchFamily="18" charset="0"/>
                <a:cs typeface="Times New Roman" panose="02020503050405090304" pitchFamily="18" charset="0"/>
              </a:rPr>
              <a:t>均在</a:t>
            </a:r>
            <a:r>
              <a:rPr lang="en-US" altLang="zh-CN" dirty="0">
                <a:latin typeface="Times New Roman" panose="02020503050405090304" pitchFamily="18" charset="0"/>
                <a:cs typeface="Times New Roman" panose="02020503050405090304" pitchFamily="18" charset="0"/>
              </a:rPr>
              <a:t>with think</a:t>
            </a:r>
            <a:r>
              <a:rPr lang="zh-CN" altLang="en-US" dirty="0">
                <a:latin typeface="Times New Roman" panose="02020503050405090304" pitchFamily="18" charset="0"/>
                <a:cs typeface="Times New Roman" panose="02020503050405090304" pitchFamily="18" charset="0"/>
              </a:rPr>
              <a:t>情况下</a:t>
            </a:r>
            <a:endParaRPr lang="zh-CN" altLang="en-US" dirty="0">
              <a:latin typeface="Times New Roman" panose="02020503050405090304" pitchFamily="18" charset="0"/>
              <a:cs typeface="Times New Roman" panose="02020503050405090304" pitchFamily="18" charset="0"/>
            </a:endParaRPr>
          </a:p>
        </p:txBody>
      </p:sp>
      <p:graphicFrame>
        <p:nvGraphicFramePr>
          <p:cNvPr id="10" name="表格 9"/>
          <p:cNvGraphicFramePr/>
          <p:nvPr>
            <p:custDataLst>
              <p:tags r:id="rId1"/>
            </p:custDataLst>
          </p:nvPr>
        </p:nvGraphicFramePr>
        <p:xfrm>
          <a:off x="416560" y="2769235"/>
          <a:ext cx="7660640" cy="3735070"/>
        </p:xfrm>
        <a:graphic>
          <a:graphicData uri="http://schemas.openxmlformats.org/drawingml/2006/table">
            <a:tbl>
              <a:tblPr firstRow="1" bandRow="1">
                <a:tableStyleId>{5C22544A-7EE6-4342-B048-85BDC9FD1C3A}</a:tableStyleId>
              </a:tblPr>
              <a:tblGrid>
                <a:gridCol w="3764280"/>
                <a:gridCol w="3896360"/>
              </a:tblGrid>
              <a:tr h="667385">
                <a:tc>
                  <a:txBody>
                    <a:bodyPr/>
                    <a:lstStyle/>
                    <a:p>
                      <a:pPr algn="ctr">
                        <a:buNone/>
                      </a:pPr>
                      <a:r>
                        <a:rPr lang="zh-CN" altLang="en-US" dirty="0"/>
                        <a:t>模型</a:t>
                      </a:r>
                      <a:endParaRPr lang="zh-CN" altLang="en-US" dirty="0"/>
                    </a:p>
                  </a:txBody>
                  <a:tcPr anchor="ctr">
                    <a:solidFill>
                      <a:schemeClr val="tx1">
                        <a:lumMod val="85000"/>
                        <a:lumOff val="15000"/>
                      </a:schemeClr>
                    </a:solidFill>
                  </a:tcPr>
                </a:tc>
                <a:tc>
                  <a:txBody>
                    <a:bodyPr/>
                    <a:p>
                      <a:pPr algn="ctr">
                        <a:buNone/>
                      </a:pPr>
                      <a:r>
                        <a:rPr lang="zh-CN" altLang="en-US"/>
                        <a:t>正确率</a:t>
                      </a:r>
                      <a:r>
                        <a:rPr lang="en-US" altLang="zh-CN"/>
                        <a:t> Acc（with</a:t>
                      </a:r>
                      <a:r>
                        <a:rPr lang="en-US" altLang="zh-CN"/>
                        <a:t> </a:t>
                      </a:r>
                      <a:r>
                        <a:rPr lang="en-US" altLang="zh-CN"/>
                        <a:t>think）</a:t>
                      </a:r>
                      <a:endParaRPr lang="en-US" altLang="zh-CN"/>
                    </a:p>
                  </a:txBody>
                  <a:tcPr anchor="ctr">
                    <a:solidFill>
                      <a:schemeClr val="tx1">
                        <a:lumMod val="85000"/>
                        <a:lumOff val="15000"/>
                      </a:schemeClr>
                    </a:solidFill>
                  </a:tcPr>
                </a:tc>
              </a:tr>
              <a:tr h="511810">
                <a:tc>
                  <a:txBody>
                    <a:bodyPr/>
                    <a:lstStyle/>
                    <a:p>
                      <a:pPr algn="ctr">
                        <a:buNone/>
                      </a:pPr>
                      <a:r>
                        <a:rPr lang="en-US" altLang="zh-CN" sz="2000" dirty="0">
                          <a:latin typeface="Times New Roman" panose="02020503050405090304" pitchFamily="18" charset="0"/>
                          <a:cs typeface="Times New Roman" panose="02020503050405090304" pitchFamily="18" charset="0"/>
                          <a:sym typeface="+mn-ea"/>
                        </a:rPr>
                        <a:t>Qwen2.5-code-7B-Instrcut</a:t>
                      </a:r>
                      <a:endParaRPr lang="en-US" altLang="zh-CN" sz="2000" dirty="0">
                        <a:latin typeface="Times New Roman" panose="02020503050405090304" pitchFamily="18" charset="0"/>
                        <a:cs typeface="Times New Roman" panose="02020503050405090304" pitchFamily="18" charset="0"/>
                        <a:sym typeface="+mn-ea"/>
                      </a:endParaRPr>
                    </a:p>
                  </a:txBody>
                  <a:tcPr anchor="ctr">
                    <a:solidFill>
                      <a:schemeClr val="accent6">
                        <a:lumMod val="20000"/>
                        <a:lumOff val="80000"/>
                      </a:schemeClr>
                    </a:solidFill>
                  </a:tcPr>
                </a:tc>
                <a:tc>
                  <a:txBody>
                    <a:bodyPr/>
                    <a:p>
                      <a:pPr algn="ctr">
                        <a:buNone/>
                      </a:pPr>
                      <a:r>
                        <a:rPr lang="en-US" altLang="zh-CN" sz="2000" dirty="0">
                          <a:latin typeface="Times New Roman" panose="02020503050405090304" pitchFamily="18" charset="0"/>
                          <a:cs typeface="Times New Roman" panose="02020503050405090304" pitchFamily="18" charset="0"/>
                        </a:rPr>
                        <a:t>10.4%</a:t>
                      </a:r>
                      <a:endParaRPr lang="en-US" altLang="zh-CN" sz="2000" dirty="0">
                        <a:latin typeface="Times New Roman" panose="02020503050405090304" pitchFamily="18" charset="0"/>
                        <a:cs typeface="Times New Roman" panose="02020503050405090304" pitchFamily="18" charset="0"/>
                      </a:endParaRPr>
                    </a:p>
                  </a:txBody>
                  <a:tcPr anchor="ctr">
                    <a:solidFill>
                      <a:schemeClr val="accent6">
                        <a:lumMod val="20000"/>
                        <a:lumOff val="80000"/>
                      </a:schemeClr>
                    </a:solidFill>
                  </a:tcPr>
                </a:tc>
              </a:tr>
              <a:tr h="510540">
                <a:tc>
                  <a:txBody>
                    <a:bodyPr/>
                    <a:lstStyle/>
                    <a:p>
                      <a:pPr algn="ctr">
                        <a:buNone/>
                      </a:pPr>
                      <a:r>
                        <a:rPr lang="en-US" altLang="zh-CN" sz="2000" dirty="0">
                          <a:latin typeface="Times New Roman" panose="02020503050405090304" pitchFamily="18" charset="0"/>
                          <a:cs typeface="Times New Roman" panose="02020503050405090304" pitchFamily="18" charset="0"/>
                          <a:sym typeface="+mn-ea"/>
                        </a:rPr>
                        <a:t>CodeReasoner-7b</a:t>
                      </a:r>
                      <a:endParaRPr lang="en-US" altLang="zh-CN" sz="2000" dirty="0">
                        <a:latin typeface="Times New Roman" panose="02020503050405090304" pitchFamily="18" charset="0"/>
                        <a:cs typeface="Times New Roman" panose="02020503050405090304" pitchFamily="18" charset="0"/>
                        <a:sym typeface="+mn-ea"/>
                      </a:endParaRPr>
                    </a:p>
                  </a:txBody>
                  <a:tcPr anchor="ctr">
                    <a:solidFill>
                      <a:schemeClr val="accent6">
                        <a:lumMod val="20000"/>
                        <a:lumOff val="80000"/>
                      </a:schemeClr>
                    </a:solidFill>
                  </a:tcPr>
                </a:tc>
                <a:tc>
                  <a:txBody>
                    <a:bodyPr/>
                    <a:p>
                      <a:pPr algn="ctr">
                        <a:buNone/>
                      </a:pPr>
                      <a:r>
                        <a:rPr lang="en-US" altLang="zh-CN" sz="2000" dirty="0">
                          <a:latin typeface="Times New Roman" panose="02020503050405090304" pitchFamily="18" charset="0"/>
                          <a:cs typeface="Times New Roman" panose="02020503050405090304" pitchFamily="18" charset="0"/>
                        </a:rPr>
                        <a:t>15.2% </a:t>
                      </a:r>
                      <a:r>
                        <a:rPr lang="zh-CN" altLang="en-US" sz="2000" dirty="0">
                          <a:latin typeface="Times New Roman" panose="02020503050405090304" pitchFamily="18" charset="0"/>
                          <a:cs typeface="Times New Roman" panose="02020503050405090304" pitchFamily="18" charset="0"/>
                        </a:rPr>
                        <a:t>⬆️</a:t>
                      </a:r>
                      <a:endParaRPr lang="zh-CN" altLang="en-US" sz="2000" dirty="0">
                        <a:latin typeface="Times New Roman" panose="02020503050405090304" pitchFamily="18" charset="0"/>
                        <a:cs typeface="Times New Roman" panose="02020503050405090304" pitchFamily="18" charset="0"/>
                      </a:endParaRPr>
                    </a:p>
                  </a:txBody>
                  <a:tcPr anchor="ctr">
                    <a:solidFill>
                      <a:schemeClr val="accent6">
                        <a:lumMod val="20000"/>
                        <a:lumOff val="80000"/>
                      </a:schemeClr>
                    </a:solidFill>
                  </a:tcPr>
                </a:tc>
              </a:tr>
              <a:tr h="510540">
                <a:tc>
                  <a:txBody>
                    <a:bodyPr/>
                    <a:p>
                      <a:pPr algn="ctr">
                        <a:buNone/>
                      </a:pPr>
                      <a:r>
                        <a:rPr lang="en-US" altLang="zh-CN" sz="2000" dirty="0">
                          <a:latin typeface="Times New Roman" panose="02020503050405090304" pitchFamily="18" charset="0"/>
                          <a:cs typeface="Times New Roman" panose="02020503050405090304" pitchFamily="18" charset="0"/>
                          <a:sym typeface="+mn-ea"/>
                        </a:rPr>
                        <a:t>Treec</a:t>
                      </a:r>
                      <a:r>
                        <a:rPr lang="en-US" altLang="zh-CN" sz="2000" dirty="0">
                          <a:latin typeface="Times New Roman" panose="02020503050405090304" pitchFamily="18" charset="0"/>
                          <a:cs typeface="Times New Roman" panose="02020503050405090304" pitchFamily="18" charset="0"/>
                          <a:sym typeface="+mn-ea"/>
                        </a:rPr>
                        <a:t>Eva-500</a:t>
                      </a:r>
                      <a:endParaRPr lang="en-US" altLang="zh-CN" sz="2000" dirty="0">
                        <a:latin typeface="Times New Roman" panose="02020503050405090304" pitchFamily="18" charset="0"/>
                        <a:cs typeface="Times New Roman" panose="02020503050405090304" pitchFamily="18" charset="0"/>
                        <a:sym typeface="+mn-ea"/>
                      </a:endParaRPr>
                    </a:p>
                  </a:txBody>
                  <a:tcPr anchor="ctr">
                    <a:solidFill>
                      <a:schemeClr val="accent6">
                        <a:lumMod val="20000"/>
                        <a:lumOff val="80000"/>
                      </a:schemeClr>
                    </a:solidFill>
                  </a:tcPr>
                </a:tc>
                <a:tc>
                  <a:txBody>
                    <a:bodyPr/>
                    <a:p>
                      <a:pPr algn="ctr">
                        <a:buNone/>
                      </a:pPr>
                      <a:r>
                        <a:rPr lang="en-US" altLang="zh-CN" sz="2000" dirty="0">
                          <a:latin typeface="Times New Roman" panose="02020503050405090304" pitchFamily="18" charset="0"/>
                          <a:cs typeface="Times New Roman" panose="02020503050405090304" pitchFamily="18" charset="0"/>
                        </a:rPr>
                        <a:t>10.6% </a:t>
                      </a:r>
                      <a:r>
                        <a:rPr lang="zh-CN" altLang="en-US" sz="2000" dirty="0">
                          <a:latin typeface="Times New Roman" panose="02020503050405090304" pitchFamily="18" charset="0"/>
                          <a:cs typeface="Times New Roman" panose="02020503050405090304" pitchFamily="18" charset="0"/>
                        </a:rPr>
                        <a:t>⬆️</a:t>
                      </a:r>
                      <a:endParaRPr lang="zh-CN" altLang="en-US" sz="2000" dirty="0">
                        <a:latin typeface="Times New Roman" panose="02020503050405090304" pitchFamily="18" charset="0"/>
                        <a:cs typeface="Times New Roman" panose="02020503050405090304" pitchFamily="18" charset="0"/>
                      </a:endParaRPr>
                    </a:p>
                  </a:txBody>
                  <a:tcPr anchor="ctr">
                    <a:solidFill>
                      <a:schemeClr val="accent6">
                        <a:lumMod val="20000"/>
                        <a:lumOff val="80000"/>
                      </a:schemeClr>
                    </a:solidFill>
                  </a:tcPr>
                </a:tc>
              </a:tr>
              <a:tr h="511175">
                <a:tc>
                  <a:txBody>
                    <a:bodyPr/>
                    <a:lstStyle/>
                    <a:p>
                      <a:pPr algn="ctr">
                        <a:buNone/>
                      </a:pPr>
                      <a:r>
                        <a:rPr lang="en-US" altLang="zh-CN" sz="2000" dirty="0">
                          <a:latin typeface="Times New Roman" panose="02020503050405090304" pitchFamily="18" charset="0"/>
                          <a:cs typeface="Times New Roman" panose="02020503050405090304" pitchFamily="18" charset="0"/>
                          <a:sym typeface="+mn-ea"/>
                        </a:rPr>
                        <a:t>Qwen2.5-Coder-7B</a:t>
                      </a:r>
                      <a:endParaRPr lang="en-US" altLang="zh-CN" sz="2000" dirty="0">
                        <a:latin typeface="Times New Roman" panose="02020503050405090304" pitchFamily="18" charset="0"/>
                        <a:cs typeface="Times New Roman" panose="02020503050405090304" pitchFamily="18" charset="0"/>
                        <a:sym typeface="+mn-ea"/>
                      </a:endParaRPr>
                    </a:p>
                  </a:txBody>
                  <a:tcPr anchor="ctr">
                    <a:solidFill>
                      <a:schemeClr val="accent5">
                        <a:lumMod val="20000"/>
                        <a:lumOff val="80000"/>
                      </a:schemeClr>
                    </a:solidFill>
                  </a:tcPr>
                </a:tc>
                <a:tc>
                  <a:txBody>
                    <a:bodyPr/>
                    <a:p>
                      <a:pPr algn="ctr">
                        <a:buNone/>
                      </a:pPr>
                      <a:r>
                        <a:rPr lang="en-US" altLang="zh-CN" sz="2000" dirty="0">
                          <a:latin typeface="Times New Roman" panose="02020503050405090304" pitchFamily="18" charset="0"/>
                          <a:cs typeface="Times New Roman" panose="02020503050405090304" pitchFamily="18" charset="0"/>
                        </a:rPr>
                        <a:t>6.4%</a:t>
                      </a:r>
                      <a:endParaRPr lang="zh-CN" altLang="en-US" sz="2000" dirty="0">
                        <a:latin typeface="Times New Roman" panose="02020503050405090304" pitchFamily="18" charset="0"/>
                        <a:cs typeface="Times New Roman" panose="02020503050405090304" pitchFamily="18" charset="0"/>
                      </a:endParaRPr>
                    </a:p>
                  </a:txBody>
                  <a:tcPr anchor="ctr">
                    <a:solidFill>
                      <a:schemeClr val="accent5">
                        <a:lumMod val="20000"/>
                        <a:lumOff val="80000"/>
                      </a:schemeClr>
                    </a:solidFill>
                  </a:tcPr>
                </a:tc>
              </a:tr>
              <a:tr h="511810">
                <a:tc>
                  <a:txBody>
                    <a:bodyPr/>
                    <a:lstStyle/>
                    <a:p>
                      <a:pPr algn="ctr">
                        <a:buNone/>
                      </a:pPr>
                      <a:r>
                        <a:rPr lang="en-US" altLang="zh-CN" sz="2000" dirty="0">
                          <a:latin typeface="Times New Roman" panose="02020503050405090304" pitchFamily="18" charset="0"/>
                          <a:cs typeface="Times New Roman" panose="02020503050405090304" pitchFamily="18" charset="0"/>
                          <a:sym typeface="+mn-ea"/>
                        </a:rPr>
                        <a:t>CodeIO</a:t>
                      </a:r>
                      <a:endParaRPr lang="en-US" altLang="zh-CN" sz="2000" dirty="0">
                        <a:latin typeface="Times New Roman" panose="02020503050405090304" pitchFamily="18" charset="0"/>
                        <a:cs typeface="Times New Roman" panose="02020503050405090304" pitchFamily="18" charset="0"/>
                        <a:sym typeface="+mn-ea"/>
                      </a:endParaRPr>
                    </a:p>
                  </a:txBody>
                  <a:tcPr anchor="ctr">
                    <a:solidFill>
                      <a:schemeClr val="accent5">
                        <a:lumMod val="20000"/>
                        <a:lumOff val="80000"/>
                      </a:schemeClr>
                    </a:solidFill>
                  </a:tcPr>
                </a:tc>
                <a:tc>
                  <a:txBody>
                    <a:bodyPr/>
                    <a:p>
                      <a:pPr algn="ctr">
                        <a:buNone/>
                      </a:pPr>
                      <a:r>
                        <a:rPr lang="en-US" altLang="zh-CN" sz="2000" dirty="0">
                          <a:latin typeface="Times New Roman" panose="02020503050405090304" pitchFamily="18" charset="0"/>
                          <a:cs typeface="Times New Roman" panose="02020503050405090304" pitchFamily="18" charset="0"/>
                        </a:rPr>
                        <a:t>4.8% </a:t>
                      </a:r>
                      <a:r>
                        <a:rPr lang="zh-CN" altLang="en-US" sz="2000" dirty="0">
                          <a:latin typeface="Times New Roman" panose="02020503050405090304" pitchFamily="18" charset="0"/>
                          <a:cs typeface="Times New Roman" panose="02020503050405090304" pitchFamily="18" charset="0"/>
                        </a:rPr>
                        <a:t>⬇️</a:t>
                      </a:r>
                      <a:endParaRPr lang="zh-CN" altLang="en-US" sz="2000" dirty="0">
                        <a:latin typeface="Times New Roman" panose="02020503050405090304" pitchFamily="18" charset="0"/>
                        <a:cs typeface="Times New Roman" panose="02020503050405090304" pitchFamily="18" charset="0"/>
                      </a:endParaRPr>
                    </a:p>
                  </a:txBody>
                  <a:tcPr anchor="ctr">
                    <a:solidFill>
                      <a:schemeClr val="accent5">
                        <a:lumMod val="20000"/>
                        <a:lumOff val="80000"/>
                      </a:schemeClr>
                    </a:solidFill>
                  </a:tcPr>
                </a:tc>
              </a:tr>
              <a:tr h="511810">
                <a:tc>
                  <a:txBody>
                    <a:bodyPr/>
                    <a:p>
                      <a:pPr algn="ctr">
                        <a:buNone/>
                      </a:pPr>
                      <a:r>
                        <a:rPr lang="en-US" altLang="zh-CN" sz="2000" dirty="0">
                          <a:latin typeface="Times New Roman" panose="02020503050405090304" pitchFamily="18" charset="0"/>
                          <a:cs typeface="Times New Roman" panose="02020503050405090304" pitchFamily="18" charset="0"/>
                          <a:sym typeface="+mn-ea"/>
                        </a:rPr>
                        <a:t>TreecEva-500</a:t>
                      </a:r>
                      <a:endParaRPr lang="en-US" altLang="zh-CN" sz="2000" dirty="0">
                        <a:latin typeface="Times New Roman" panose="02020503050405090304" pitchFamily="18" charset="0"/>
                        <a:cs typeface="Times New Roman" panose="02020503050405090304" pitchFamily="18" charset="0"/>
                        <a:sym typeface="+mn-ea"/>
                      </a:endParaRPr>
                    </a:p>
                  </a:txBody>
                  <a:tcPr anchor="ctr">
                    <a:solidFill>
                      <a:schemeClr val="accent5">
                        <a:lumMod val="20000"/>
                        <a:lumOff val="80000"/>
                      </a:schemeClr>
                    </a:solidFill>
                  </a:tcPr>
                </a:tc>
                <a:tc>
                  <a:txBody>
                    <a:bodyPr/>
                    <a:p>
                      <a:pPr algn="ctr">
                        <a:buNone/>
                      </a:pPr>
                      <a:r>
                        <a:rPr lang="en-US" altLang="zh-CN" sz="2000" dirty="0">
                          <a:latin typeface="Times New Roman" panose="02020503050405090304" pitchFamily="18" charset="0"/>
                          <a:cs typeface="Times New Roman" panose="02020503050405090304" pitchFamily="18" charset="0"/>
                        </a:rPr>
                        <a:t>6.4%</a:t>
                      </a:r>
                      <a:endParaRPr lang="en-US" altLang="zh-CN" sz="2000" dirty="0">
                        <a:latin typeface="Times New Roman" panose="02020503050405090304" pitchFamily="18" charset="0"/>
                        <a:cs typeface="Times New Roman" panose="02020503050405090304" pitchFamily="18" charset="0"/>
                      </a:endParaRPr>
                    </a:p>
                  </a:txBody>
                  <a:tcPr anchor="ctr">
                    <a:solidFill>
                      <a:schemeClr val="accent5">
                        <a:lumMod val="20000"/>
                        <a:lumOff val="80000"/>
                      </a:schemeClr>
                    </a:solidFill>
                  </a:tcPr>
                </a:tc>
              </a:tr>
            </a:tbl>
          </a:graphicData>
        </a:graphic>
      </p:graphicFrame>
      <p:sp>
        <p:nvSpPr>
          <p:cNvPr id="3" name="文本框 2"/>
          <p:cNvSpPr txBox="1"/>
          <p:nvPr/>
        </p:nvSpPr>
        <p:spPr>
          <a:xfrm>
            <a:off x="8305165" y="3166745"/>
            <a:ext cx="3442335" cy="2399665"/>
          </a:xfrm>
          <a:prstGeom prst="rect">
            <a:avLst/>
          </a:prstGeom>
          <a:noFill/>
        </p:spPr>
        <p:txBody>
          <a:bodyPr wrap="square" rtlCol="0">
            <a:spAutoFit/>
          </a:bodyPr>
          <a:p>
            <a:pPr>
              <a:lnSpc>
                <a:spcPct val="150000"/>
              </a:lnSpc>
            </a:pPr>
            <a:r>
              <a:rPr lang="en-US" altLang="zh-CN" sz="2000">
                <a:ea typeface="+mn-lt"/>
                <a:cs typeface="+mn-lt"/>
              </a:rPr>
              <a:t>Insight2:</a:t>
            </a:r>
            <a:endParaRPr lang="en-US" altLang="zh-CN" sz="2000">
              <a:ea typeface="+mn-lt"/>
              <a:cs typeface="+mn-lt"/>
            </a:endParaRPr>
          </a:p>
          <a:p>
            <a:pPr>
              <a:lnSpc>
                <a:spcPct val="150000"/>
              </a:lnSpc>
            </a:pPr>
            <a:r>
              <a:rPr lang="zh-CN" altLang="en-US" sz="2000">
                <a:ea typeface="+mn-lt"/>
                <a:cs typeface="+mn-lt"/>
              </a:rPr>
              <a:t>我们的训练模型不会有下降</a:t>
            </a:r>
            <a:r>
              <a:rPr lang="en-US" altLang="zh-CN" sz="2000">
                <a:ea typeface="+mn-lt"/>
                <a:cs typeface="+mn-lt"/>
              </a:rPr>
              <a:t>，</a:t>
            </a:r>
            <a:r>
              <a:rPr lang="zh-CN" altLang="en-US" sz="2000">
                <a:ea typeface="+mn-lt"/>
                <a:cs typeface="+mn-lt"/>
              </a:rPr>
              <a:t>整体是提升的</a:t>
            </a:r>
            <a:r>
              <a:rPr lang="en-US" altLang="zh-CN" sz="2000">
                <a:ea typeface="+mn-lt"/>
                <a:cs typeface="+mn-lt"/>
              </a:rPr>
              <a:t>。</a:t>
            </a:r>
            <a:endParaRPr lang="en-US" altLang="zh-CN" sz="2000">
              <a:ea typeface="+mn-lt"/>
              <a:cs typeface="+mn-lt"/>
            </a:endParaRPr>
          </a:p>
          <a:p>
            <a:pPr>
              <a:lnSpc>
                <a:spcPct val="150000"/>
              </a:lnSpc>
            </a:pPr>
            <a:r>
              <a:rPr lang="zh-CN" altLang="en-US" sz="2000">
                <a:ea typeface="+mn-lt"/>
                <a:cs typeface="+mn-lt"/>
              </a:rPr>
              <a:t>但是提升幅度很小</a:t>
            </a:r>
            <a:r>
              <a:rPr lang="en-US" altLang="zh-CN" sz="2000">
                <a:ea typeface="+mn-lt"/>
                <a:cs typeface="+mn-lt"/>
              </a:rPr>
              <a:t>，</a:t>
            </a:r>
            <a:r>
              <a:rPr lang="zh-CN" altLang="en-US" sz="2000">
                <a:ea typeface="+mn-lt"/>
                <a:cs typeface="+mn-lt"/>
              </a:rPr>
              <a:t>猜测是训练数据少导致的</a:t>
            </a:r>
            <a:endParaRPr lang="zh-CN" altLang="en-US" sz="2000">
              <a:ea typeface="+mn-lt"/>
              <a:cs typeface="+mn-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44805" y="302895"/>
            <a:ext cx="10500995" cy="460375"/>
          </a:xfrm>
          <a:prstGeom prst="rect">
            <a:avLst/>
          </a:prstGeom>
          <a:noFill/>
        </p:spPr>
        <p:txBody>
          <a:bodyPr wrap="square" rtlCol="0">
            <a:spAutoFit/>
          </a:bodyPr>
          <a:lstStyle/>
          <a:p>
            <a:pPr algn="l"/>
            <a:r>
              <a:rPr lang="zh-CN" altLang="en-US" sz="2400">
                <a:solidFill>
                  <a:schemeClr val="tx1"/>
                </a:solidFill>
              </a:rPr>
              <a:t>进展三：</a:t>
            </a:r>
            <a:r>
              <a:rPr lang="zh-CN" altLang="en-US" sz="2400" dirty="0">
                <a:latin typeface="+mn-ea"/>
                <a:cs typeface="+mn-ea"/>
                <a:sym typeface="+mn-ea"/>
              </a:rPr>
              <a:t>评估了更多的更大的模型</a:t>
            </a:r>
            <a:r>
              <a:rPr lang="en-US" altLang="zh-CN" sz="2400" dirty="0">
                <a:latin typeface="+mn-ea"/>
                <a:cs typeface="+mn-ea"/>
                <a:sym typeface="+mn-ea"/>
              </a:rPr>
              <a:t>，</a:t>
            </a:r>
            <a:r>
              <a:rPr lang="zh-CN" altLang="en-US" sz="2400" dirty="0">
                <a:latin typeface="+mn-ea"/>
                <a:cs typeface="+mn-ea"/>
                <a:sym typeface="+mn-ea"/>
              </a:rPr>
              <a:t>丰富实验数据结论</a:t>
            </a:r>
            <a:endParaRPr lang="zh-CN" altLang="en-US" sz="2400" dirty="0">
              <a:latin typeface="+mn-ea"/>
              <a:cs typeface="+mn-ea"/>
              <a:sym typeface="+mn-ea"/>
            </a:endParaRPr>
          </a:p>
        </p:txBody>
      </p:sp>
      <p:sp>
        <p:nvSpPr>
          <p:cNvPr id="5" name="文本框 4"/>
          <p:cNvSpPr txBox="1"/>
          <p:nvPr/>
        </p:nvSpPr>
        <p:spPr>
          <a:xfrm>
            <a:off x="344805" y="763270"/>
            <a:ext cx="11188700" cy="1337945"/>
          </a:xfrm>
          <a:prstGeom prst="rect">
            <a:avLst/>
          </a:prstGeom>
          <a:noFill/>
        </p:spPr>
        <p:txBody>
          <a:bodyPr wrap="square" rtlCol="0">
            <a:spAutoFit/>
          </a:bodyPr>
          <a:lstStyle/>
          <a:p>
            <a:pPr>
              <a:lnSpc>
                <a:spcPct val="150000"/>
              </a:lnSpc>
            </a:pPr>
            <a:r>
              <a:rPr lang="zh-CN" altLang="en-US" dirty="0">
                <a:latin typeface="Times New Roman" panose="02020503050405090304" pitchFamily="18" charset="0"/>
                <a:cs typeface="Times New Roman" panose="02020503050405090304" pitchFamily="18" charset="0"/>
              </a:rPr>
              <a:t>目前评估了以下模型</a:t>
            </a:r>
            <a:r>
              <a:rPr lang="en-US" altLang="zh-CN" dirty="0">
                <a:latin typeface="Times New Roman" panose="02020503050405090304" pitchFamily="18" charset="0"/>
                <a:cs typeface="Times New Roman" panose="02020503050405090304" pitchFamily="18" charset="0"/>
              </a:rPr>
              <a:t>（</a:t>
            </a:r>
            <a:r>
              <a:rPr lang="en-US" altLang="zh-CN" dirty="0">
                <a:latin typeface="Times New Roman" panose="02020503050405090304" pitchFamily="18" charset="0"/>
                <a:cs typeface="Times New Roman" panose="02020503050405090304" pitchFamily="18" charset="0"/>
              </a:rPr>
              <a:t>API）：</a:t>
            </a:r>
            <a:endParaRPr lang="en-US" altLang="zh-CN" dirty="0">
              <a:latin typeface="Times New Roman" panose="02020503050405090304" pitchFamily="18" charset="0"/>
              <a:cs typeface="Times New Roman" panose="02020503050405090304" pitchFamily="18" charset="0"/>
            </a:endParaRPr>
          </a:p>
          <a:p>
            <a:pPr>
              <a:lnSpc>
                <a:spcPct val="150000"/>
              </a:lnSpc>
            </a:pPr>
            <a:r>
              <a:rPr lang="en-US" altLang="zh-CN" dirty="0">
                <a:latin typeface="Times New Roman" panose="02020503050405090304" pitchFamily="18" charset="0"/>
                <a:cs typeface="Times New Roman" panose="02020503050405090304" pitchFamily="18" charset="0"/>
              </a:rPr>
              <a:t>DeepSeek-V3.2、Claude-sonnet-4.5、Qwen3-32B、Qwen2.5-72B-Instruct、Qwen3-Next-80B-Instruct、Qwen3-235B-Instruct、</a:t>
            </a:r>
            <a:r>
              <a:rPr lang="en-US" altLang="zh-CN" dirty="0">
                <a:latin typeface="Times New Roman" panose="02020503050405090304" pitchFamily="18" charset="0"/>
                <a:cs typeface="Times New Roman" panose="02020503050405090304" pitchFamily="18" charset="0"/>
              </a:rPr>
              <a:t>Qwen3-Coder-480B-A35B-Instruct</a:t>
            </a:r>
            <a:endParaRPr lang="en-US" altLang="zh-CN" dirty="0">
              <a:latin typeface="Times New Roman" panose="02020503050405090304" pitchFamily="18" charset="0"/>
              <a:cs typeface="Times New Roman" panose="02020503050405090304" pitchFamily="18" charset="0"/>
            </a:endParaRPr>
          </a:p>
        </p:txBody>
      </p:sp>
      <p:graphicFrame>
        <p:nvGraphicFramePr>
          <p:cNvPr id="10" name="表格 9"/>
          <p:cNvGraphicFramePr/>
          <p:nvPr>
            <p:custDataLst>
              <p:tags r:id="rId1"/>
            </p:custDataLst>
          </p:nvPr>
        </p:nvGraphicFramePr>
        <p:xfrm>
          <a:off x="416560" y="2522220"/>
          <a:ext cx="8011795" cy="4267835"/>
        </p:xfrm>
        <a:graphic>
          <a:graphicData uri="http://schemas.openxmlformats.org/drawingml/2006/table">
            <a:tbl>
              <a:tblPr firstRow="1" bandRow="1">
                <a:tableStyleId>{5C22544A-7EE6-4342-B048-85BDC9FD1C3A}</a:tableStyleId>
              </a:tblPr>
              <a:tblGrid>
                <a:gridCol w="4673600"/>
                <a:gridCol w="3338195"/>
              </a:tblGrid>
              <a:tr h="564515">
                <a:tc>
                  <a:txBody>
                    <a:bodyPr/>
                    <a:lstStyle/>
                    <a:p>
                      <a:pPr algn="ctr">
                        <a:buNone/>
                      </a:pPr>
                      <a:r>
                        <a:rPr lang="zh-CN" altLang="en-US" dirty="0"/>
                        <a:t>模型</a:t>
                      </a:r>
                      <a:r>
                        <a:rPr lang="en-US" altLang="zh-CN" dirty="0"/>
                        <a:t>（</a:t>
                      </a:r>
                      <a:r>
                        <a:rPr lang="zh-CN" altLang="en-US" dirty="0"/>
                        <a:t>参数量从小往大</a:t>
                      </a:r>
                      <a:r>
                        <a:rPr lang="en-US" altLang="zh-CN" dirty="0"/>
                        <a:t>）</a:t>
                      </a:r>
                      <a:endParaRPr lang="en-US" altLang="zh-CN" dirty="0"/>
                    </a:p>
                  </a:txBody>
                  <a:tcPr anchor="ctr">
                    <a:solidFill>
                      <a:schemeClr val="tx1">
                        <a:lumMod val="85000"/>
                        <a:lumOff val="15000"/>
                      </a:schemeClr>
                    </a:solidFill>
                  </a:tcPr>
                </a:tc>
                <a:tc>
                  <a:txBody>
                    <a:bodyPr/>
                    <a:p>
                      <a:pPr algn="ctr">
                        <a:buNone/>
                      </a:pPr>
                      <a:r>
                        <a:rPr lang="zh-CN" altLang="en-US"/>
                        <a:t>正确率</a:t>
                      </a:r>
                      <a:r>
                        <a:rPr lang="en-US" altLang="zh-CN"/>
                        <a:t> Acc（with</a:t>
                      </a:r>
                      <a:r>
                        <a:rPr lang="en-US" altLang="zh-CN"/>
                        <a:t> </a:t>
                      </a:r>
                      <a:r>
                        <a:rPr lang="en-US" altLang="zh-CN"/>
                        <a:t>think）</a:t>
                      </a:r>
                      <a:endParaRPr lang="en-US" altLang="zh-CN"/>
                    </a:p>
                  </a:txBody>
                  <a:tcPr anchor="ctr">
                    <a:solidFill>
                      <a:schemeClr val="tx1">
                        <a:lumMod val="85000"/>
                        <a:lumOff val="15000"/>
                      </a:schemeClr>
                    </a:solidFill>
                  </a:tcPr>
                </a:tc>
              </a:tr>
              <a:tr h="432435">
                <a:tc>
                  <a:txBody>
                    <a:bodyPr/>
                    <a:lstStyle/>
                    <a:p>
                      <a:pPr algn="ctr">
                        <a:buNone/>
                      </a:pPr>
                      <a:r>
                        <a:rPr lang="en-US" altLang="zh-CN" sz="1800" dirty="0">
                          <a:latin typeface="Times New Roman" panose="02020503050405090304" pitchFamily="18" charset="0"/>
                          <a:cs typeface="Times New Roman" panose="02020503050405090304" pitchFamily="18" charset="0"/>
                          <a:sym typeface="+mn-ea"/>
                        </a:rPr>
                        <a:t>Qwen3-32B</a:t>
                      </a:r>
                      <a:endParaRPr lang="en-US" altLang="zh-CN" sz="1800" dirty="0">
                        <a:latin typeface="Times New Roman" panose="02020503050405090304" pitchFamily="18" charset="0"/>
                        <a:cs typeface="Times New Roman" panose="02020503050405090304" pitchFamily="18" charset="0"/>
                        <a:sym typeface="+mn-ea"/>
                      </a:endParaRPr>
                    </a:p>
                  </a:txBody>
                  <a:tcPr anchor="ctr">
                    <a:solidFill>
                      <a:schemeClr val="accent6">
                        <a:lumMod val="20000"/>
                        <a:lumOff val="80000"/>
                      </a:schemeClr>
                    </a:solidFill>
                  </a:tcPr>
                </a:tc>
                <a:tc>
                  <a:txBody>
                    <a:bodyPr/>
                    <a:p>
                      <a:pPr algn="ctr">
                        <a:buNone/>
                      </a:pPr>
                      <a:r>
                        <a:rPr lang="en-US" altLang="zh-CN" sz="1800" dirty="0">
                          <a:latin typeface="Times New Roman" panose="02020503050405090304" pitchFamily="18" charset="0"/>
                          <a:cs typeface="Times New Roman" panose="02020503050405090304" pitchFamily="18" charset="0"/>
                        </a:rPr>
                        <a:t>47.2%</a:t>
                      </a:r>
                      <a:endParaRPr lang="en-US" altLang="zh-CN" sz="1800" dirty="0">
                        <a:latin typeface="Times New Roman" panose="02020503050405090304" pitchFamily="18" charset="0"/>
                        <a:cs typeface="Times New Roman" panose="02020503050405090304" pitchFamily="18" charset="0"/>
                      </a:endParaRPr>
                    </a:p>
                  </a:txBody>
                  <a:tcPr anchor="ctr">
                    <a:solidFill>
                      <a:schemeClr val="accent6">
                        <a:lumMod val="20000"/>
                        <a:lumOff val="80000"/>
                      </a:schemeClr>
                    </a:solidFill>
                  </a:tcPr>
                </a:tc>
              </a:tr>
              <a:tr h="431165">
                <a:tc>
                  <a:txBody>
                    <a:bodyPr/>
                    <a:lstStyle/>
                    <a:p>
                      <a:pPr algn="ctr">
                        <a:buNone/>
                      </a:pPr>
                      <a:r>
                        <a:rPr lang="en-US" altLang="zh-CN" sz="1800" dirty="0">
                          <a:latin typeface="Times New Roman" panose="02020503050405090304" pitchFamily="18" charset="0"/>
                          <a:cs typeface="Times New Roman" panose="02020503050405090304" pitchFamily="18" charset="0"/>
                          <a:sym typeface="+mn-ea"/>
                        </a:rPr>
                        <a:t>Qwen2.5-72B-Instruct</a:t>
                      </a:r>
                      <a:endParaRPr lang="en-US" altLang="zh-CN" sz="1800" dirty="0">
                        <a:latin typeface="Times New Roman" panose="02020503050405090304" pitchFamily="18" charset="0"/>
                        <a:cs typeface="Times New Roman" panose="02020503050405090304" pitchFamily="18" charset="0"/>
                        <a:sym typeface="+mn-ea"/>
                      </a:endParaRPr>
                    </a:p>
                  </a:txBody>
                  <a:tcPr anchor="ctr">
                    <a:solidFill>
                      <a:schemeClr val="accent6">
                        <a:lumMod val="20000"/>
                        <a:lumOff val="80000"/>
                      </a:schemeClr>
                    </a:solidFill>
                  </a:tcPr>
                </a:tc>
                <a:tc>
                  <a:txBody>
                    <a:bodyPr/>
                    <a:p>
                      <a:pPr algn="ctr">
                        <a:buNone/>
                      </a:pPr>
                      <a:r>
                        <a:rPr lang="en-US" altLang="zh-CN" sz="1800" dirty="0">
                          <a:latin typeface="Times New Roman" panose="02020503050405090304" pitchFamily="18" charset="0"/>
                          <a:cs typeface="Times New Roman" panose="02020503050405090304" pitchFamily="18" charset="0"/>
                        </a:rPr>
                        <a:t>33.4%</a:t>
                      </a:r>
                      <a:endParaRPr lang="en-US" altLang="zh-CN" sz="1800" dirty="0">
                        <a:latin typeface="Times New Roman" panose="02020503050405090304" pitchFamily="18" charset="0"/>
                        <a:cs typeface="Times New Roman" panose="02020503050405090304" pitchFamily="18" charset="0"/>
                      </a:endParaRPr>
                    </a:p>
                  </a:txBody>
                  <a:tcPr anchor="ctr">
                    <a:solidFill>
                      <a:schemeClr val="accent6">
                        <a:lumMod val="20000"/>
                        <a:lumOff val="80000"/>
                      </a:schemeClr>
                    </a:solidFill>
                  </a:tcPr>
                </a:tc>
              </a:tr>
              <a:tr h="432435">
                <a:tc>
                  <a:txBody>
                    <a:bodyPr/>
                    <a:p>
                      <a:pPr algn="ctr">
                        <a:buNone/>
                      </a:pPr>
                      <a:r>
                        <a:rPr lang="en-US" altLang="zh-CN" sz="1800" dirty="0">
                          <a:latin typeface="Times New Roman" panose="02020503050405090304" pitchFamily="18" charset="0"/>
                          <a:cs typeface="Times New Roman" panose="02020503050405090304" pitchFamily="18" charset="0"/>
                          <a:sym typeface="+mn-ea"/>
                        </a:rPr>
                        <a:t>Qwen3-Next-80B-Instruct</a:t>
                      </a:r>
                      <a:endParaRPr lang="en-US" altLang="zh-CN" sz="1800" dirty="0">
                        <a:latin typeface="Times New Roman" panose="02020503050405090304" pitchFamily="18" charset="0"/>
                        <a:cs typeface="Times New Roman" panose="02020503050405090304" pitchFamily="18" charset="0"/>
                        <a:sym typeface="+mn-ea"/>
                      </a:endParaRPr>
                    </a:p>
                  </a:txBody>
                  <a:tcPr anchor="ctr">
                    <a:solidFill>
                      <a:schemeClr val="accent6">
                        <a:lumMod val="20000"/>
                        <a:lumOff val="80000"/>
                      </a:schemeClr>
                    </a:solidFill>
                  </a:tcPr>
                </a:tc>
                <a:tc>
                  <a:txBody>
                    <a:bodyPr/>
                    <a:p>
                      <a:pPr algn="ctr">
                        <a:buNone/>
                      </a:pPr>
                      <a:r>
                        <a:rPr lang="en-US" altLang="zh-CN" sz="1800" dirty="0">
                          <a:latin typeface="Times New Roman" panose="02020503050405090304" pitchFamily="18" charset="0"/>
                          <a:cs typeface="Times New Roman" panose="02020503050405090304" pitchFamily="18" charset="0"/>
                        </a:rPr>
                        <a:t>63.8%</a:t>
                      </a:r>
                      <a:endParaRPr lang="en-US" altLang="zh-CN" sz="1800" dirty="0">
                        <a:latin typeface="Times New Roman" panose="02020503050405090304" pitchFamily="18" charset="0"/>
                        <a:cs typeface="Times New Roman" panose="02020503050405090304" pitchFamily="18" charset="0"/>
                      </a:endParaRPr>
                    </a:p>
                  </a:txBody>
                  <a:tcPr anchor="ctr">
                    <a:solidFill>
                      <a:schemeClr val="accent6">
                        <a:lumMod val="20000"/>
                        <a:lumOff val="80000"/>
                      </a:schemeClr>
                    </a:solidFill>
                  </a:tcPr>
                </a:tc>
              </a:tr>
              <a:tr h="432435">
                <a:tc>
                  <a:txBody>
                    <a:bodyPr/>
                    <a:lstStyle/>
                    <a:p>
                      <a:pPr algn="ctr">
                        <a:buNone/>
                      </a:pPr>
                      <a:r>
                        <a:rPr lang="en-US" altLang="zh-CN" sz="1800" dirty="0">
                          <a:latin typeface="Times New Roman" panose="02020503050405090304" pitchFamily="18" charset="0"/>
                          <a:cs typeface="Times New Roman" panose="02020503050405090304" pitchFamily="18" charset="0"/>
                          <a:sym typeface="+mn-ea"/>
                        </a:rPr>
                        <a:t>Qwen3-235B-Instruct</a:t>
                      </a:r>
                      <a:endParaRPr lang="en-US" altLang="zh-CN" sz="1800" dirty="0">
                        <a:latin typeface="Times New Roman" panose="02020503050405090304" pitchFamily="18" charset="0"/>
                        <a:cs typeface="Times New Roman" panose="02020503050405090304" pitchFamily="18" charset="0"/>
                        <a:sym typeface="+mn-ea"/>
                      </a:endParaRPr>
                    </a:p>
                  </a:txBody>
                  <a:tcPr anchor="ctr">
                    <a:solidFill>
                      <a:schemeClr val="accent5">
                        <a:lumMod val="20000"/>
                        <a:lumOff val="80000"/>
                      </a:schemeClr>
                    </a:solidFill>
                  </a:tcPr>
                </a:tc>
                <a:tc>
                  <a:txBody>
                    <a:bodyPr/>
                    <a:p>
                      <a:pPr algn="ctr">
                        <a:buNone/>
                      </a:pPr>
                      <a:r>
                        <a:rPr lang="en-US" altLang="zh-CN" sz="1800" dirty="0">
                          <a:latin typeface="Times New Roman" panose="02020503050405090304" pitchFamily="18" charset="0"/>
                          <a:cs typeface="Times New Roman" panose="02020503050405090304" pitchFamily="18" charset="0"/>
                        </a:rPr>
                        <a:t>62.6%</a:t>
                      </a:r>
                      <a:endParaRPr lang="en-US" altLang="zh-CN" sz="1800" dirty="0">
                        <a:latin typeface="Times New Roman" panose="02020503050405090304" pitchFamily="18" charset="0"/>
                        <a:cs typeface="Times New Roman" panose="02020503050405090304" pitchFamily="18" charset="0"/>
                      </a:endParaRPr>
                    </a:p>
                  </a:txBody>
                  <a:tcPr anchor="ctr">
                    <a:solidFill>
                      <a:schemeClr val="accent5">
                        <a:lumMod val="20000"/>
                        <a:lumOff val="80000"/>
                      </a:schemeClr>
                    </a:solidFill>
                  </a:tcPr>
                </a:tc>
              </a:tr>
              <a:tr h="514350">
                <a:tc>
                  <a:txBody>
                    <a:bodyPr/>
                    <a:p>
                      <a:pPr algn="ctr">
                        <a:lnSpc>
                          <a:spcPct val="150000"/>
                        </a:lnSpc>
                      </a:pPr>
                      <a:r>
                        <a:rPr lang="en-US" altLang="zh-CN" sz="1800" dirty="0">
                          <a:latin typeface="Times New Roman" panose="02020503050405090304" pitchFamily="18" charset="0"/>
                          <a:cs typeface="Times New Roman" panose="02020503050405090304" pitchFamily="18" charset="0"/>
                          <a:sym typeface="+mn-ea"/>
                        </a:rPr>
                        <a:t>Qwen3-Coder-480B-A35B-Instruct</a:t>
                      </a:r>
                      <a:endParaRPr lang="en-US" altLang="zh-CN" sz="1800" dirty="0">
                        <a:latin typeface="Times New Roman" panose="02020503050405090304" pitchFamily="18" charset="0"/>
                        <a:cs typeface="Times New Roman" panose="02020503050405090304" pitchFamily="18" charset="0"/>
                        <a:sym typeface="+mn-ea"/>
                      </a:endParaRPr>
                    </a:p>
                  </a:txBody>
                  <a:tcPr anchor="ctr">
                    <a:solidFill>
                      <a:schemeClr val="accent5">
                        <a:lumMod val="20000"/>
                        <a:lumOff val="80000"/>
                      </a:schemeClr>
                    </a:solidFill>
                  </a:tcPr>
                </a:tc>
                <a:tc>
                  <a:txBody>
                    <a:bodyPr/>
                    <a:p>
                      <a:pPr algn="ctr">
                        <a:buNone/>
                      </a:pPr>
                      <a:r>
                        <a:rPr lang="en-US" altLang="zh-CN" sz="1800" dirty="0">
                          <a:latin typeface="Times New Roman" panose="02020503050405090304" pitchFamily="18" charset="0"/>
                          <a:cs typeface="Times New Roman" panose="02020503050405090304" pitchFamily="18" charset="0"/>
                        </a:rPr>
                        <a:t>63.8%</a:t>
                      </a:r>
                      <a:endParaRPr lang="en-US" altLang="zh-CN" sz="1800" dirty="0">
                        <a:latin typeface="Times New Roman" panose="02020503050405090304" pitchFamily="18" charset="0"/>
                        <a:cs typeface="Times New Roman" panose="02020503050405090304" pitchFamily="18" charset="0"/>
                      </a:endParaRPr>
                    </a:p>
                  </a:txBody>
                  <a:tcPr anchor="ctr">
                    <a:solidFill>
                      <a:schemeClr val="accent5">
                        <a:lumMod val="20000"/>
                        <a:lumOff val="80000"/>
                      </a:schemeClr>
                    </a:solidFill>
                  </a:tcPr>
                </a:tc>
              </a:tr>
              <a:tr h="514350">
                <a:tc>
                  <a:txBody>
                    <a:bodyPr/>
                    <a:p>
                      <a:pPr algn="ctr">
                        <a:lnSpc>
                          <a:spcPct val="150000"/>
                        </a:lnSpc>
                        <a:buNone/>
                      </a:pPr>
                      <a:r>
                        <a:rPr lang="en-US" altLang="zh-CN" sz="1800" dirty="0">
                          <a:latin typeface="Times New Roman" panose="02020503050405090304" pitchFamily="18" charset="0"/>
                          <a:cs typeface="Times New Roman" panose="02020503050405090304" pitchFamily="18" charset="0"/>
                          <a:sym typeface="+mn-ea"/>
                        </a:rPr>
                        <a:t>DeepSeek-V3.2</a:t>
                      </a:r>
                      <a:endParaRPr lang="en-US" altLang="zh-CN" sz="1800" dirty="0">
                        <a:latin typeface="Times New Roman" panose="02020503050405090304" pitchFamily="18" charset="0"/>
                        <a:cs typeface="Times New Roman" panose="02020503050405090304" pitchFamily="18" charset="0"/>
                        <a:sym typeface="+mn-ea"/>
                      </a:endParaRPr>
                    </a:p>
                  </a:txBody>
                  <a:tcPr anchor="ctr">
                    <a:solidFill>
                      <a:schemeClr val="accent5">
                        <a:lumMod val="20000"/>
                        <a:lumOff val="80000"/>
                      </a:schemeClr>
                    </a:solidFill>
                  </a:tcPr>
                </a:tc>
                <a:tc>
                  <a:txBody>
                    <a:bodyPr/>
                    <a:p>
                      <a:pPr algn="ctr">
                        <a:buNone/>
                      </a:pPr>
                      <a:r>
                        <a:rPr lang="en-US" altLang="zh-CN" sz="1800" dirty="0">
                          <a:latin typeface="Times New Roman" panose="02020503050405090304" pitchFamily="18" charset="0"/>
                          <a:cs typeface="Times New Roman" panose="02020503050405090304" pitchFamily="18" charset="0"/>
                        </a:rPr>
                        <a:t>76.4%</a:t>
                      </a:r>
                      <a:endParaRPr lang="en-US" altLang="zh-CN" sz="1800" dirty="0">
                        <a:latin typeface="Times New Roman" panose="02020503050405090304" pitchFamily="18" charset="0"/>
                        <a:cs typeface="Times New Roman" panose="02020503050405090304" pitchFamily="18" charset="0"/>
                      </a:endParaRPr>
                    </a:p>
                  </a:txBody>
                  <a:tcPr anchor="ctr">
                    <a:solidFill>
                      <a:schemeClr val="accent5">
                        <a:lumMod val="20000"/>
                        <a:lumOff val="80000"/>
                      </a:schemeClr>
                    </a:solidFill>
                  </a:tcPr>
                </a:tc>
              </a:tr>
              <a:tr h="514350">
                <a:tc>
                  <a:txBody>
                    <a:bodyPr/>
                    <a:p>
                      <a:pPr algn="ctr">
                        <a:lnSpc>
                          <a:spcPct val="150000"/>
                        </a:lnSpc>
                        <a:buNone/>
                      </a:pPr>
                      <a:r>
                        <a:rPr lang="en-US" altLang="zh-CN" sz="1800" dirty="0">
                          <a:latin typeface="Times New Roman" panose="02020503050405090304" pitchFamily="18" charset="0"/>
                          <a:cs typeface="Times New Roman" panose="02020503050405090304" pitchFamily="18" charset="0"/>
                          <a:sym typeface="+mn-ea"/>
                        </a:rPr>
                        <a:t>Claude-sonnet-4.5</a:t>
                      </a:r>
                      <a:endParaRPr lang="en-US" altLang="zh-CN" sz="1800" dirty="0">
                        <a:latin typeface="Times New Roman" panose="02020503050405090304" pitchFamily="18" charset="0"/>
                        <a:cs typeface="Times New Roman" panose="02020503050405090304" pitchFamily="18" charset="0"/>
                        <a:sym typeface="+mn-ea"/>
                      </a:endParaRPr>
                    </a:p>
                  </a:txBody>
                  <a:tcPr anchor="ctr">
                    <a:solidFill>
                      <a:schemeClr val="accent5">
                        <a:lumMod val="20000"/>
                        <a:lumOff val="80000"/>
                      </a:schemeClr>
                    </a:solidFill>
                  </a:tcPr>
                </a:tc>
                <a:tc>
                  <a:txBody>
                    <a:bodyPr/>
                    <a:p>
                      <a:pPr algn="ctr">
                        <a:buNone/>
                      </a:pPr>
                      <a:r>
                        <a:rPr lang="en-US" altLang="zh-CN" sz="1800" dirty="0">
                          <a:latin typeface="Times New Roman" panose="02020503050405090304" pitchFamily="18" charset="0"/>
                          <a:cs typeface="Times New Roman" panose="02020503050405090304" pitchFamily="18" charset="0"/>
                        </a:rPr>
                        <a:t>76.2%</a:t>
                      </a:r>
                      <a:endParaRPr lang="en-US" altLang="zh-CN" sz="1800" dirty="0">
                        <a:latin typeface="Times New Roman" panose="02020503050405090304" pitchFamily="18" charset="0"/>
                        <a:cs typeface="Times New Roman" panose="02020503050405090304" pitchFamily="18" charset="0"/>
                      </a:endParaRPr>
                    </a:p>
                  </a:txBody>
                  <a:tcPr anchor="ctr">
                    <a:solidFill>
                      <a:schemeClr val="accent5">
                        <a:lumMod val="20000"/>
                        <a:lumOff val="80000"/>
                      </a:schemeClr>
                    </a:solidFill>
                  </a:tcPr>
                </a:tc>
              </a:tr>
            </a:tbl>
          </a:graphicData>
        </a:graphic>
      </p:graphicFrame>
      <p:sp>
        <p:nvSpPr>
          <p:cNvPr id="3" name="文本框 2"/>
          <p:cNvSpPr txBox="1"/>
          <p:nvPr/>
        </p:nvSpPr>
        <p:spPr>
          <a:xfrm>
            <a:off x="8710295" y="2892425"/>
            <a:ext cx="3037205" cy="1938020"/>
          </a:xfrm>
          <a:prstGeom prst="rect">
            <a:avLst/>
          </a:prstGeom>
          <a:noFill/>
        </p:spPr>
        <p:txBody>
          <a:bodyPr wrap="square" rtlCol="0">
            <a:spAutoFit/>
          </a:bodyPr>
          <a:p>
            <a:pPr>
              <a:lnSpc>
                <a:spcPct val="150000"/>
              </a:lnSpc>
            </a:pPr>
            <a:r>
              <a:rPr lang="en-US" altLang="zh-CN" sz="2000">
                <a:ea typeface="+mn-lt"/>
                <a:cs typeface="+mn-lt"/>
              </a:rPr>
              <a:t>Insight3:</a:t>
            </a:r>
            <a:endParaRPr lang="en-US" altLang="zh-CN" sz="2000">
              <a:ea typeface="+mn-lt"/>
              <a:cs typeface="+mn-lt"/>
            </a:endParaRPr>
          </a:p>
          <a:p>
            <a:pPr>
              <a:lnSpc>
                <a:spcPct val="150000"/>
              </a:lnSpc>
            </a:pPr>
            <a:r>
              <a:rPr lang="zh-CN" altLang="en-US" sz="2000">
                <a:ea typeface="+mn-lt"/>
                <a:cs typeface="+mn-lt"/>
              </a:rPr>
              <a:t>大参数量模型在这个上面表现均不错</a:t>
            </a:r>
            <a:r>
              <a:rPr lang="en-US" altLang="zh-CN" sz="2000">
                <a:ea typeface="+mn-lt"/>
                <a:cs typeface="+mn-lt"/>
              </a:rPr>
              <a:t>，</a:t>
            </a:r>
            <a:r>
              <a:rPr lang="zh-CN" altLang="en-US" sz="2000">
                <a:ea typeface="+mn-lt"/>
                <a:cs typeface="+mn-lt"/>
              </a:rPr>
              <a:t>且参数量越大表现越好</a:t>
            </a:r>
            <a:endParaRPr lang="zh-CN" altLang="en-US" sz="2000">
              <a:ea typeface="+mn-lt"/>
              <a:cs typeface="+mn-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文本框 3"/>
          <p:cNvSpPr txBox="1"/>
          <p:nvPr/>
        </p:nvSpPr>
        <p:spPr>
          <a:xfrm>
            <a:off x="344805" y="302895"/>
            <a:ext cx="10500995" cy="460375"/>
          </a:xfrm>
          <a:prstGeom prst="rect">
            <a:avLst/>
          </a:prstGeom>
          <a:noFill/>
        </p:spPr>
        <p:txBody>
          <a:bodyPr wrap="square" rtlCol="0">
            <a:spAutoFit/>
          </a:bodyPr>
          <a:lstStyle/>
          <a:p>
            <a:pPr algn="l"/>
            <a:r>
              <a:rPr lang="zh-CN" altLang="en-US" sz="2400" dirty="0">
                <a:solidFill>
                  <a:schemeClr val="tx1"/>
                </a:solidFill>
              </a:rPr>
              <a:t>进展一：评估集构建</a:t>
            </a:r>
            <a:endParaRPr lang="zh-CN" altLang="en-US" sz="2400" dirty="0">
              <a:solidFill>
                <a:schemeClr val="tx1"/>
              </a:solidFill>
            </a:endParaRPr>
          </a:p>
        </p:txBody>
      </p:sp>
      <p:sp>
        <p:nvSpPr>
          <p:cNvPr id="5" name="文本框 4"/>
          <p:cNvSpPr txBox="1"/>
          <p:nvPr/>
        </p:nvSpPr>
        <p:spPr>
          <a:xfrm>
            <a:off x="344805" y="901065"/>
            <a:ext cx="9321165" cy="1753235"/>
          </a:xfrm>
          <a:prstGeom prst="rect">
            <a:avLst/>
          </a:prstGeom>
          <a:noFill/>
        </p:spPr>
        <p:txBody>
          <a:bodyPr wrap="square" rtlCol="0">
            <a:spAutoFit/>
          </a:bodyPr>
          <a:lstStyle/>
          <a:p>
            <a:pPr>
              <a:lnSpc>
                <a:spcPct val="150000"/>
              </a:lnSpc>
            </a:pPr>
            <a:r>
              <a:rPr lang="zh-CN" altLang="en-US" dirty="0">
                <a:latin typeface="Times New Roman" panose="02020503050405090304" pitchFamily="18" charset="0"/>
                <a:cs typeface="Times New Roman" panose="02020503050405090304" pitchFamily="18" charset="0"/>
              </a:rPr>
              <a:t>基于之前的“复杂性”“带冗余干扰”“跨函数级”</a:t>
            </a:r>
            <a:r>
              <a:rPr lang="en-US" altLang="zh-CN" dirty="0">
                <a:latin typeface="Times New Roman" panose="02020503050405090304" pitchFamily="18" charset="0"/>
                <a:cs typeface="Times New Roman" panose="02020503050405090304" pitchFamily="18" charset="0"/>
              </a:rPr>
              <a:t> code-answer </a:t>
            </a:r>
            <a:r>
              <a:rPr lang="zh-CN" altLang="en-US" dirty="0">
                <a:latin typeface="Times New Roman" panose="02020503050405090304" pitchFamily="18" charset="0"/>
                <a:cs typeface="Times New Roman" panose="02020503050405090304" pitchFamily="18" charset="0"/>
              </a:rPr>
              <a:t>二元对</a:t>
            </a:r>
            <a:endParaRPr lang="zh-CN" altLang="en-US" dirty="0">
              <a:latin typeface="Times New Roman" panose="02020503050405090304" pitchFamily="18" charset="0"/>
              <a:cs typeface="Times New Roman" panose="02020503050405090304" pitchFamily="18" charset="0"/>
            </a:endParaRPr>
          </a:p>
          <a:p>
            <a:pPr>
              <a:lnSpc>
                <a:spcPct val="150000"/>
              </a:lnSpc>
            </a:pPr>
            <a:r>
              <a:rPr lang="zh-CN" altLang="en-US" dirty="0">
                <a:latin typeface="Times New Roman" panose="02020503050405090304" pitchFamily="18" charset="0"/>
                <a:cs typeface="Times New Roman" panose="02020503050405090304" pitchFamily="18" charset="0"/>
              </a:rPr>
              <a:t>进行适当筛选</a:t>
            </a:r>
            <a:r>
              <a:rPr lang="en-US" altLang="zh-CN" dirty="0">
                <a:latin typeface="Times New Roman" panose="02020503050405090304" pitchFamily="18" charset="0"/>
                <a:cs typeface="Times New Roman" panose="02020503050405090304" pitchFamily="18" charset="0"/>
              </a:rPr>
              <a:t>（</a:t>
            </a:r>
            <a:r>
              <a:rPr lang="zh-CN" altLang="en-US" dirty="0">
                <a:latin typeface="Times New Roman" panose="02020503050405090304" pitchFamily="18" charset="0"/>
                <a:cs typeface="Times New Roman" panose="02020503050405090304" pitchFamily="18" charset="0"/>
              </a:rPr>
              <a:t>需还有函数调用</a:t>
            </a:r>
            <a:r>
              <a:rPr lang="en-US" altLang="zh-CN" dirty="0">
                <a:latin typeface="Times New Roman" panose="02020503050405090304" pitchFamily="18" charset="0"/>
                <a:cs typeface="Times New Roman" panose="02020503050405090304" pitchFamily="18" charset="0"/>
              </a:rPr>
              <a:t>），</a:t>
            </a:r>
            <a:r>
              <a:rPr lang="zh-CN" altLang="en-US" dirty="0">
                <a:latin typeface="Times New Roman" panose="02020503050405090304" pitchFamily="18" charset="0"/>
                <a:cs typeface="Times New Roman" panose="02020503050405090304" pitchFamily="18" charset="0"/>
              </a:rPr>
              <a:t>留下</a:t>
            </a:r>
            <a:r>
              <a:rPr lang="en-US" altLang="zh-CN" dirty="0">
                <a:latin typeface="Times New Roman" panose="02020503050405090304" pitchFamily="18" charset="0"/>
                <a:cs typeface="Times New Roman" panose="02020503050405090304" pitchFamily="18" charset="0"/>
              </a:rPr>
              <a:t>500</a:t>
            </a:r>
            <a:r>
              <a:rPr lang="zh-CN" altLang="en-US" dirty="0">
                <a:latin typeface="Times New Roman" panose="02020503050405090304" pitchFamily="18" charset="0"/>
                <a:cs typeface="Times New Roman" panose="02020503050405090304" pitchFamily="18" charset="0"/>
              </a:rPr>
              <a:t>个符合需求的</a:t>
            </a:r>
            <a:r>
              <a:rPr lang="en-US" altLang="zh-CN" dirty="0">
                <a:latin typeface="Times New Roman" panose="02020503050405090304" pitchFamily="18" charset="0"/>
                <a:cs typeface="Times New Roman" panose="02020503050405090304" pitchFamily="18" charset="0"/>
                <a:sym typeface="+mn-ea"/>
              </a:rPr>
              <a:t>code-answe</a:t>
            </a:r>
            <a:r>
              <a:rPr lang="zh-CN" altLang="en-US" dirty="0">
                <a:latin typeface="Times New Roman" panose="02020503050405090304" pitchFamily="18" charset="0"/>
                <a:cs typeface="Times New Roman" panose="02020503050405090304" pitchFamily="18" charset="0"/>
              </a:rPr>
              <a:t>对</a:t>
            </a:r>
            <a:endParaRPr lang="zh-CN" altLang="en-US" dirty="0">
              <a:latin typeface="Times New Roman" panose="02020503050405090304" pitchFamily="18" charset="0"/>
              <a:cs typeface="Times New Roman" panose="02020503050405090304" pitchFamily="18" charset="0"/>
            </a:endParaRPr>
          </a:p>
          <a:p>
            <a:pPr>
              <a:lnSpc>
                <a:spcPct val="150000"/>
              </a:lnSpc>
            </a:pPr>
            <a:r>
              <a:rPr lang="en-US" altLang="zh-CN" dirty="0">
                <a:latin typeface="Times New Roman" panose="02020503050405090304" pitchFamily="18" charset="0"/>
                <a:cs typeface="Times New Roman" panose="02020503050405090304" pitchFamily="18" charset="0"/>
              </a:rPr>
              <a:t>code</a:t>
            </a:r>
            <a:r>
              <a:rPr lang="zh-CN" altLang="en-US" dirty="0">
                <a:latin typeface="Times New Roman" panose="02020503050405090304" pitchFamily="18" charset="0"/>
                <a:cs typeface="Times New Roman" panose="02020503050405090304" pitchFamily="18" charset="0"/>
              </a:rPr>
              <a:t>特征分布如下图所示</a:t>
            </a:r>
            <a:r>
              <a:rPr lang="en-US" altLang="zh-CN" dirty="0">
                <a:latin typeface="Times New Roman" panose="02020503050405090304" pitchFamily="18" charset="0"/>
                <a:cs typeface="Times New Roman" panose="02020503050405090304" pitchFamily="18" charset="0"/>
              </a:rPr>
              <a:t>：</a:t>
            </a:r>
            <a:endParaRPr lang="en-US" altLang="zh-CN" dirty="0">
              <a:latin typeface="Times New Roman" panose="02020503050405090304" pitchFamily="18" charset="0"/>
              <a:cs typeface="Times New Roman" panose="02020503050405090304" pitchFamily="18" charset="0"/>
            </a:endParaRPr>
          </a:p>
          <a:p>
            <a:pPr>
              <a:lnSpc>
                <a:spcPct val="150000"/>
              </a:lnSpc>
            </a:pPr>
            <a:r>
              <a:rPr lang="zh-CN" altLang="en-US" dirty="0">
                <a:latin typeface="Times New Roman" panose="02020503050405090304" pitchFamily="18" charset="0"/>
                <a:cs typeface="Times New Roman" panose="02020503050405090304" pitchFamily="18" charset="0"/>
              </a:rPr>
              <a:t>代码行数平均</a:t>
            </a:r>
            <a:r>
              <a:rPr lang="en-US" altLang="zh-CN" dirty="0">
                <a:latin typeface="Times New Roman" panose="02020503050405090304" pitchFamily="18" charset="0"/>
                <a:cs typeface="Times New Roman" panose="02020503050405090304" pitchFamily="18" charset="0"/>
              </a:rPr>
              <a:t>-56.65</a:t>
            </a:r>
            <a:r>
              <a:rPr lang="zh-CN" altLang="en-US" dirty="0">
                <a:latin typeface="Times New Roman" panose="02020503050405090304" pitchFamily="18" charset="0"/>
                <a:cs typeface="Times New Roman" panose="02020503050405090304" pitchFamily="18" charset="0"/>
              </a:rPr>
              <a:t>行</a:t>
            </a:r>
            <a:r>
              <a:rPr lang="en-US" altLang="zh-CN" dirty="0">
                <a:latin typeface="Times New Roman" panose="02020503050405090304" pitchFamily="18" charset="0"/>
                <a:cs typeface="Times New Roman" panose="02020503050405090304" pitchFamily="18" charset="0"/>
              </a:rPr>
              <a:t>；</a:t>
            </a:r>
            <a:r>
              <a:rPr lang="zh-CN" altLang="en-US" dirty="0">
                <a:latin typeface="Times New Roman" panose="02020503050405090304" pitchFamily="18" charset="0"/>
                <a:cs typeface="Times New Roman" panose="02020503050405090304" pitchFamily="18" charset="0"/>
              </a:rPr>
              <a:t>函数数量平均</a:t>
            </a:r>
            <a:r>
              <a:rPr lang="en-US" altLang="zh-CN" dirty="0">
                <a:latin typeface="Times New Roman" panose="02020503050405090304" pitchFamily="18" charset="0"/>
                <a:cs typeface="Times New Roman" panose="02020503050405090304" pitchFamily="18" charset="0"/>
              </a:rPr>
              <a:t>3.11</a:t>
            </a:r>
            <a:r>
              <a:rPr lang="zh-CN" altLang="en-US" dirty="0">
                <a:latin typeface="Times New Roman" panose="02020503050405090304" pitchFamily="18" charset="0"/>
                <a:cs typeface="Times New Roman" panose="02020503050405090304" pitchFamily="18" charset="0"/>
              </a:rPr>
              <a:t>个</a:t>
            </a:r>
            <a:r>
              <a:rPr lang="en-US" altLang="zh-CN" dirty="0">
                <a:latin typeface="Times New Roman" panose="02020503050405090304" pitchFamily="18" charset="0"/>
                <a:cs typeface="Times New Roman" panose="02020503050405090304" pitchFamily="18" charset="0"/>
              </a:rPr>
              <a:t>；</a:t>
            </a:r>
            <a:r>
              <a:rPr lang="zh-CN" altLang="en-US" dirty="0">
                <a:latin typeface="Times New Roman" panose="02020503050405090304" pitchFamily="18" charset="0"/>
                <a:cs typeface="Times New Roman" panose="02020503050405090304" pitchFamily="18" charset="0"/>
              </a:rPr>
              <a:t>函数调用次数平均</a:t>
            </a:r>
            <a:r>
              <a:rPr lang="en-US" altLang="zh-CN" dirty="0">
                <a:latin typeface="Times New Roman" panose="02020503050405090304" pitchFamily="18" charset="0"/>
                <a:cs typeface="Times New Roman" panose="02020503050405090304" pitchFamily="18" charset="0"/>
              </a:rPr>
              <a:t>2.77</a:t>
            </a:r>
            <a:r>
              <a:rPr lang="zh-CN" altLang="en-US" dirty="0">
                <a:latin typeface="Times New Roman" panose="02020503050405090304" pitchFamily="18" charset="0"/>
                <a:cs typeface="Times New Roman" panose="02020503050405090304" pitchFamily="18" charset="0"/>
              </a:rPr>
              <a:t>次</a:t>
            </a:r>
            <a:endParaRPr lang="zh-CN" altLang="en-US" dirty="0">
              <a:latin typeface="Times New Roman" panose="02020503050405090304" pitchFamily="18" charset="0"/>
              <a:cs typeface="Times New Roman" panose="02020503050405090304" pitchFamily="18" charset="0"/>
            </a:endParaRPr>
          </a:p>
        </p:txBody>
      </p:sp>
      <p:pic>
        <p:nvPicPr>
          <p:cNvPr id="3" name="图片 2" descr="dataset_distribution"/>
          <p:cNvPicPr>
            <a:picLocks noChangeAspect="1"/>
          </p:cNvPicPr>
          <p:nvPr/>
        </p:nvPicPr>
        <p:blipFill>
          <a:blip r:embed="rId1"/>
          <a:stretch>
            <a:fillRect/>
          </a:stretch>
        </p:blipFill>
        <p:spPr>
          <a:xfrm>
            <a:off x="344805" y="2942590"/>
            <a:ext cx="11847195" cy="3528060"/>
          </a:xfrm>
          <a:prstGeom prst="rect">
            <a:avLst/>
          </a:prstGeom>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文本框 3"/>
          <p:cNvSpPr txBox="1"/>
          <p:nvPr/>
        </p:nvSpPr>
        <p:spPr>
          <a:xfrm>
            <a:off x="344805" y="302895"/>
            <a:ext cx="10500995" cy="460375"/>
          </a:xfrm>
          <a:prstGeom prst="rect">
            <a:avLst/>
          </a:prstGeom>
          <a:noFill/>
        </p:spPr>
        <p:txBody>
          <a:bodyPr wrap="square" rtlCol="0">
            <a:spAutoFit/>
          </a:bodyPr>
          <a:lstStyle/>
          <a:p>
            <a:pPr algn="l"/>
            <a:r>
              <a:rPr lang="zh-CN" altLang="en-US" sz="2400" dirty="0">
                <a:solidFill>
                  <a:schemeClr val="tx1"/>
                </a:solidFill>
              </a:rPr>
              <a:t>进展一：评估集构建</a:t>
            </a:r>
            <a:endParaRPr lang="zh-CN" altLang="en-US" sz="2400" dirty="0">
              <a:solidFill>
                <a:schemeClr val="tx1"/>
              </a:solidFill>
            </a:endParaRPr>
          </a:p>
        </p:txBody>
      </p:sp>
      <p:sp>
        <p:nvSpPr>
          <p:cNvPr id="5" name="文本框 4"/>
          <p:cNvSpPr txBox="1"/>
          <p:nvPr/>
        </p:nvSpPr>
        <p:spPr>
          <a:xfrm>
            <a:off x="344805" y="901065"/>
            <a:ext cx="10500360" cy="922020"/>
          </a:xfrm>
          <a:prstGeom prst="rect">
            <a:avLst/>
          </a:prstGeom>
          <a:noFill/>
        </p:spPr>
        <p:txBody>
          <a:bodyPr wrap="square" rtlCol="0">
            <a:spAutoFit/>
          </a:bodyPr>
          <a:lstStyle/>
          <a:p>
            <a:pPr>
              <a:lnSpc>
                <a:spcPct val="150000"/>
              </a:lnSpc>
            </a:pPr>
            <a:r>
              <a:rPr lang="zh-CN" altLang="en-US" dirty="0">
                <a:latin typeface="Times New Roman" panose="02020503050405090304" pitchFamily="18" charset="0"/>
                <a:cs typeface="Times New Roman" panose="02020503050405090304" pitchFamily="18" charset="0"/>
              </a:rPr>
              <a:t>基于</a:t>
            </a:r>
            <a:r>
              <a:rPr lang="en-US" altLang="zh-CN" dirty="0">
                <a:latin typeface="Times New Roman" panose="02020503050405090304" pitchFamily="18" charset="0"/>
                <a:cs typeface="Times New Roman" panose="02020503050405090304" pitchFamily="18" charset="0"/>
              </a:rPr>
              <a:t>500</a:t>
            </a:r>
            <a:r>
              <a:rPr lang="zh-CN" altLang="en-US" dirty="0">
                <a:latin typeface="Times New Roman" panose="02020503050405090304" pitchFamily="18" charset="0"/>
                <a:cs typeface="Times New Roman" panose="02020503050405090304" pitchFamily="18" charset="0"/>
              </a:rPr>
              <a:t>个</a:t>
            </a:r>
            <a:r>
              <a:rPr lang="en-US" altLang="zh-CN" dirty="0">
                <a:latin typeface="Times New Roman" panose="02020503050405090304" pitchFamily="18" charset="0"/>
                <a:cs typeface="Times New Roman" panose="02020503050405090304" pitchFamily="18" charset="0"/>
              </a:rPr>
              <a:t>code-answer</a:t>
            </a:r>
            <a:r>
              <a:rPr lang="zh-CN" altLang="en-US" dirty="0">
                <a:latin typeface="Times New Roman" panose="02020503050405090304" pitchFamily="18" charset="0"/>
                <a:cs typeface="Times New Roman" panose="02020503050405090304" pitchFamily="18" charset="0"/>
              </a:rPr>
              <a:t>对，参考</a:t>
            </a:r>
            <a:r>
              <a:rPr lang="en-US" altLang="zh-CN" dirty="0">
                <a:latin typeface="Times New Roman" panose="02020503050405090304" pitchFamily="18" charset="0"/>
                <a:cs typeface="Times New Roman" panose="02020503050405090304" pitchFamily="18" charset="0"/>
              </a:rPr>
              <a:t>cruxeval</a:t>
            </a:r>
            <a:r>
              <a:rPr lang="zh-CN" altLang="en-US" dirty="0">
                <a:latin typeface="Times New Roman" panose="02020503050405090304" pitchFamily="18" charset="0"/>
                <a:cs typeface="Times New Roman" panose="02020503050405090304" pitchFamily="18" charset="0"/>
              </a:rPr>
              <a:t>和我们的背景任务</a:t>
            </a:r>
            <a:r>
              <a:rPr lang="en-US" altLang="zh-CN" dirty="0">
                <a:latin typeface="Times New Roman" panose="02020503050405090304" pitchFamily="18" charset="0"/>
                <a:cs typeface="Times New Roman" panose="02020503050405090304" pitchFamily="18" charset="0"/>
              </a:rPr>
              <a:t>。</a:t>
            </a:r>
            <a:r>
              <a:rPr lang="zh-CN" altLang="en-US" dirty="0">
                <a:latin typeface="Times New Roman" panose="02020503050405090304" pitchFamily="18" charset="0"/>
                <a:cs typeface="Times New Roman" panose="02020503050405090304" pitchFamily="18" charset="0"/>
              </a:rPr>
              <a:t>构建了合适的评估提示词和对应的答案判正误的正则算法</a:t>
            </a:r>
            <a:r>
              <a:rPr lang="en-US" altLang="zh-CN" dirty="0">
                <a:latin typeface="Times New Roman" panose="02020503050405090304" pitchFamily="18" charset="0"/>
                <a:cs typeface="Times New Roman" panose="02020503050405090304" pitchFamily="18" charset="0"/>
              </a:rPr>
              <a:t>。</a:t>
            </a:r>
            <a:endParaRPr lang="en-US" altLang="zh-CN" dirty="0">
              <a:latin typeface="Times New Roman" panose="02020503050405090304" pitchFamily="18" charset="0"/>
              <a:cs typeface="Times New Roman" panose="02020503050405090304" pitchFamily="18" charset="0"/>
            </a:endParaRPr>
          </a:p>
        </p:txBody>
      </p:sp>
      <p:sp>
        <p:nvSpPr>
          <p:cNvPr id="2" name="文本框 1"/>
          <p:cNvSpPr txBox="1"/>
          <p:nvPr/>
        </p:nvSpPr>
        <p:spPr>
          <a:xfrm>
            <a:off x="436245" y="2078355"/>
            <a:ext cx="11153775" cy="1753235"/>
          </a:xfrm>
          <a:prstGeom prst="rect">
            <a:avLst/>
          </a:prstGeom>
          <a:noFill/>
          <a:ln>
            <a:solidFill>
              <a:schemeClr val="accent1"/>
            </a:solidFill>
          </a:ln>
        </p:spPr>
        <p:txBody>
          <a:bodyPr wrap="square" rtlCol="0">
            <a:spAutoFit/>
          </a:bodyPr>
          <a:lstStyle/>
          <a:p>
            <a:pPr>
              <a:lnSpc>
                <a:spcPct val="150000"/>
              </a:lnSpc>
            </a:pPr>
            <a:r>
              <a:rPr lang="en-US" altLang="zh-CN" dirty="0">
                <a:latin typeface="Times New Roman" panose="02020503050405090304" pitchFamily="18" charset="0"/>
                <a:cs typeface="Times New Roman" panose="02020503050405090304" pitchFamily="18" charset="0"/>
              </a:rPr>
              <a:t>You are given a Python code snippet that already contains an assertion with a placeholder token ??. Execute the code under Python 3.10 semantics and replace ?? with the exact runtime value of the asserted expression. The replacement must be a Python literal (no expressions, no function calls). Do NOT output any extra information. Provide the full completed assertion enclosed in [ANSWER] and [/ANSWER] tags, following the examples.</a:t>
            </a:r>
            <a:endParaRPr lang="en-US" altLang="zh-CN" dirty="0">
              <a:latin typeface="Times New Roman" panose="02020503050405090304" pitchFamily="18" charset="0"/>
              <a:cs typeface="Times New Roman" panose="02020503050405090304" pitchFamily="18" charset="0"/>
            </a:endParaRPr>
          </a:p>
        </p:txBody>
      </p:sp>
      <p:sp>
        <p:nvSpPr>
          <p:cNvPr id="7" name="文本框 6"/>
          <p:cNvSpPr txBox="1"/>
          <p:nvPr/>
        </p:nvSpPr>
        <p:spPr>
          <a:xfrm>
            <a:off x="436245" y="3831590"/>
            <a:ext cx="1757680" cy="2584450"/>
          </a:xfrm>
          <a:prstGeom prst="rect">
            <a:avLst/>
          </a:prstGeom>
          <a:noFill/>
          <a:ln>
            <a:solidFill>
              <a:schemeClr val="accent1"/>
            </a:solidFill>
          </a:ln>
        </p:spPr>
        <p:txBody>
          <a:bodyPr wrap="square" rtlCol="0">
            <a:spAutoFit/>
          </a:bodyPr>
          <a:lstStyle/>
          <a:p>
            <a:pPr>
              <a:lnSpc>
                <a:spcPct val="150000"/>
              </a:lnSpc>
            </a:pPr>
            <a:r>
              <a:rPr lang="en-US" altLang="zh-CN" dirty="0">
                <a:latin typeface="Times New Roman" panose="02020503050405090304" pitchFamily="18" charset="0"/>
                <a:cs typeface="Times New Roman" panose="02020503050405090304" pitchFamily="18" charset="0"/>
                <a:sym typeface="+mn-ea"/>
              </a:rPr>
              <a:t>Examples:</a:t>
            </a:r>
            <a:endParaRPr lang="en-US" altLang="zh-CN" dirty="0">
              <a:latin typeface="Times New Roman" panose="02020503050405090304" pitchFamily="18" charset="0"/>
              <a:cs typeface="Times New Roman" panose="02020503050405090304" pitchFamily="18" charset="0"/>
            </a:endParaRPr>
          </a:p>
          <a:p>
            <a:pPr>
              <a:lnSpc>
                <a:spcPct val="150000"/>
              </a:lnSpc>
            </a:pPr>
            <a:endParaRPr lang="en-US" altLang="zh-CN" dirty="0">
              <a:latin typeface="Times New Roman" panose="02020503050405090304" pitchFamily="18" charset="0"/>
              <a:cs typeface="Times New Roman" panose="02020503050405090304" pitchFamily="18" charset="0"/>
            </a:endParaRPr>
          </a:p>
          <a:p>
            <a:pPr>
              <a:lnSpc>
                <a:spcPct val="150000"/>
              </a:lnSpc>
            </a:pPr>
            <a:r>
              <a:rPr lang="en-US" altLang="zh-CN" dirty="0">
                <a:latin typeface="Times New Roman" panose="02020503050405090304" pitchFamily="18" charset="0"/>
                <a:cs typeface="Times New Roman" panose="02020503050405090304" pitchFamily="18" charset="0"/>
                <a:sym typeface="+mn-ea"/>
              </a:rPr>
              <a:t>[PYTHON]</a:t>
            </a:r>
            <a:endParaRPr lang="en-US" altLang="zh-CN" dirty="0">
              <a:latin typeface="Times New Roman" panose="02020503050405090304" pitchFamily="18" charset="0"/>
              <a:cs typeface="Times New Roman" panose="02020503050405090304" pitchFamily="18" charset="0"/>
            </a:endParaRPr>
          </a:p>
          <a:p>
            <a:pPr>
              <a:lnSpc>
                <a:spcPct val="150000"/>
              </a:lnSpc>
            </a:pPr>
            <a:r>
              <a:rPr lang="en-US" altLang="zh-CN" dirty="0">
                <a:latin typeface="Times New Roman" panose="02020503050405090304" pitchFamily="18" charset="0"/>
                <a:cs typeface="Times New Roman" panose="02020503050405090304" pitchFamily="18" charset="0"/>
                <a:sym typeface="+mn-ea"/>
              </a:rPr>
              <a:t>def f(n):</a:t>
            </a:r>
            <a:endParaRPr lang="en-US" altLang="zh-CN" dirty="0">
              <a:latin typeface="Times New Roman" panose="02020503050405090304" pitchFamily="18" charset="0"/>
              <a:cs typeface="Times New Roman" panose="02020503050405090304" pitchFamily="18" charset="0"/>
            </a:endParaRPr>
          </a:p>
          <a:p>
            <a:pPr>
              <a:lnSpc>
                <a:spcPct val="150000"/>
              </a:lnSpc>
            </a:pPr>
            <a:r>
              <a:rPr lang="en-US" altLang="zh-CN" dirty="0">
                <a:latin typeface="Times New Roman" panose="02020503050405090304" pitchFamily="18" charset="0"/>
                <a:cs typeface="Times New Roman" panose="02020503050405090304" pitchFamily="18" charset="0"/>
                <a:sym typeface="+mn-ea"/>
              </a:rPr>
              <a:t>    return n</a:t>
            </a:r>
            <a:endParaRPr lang="en-US" altLang="zh-CN" dirty="0">
              <a:latin typeface="Times New Roman" panose="02020503050405090304" pitchFamily="18" charset="0"/>
              <a:cs typeface="Times New Roman" panose="02020503050405090304" pitchFamily="18" charset="0"/>
            </a:endParaRPr>
          </a:p>
          <a:p>
            <a:pPr>
              <a:lnSpc>
                <a:spcPct val="150000"/>
              </a:lnSpc>
            </a:pPr>
            <a:r>
              <a:rPr lang="en-US" altLang="zh-CN" dirty="0">
                <a:latin typeface="Times New Roman" panose="02020503050405090304" pitchFamily="18" charset="0"/>
                <a:cs typeface="Times New Roman" panose="02020503050405090304" pitchFamily="18" charset="0"/>
                <a:sym typeface="+mn-ea"/>
              </a:rPr>
              <a:t>x = f(17)</a:t>
            </a:r>
            <a:endParaRPr lang="zh-CN" altLang="en-US"/>
          </a:p>
        </p:txBody>
      </p:sp>
      <p:sp>
        <p:nvSpPr>
          <p:cNvPr id="8" name="文本框 7"/>
          <p:cNvSpPr txBox="1"/>
          <p:nvPr/>
        </p:nvSpPr>
        <p:spPr>
          <a:xfrm>
            <a:off x="2193925" y="3831590"/>
            <a:ext cx="4064000" cy="2584450"/>
          </a:xfrm>
          <a:prstGeom prst="rect">
            <a:avLst/>
          </a:prstGeom>
          <a:noFill/>
          <a:ln>
            <a:solidFill>
              <a:schemeClr val="accent1"/>
            </a:solidFill>
          </a:ln>
        </p:spPr>
        <p:txBody>
          <a:bodyPr wrap="square" rtlCol="0">
            <a:spAutoFit/>
          </a:bodyPr>
          <a:lstStyle/>
          <a:p>
            <a:pPr>
              <a:lnSpc>
                <a:spcPct val="150000"/>
              </a:lnSpc>
            </a:pPr>
            <a:r>
              <a:rPr lang="en-US" altLang="zh-CN" dirty="0">
                <a:latin typeface="Times New Roman" panose="02020503050405090304" pitchFamily="18" charset="0"/>
                <a:cs typeface="Times New Roman" panose="02020503050405090304" pitchFamily="18" charset="0"/>
                <a:sym typeface="+mn-ea"/>
              </a:rPr>
              <a:t>print(f"Result: {x}")</a:t>
            </a:r>
            <a:endParaRPr lang="en-US" altLang="zh-CN" dirty="0">
              <a:latin typeface="Times New Roman" panose="02020503050405090304" pitchFamily="18" charset="0"/>
              <a:cs typeface="Times New Roman" panose="02020503050405090304" pitchFamily="18" charset="0"/>
            </a:endParaRPr>
          </a:p>
          <a:p>
            <a:pPr>
              <a:lnSpc>
                <a:spcPct val="150000"/>
              </a:lnSpc>
            </a:pPr>
            <a:r>
              <a:rPr lang="en-US" altLang="zh-CN" dirty="0">
                <a:latin typeface="Times New Roman" panose="02020503050405090304" pitchFamily="18" charset="0"/>
                <a:cs typeface="Times New Roman" panose="02020503050405090304" pitchFamily="18" charset="0"/>
                <a:sym typeface="+mn-ea"/>
              </a:rPr>
              <a:t>assert(x == ??)</a:t>
            </a:r>
            <a:endParaRPr lang="en-US" altLang="zh-CN" dirty="0">
              <a:latin typeface="Times New Roman" panose="02020503050405090304" pitchFamily="18" charset="0"/>
              <a:cs typeface="Times New Roman" panose="02020503050405090304" pitchFamily="18" charset="0"/>
            </a:endParaRPr>
          </a:p>
          <a:p>
            <a:pPr>
              <a:lnSpc>
                <a:spcPct val="150000"/>
              </a:lnSpc>
            </a:pPr>
            <a:r>
              <a:rPr lang="en-US" altLang="zh-CN" dirty="0">
                <a:latin typeface="Times New Roman" panose="02020503050405090304" pitchFamily="18" charset="0"/>
                <a:cs typeface="Times New Roman" panose="02020503050405090304" pitchFamily="18" charset="0"/>
                <a:sym typeface="+mn-ea"/>
              </a:rPr>
              <a:t>[/PYTHON]</a:t>
            </a:r>
            <a:endParaRPr lang="en-US" altLang="zh-CN" dirty="0">
              <a:latin typeface="Times New Roman" panose="02020503050405090304" pitchFamily="18" charset="0"/>
              <a:cs typeface="Times New Roman" panose="02020503050405090304" pitchFamily="18" charset="0"/>
            </a:endParaRPr>
          </a:p>
          <a:p>
            <a:pPr>
              <a:lnSpc>
                <a:spcPct val="150000"/>
              </a:lnSpc>
            </a:pPr>
            <a:r>
              <a:rPr lang="en-US" altLang="zh-CN" dirty="0">
                <a:latin typeface="Times New Roman" panose="02020503050405090304" pitchFamily="18" charset="0"/>
                <a:cs typeface="Times New Roman" panose="02020503050405090304" pitchFamily="18" charset="0"/>
                <a:sym typeface="+mn-ea"/>
              </a:rPr>
              <a:t>[ANSWER]</a:t>
            </a:r>
            <a:endParaRPr lang="en-US" altLang="zh-CN" dirty="0">
              <a:latin typeface="Times New Roman" panose="02020503050405090304" pitchFamily="18" charset="0"/>
              <a:cs typeface="Times New Roman" panose="02020503050405090304" pitchFamily="18" charset="0"/>
            </a:endParaRPr>
          </a:p>
          <a:p>
            <a:pPr>
              <a:lnSpc>
                <a:spcPct val="150000"/>
              </a:lnSpc>
            </a:pPr>
            <a:r>
              <a:rPr lang="en-US" altLang="zh-CN" dirty="0">
                <a:latin typeface="Times New Roman" panose="02020503050405090304" pitchFamily="18" charset="0"/>
                <a:cs typeface="Times New Roman" panose="02020503050405090304" pitchFamily="18" charset="0"/>
                <a:sym typeface="+mn-ea"/>
              </a:rPr>
              <a:t>assert(x == 17)</a:t>
            </a:r>
            <a:endParaRPr lang="en-US" altLang="zh-CN" dirty="0">
              <a:latin typeface="Times New Roman" panose="02020503050405090304" pitchFamily="18" charset="0"/>
              <a:cs typeface="Times New Roman" panose="02020503050405090304" pitchFamily="18" charset="0"/>
            </a:endParaRPr>
          </a:p>
          <a:p>
            <a:pPr>
              <a:lnSpc>
                <a:spcPct val="150000"/>
              </a:lnSpc>
            </a:pPr>
            <a:r>
              <a:rPr lang="en-US" altLang="zh-CN" dirty="0">
                <a:latin typeface="Times New Roman" panose="02020503050405090304" pitchFamily="18" charset="0"/>
                <a:cs typeface="Times New Roman" panose="02020503050405090304" pitchFamily="18" charset="0"/>
                <a:sym typeface="+mn-ea"/>
              </a:rPr>
              <a:t>[/ANSWER]</a:t>
            </a:r>
            <a:endParaRPr lang="zh-CN" altLang="en-US"/>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文本框 3"/>
          <p:cNvSpPr txBox="1"/>
          <p:nvPr/>
        </p:nvSpPr>
        <p:spPr>
          <a:xfrm>
            <a:off x="106045" y="0"/>
            <a:ext cx="10500995" cy="645160"/>
          </a:xfrm>
          <a:prstGeom prst="rect">
            <a:avLst/>
          </a:prstGeom>
          <a:noFill/>
        </p:spPr>
        <p:txBody>
          <a:bodyPr wrap="square" rtlCol="0">
            <a:spAutoFit/>
          </a:bodyPr>
          <a:lstStyle/>
          <a:p>
            <a:pPr marR="0" lvl="0" indent="0" algn="l" defTabSz="914400" rtl="0" eaLnBrk="1" fontAlgn="auto" latinLnBrk="0" hangingPunct="1">
              <a:lnSpc>
                <a:spcPct val="150000"/>
              </a:lnSpc>
              <a:spcBef>
                <a:spcPts val="0"/>
              </a:spcBef>
              <a:spcAft>
                <a:spcPts val="0"/>
              </a:spcAft>
              <a:buClrTx/>
              <a:buSzTx/>
              <a:buFontTx/>
              <a:buNone/>
              <a:defRPr/>
            </a:pPr>
            <a:r>
              <a:rPr lang="zh-CN" altLang="en-US" sz="2400" dirty="0">
                <a:solidFill>
                  <a:schemeClr val="tx1"/>
                </a:solidFill>
              </a:rPr>
              <a:t>进展二：</a:t>
            </a:r>
            <a:r>
              <a:rPr lang="zh-CN" altLang="en-US" sz="2400" dirty="0">
                <a:latin typeface="+mn-ea"/>
                <a:cs typeface="+mn-ea"/>
                <a:sym typeface="+mn-ea"/>
              </a:rPr>
              <a:t>评估集的理解性实验</a:t>
            </a:r>
            <a:endParaRPr lang="zh-CN" altLang="en-US" sz="2400" dirty="0">
              <a:solidFill>
                <a:schemeClr val="tx1"/>
              </a:solidFill>
            </a:endParaRPr>
          </a:p>
        </p:txBody>
      </p:sp>
      <p:sp>
        <p:nvSpPr>
          <p:cNvPr id="5" name="文本框 4"/>
          <p:cNvSpPr txBox="1"/>
          <p:nvPr/>
        </p:nvSpPr>
        <p:spPr>
          <a:xfrm>
            <a:off x="106045" y="645160"/>
            <a:ext cx="11737975" cy="2999740"/>
          </a:xfrm>
          <a:prstGeom prst="rect">
            <a:avLst/>
          </a:prstGeom>
          <a:noFill/>
        </p:spPr>
        <p:txBody>
          <a:bodyPr wrap="square" rtlCol="0">
            <a:spAutoFit/>
          </a:bodyPr>
          <a:lstStyle/>
          <a:p>
            <a:pPr>
              <a:lnSpc>
                <a:spcPct val="150000"/>
              </a:lnSpc>
            </a:pPr>
            <a:r>
              <a:rPr lang="zh-CN" altLang="en-US" dirty="0">
                <a:latin typeface="Times New Roman" panose="02020503050405090304" pitchFamily="18" charset="0"/>
                <a:cs typeface="Times New Roman" panose="02020503050405090304" pitchFamily="18" charset="0"/>
              </a:rPr>
              <a:t>实验设置</a:t>
            </a:r>
            <a:r>
              <a:rPr lang="en-US" altLang="zh-CN" dirty="0">
                <a:latin typeface="Times New Roman" panose="02020503050405090304" pitchFamily="18" charset="0"/>
                <a:cs typeface="Times New Roman" panose="02020503050405090304" pitchFamily="18" charset="0"/>
              </a:rPr>
              <a:t>【</a:t>
            </a:r>
            <a:r>
              <a:rPr lang="zh-CN" altLang="en-US" dirty="0">
                <a:latin typeface="Times New Roman" panose="02020503050405090304" pitchFamily="18" charset="0"/>
                <a:cs typeface="Times New Roman" panose="02020503050405090304" pitchFamily="18" charset="0"/>
              </a:rPr>
              <a:t>测评了</a:t>
            </a:r>
            <a:r>
              <a:rPr lang="en-US" altLang="zh-CN" dirty="0">
                <a:latin typeface="Times New Roman" panose="02020503050405090304" pitchFamily="18" charset="0"/>
                <a:cs typeface="Times New Roman" panose="02020503050405090304" pitchFamily="18" charset="0"/>
              </a:rPr>
              <a:t>6</a:t>
            </a:r>
            <a:r>
              <a:rPr lang="zh-CN" altLang="en-US" dirty="0">
                <a:latin typeface="Times New Roman" panose="02020503050405090304" pitchFamily="18" charset="0"/>
                <a:cs typeface="Times New Roman" panose="02020503050405090304" pitchFamily="18" charset="0"/>
              </a:rPr>
              <a:t>个模型</a:t>
            </a:r>
            <a:r>
              <a:rPr lang="en-US" altLang="zh-CN" dirty="0">
                <a:latin typeface="Times New Roman" panose="02020503050405090304" pitchFamily="18" charset="0"/>
                <a:cs typeface="Times New Roman" panose="02020503050405090304" pitchFamily="18" charset="0"/>
              </a:rPr>
              <a:t>】</a:t>
            </a:r>
            <a:endParaRPr lang="en-US" altLang="zh-CN" dirty="0">
              <a:latin typeface="Times New Roman" panose="02020503050405090304" pitchFamily="18" charset="0"/>
              <a:cs typeface="Times New Roman" panose="02020503050405090304" pitchFamily="18" charset="0"/>
            </a:endParaRPr>
          </a:p>
          <a:p>
            <a:pPr>
              <a:lnSpc>
                <a:spcPct val="150000"/>
              </a:lnSpc>
            </a:pPr>
            <a:r>
              <a:rPr lang="en-US" altLang="zh-CN" dirty="0">
                <a:latin typeface="Times New Roman" panose="02020503050405090304" pitchFamily="18" charset="0"/>
                <a:cs typeface="Times New Roman" panose="02020503050405090304" pitchFamily="18" charset="0"/>
              </a:rPr>
              <a:t>2</a:t>
            </a:r>
            <a:r>
              <a:rPr lang="zh-CN" altLang="en-US" dirty="0">
                <a:latin typeface="Times New Roman" panose="02020503050405090304" pitchFamily="18" charset="0"/>
                <a:cs typeface="Times New Roman" panose="02020503050405090304" pitchFamily="18" charset="0"/>
              </a:rPr>
              <a:t>个闭源模型</a:t>
            </a:r>
            <a:r>
              <a:rPr lang="en-US" altLang="zh-CN" dirty="0">
                <a:latin typeface="Times New Roman" panose="02020503050405090304" pitchFamily="18" charset="0"/>
                <a:cs typeface="Times New Roman" panose="02020503050405090304" pitchFamily="18" charset="0"/>
              </a:rPr>
              <a:t>（DeepseekV3.2、ClaudeSonnet4.5）；2</a:t>
            </a:r>
            <a:r>
              <a:rPr lang="zh-CN" altLang="en-US" dirty="0">
                <a:latin typeface="Times New Roman" panose="02020503050405090304" pitchFamily="18" charset="0"/>
                <a:cs typeface="Times New Roman" panose="02020503050405090304" pitchFamily="18" charset="0"/>
              </a:rPr>
              <a:t>个基座模型</a:t>
            </a:r>
            <a:r>
              <a:rPr lang="en-US" altLang="zh-CN" dirty="0">
                <a:latin typeface="Times New Roman" panose="02020503050405090304" pitchFamily="18" charset="0"/>
                <a:cs typeface="Times New Roman" panose="02020503050405090304" pitchFamily="18" charset="0"/>
              </a:rPr>
              <a:t>（</a:t>
            </a:r>
            <a:r>
              <a:rPr lang="en-US" altLang="zh-CN" dirty="0">
                <a:latin typeface="Times New Roman" panose="02020503050405090304" pitchFamily="18" charset="0"/>
                <a:cs typeface="Times New Roman" panose="02020503050405090304" pitchFamily="18" charset="0"/>
                <a:sym typeface="+mn-ea"/>
              </a:rPr>
              <a:t>Qwen2.5-code-7B-Instrcut、Qwen2.5-Coder-7B）；2</a:t>
            </a:r>
            <a:r>
              <a:rPr lang="zh-CN" altLang="en-US" dirty="0">
                <a:latin typeface="Times New Roman" panose="02020503050405090304" pitchFamily="18" charset="0"/>
                <a:cs typeface="Times New Roman" panose="02020503050405090304" pitchFamily="18" charset="0"/>
                <a:sym typeface="+mn-ea"/>
              </a:rPr>
              <a:t>个基座模型对应的代码推理微调模型</a:t>
            </a:r>
            <a:r>
              <a:rPr lang="en-US" altLang="zh-CN" dirty="0">
                <a:latin typeface="Times New Roman" panose="02020503050405090304" pitchFamily="18" charset="0"/>
                <a:cs typeface="Times New Roman" panose="02020503050405090304" pitchFamily="18" charset="0"/>
                <a:sym typeface="+mn-ea"/>
              </a:rPr>
              <a:t>（CodeReasoner、CodeIO）</a:t>
            </a:r>
            <a:endParaRPr lang="en-US" altLang="zh-CN" dirty="0">
              <a:latin typeface="Times New Roman" panose="02020503050405090304" pitchFamily="18" charset="0"/>
              <a:cs typeface="Times New Roman" panose="02020503050405090304" pitchFamily="18" charset="0"/>
              <a:sym typeface="+mn-ea"/>
            </a:endParaRPr>
          </a:p>
          <a:p>
            <a:pPr>
              <a:lnSpc>
                <a:spcPct val="150000"/>
              </a:lnSpc>
            </a:pPr>
            <a:r>
              <a:rPr lang="zh-CN" altLang="en-US" dirty="0">
                <a:latin typeface="Times New Roman" panose="02020503050405090304" pitchFamily="18" charset="0"/>
                <a:cs typeface="Times New Roman" panose="02020503050405090304" pitchFamily="18" charset="0"/>
                <a:sym typeface="+mn-ea"/>
              </a:rPr>
              <a:t>实验结果分析</a:t>
            </a:r>
            <a:r>
              <a:rPr lang="en-US" altLang="zh-CN" dirty="0">
                <a:latin typeface="Times New Roman" panose="02020503050405090304" pitchFamily="18" charset="0"/>
                <a:cs typeface="Times New Roman" panose="02020503050405090304" pitchFamily="18" charset="0"/>
                <a:sym typeface="+mn-ea"/>
              </a:rPr>
              <a:t>：</a:t>
            </a:r>
            <a:endParaRPr lang="en-US" altLang="zh-CN" dirty="0">
              <a:latin typeface="Times New Roman" panose="02020503050405090304" pitchFamily="18" charset="0"/>
              <a:cs typeface="Times New Roman" panose="02020503050405090304" pitchFamily="18" charset="0"/>
              <a:sym typeface="+mn-ea"/>
            </a:endParaRPr>
          </a:p>
          <a:p>
            <a:pPr>
              <a:lnSpc>
                <a:spcPct val="150000"/>
              </a:lnSpc>
            </a:pPr>
            <a:r>
              <a:rPr lang="en-US" altLang="zh-CN" dirty="0">
                <a:latin typeface="Times New Roman" panose="02020503050405090304" pitchFamily="18" charset="0"/>
                <a:cs typeface="Times New Roman" panose="02020503050405090304" pitchFamily="18" charset="0"/>
                <a:sym typeface="+mn-ea"/>
              </a:rPr>
              <a:t>1. </a:t>
            </a:r>
            <a:r>
              <a:rPr lang="zh-CN" altLang="en-US" dirty="0">
                <a:latin typeface="Times New Roman" panose="02020503050405090304" pitchFamily="18" charset="0"/>
                <a:cs typeface="Times New Roman" panose="02020503050405090304" pitchFamily="18" charset="0"/>
                <a:sym typeface="+mn-ea"/>
              </a:rPr>
              <a:t>认为小模型对这种复杂的跨函数处理推理还是不足</a:t>
            </a:r>
            <a:r>
              <a:rPr lang="en-US" altLang="zh-CN" dirty="0">
                <a:latin typeface="Times New Roman" panose="02020503050405090304" pitchFamily="18" charset="0"/>
                <a:cs typeface="Times New Roman" panose="02020503050405090304" pitchFamily="18" charset="0"/>
                <a:sym typeface="+mn-ea"/>
              </a:rPr>
              <a:t>；（</a:t>
            </a:r>
            <a:r>
              <a:rPr lang="zh-CN" altLang="en-US" dirty="0">
                <a:latin typeface="Times New Roman" panose="02020503050405090304" pitchFamily="18" charset="0"/>
                <a:cs typeface="Times New Roman" panose="02020503050405090304" pitchFamily="18" charset="0"/>
                <a:sym typeface="+mn-ea"/>
              </a:rPr>
              <a:t>分析原因认为是它停留在语义理解</a:t>
            </a:r>
            <a:r>
              <a:rPr lang="en-US" altLang="zh-CN" dirty="0">
                <a:latin typeface="Times New Roman" panose="02020503050405090304" pitchFamily="18" charset="0"/>
                <a:cs typeface="Times New Roman" panose="02020503050405090304" pitchFamily="18" charset="0"/>
                <a:sym typeface="+mn-ea"/>
              </a:rPr>
              <a:t>，</a:t>
            </a:r>
            <a:r>
              <a:rPr lang="zh-CN" altLang="en-US" dirty="0">
                <a:latin typeface="Times New Roman" panose="02020503050405090304" pitchFamily="18" charset="0"/>
                <a:cs typeface="Times New Roman" panose="02020503050405090304" pitchFamily="18" charset="0"/>
                <a:sym typeface="+mn-ea"/>
              </a:rPr>
              <a:t>但是对具体跨函数数值计算无法感知与准确计算</a:t>
            </a:r>
            <a:r>
              <a:rPr lang="en-US" altLang="zh-CN" dirty="0">
                <a:latin typeface="Times New Roman" panose="02020503050405090304" pitchFamily="18" charset="0"/>
                <a:cs typeface="Times New Roman" panose="02020503050405090304" pitchFamily="18" charset="0"/>
                <a:sym typeface="+mn-ea"/>
              </a:rPr>
              <a:t>）</a:t>
            </a:r>
            <a:endParaRPr lang="en-US" altLang="zh-CN" dirty="0">
              <a:latin typeface="Times New Roman" panose="02020503050405090304" pitchFamily="18" charset="0"/>
              <a:cs typeface="Times New Roman" panose="02020503050405090304" pitchFamily="18" charset="0"/>
              <a:sym typeface="+mn-ea"/>
            </a:endParaRPr>
          </a:p>
          <a:p>
            <a:pPr>
              <a:lnSpc>
                <a:spcPct val="150000"/>
              </a:lnSpc>
            </a:pPr>
            <a:r>
              <a:rPr lang="en-US" altLang="zh-CN" dirty="0">
                <a:latin typeface="Times New Roman" panose="02020503050405090304" pitchFamily="18" charset="0"/>
                <a:cs typeface="Times New Roman" panose="02020503050405090304" pitchFamily="18" charset="0"/>
                <a:sym typeface="+mn-ea"/>
              </a:rPr>
              <a:t>2. </a:t>
            </a:r>
            <a:r>
              <a:rPr lang="zh-CN" altLang="en-US" dirty="0">
                <a:latin typeface="Times New Roman" panose="02020503050405090304" pitchFamily="18" charset="0"/>
                <a:cs typeface="Times New Roman" panose="02020503050405090304" pitchFamily="18" charset="0"/>
                <a:sym typeface="+mn-ea"/>
              </a:rPr>
              <a:t>猜测</a:t>
            </a:r>
            <a:r>
              <a:rPr lang="en-US" altLang="zh-CN" dirty="0">
                <a:latin typeface="Times New Roman" panose="02020503050405090304" pitchFamily="18" charset="0"/>
                <a:cs typeface="Times New Roman" panose="02020503050405090304" pitchFamily="18" charset="0"/>
                <a:sym typeface="+mn-ea"/>
              </a:rPr>
              <a:t>：</a:t>
            </a:r>
            <a:r>
              <a:rPr lang="zh-CN" altLang="en-US" dirty="0">
                <a:latin typeface="Times New Roman" panose="02020503050405090304" pitchFamily="18" charset="0"/>
                <a:cs typeface="Times New Roman" panose="02020503050405090304" pitchFamily="18" charset="0"/>
                <a:sym typeface="+mn-ea"/>
              </a:rPr>
              <a:t>传统的代码推理微调由于是函数级训练集</a:t>
            </a:r>
            <a:r>
              <a:rPr lang="en-US" altLang="zh-CN" dirty="0">
                <a:latin typeface="Times New Roman" panose="02020503050405090304" pitchFamily="18" charset="0"/>
                <a:cs typeface="Times New Roman" panose="02020503050405090304" pitchFamily="18" charset="0"/>
                <a:sym typeface="+mn-ea"/>
              </a:rPr>
              <a:t>，</a:t>
            </a:r>
            <a:r>
              <a:rPr lang="zh-CN" altLang="en-US" dirty="0">
                <a:solidFill>
                  <a:srgbClr val="FF0000"/>
                </a:solidFill>
                <a:latin typeface="Times New Roman" panose="02020503050405090304" pitchFamily="18" charset="0"/>
                <a:cs typeface="Times New Roman" panose="02020503050405090304" pitchFamily="18" charset="0"/>
                <a:sym typeface="+mn-ea"/>
              </a:rPr>
              <a:t>认为在函数级任务上过拟合</a:t>
            </a:r>
            <a:r>
              <a:rPr lang="en-US" altLang="zh-CN" dirty="0">
                <a:solidFill>
                  <a:srgbClr val="FF0000"/>
                </a:solidFill>
                <a:latin typeface="Times New Roman" panose="02020503050405090304" pitchFamily="18" charset="0"/>
                <a:cs typeface="Times New Roman" panose="02020503050405090304" pitchFamily="18" charset="0"/>
                <a:sym typeface="+mn-ea"/>
              </a:rPr>
              <a:t>，</a:t>
            </a:r>
            <a:r>
              <a:rPr lang="zh-CN" altLang="en-US" dirty="0">
                <a:solidFill>
                  <a:srgbClr val="FF0000"/>
                </a:solidFill>
                <a:latin typeface="Times New Roman" panose="02020503050405090304" pitchFamily="18" charset="0"/>
                <a:cs typeface="Times New Roman" panose="02020503050405090304" pitchFamily="18" charset="0"/>
                <a:sym typeface="+mn-ea"/>
              </a:rPr>
              <a:t>反而在跨函数任务上表现下降了</a:t>
            </a:r>
            <a:endParaRPr lang="zh-CN" altLang="en-US" dirty="0">
              <a:solidFill>
                <a:srgbClr val="FF0000"/>
              </a:solidFill>
              <a:latin typeface="Times New Roman" panose="02020503050405090304" pitchFamily="18" charset="0"/>
              <a:cs typeface="Times New Roman" panose="02020503050405090304" pitchFamily="18" charset="0"/>
              <a:sym typeface="+mn-ea"/>
            </a:endParaRPr>
          </a:p>
        </p:txBody>
      </p:sp>
      <p:graphicFrame>
        <p:nvGraphicFramePr>
          <p:cNvPr id="3" name="表格 2"/>
          <p:cNvGraphicFramePr/>
          <p:nvPr/>
        </p:nvGraphicFramePr>
        <p:xfrm>
          <a:off x="1637665" y="3605530"/>
          <a:ext cx="8582025" cy="3040380"/>
        </p:xfrm>
        <a:graphic>
          <a:graphicData uri="http://schemas.openxmlformats.org/drawingml/2006/table">
            <a:tbl>
              <a:tblPr firstRow="1" bandRow="1">
                <a:tableStyleId>{5C22544A-7EE6-4342-B048-85BDC9FD1C3A}</a:tableStyleId>
              </a:tblPr>
              <a:tblGrid>
                <a:gridCol w="4314825"/>
                <a:gridCol w="4267200"/>
              </a:tblGrid>
              <a:tr h="434340">
                <a:tc>
                  <a:txBody>
                    <a:bodyPr/>
                    <a:lstStyle/>
                    <a:p>
                      <a:pPr algn="ctr">
                        <a:buNone/>
                      </a:pPr>
                      <a:r>
                        <a:rPr lang="zh-CN" altLang="en-US"/>
                        <a:t>模型</a:t>
                      </a:r>
                      <a:endParaRPr lang="zh-CN" altLang="en-US"/>
                    </a:p>
                  </a:txBody>
                  <a:tcPr anchor="ctr">
                    <a:solidFill>
                      <a:schemeClr val="tx1">
                        <a:lumMod val="85000"/>
                        <a:lumOff val="15000"/>
                      </a:schemeClr>
                    </a:solidFill>
                  </a:tcPr>
                </a:tc>
                <a:tc>
                  <a:txBody>
                    <a:bodyPr/>
                    <a:lstStyle/>
                    <a:p>
                      <a:pPr algn="ctr">
                        <a:buNone/>
                      </a:pPr>
                      <a:r>
                        <a:rPr lang="zh-CN" altLang="en-US"/>
                        <a:t>正确率</a:t>
                      </a:r>
                      <a:r>
                        <a:rPr lang="en-US" altLang="zh-CN"/>
                        <a:t> Acc （temp=0）</a:t>
                      </a:r>
                      <a:endParaRPr lang="en-US" altLang="zh-CN"/>
                    </a:p>
                  </a:txBody>
                  <a:tcPr anchor="ctr">
                    <a:solidFill>
                      <a:schemeClr val="tx1">
                        <a:lumMod val="85000"/>
                        <a:lumOff val="15000"/>
                      </a:schemeClr>
                    </a:solidFill>
                  </a:tcPr>
                </a:tc>
              </a:tr>
              <a:tr h="434340">
                <a:tc>
                  <a:txBody>
                    <a:bodyPr/>
                    <a:lstStyle/>
                    <a:p>
                      <a:pPr algn="ctr">
                        <a:buNone/>
                      </a:pPr>
                      <a:r>
                        <a:rPr lang="en-US" altLang="zh-CN" sz="1800" dirty="0">
                          <a:latin typeface="Times New Roman" panose="02020503050405090304" pitchFamily="18" charset="0"/>
                          <a:cs typeface="Times New Roman" panose="02020503050405090304" pitchFamily="18" charset="0"/>
                          <a:sym typeface="+mn-ea"/>
                        </a:rPr>
                        <a:t>DeepseekV3.2</a:t>
                      </a:r>
                      <a:endParaRPr lang="zh-CN" altLang="en-US"/>
                    </a:p>
                  </a:txBody>
                  <a:tcPr anchor="ctr">
                    <a:solidFill>
                      <a:schemeClr val="bg2">
                        <a:lumMod val="90000"/>
                      </a:schemeClr>
                    </a:solidFill>
                  </a:tcPr>
                </a:tc>
                <a:tc>
                  <a:txBody>
                    <a:bodyPr/>
                    <a:lstStyle/>
                    <a:p>
                      <a:pPr algn="ctr">
                        <a:buNone/>
                      </a:pPr>
                      <a:r>
                        <a:rPr lang="en-US" altLang="zh-CN"/>
                        <a:t>73.5%</a:t>
                      </a:r>
                      <a:endParaRPr lang="en-US" altLang="zh-CN"/>
                    </a:p>
                  </a:txBody>
                  <a:tcPr anchor="ctr">
                    <a:solidFill>
                      <a:schemeClr val="bg2">
                        <a:lumMod val="90000"/>
                      </a:schemeClr>
                    </a:solidFill>
                  </a:tcPr>
                </a:tc>
              </a:tr>
              <a:tr h="434340">
                <a:tc>
                  <a:txBody>
                    <a:bodyPr/>
                    <a:lstStyle/>
                    <a:p>
                      <a:pPr algn="ctr">
                        <a:buNone/>
                      </a:pPr>
                      <a:r>
                        <a:rPr lang="en-US" altLang="zh-CN" sz="1800" dirty="0">
                          <a:latin typeface="Times New Roman" panose="02020503050405090304" pitchFamily="18" charset="0"/>
                          <a:cs typeface="Times New Roman" panose="02020503050405090304" pitchFamily="18" charset="0"/>
                          <a:sym typeface="+mn-ea"/>
                        </a:rPr>
                        <a:t>ClaudeSonnet4.5</a:t>
                      </a:r>
                      <a:endParaRPr lang="zh-CN" altLang="en-US"/>
                    </a:p>
                  </a:txBody>
                  <a:tcPr anchor="ctr">
                    <a:solidFill>
                      <a:schemeClr val="bg2">
                        <a:lumMod val="90000"/>
                      </a:schemeClr>
                    </a:solidFill>
                  </a:tcPr>
                </a:tc>
                <a:tc>
                  <a:txBody>
                    <a:bodyPr/>
                    <a:lstStyle/>
                    <a:p>
                      <a:pPr algn="ctr">
                        <a:buNone/>
                      </a:pPr>
                      <a:r>
                        <a:rPr lang="en-US" altLang="zh-CN"/>
                        <a:t>76.2%</a:t>
                      </a:r>
                      <a:endParaRPr lang="en-US" altLang="zh-CN"/>
                    </a:p>
                  </a:txBody>
                  <a:tcPr anchor="ctr">
                    <a:solidFill>
                      <a:schemeClr val="bg2">
                        <a:lumMod val="90000"/>
                      </a:schemeClr>
                    </a:solidFill>
                  </a:tcPr>
                </a:tc>
              </a:tr>
              <a:tr h="434340">
                <a:tc>
                  <a:txBody>
                    <a:bodyPr/>
                    <a:lstStyle/>
                    <a:p>
                      <a:pPr algn="ctr">
                        <a:buNone/>
                      </a:pPr>
                      <a:r>
                        <a:rPr lang="en-US" altLang="zh-CN" sz="1800" dirty="0">
                          <a:latin typeface="Times New Roman" panose="02020503050405090304" pitchFamily="18" charset="0"/>
                          <a:cs typeface="Times New Roman" panose="02020503050405090304" pitchFamily="18" charset="0"/>
                          <a:sym typeface="+mn-ea"/>
                        </a:rPr>
                        <a:t>Qwen2.5-code-7B-Instrcut</a:t>
                      </a:r>
                      <a:endParaRPr lang="zh-CN" altLang="en-US"/>
                    </a:p>
                  </a:txBody>
                  <a:tcPr anchor="ctr">
                    <a:solidFill>
                      <a:schemeClr val="accent6">
                        <a:lumMod val="20000"/>
                        <a:lumOff val="80000"/>
                      </a:schemeClr>
                    </a:solidFill>
                  </a:tcPr>
                </a:tc>
                <a:tc>
                  <a:txBody>
                    <a:bodyPr/>
                    <a:lstStyle/>
                    <a:p>
                      <a:pPr algn="ctr">
                        <a:buNone/>
                      </a:pPr>
                      <a:r>
                        <a:rPr lang="en-US" altLang="zh-CN"/>
                        <a:t>3.6%</a:t>
                      </a:r>
                      <a:endParaRPr lang="en-US" altLang="zh-CN"/>
                    </a:p>
                  </a:txBody>
                  <a:tcPr anchor="ctr">
                    <a:solidFill>
                      <a:schemeClr val="accent6">
                        <a:lumMod val="20000"/>
                        <a:lumOff val="80000"/>
                      </a:schemeClr>
                    </a:solidFill>
                  </a:tcPr>
                </a:tc>
              </a:tr>
              <a:tr h="434340">
                <a:tc>
                  <a:txBody>
                    <a:bodyPr/>
                    <a:lstStyle/>
                    <a:p>
                      <a:pPr algn="ctr">
                        <a:buNone/>
                      </a:pPr>
                      <a:r>
                        <a:rPr lang="en-US" altLang="zh-CN" sz="1800" dirty="0">
                          <a:latin typeface="Times New Roman" panose="02020503050405090304" pitchFamily="18" charset="0"/>
                          <a:cs typeface="Times New Roman" panose="02020503050405090304" pitchFamily="18" charset="0"/>
                          <a:sym typeface="+mn-ea"/>
                        </a:rPr>
                        <a:t>CodeReasoner-7b</a:t>
                      </a:r>
                      <a:endParaRPr lang="en-US" altLang="zh-CN" sz="1800" dirty="0">
                        <a:latin typeface="Times New Roman" panose="02020503050405090304" pitchFamily="18" charset="0"/>
                        <a:cs typeface="Times New Roman" panose="02020503050405090304" pitchFamily="18" charset="0"/>
                        <a:sym typeface="+mn-ea"/>
                      </a:endParaRPr>
                    </a:p>
                  </a:txBody>
                  <a:tcPr anchor="ctr">
                    <a:solidFill>
                      <a:schemeClr val="accent6">
                        <a:lumMod val="20000"/>
                        <a:lumOff val="80000"/>
                      </a:schemeClr>
                    </a:solidFill>
                  </a:tcPr>
                </a:tc>
                <a:tc>
                  <a:txBody>
                    <a:bodyPr/>
                    <a:lstStyle/>
                    <a:p>
                      <a:pPr algn="ctr">
                        <a:buNone/>
                      </a:pPr>
                      <a:r>
                        <a:rPr lang="en-US" altLang="zh-CN"/>
                        <a:t>2.8%</a:t>
                      </a:r>
                      <a:endParaRPr lang="en-US" altLang="zh-CN"/>
                    </a:p>
                  </a:txBody>
                  <a:tcPr anchor="ctr">
                    <a:solidFill>
                      <a:schemeClr val="accent6">
                        <a:lumMod val="20000"/>
                        <a:lumOff val="80000"/>
                      </a:schemeClr>
                    </a:solidFill>
                  </a:tcPr>
                </a:tc>
              </a:tr>
              <a:tr h="434340">
                <a:tc>
                  <a:txBody>
                    <a:bodyPr/>
                    <a:lstStyle/>
                    <a:p>
                      <a:pPr algn="ctr">
                        <a:buNone/>
                      </a:pPr>
                      <a:r>
                        <a:rPr lang="en-US" altLang="zh-CN" sz="1800" dirty="0">
                          <a:latin typeface="Times New Roman" panose="02020503050405090304" pitchFamily="18" charset="0"/>
                          <a:cs typeface="Times New Roman" panose="02020503050405090304" pitchFamily="18" charset="0"/>
                          <a:sym typeface="+mn-ea"/>
                        </a:rPr>
                        <a:t>Qwen2.5-Coder-7B</a:t>
                      </a:r>
                      <a:endParaRPr lang="en-US" altLang="zh-CN" sz="1800" dirty="0">
                        <a:latin typeface="Times New Roman" panose="02020503050405090304" pitchFamily="18" charset="0"/>
                        <a:cs typeface="Times New Roman" panose="02020503050405090304" pitchFamily="18" charset="0"/>
                        <a:sym typeface="+mn-ea"/>
                      </a:endParaRPr>
                    </a:p>
                  </a:txBody>
                  <a:tcPr anchor="ctr">
                    <a:solidFill>
                      <a:schemeClr val="accent5">
                        <a:lumMod val="20000"/>
                        <a:lumOff val="80000"/>
                      </a:schemeClr>
                    </a:solidFill>
                  </a:tcPr>
                </a:tc>
                <a:tc>
                  <a:txBody>
                    <a:bodyPr/>
                    <a:lstStyle/>
                    <a:p>
                      <a:pPr algn="ctr">
                        <a:buNone/>
                      </a:pPr>
                      <a:r>
                        <a:rPr lang="en-US" altLang="zh-CN"/>
                        <a:t>4.2%</a:t>
                      </a:r>
                      <a:endParaRPr lang="en-US" altLang="zh-CN"/>
                    </a:p>
                  </a:txBody>
                  <a:tcPr anchor="ctr">
                    <a:solidFill>
                      <a:schemeClr val="accent5">
                        <a:lumMod val="20000"/>
                        <a:lumOff val="80000"/>
                      </a:schemeClr>
                    </a:solidFill>
                  </a:tcPr>
                </a:tc>
              </a:tr>
              <a:tr h="434340">
                <a:tc>
                  <a:txBody>
                    <a:bodyPr/>
                    <a:lstStyle/>
                    <a:p>
                      <a:pPr algn="ctr">
                        <a:buNone/>
                      </a:pPr>
                      <a:r>
                        <a:rPr lang="en-US" altLang="zh-CN" sz="1800" dirty="0">
                          <a:latin typeface="Times New Roman" panose="02020503050405090304" pitchFamily="18" charset="0"/>
                          <a:cs typeface="Times New Roman" panose="02020503050405090304" pitchFamily="18" charset="0"/>
                          <a:sym typeface="+mn-ea"/>
                        </a:rPr>
                        <a:t>CodeIO</a:t>
                      </a:r>
                      <a:endParaRPr lang="en-US" altLang="zh-CN" sz="1800" dirty="0">
                        <a:latin typeface="Times New Roman" panose="02020503050405090304" pitchFamily="18" charset="0"/>
                        <a:cs typeface="Times New Roman" panose="02020503050405090304" pitchFamily="18" charset="0"/>
                        <a:sym typeface="+mn-ea"/>
                      </a:endParaRPr>
                    </a:p>
                  </a:txBody>
                  <a:tcPr anchor="ctr">
                    <a:solidFill>
                      <a:schemeClr val="accent5">
                        <a:lumMod val="20000"/>
                        <a:lumOff val="80000"/>
                      </a:schemeClr>
                    </a:solidFill>
                  </a:tcPr>
                </a:tc>
                <a:tc>
                  <a:txBody>
                    <a:bodyPr/>
                    <a:lstStyle/>
                    <a:p>
                      <a:pPr algn="ctr">
                        <a:buNone/>
                      </a:pPr>
                      <a:r>
                        <a:rPr lang="en-US" altLang="zh-CN" dirty="0"/>
                        <a:t>3.4%</a:t>
                      </a:r>
                      <a:endParaRPr lang="en-US" altLang="zh-CN" dirty="0"/>
                    </a:p>
                  </a:txBody>
                  <a:tcPr anchor="ctr">
                    <a:solidFill>
                      <a:schemeClr val="accent5">
                        <a:lumMod val="20000"/>
                        <a:lumOff val="80000"/>
                      </a:schemeClr>
                    </a:solidFill>
                  </a:tcPr>
                </a:tc>
              </a:tr>
            </a:tbl>
          </a:graphicData>
        </a:graphic>
      </p:graphicFrame>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文本框 3"/>
          <p:cNvSpPr txBox="1"/>
          <p:nvPr/>
        </p:nvSpPr>
        <p:spPr>
          <a:xfrm>
            <a:off x="344805" y="302895"/>
            <a:ext cx="10500995" cy="460375"/>
          </a:xfrm>
          <a:prstGeom prst="rect">
            <a:avLst/>
          </a:prstGeom>
          <a:noFill/>
        </p:spPr>
        <p:txBody>
          <a:bodyPr wrap="square" rtlCol="0">
            <a:spAutoFit/>
          </a:bodyPr>
          <a:lstStyle/>
          <a:p>
            <a:pPr algn="l"/>
            <a:r>
              <a:rPr lang="zh-CN" altLang="en-US" sz="2400" dirty="0">
                <a:solidFill>
                  <a:schemeClr val="tx1"/>
                </a:solidFill>
              </a:rPr>
              <a:t>进展三：评估集相关工作分享</a:t>
            </a:r>
            <a:endParaRPr lang="en-US" altLang="zh-CN" sz="2400" dirty="0">
              <a:solidFill>
                <a:schemeClr val="tx1"/>
              </a:solidFill>
              <a:sym typeface="+mn-ea"/>
            </a:endParaRPr>
          </a:p>
        </p:txBody>
      </p:sp>
      <p:sp>
        <p:nvSpPr>
          <p:cNvPr id="2" name="文本框 1"/>
          <p:cNvSpPr txBox="1"/>
          <p:nvPr/>
        </p:nvSpPr>
        <p:spPr>
          <a:xfrm>
            <a:off x="344805" y="2310130"/>
            <a:ext cx="9344025" cy="5077460"/>
          </a:xfrm>
          <a:prstGeom prst="rect">
            <a:avLst/>
          </a:prstGeom>
          <a:noFill/>
        </p:spPr>
        <p:txBody>
          <a:bodyPr wrap="square" rtlCol="0">
            <a:spAutoFit/>
          </a:bodyPr>
          <a:lstStyle/>
          <a:p>
            <a:pPr marL="342900" indent="-342900">
              <a:lnSpc>
                <a:spcPct val="150000"/>
              </a:lnSpc>
              <a:buAutoNum type="arabicPeriod"/>
            </a:pPr>
            <a:r>
              <a:rPr lang="en-US" altLang="zh-CN" i="1" dirty="0">
                <a:latin typeface="Times New Roman" panose="02020503050405090304" pitchFamily="18" charset="0"/>
                <a:cs typeface="Times New Roman" panose="02020503050405090304" pitchFamily="18" charset="0"/>
              </a:rPr>
              <a:t>CRUXEval: A Benchmark for Code Reasoning, Understanding and Execution </a:t>
            </a:r>
            <a:r>
              <a:rPr lang="en-US" altLang="zh-CN" dirty="0">
                <a:latin typeface="Times New Roman" panose="02020503050405090304" pitchFamily="18" charset="0"/>
                <a:cs typeface="Times New Roman" panose="02020503050405090304" pitchFamily="18" charset="0"/>
              </a:rPr>
              <a:t>ICLR 2024</a:t>
            </a:r>
            <a:endParaRPr lang="en-US" altLang="zh-CN" dirty="0">
              <a:latin typeface="Times New Roman" panose="02020503050405090304" pitchFamily="18" charset="0"/>
              <a:cs typeface="Times New Roman" panose="02020503050405090304" pitchFamily="18" charset="0"/>
            </a:endParaRPr>
          </a:p>
          <a:p>
            <a:pPr marL="342900" indent="-342900">
              <a:lnSpc>
                <a:spcPct val="150000"/>
              </a:lnSpc>
              <a:buFontTx/>
              <a:buAutoNum type="arabicPeriod"/>
            </a:pPr>
            <a:r>
              <a:rPr lang="en-US" altLang="zh-CN" i="1" dirty="0">
                <a:latin typeface="Times New Roman" panose="02020503050405090304" pitchFamily="18" charset="0"/>
                <a:cs typeface="Times New Roman" panose="02020503050405090304" pitchFamily="18" charset="0"/>
              </a:rPr>
              <a:t>LiveCodeBench: Holistic and Contamination Free Evaluation of Large Language Models for Code </a:t>
            </a:r>
            <a:r>
              <a:rPr lang="en-US" altLang="zh-CN" dirty="0">
                <a:latin typeface="Times New Roman" panose="02020503050405090304" pitchFamily="18" charset="0"/>
                <a:cs typeface="Times New Roman" panose="02020503050405090304" pitchFamily="18" charset="0"/>
              </a:rPr>
              <a:t>ICLR 2025</a:t>
            </a:r>
            <a:endParaRPr lang="en-US" altLang="zh-CN" dirty="0">
              <a:latin typeface="Times New Roman" panose="02020503050405090304" pitchFamily="18" charset="0"/>
              <a:cs typeface="Times New Roman" panose="02020503050405090304" pitchFamily="18" charset="0"/>
            </a:endParaRPr>
          </a:p>
          <a:p>
            <a:pPr marL="342900" indent="-342900">
              <a:lnSpc>
                <a:spcPct val="150000"/>
              </a:lnSpc>
              <a:buAutoNum type="arabicPeriod"/>
            </a:pPr>
            <a:r>
              <a:rPr lang="en-US" altLang="zh-CN" i="1" dirty="0">
                <a:latin typeface="Times New Roman" panose="02020503050405090304" pitchFamily="18" charset="0"/>
                <a:cs typeface="Times New Roman" panose="02020503050405090304" pitchFamily="18" charset="0"/>
              </a:rPr>
              <a:t>SWE-bench: Can Language Models Resolve Real-world </a:t>
            </a:r>
            <a:r>
              <a:rPr lang="en-US" altLang="zh-CN" i="1" dirty="0" err="1">
                <a:latin typeface="Times New Roman" panose="02020503050405090304" pitchFamily="18" charset="0"/>
                <a:cs typeface="Times New Roman" panose="02020503050405090304" pitchFamily="18" charset="0"/>
              </a:rPr>
              <a:t>Github</a:t>
            </a:r>
            <a:r>
              <a:rPr lang="en-US" altLang="zh-CN" i="1" dirty="0">
                <a:latin typeface="Times New Roman" panose="02020503050405090304" pitchFamily="18" charset="0"/>
                <a:cs typeface="Times New Roman" panose="02020503050405090304" pitchFamily="18" charset="0"/>
              </a:rPr>
              <a:t> Issues? </a:t>
            </a:r>
            <a:r>
              <a:rPr lang="en-US" altLang="zh-CN" dirty="0">
                <a:latin typeface="Times New Roman" panose="02020503050405090304" pitchFamily="18" charset="0"/>
                <a:cs typeface="Times New Roman" panose="02020503050405090304" pitchFamily="18" charset="0"/>
              </a:rPr>
              <a:t>ICLR 2024 oral</a:t>
            </a:r>
            <a:endParaRPr lang="en-US" altLang="zh-CN" dirty="0">
              <a:latin typeface="Times New Roman" panose="02020503050405090304" pitchFamily="18" charset="0"/>
              <a:cs typeface="Times New Roman" panose="02020503050405090304" pitchFamily="18" charset="0"/>
            </a:endParaRPr>
          </a:p>
          <a:p>
            <a:pPr marL="342900" indent="-342900">
              <a:lnSpc>
                <a:spcPct val="150000"/>
              </a:lnSpc>
              <a:buFontTx/>
              <a:buAutoNum type="arabicPeriod"/>
            </a:pPr>
            <a:r>
              <a:rPr lang="en-US" altLang="zh-CN" i="1" dirty="0">
                <a:latin typeface="Times New Roman" panose="02020503050405090304" pitchFamily="18" charset="0"/>
                <a:cs typeface="Times New Roman" panose="02020503050405090304" pitchFamily="18" charset="0"/>
              </a:rPr>
              <a:t>SWT-Bench: Testing and Validating Real-World Bug-Fixes with Code Agents</a:t>
            </a:r>
            <a:r>
              <a:rPr lang="en-US" altLang="zh-CN" dirty="0">
                <a:latin typeface="Times New Roman" panose="02020503050405090304" pitchFamily="18" charset="0"/>
                <a:cs typeface="Times New Roman" panose="02020503050405090304" pitchFamily="18" charset="0"/>
              </a:rPr>
              <a:t> NeurIPS 2024</a:t>
            </a:r>
            <a:endParaRPr lang="en-US" altLang="zh-CN" dirty="0">
              <a:latin typeface="Times New Roman" panose="02020503050405090304" pitchFamily="18" charset="0"/>
              <a:cs typeface="Times New Roman" panose="02020503050405090304" pitchFamily="18" charset="0"/>
            </a:endParaRPr>
          </a:p>
          <a:p>
            <a:pPr marL="342900" indent="-342900">
              <a:lnSpc>
                <a:spcPct val="150000"/>
              </a:lnSpc>
              <a:buFontTx/>
              <a:buAutoNum type="arabicPeriod"/>
            </a:pPr>
            <a:r>
              <a:rPr lang="en-US" altLang="zh-CN" i="1" dirty="0">
                <a:latin typeface="Times New Roman" panose="02020503050405090304" pitchFamily="18" charset="0"/>
                <a:cs typeface="Times New Roman" panose="02020503050405090304" pitchFamily="18" charset="0"/>
              </a:rPr>
              <a:t>DL-Bench: Deep learning specific code generation benchmark </a:t>
            </a:r>
            <a:r>
              <a:rPr lang="en-US" altLang="zh-CN" dirty="0">
                <a:latin typeface="Times New Roman" panose="02020503050405090304" pitchFamily="18" charset="0"/>
                <a:cs typeface="Times New Roman" panose="02020503050405090304" pitchFamily="18" charset="0"/>
              </a:rPr>
              <a:t>ICLR 2026</a:t>
            </a:r>
            <a:endParaRPr lang="en-US" altLang="zh-CN" dirty="0">
              <a:latin typeface="Times New Roman" panose="02020503050405090304" pitchFamily="18" charset="0"/>
              <a:cs typeface="Times New Roman" panose="02020503050405090304" pitchFamily="18" charset="0"/>
            </a:endParaRPr>
          </a:p>
          <a:p>
            <a:pPr marL="342900" indent="-342900">
              <a:lnSpc>
                <a:spcPct val="150000"/>
              </a:lnSpc>
              <a:buFontTx/>
              <a:buAutoNum type="arabicPeriod"/>
            </a:pPr>
            <a:r>
              <a:rPr lang="en-US" altLang="zh-CN" i="1" dirty="0">
                <a:latin typeface="Times New Roman" panose="02020503050405090304" pitchFamily="18" charset="0"/>
                <a:cs typeface="Times New Roman" panose="02020503050405090304" pitchFamily="18" charset="0"/>
              </a:rPr>
              <a:t>Can LLMs Reason Structurally? An Evaluation via the Lens of Data Structures </a:t>
            </a:r>
            <a:r>
              <a:rPr lang="en-US" altLang="zh-CN" dirty="0">
                <a:latin typeface="Times New Roman" panose="02020503050405090304" pitchFamily="18" charset="0"/>
                <a:cs typeface="Times New Roman" panose="02020503050405090304" pitchFamily="18" charset="0"/>
              </a:rPr>
              <a:t>ICLR 2026</a:t>
            </a:r>
            <a:endParaRPr lang="en-US" altLang="zh-CN" dirty="0">
              <a:latin typeface="Times New Roman" panose="02020503050405090304" pitchFamily="18" charset="0"/>
              <a:cs typeface="Times New Roman" panose="02020503050405090304" pitchFamily="18" charset="0"/>
            </a:endParaRPr>
          </a:p>
          <a:p>
            <a:pPr marL="342900" indent="-342900">
              <a:lnSpc>
                <a:spcPct val="150000"/>
              </a:lnSpc>
              <a:buFontTx/>
              <a:buAutoNum type="arabicPeriod"/>
            </a:pPr>
            <a:r>
              <a:rPr lang="en-US" altLang="zh-CN" i="1" dirty="0" err="1">
                <a:latin typeface="Times New Roman" panose="02020503050405090304" pitchFamily="18" charset="0"/>
                <a:cs typeface="Times New Roman" panose="02020503050405090304" pitchFamily="18" charset="0"/>
              </a:rPr>
              <a:t>CodeMind</a:t>
            </a:r>
            <a:r>
              <a:rPr lang="en-US" altLang="zh-CN" i="1" dirty="0">
                <a:latin typeface="Times New Roman" panose="02020503050405090304" pitchFamily="18" charset="0"/>
                <a:cs typeface="Times New Roman" panose="02020503050405090304" pitchFamily="18" charset="0"/>
              </a:rPr>
              <a:t>: Evaluating Large Language Models for Code Reasoning </a:t>
            </a:r>
            <a:r>
              <a:rPr lang="en-US" altLang="zh-CN" dirty="0" err="1">
                <a:latin typeface="Times New Roman" panose="02020503050405090304" pitchFamily="18" charset="0"/>
                <a:cs typeface="Times New Roman" panose="02020503050405090304" pitchFamily="18" charset="0"/>
              </a:rPr>
              <a:t>Arxiv</a:t>
            </a:r>
            <a:r>
              <a:rPr lang="en-US" altLang="zh-CN" dirty="0">
                <a:latin typeface="Times New Roman" panose="02020503050405090304" pitchFamily="18" charset="0"/>
                <a:cs typeface="Times New Roman" panose="02020503050405090304" pitchFamily="18" charset="0"/>
              </a:rPr>
              <a:t> 2024</a:t>
            </a:r>
            <a:endParaRPr lang="en-US" altLang="zh-CN" dirty="0">
              <a:latin typeface="Times New Roman" panose="02020503050405090304" pitchFamily="18" charset="0"/>
              <a:cs typeface="Times New Roman" panose="02020503050405090304" pitchFamily="18" charset="0"/>
            </a:endParaRPr>
          </a:p>
          <a:p>
            <a:pPr marL="342900" indent="-342900">
              <a:lnSpc>
                <a:spcPct val="150000"/>
              </a:lnSpc>
              <a:buFontTx/>
              <a:buAutoNum type="arabicPeriod"/>
            </a:pPr>
            <a:endParaRPr lang="en-US" altLang="zh-CN" dirty="0">
              <a:latin typeface="Times New Roman" panose="02020503050405090304" pitchFamily="18" charset="0"/>
              <a:cs typeface="Times New Roman" panose="02020503050405090304" pitchFamily="18" charset="0"/>
            </a:endParaRPr>
          </a:p>
          <a:p>
            <a:pPr marL="342900" indent="-342900">
              <a:lnSpc>
                <a:spcPct val="150000"/>
              </a:lnSpc>
              <a:buFontTx/>
              <a:buAutoNum type="arabicPeriod"/>
            </a:pPr>
            <a:endParaRPr lang="en-US" altLang="zh-CN" dirty="0">
              <a:latin typeface="Times New Roman" panose="02020503050405090304" pitchFamily="18" charset="0"/>
              <a:cs typeface="Times New Roman" panose="02020503050405090304" pitchFamily="18" charset="0"/>
            </a:endParaRPr>
          </a:p>
          <a:p>
            <a:pPr marL="342900" indent="-342900">
              <a:lnSpc>
                <a:spcPct val="150000"/>
              </a:lnSpc>
              <a:buFontTx/>
              <a:buAutoNum type="arabicPeriod"/>
            </a:pPr>
            <a:endParaRPr lang="en-US" altLang="zh-CN" dirty="0">
              <a:latin typeface="Times New Roman" panose="02020503050405090304" pitchFamily="18" charset="0"/>
              <a:cs typeface="Times New Roman" panose="02020503050405090304" pitchFamily="18" charset="0"/>
            </a:endParaRPr>
          </a:p>
          <a:p>
            <a:pPr marL="342900" indent="-342900">
              <a:lnSpc>
                <a:spcPct val="150000"/>
              </a:lnSpc>
              <a:buAutoNum type="arabicPeriod"/>
            </a:pPr>
            <a:endParaRPr lang="en-US" altLang="zh-CN" i="1" dirty="0">
              <a:latin typeface="Times New Roman" panose="02020503050405090304" pitchFamily="18" charset="0"/>
              <a:cs typeface="Times New Roman" panose="02020503050405090304" pitchFamily="18" charset="0"/>
            </a:endParaRPr>
          </a:p>
        </p:txBody>
      </p:sp>
      <p:sp>
        <p:nvSpPr>
          <p:cNvPr id="5" name="文本框 4"/>
          <p:cNvSpPr txBox="1"/>
          <p:nvPr/>
        </p:nvSpPr>
        <p:spPr>
          <a:xfrm>
            <a:off x="344805" y="901179"/>
            <a:ext cx="8142703" cy="1289071"/>
          </a:xfrm>
          <a:prstGeom prst="rect">
            <a:avLst/>
          </a:prstGeom>
          <a:noFill/>
        </p:spPr>
        <p:txBody>
          <a:bodyPr wrap="square" rtlCol="0">
            <a:spAutoFit/>
          </a:bodyPr>
          <a:lstStyle/>
          <a:p>
            <a:pPr>
              <a:lnSpc>
                <a:spcPct val="150000"/>
              </a:lnSpc>
            </a:pPr>
            <a:r>
              <a:rPr lang="zh-CN" altLang="en-US" dirty="0">
                <a:latin typeface="Times New Roman" panose="02020503050405090304" pitchFamily="18" charset="0"/>
                <a:cs typeface="Times New Roman" panose="02020503050405090304" pitchFamily="18" charset="0"/>
              </a:rPr>
              <a:t>重点是看近期“大模型”、“代码能力评估集” 相关论文的</a:t>
            </a:r>
            <a:endParaRPr lang="en-US" altLang="zh-CN" dirty="0">
              <a:latin typeface="Times New Roman" panose="02020503050405090304" pitchFamily="18" charset="0"/>
              <a:cs typeface="Times New Roman" panose="02020503050405090304" pitchFamily="18" charset="0"/>
            </a:endParaRPr>
          </a:p>
          <a:p>
            <a:pPr>
              <a:lnSpc>
                <a:spcPct val="150000"/>
              </a:lnSpc>
            </a:pPr>
            <a:r>
              <a:rPr lang="zh-CN" altLang="en-US" b="1" dirty="0">
                <a:latin typeface="Times New Roman" panose="02020503050405090304" pitchFamily="18" charset="0"/>
                <a:cs typeface="Times New Roman" panose="02020503050405090304" pitchFamily="18" charset="0"/>
              </a:rPr>
              <a:t>论文写法、实验设置</a:t>
            </a:r>
            <a:endParaRPr lang="en-US" altLang="zh-CN" b="1" dirty="0">
              <a:latin typeface="Times New Roman" panose="02020503050405090304" pitchFamily="18" charset="0"/>
              <a:cs typeface="Times New Roman" panose="02020503050405090304" pitchFamily="18" charset="0"/>
            </a:endParaRPr>
          </a:p>
          <a:p>
            <a:pPr>
              <a:lnSpc>
                <a:spcPct val="150000"/>
              </a:lnSpc>
            </a:pPr>
            <a:r>
              <a:rPr lang="zh-CN" altLang="en-US" dirty="0">
                <a:latin typeface="Times New Roman" panose="02020503050405090304" pitchFamily="18" charset="0"/>
                <a:cs typeface="Times New Roman" panose="02020503050405090304" pitchFamily="18" charset="0"/>
              </a:rPr>
              <a:t>精度几篇学习写法和精妙之处、泛读多篇看一些优劣点</a:t>
            </a:r>
            <a:endParaRPr lang="en-US" altLang="zh-CN" dirty="0">
              <a:latin typeface="Times New Roman" panose="02020503050405090304" pitchFamily="18" charset="0"/>
              <a:cs typeface="Times New Roman" panose="02020503050405090304" pitchFamily="18" charset="0"/>
            </a:endParaRPr>
          </a:p>
        </p:txBody>
      </p:sp>
      <p:pic>
        <p:nvPicPr>
          <p:cNvPr id="6" name="图片 5"/>
          <p:cNvPicPr>
            <a:picLocks noChangeAspect="1"/>
          </p:cNvPicPr>
          <p:nvPr/>
        </p:nvPicPr>
        <p:blipFill>
          <a:blip r:embed="rId1"/>
          <a:stretch>
            <a:fillRect/>
          </a:stretch>
        </p:blipFill>
        <p:spPr>
          <a:xfrm>
            <a:off x="9569256" y="1785292"/>
            <a:ext cx="2399859" cy="3641810"/>
          </a:xfrm>
          <a:prstGeom prst="rect">
            <a:avLst/>
          </a:prstGeom>
        </p:spPr>
      </p:pic>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文本框 3"/>
          <p:cNvSpPr txBox="1"/>
          <p:nvPr/>
        </p:nvSpPr>
        <p:spPr>
          <a:xfrm>
            <a:off x="344805" y="302895"/>
            <a:ext cx="10500995" cy="460375"/>
          </a:xfrm>
          <a:prstGeom prst="rect">
            <a:avLst/>
          </a:prstGeom>
          <a:noFill/>
        </p:spPr>
        <p:txBody>
          <a:bodyPr wrap="square" rtlCol="0">
            <a:spAutoFit/>
          </a:bodyPr>
          <a:lstStyle/>
          <a:p>
            <a:pPr algn="l"/>
            <a:r>
              <a:rPr lang="zh-CN" altLang="en-US" sz="2400" dirty="0">
                <a:solidFill>
                  <a:schemeClr val="tx1"/>
                </a:solidFill>
              </a:rPr>
              <a:t>进展三：评估集相关工作分享</a:t>
            </a:r>
            <a:endParaRPr lang="en-US" altLang="zh-CN" sz="2400" dirty="0">
              <a:solidFill>
                <a:schemeClr val="tx1"/>
              </a:solidFill>
              <a:sym typeface="+mn-ea"/>
            </a:endParaRPr>
          </a:p>
        </p:txBody>
      </p:sp>
      <p:sp>
        <p:nvSpPr>
          <p:cNvPr id="3" name="文本框 2"/>
          <p:cNvSpPr txBox="1"/>
          <p:nvPr/>
        </p:nvSpPr>
        <p:spPr>
          <a:xfrm>
            <a:off x="344805" y="1387688"/>
            <a:ext cx="11655907" cy="793487"/>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50000"/>
              </a:lnSpc>
            </a:pPr>
            <a:r>
              <a:rPr lang="zh-CN" altLang="en-US" sz="1600" dirty="0">
                <a:latin typeface="+mn-ea"/>
              </a:rPr>
              <a:t>一句话</a:t>
            </a:r>
            <a:r>
              <a:rPr lang="zh-CN" altLang="en-US" sz="1600" dirty="0">
                <a:solidFill>
                  <a:srgbClr val="000000"/>
                </a:solidFill>
                <a:latin typeface="+mn-ea"/>
              </a:rPr>
              <a:t>介绍：</a:t>
            </a:r>
            <a:endParaRPr lang="en-US" altLang="zh-CN" sz="1600" dirty="0">
              <a:solidFill>
                <a:srgbClr val="000000"/>
              </a:solidFill>
              <a:latin typeface="+mn-ea"/>
            </a:endParaRPr>
          </a:p>
          <a:p>
            <a:pPr>
              <a:lnSpc>
                <a:spcPct val="150000"/>
              </a:lnSpc>
            </a:pPr>
            <a:r>
              <a:rPr lang="zh-CN" altLang="en-US" sz="1600" dirty="0">
                <a:solidFill>
                  <a:srgbClr val="000000"/>
                </a:solidFill>
                <a:latin typeface="+mn-ea"/>
              </a:rPr>
              <a:t>一个包含 </a:t>
            </a:r>
            <a:r>
              <a:rPr lang="en-US" altLang="zh-CN" sz="1600" dirty="0">
                <a:solidFill>
                  <a:srgbClr val="000000"/>
                </a:solidFill>
                <a:latin typeface="+mn-ea"/>
              </a:rPr>
              <a:t>800 </a:t>
            </a:r>
            <a:r>
              <a:rPr lang="zh-CN" altLang="en-US" sz="1600" dirty="0">
                <a:solidFill>
                  <a:srgbClr val="000000"/>
                </a:solidFill>
                <a:latin typeface="+mn-ea"/>
              </a:rPr>
              <a:t>个 </a:t>
            </a:r>
            <a:r>
              <a:rPr lang="en-US" altLang="zh-CN" sz="1600" dirty="0">
                <a:solidFill>
                  <a:srgbClr val="000000"/>
                </a:solidFill>
                <a:latin typeface="+mn-ea"/>
              </a:rPr>
              <a:t>Python </a:t>
            </a:r>
            <a:r>
              <a:rPr lang="zh-CN" altLang="en-US" sz="1600" dirty="0">
                <a:solidFill>
                  <a:srgbClr val="000000"/>
                </a:solidFill>
                <a:latin typeface="+mn-ea"/>
              </a:rPr>
              <a:t>函数（长度为 </a:t>
            </a:r>
            <a:r>
              <a:rPr lang="en-US" altLang="zh-CN" sz="1600" dirty="0">
                <a:solidFill>
                  <a:srgbClr val="000000"/>
                </a:solidFill>
                <a:latin typeface="+mn-ea"/>
              </a:rPr>
              <a:t>3-13 </a:t>
            </a:r>
            <a:r>
              <a:rPr lang="zh-CN" altLang="en-US" sz="1600" dirty="0">
                <a:solidFill>
                  <a:srgbClr val="000000"/>
                </a:solidFill>
                <a:latin typeface="+mn-ea"/>
              </a:rPr>
              <a:t>行）的基准测试集。每个函数都配有一个输入</a:t>
            </a:r>
            <a:r>
              <a:rPr lang="en-US" altLang="zh-CN" sz="1600" dirty="0">
                <a:solidFill>
                  <a:srgbClr val="000000"/>
                </a:solidFill>
                <a:latin typeface="+mn-ea"/>
              </a:rPr>
              <a:t>-</a:t>
            </a:r>
            <a:r>
              <a:rPr lang="zh-CN" altLang="en-US" sz="1600" dirty="0">
                <a:solidFill>
                  <a:srgbClr val="000000"/>
                </a:solidFill>
                <a:latin typeface="+mn-ea"/>
              </a:rPr>
              <a:t>输出对，含输入预测和输出预测任务</a:t>
            </a:r>
            <a:endParaRPr lang="en-US" altLang="zh-CN" sz="1600" dirty="0">
              <a:solidFill>
                <a:srgbClr val="000000"/>
              </a:solidFill>
              <a:latin typeface="+mn-ea"/>
            </a:endParaRPr>
          </a:p>
        </p:txBody>
      </p:sp>
      <p:sp>
        <p:nvSpPr>
          <p:cNvPr id="2" name="文本框 1"/>
          <p:cNvSpPr txBox="1"/>
          <p:nvPr/>
        </p:nvSpPr>
        <p:spPr>
          <a:xfrm>
            <a:off x="344805" y="927923"/>
            <a:ext cx="11655907" cy="369332"/>
          </a:xfrm>
          <a:prstGeom prst="rect">
            <a:avLst/>
          </a:prstGeom>
          <a:noFill/>
        </p:spPr>
        <p:txBody>
          <a:bodyPr wrap="square" rtlCol="0">
            <a:spAutoFit/>
          </a:bodyPr>
          <a:lstStyle/>
          <a:p>
            <a:r>
              <a:rPr lang="en-US" altLang="zh-CN" dirty="0">
                <a:latin typeface="Times New Roman" panose="02020503050405090304" pitchFamily="18" charset="0"/>
                <a:cs typeface="Times New Roman" panose="02020503050405090304" pitchFamily="18" charset="0"/>
              </a:rPr>
              <a:t>1. </a:t>
            </a:r>
            <a:r>
              <a:rPr lang="en-US" altLang="zh-CN" i="1" dirty="0">
                <a:latin typeface="Times New Roman" panose="02020503050405090304" pitchFamily="18" charset="0"/>
                <a:cs typeface="Times New Roman" panose="02020503050405090304" pitchFamily="18" charset="0"/>
              </a:rPr>
              <a:t>CRUXEval: A Benchmark for Code Reasoning, Understanding and Execution </a:t>
            </a:r>
            <a:r>
              <a:rPr lang="en-US" altLang="zh-CN" dirty="0">
                <a:latin typeface="Times New Roman" panose="02020503050405090304" pitchFamily="18" charset="0"/>
                <a:cs typeface="Times New Roman" panose="02020503050405090304" pitchFamily="18" charset="0"/>
              </a:rPr>
              <a:t>ICLR 2024</a:t>
            </a:r>
            <a:endParaRPr lang="en-US" altLang="zh-CN" i="1" dirty="0">
              <a:latin typeface="Times New Roman" panose="02020503050405090304" pitchFamily="18" charset="0"/>
              <a:cs typeface="Times New Roman" panose="02020503050405090304" pitchFamily="18" charset="0"/>
            </a:endParaRPr>
          </a:p>
        </p:txBody>
      </p:sp>
      <p:sp>
        <p:nvSpPr>
          <p:cNvPr id="7" name="文本框 6"/>
          <p:cNvSpPr txBox="1"/>
          <p:nvPr/>
        </p:nvSpPr>
        <p:spPr>
          <a:xfrm>
            <a:off x="344805" y="2225888"/>
            <a:ext cx="11655907" cy="1901483"/>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50000"/>
              </a:lnSpc>
            </a:pPr>
            <a:r>
              <a:rPr lang="zh-CN" altLang="en-US" sz="1600" dirty="0">
                <a:latin typeface="+mn-ea"/>
              </a:rPr>
              <a:t>构建过程</a:t>
            </a:r>
            <a:r>
              <a:rPr lang="zh-CN" altLang="en-US" sz="1600" dirty="0">
                <a:solidFill>
                  <a:srgbClr val="000000"/>
                </a:solidFill>
                <a:latin typeface="+mn-ea"/>
              </a:rPr>
              <a:t>：</a:t>
            </a:r>
            <a:endParaRPr lang="en-US" altLang="zh-CN" sz="1600" dirty="0">
              <a:solidFill>
                <a:srgbClr val="000000"/>
              </a:solidFill>
              <a:latin typeface="+mn-ea"/>
            </a:endParaRPr>
          </a:p>
          <a:p>
            <a:pPr marL="342900" indent="-342900">
              <a:lnSpc>
                <a:spcPct val="150000"/>
              </a:lnSpc>
              <a:buAutoNum type="arabicPeriod"/>
            </a:pPr>
            <a:r>
              <a:rPr lang="zh-CN" altLang="en-US" sz="1600" dirty="0">
                <a:solidFill>
                  <a:srgbClr val="000000"/>
                </a:solidFill>
                <a:latin typeface="+mn-ea"/>
              </a:rPr>
              <a:t>使用 </a:t>
            </a:r>
            <a:r>
              <a:rPr lang="en-US" altLang="zh-CN" sz="1600" dirty="0">
                <a:solidFill>
                  <a:srgbClr val="000000"/>
                </a:solidFill>
                <a:latin typeface="+mn-ea"/>
              </a:rPr>
              <a:t>Code Llama 34B </a:t>
            </a:r>
            <a:r>
              <a:rPr lang="zh-CN" altLang="en-US" sz="1600" dirty="0">
                <a:solidFill>
                  <a:srgbClr val="000000"/>
                </a:solidFill>
                <a:latin typeface="+mn-ea"/>
              </a:rPr>
              <a:t>生成大量的函数和输入。输出结果是通过在输入上执行这些函数生成的。</a:t>
            </a:r>
            <a:endParaRPr lang="en-US" altLang="zh-CN" sz="1600" dirty="0">
              <a:solidFill>
                <a:srgbClr val="000000"/>
              </a:solidFill>
              <a:latin typeface="+mn-ea"/>
            </a:endParaRPr>
          </a:p>
          <a:p>
            <a:pPr marL="342900" indent="-342900">
              <a:lnSpc>
                <a:spcPct val="150000"/>
              </a:lnSpc>
              <a:buAutoNum type="arabicPeriod"/>
            </a:pPr>
            <a:r>
              <a:rPr lang="zh-CN" altLang="en-US" sz="1600" dirty="0">
                <a:solidFill>
                  <a:srgbClr val="000000"/>
                </a:solidFill>
                <a:latin typeface="+mn-ea"/>
              </a:rPr>
              <a:t>对数据集进行过滤，以确保仅包含计算和内存需求较低的短问题，即优秀的程序员应该能够在一分钟左右且无需额外记忆（除输出结果外）的情况下解决的问题。</a:t>
            </a:r>
            <a:endParaRPr lang="en-US" altLang="zh-CN" sz="1600" dirty="0">
              <a:solidFill>
                <a:srgbClr val="000000"/>
              </a:solidFill>
              <a:latin typeface="+mn-ea"/>
            </a:endParaRPr>
          </a:p>
          <a:p>
            <a:pPr marL="342900" indent="-342900">
              <a:lnSpc>
                <a:spcPct val="150000"/>
              </a:lnSpc>
              <a:buAutoNum type="arabicPeriod"/>
            </a:pPr>
            <a:r>
              <a:rPr lang="zh-CN" altLang="en-US" sz="1600" dirty="0">
                <a:solidFill>
                  <a:srgbClr val="000000"/>
                </a:solidFill>
                <a:latin typeface="+mn-ea"/>
              </a:rPr>
              <a:t>随机选择了 </a:t>
            </a:r>
            <a:r>
              <a:rPr lang="en-US" altLang="zh-CN" sz="1600" dirty="0">
                <a:solidFill>
                  <a:srgbClr val="000000"/>
                </a:solidFill>
                <a:latin typeface="+mn-ea"/>
              </a:rPr>
              <a:t>800 </a:t>
            </a:r>
            <a:r>
              <a:rPr lang="zh-CN" altLang="en-US" sz="1600" dirty="0">
                <a:solidFill>
                  <a:srgbClr val="000000"/>
                </a:solidFill>
                <a:latin typeface="+mn-ea"/>
              </a:rPr>
              <a:t>个通过过滤的样本，确保基准测试既足够小以便于运行，又足够大以可靠地观察不同模型之间的性能差异。</a:t>
            </a:r>
            <a:endParaRPr lang="en-US" altLang="zh-CN" sz="1600" dirty="0">
              <a:solidFill>
                <a:srgbClr val="000000"/>
              </a:solidFill>
              <a:latin typeface="+mn-ea"/>
            </a:endParaRPr>
          </a:p>
        </p:txBody>
      </p:sp>
      <p:pic>
        <p:nvPicPr>
          <p:cNvPr id="12" name="图片 11"/>
          <p:cNvPicPr>
            <a:picLocks noChangeAspect="1"/>
          </p:cNvPicPr>
          <p:nvPr/>
        </p:nvPicPr>
        <p:blipFill>
          <a:blip r:embed="rId1"/>
          <a:srcRect t="2116"/>
          <a:stretch>
            <a:fillRect/>
          </a:stretch>
        </p:blipFill>
        <p:spPr>
          <a:xfrm>
            <a:off x="1000125" y="4263524"/>
            <a:ext cx="4073046" cy="2210885"/>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5" name="图片 14"/>
          <p:cNvPicPr>
            <a:picLocks noChangeAspect="1"/>
          </p:cNvPicPr>
          <p:nvPr/>
        </p:nvPicPr>
        <p:blipFill>
          <a:blip r:embed="rId2"/>
          <a:stretch>
            <a:fillRect/>
          </a:stretch>
        </p:blipFill>
        <p:spPr>
          <a:xfrm>
            <a:off x="5412352" y="4263524"/>
            <a:ext cx="4562891" cy="2210885"/>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文本框 3"/>
          <p:cNvSpPr txBox="1"/>
          <p:nvPr/>
        </p:nvSpPr>
        <p:spPr>
          <a:xfrm>
            <a:off x="344805" y="302895"/>
            <a:ext cx="10500995" cy="460375"/>
          </a:xfrm>
          <a:prstGeom prst="rect">
            <a:avLst/>
          </a:prstGeom>
          <a:noFill/>
        </p:spPr>
        <p:txBody>
          <a:bodyPr wrap="square" rtlCol="0">
            <a:spAutoFit/>
          </a:bodyPr>
          <a:lstStyle/>
          <a:p>
            <a:pPr algn="l"/>
            <a:r>
              <a:rPr lang="zh-CN" altLang="en-US" sz="2400" dirty="0">
                <a:solidFill>
                  <a:schemeClr val="tx1"/>
                </a:solidFill>
              </a:rPr>
              <a:t>进展三：评估集相关工作分享</a:t>
            </a:r>
            <a:endParaRPr lang="en-US" altLang="zh-CN" sz="2400" dirty="0">
              <a:solidFill>
                <a:schemeClr val="tx1"/>
              </a:solidFill>
              <a:sym typeface="+mn-ea"/>
            </a:endParaRPr>
          </a:p>
        </p:txBody>
      </p:sp>
      <p:sp>
        <p:nvSpPr>
          <p:cNvPr id="2" name="文本框 1"/>
          <p:cNvSpPr txBox="1"/>
          <p:nvPr/>
        </p:nvSpPr>
        <p:spPr>
          <a:xfrm>
            <a:off x="344805" y="927923"/>
            <a:ext cx="11655907" cy="369332"/>
          </a:xfrm>
          <a:prstGeom prst="rect">
            <a:avLst/>
          </a:prstGeom>
          <a:noFill/>
        </p:spPr>
        <p:txBody>
          <a:bodyPr wrap="square" rtlCol="0">
            <a:spAutoFit/>
          </a:bodyPr>
          <a:lstStyle/>
          <a:p>
            <a:r>
              <a:rPr lang="en-US" altLang="zh-CN" dirty="0">
                <a:latin typeface="Times New Roman" panose="02020503050405090304" pitchFamily="18" charset="0"/>
                <a:cs typeface="Times New Roman" panose="02020503050405090304" pitchFamily="18" charset="0"/>
              </a:rPr>
              <a:t>1. </a:t>
            </a:r>
            <a:r>
              <a:rPr lang="en-US" altLang="zh-CN" i="1" dirty="0">
                <a:latin typeface="Times New Roman" panose="02020503050405090304" pitchFamily="18" charset="0"/>
                <a:cs typeface="Times New Roman" panose="02020503050405090304" pitchFamily="18" charset="0"/>
              </a:rPr>
              <a:t>CRUXEval: A Benchmark for Code Reasoning, Understanding and Execution </a:t>
            </a:r>
            <a:r>
              <a:rPr lang="en-US" altLang="zh-CN" dirty="0">
                <a:latin typeface="Times New Roman" panose="02020503050405090304" pitchFamily="18" charset="0"/>
                <a:cs typeface="Times New Roman" panose="02020503050405090304" pitchFamily="18" charset="0"/>
              </a:rPr>
              <a:t>ICLR 2024</a:t>
            </a:r>
            <a:endParaRPr lang="en-US" altLang="zh-CN" i="1" dirty="0">
              <a:latin typeface="Times New Roman" panose="02020503050405090304" pitchFamily="18" charset="0"/>
              <a:cs typeface="Times New Roman" panose="02020503050405090304" pitchFamily="18" charset="0"/>
            </a:endParaRPr>
          </a:p>
        </p:txBody>
      </p:sp>
      <p:sp>
        <p:nvSpPr>
          <p:cNvPr id="7" name="文本框 6"/>
          <p:cNvSpPr txBox="1"/>
          <p:nvPr/>
        </p:nvSpPr>
        <p:spPr>
          <a:xfrm>
            <a:off x="344805" y="1461908"/>
            <a:ext cx="11655907" cy="332341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20000"/>
              </a:lnSpc>
            </a:pPr>
            <a:r>
              <a:rPr lang="zh-CN" altLang="en-US" sz="1600" dirty="0">
                <a:solidFill>
                  <a:srgbClr val="000000"/>
                </a:solidFill>
                <a:latin typeface="+mn-ea"/>
              </a:rPr>
              <a:t>构建重点：筛选与规模置信度</a:t>
            </a:r>
            <a:endParaRPr lang="en-US" altLang="zh-CN" sz="1600" dirty="0">
              <a:solidFill>
                <a:srgbClr val="000000"/>
              </a:solidFill>
              <a:latin typeface="+mn-ea"/>
            </a:endParaRPr>
          </a:p>
          <a:p>
            <a:pPr marL="342900" indent="-342900">
              <a:lnSpc>
                <a:spcPct val="120000"/>
              </a:lnSpc>
              <a:buAutoNum type="arabicPeriod"/>
            </a:pPr>
            <a:r>
              <a:rPr lang="zh-CN" altLang="en-US" sz="1600" dirty="0">
                <a:solidFill>
                  <a:srgbClr val="000000"/>
                </a:solidFill>
                <a:latin typeface="+mn-ea"/>
              </a:rPr>
              <a:t>初筛 </a:t>
            </a:r>
            <a:r>
              <a:rPr lang="en-US" altLang="zh-CN" sz="1600" dirty="0">
                <a:solidFill>
                  <a:srgbClr val="000000"/>
                </a:solidFill>
                <a:latin typeface="+mn-ea"/>
              </a:rPr>
              <a:t>- </a:t>
            </a:r>
            <a:r>
              <a:rPr lang="zh-CN" altLang="en-US" sz="1600" dirty="0">
                <a:solidFill>
                  <a:srgbClr val="000000"/>
                </a:solidFill>
                <a:latin typeface="+mn-ea"/>
              </a:rPr>
              <a:t>函数的所有参数必须在函数内部被使用，代码长度在 </a:t>
            </a:r>
            <a:r>
              <a:rPr lang="en-US" altLang="zh-CN" sz="1600" dirty="0">
                <a:solidFill>
                  <a:srgbClr val="000000"/>
                </a:solidFill>
                <a:latin typeface="+mn-ea"/>
              </a:rPr>
              <a:t>75 </a:t>
            </a:r>
            <a:r>
              <a:rPr lang="zh-CN" altLang="en-US" sz="1600" dirty="0">
                <a:solidFill>
                  <a:srgbClr val="000000"/>
                </a:solidFill>
                <a:latin typeface="+mn-ea"/>
              </a:rPr>
              <a:t>到 </a:t>
            </a:r>
            <a:r>
              <a:rPr lang="en-US" altLang="zh-CN" sz="1600" dirty="0">
                <a:solidFill>
                  <a:srgbClr val="000000"/>
                </a:solidFill>
                <a:latin typeface="+mn-ea"/>
              </a:rPr>
              <a:t>300 </a:t>
            </a:r>
            <a:r>
              <a:rPr lang="zh-CN" altLang="en-US" sz="1600" dirty="0">
                <a:solidFill>
                  <a:srgbClr val="000000"/>
                </a:solidFill>
                <a:latin typeface="+mn-ea"/>
              </a:rPr>
              <a:t>个字符之间，无语法错误，且包含正确的断言 </a:t>
            </a:r>
            <a:r>
              <a:rPr lang="en-US" altLang="zh-CN" sz="1600" dirty="0">
                <a:solidFill>
                  <a:srgbClr val="000000"/>
                </a:solidFill>
                <a:latin typeface="+mn-ea"/>
              </a:rPr>
              <a:t>`assert f(input) == output`</a:t>
            </a:r>
            <a:endParaRPr lang="en-US" altLang="zh-CN" sz="1600" dirty="0">
              <a:solidFill>
                <a:srgbClr val="000000"/>
              </a:solidFill>
              <a:latin typeface="+mn-ea"/>
            </a:endParaRPr>
          </a:p>
          <a:p>
            <a:pPr marL="342900" indent="-342900">
              <a:lnSpc>
                <a:spcPct val="120000"/>
              </a:lnSpc>
              <a:buAutoNum type="arabicPeriod"/>
            </a:pPr>
            <a:r>
              <a:rPr lang="zh-CN" altLang="en-US" sz="1600" dirty="0">
                <a:solidFill>
                  <a:srgbClr val="000000"/>
                </a:solidFill>
                <a:latin typeface="+mn-ea"/>
              </a:rPr>
              <a:t>初筛 </a:t>
            </a:r>
            <a:r>
              <a:rPr lang="en-US" altLang="zh-CN" sz="1600" dirty="0">
                <a:solidFill>
                  <a:srgbClr val="000000"/>
                </a:solidFill>
                <a:latin typeface="+mn-ea"/>
              </a:rPr>
              <a:t>- </a:t>
            </a:r>
            <a:r>
              <a:rPr lang="zh-CN" altLang="en-US" sz="1600" dirty="0">
                <a:solidFill>
                  <a:srgbClr val="000000"/>
                </a:solidFill>
                <a:latin typeface="+mn-ea"/>
              </a:rPr>
              <a:t>无浮点运算、真除法（</a:t>
            </a:r>
            <a:r>
              <a:rPr lang="en-US" altLang="zh-CN" sz="1600" dirty="0">
                <a:solidFill>
                  <a:srgbClr val="000000"/>
                </a:solidFill>
                <a:latin typeface="+mn-ea"/>
              </a:rPr>
              <a:t>true division</a:t>
            </a:r>
            <a:r>
              <a:rPr lang="zh-CN" altLang="en-US" sz="1600" dirty="0">
                <a:solidFill>
                  <a:srgbClr val="000000"/>
                </a:solidFill>
                <a:latin typeface="+mn-ea"/>
              </a:rPr>
              <a:t>）、指数运算；其他整数运算必须至少有一个参数 </a:t>
            </a:r>
            <a:r>
              <a:rPr lang="en-US" altLang="zh-CN" sz="1600" dirty="0">
                <a:solidFill>
                  <a:srgbClr val="000000"/>
                </a:solidFill>
                <a:latin typeface="+mn-ea"/>
              </a:rPr>
              <a:t>$\</a:t>
            </a:r>
            <a:r>
              <a:rPr lang="en-US" altLang="zh-CN" sz="1600" dirty="0" err="1">
                <a:solidFill>
                  <a:srgbClr val="000000"/>
                </a:solidFill>
                <a:latin typeface="+mn-ea"/>
              </a:rPr>
              <a:t>leq</a:t>
            </a:r>
            <a:r>
              <a:rPr lang="en-US" altLang="zh-CN" sz="1600" dirty="0">
                <a:solidFill>
                  <a:srgbClr val="000000"/>
                </a:solidFill>
                <a:latin typeface="+mn-ea"/>
              </a:rPr>
              <a:t> 3$</a:t>
            </a:r>
            <a:r>
              <a:rPr lang="zh-CN" altLang="en-US" sz="1600" dirty="0">
                <a:solidFill>
                  <a:srgbClr val="000000"/>
                </a:solidFill>
                <a:latin typeface="+mn-ea"/>
              </a:rPr>
              <a:t>；字符串和列表运算必须至少有一个参数长度 </a:t>
            </a:r>
            <a:r>
              <a:rPr lang="en-US" altLang="zh-CN" sz="1600" dirty="0">
                <a:solidFill>
                  <a:srgbClr val="000000"/>
                </a:solidFill>
                <a:latin typeface="+mn-ea"/>
              </a:rPr>
              <a:t>$\</a:t>
            </a:r>
            <a:r>
              <a:rPr lang="en-US" altLang="zh-CN" sz="1600" dirty="0" err="1">
                <a:solidFill>
                  <a:srgbClr val="000000"/>
                </a:solidFill>
                <a:latin typeface="+mn-ea"/>
              </a:rPr>
              <a:t>leq</a:t>
            </a:r>
            <a:r>
              <a:rPr lang="en-US" altLang="zh-CN" sz="1600" dirty="0">
                <a:solidFill>
                  <a:srgbClr val="000000"/>
                </a:solidFill>
                <a:latin typeface="+mn-ea"/>
              </a:rPr>
              <a:t> 3$</a:t>
            </a:r>
            <a:r>
              <a:rPr lang="zh-CN" altLang="en-US" sz="1600" dirty="0">
                <a:solidFill>
                  <a:srgbClr val="000000"/>
                </a:solidFill>
                <a:latin typeface="+mn-ea"/>
              </a:rPr>
              <a:t>；在 </a:t>
            </a:r>
            <a:r>
              <a:rPr lang="en-US" altLang="zh-CN" sz="1600" dirty="0">
                <a:solidFill>
                  <a:srgbClr val="000000"/>
                </a:solidFill>
                <a:latin typeface="+mn-ea"/>
              </a:rPr>
              <a:t>2 </a:t>
            </a:r>
            <a:r>
              <a:rPr lang="zh-CN" altLang="en-US" sz="1600" dirty="0">
                <a:solidFill>
                  <a:srgbClr val="000000"/>
                </a:solidFill>
                <a:latin typeface="+mn-ea"/>
              </a:rPr>
              <a:t>秒内运行完成；无未捕获的异常</a:t>
            </a:r>
            <a:endParaRPr lang="en-US" altLang="zh-CN" sz="1600" dirty="0">
              <a:solidFill>
                <a:srgbClr val="000000"/>
              </a:solidFill>
              <a:latin typeface="+mn-ea"/>
            </a:endParaRPr>
          </a:p>
          <a:p>
            <a:pPr marL="342900" indent="-342900">
              <a:lnSpc>
                <a:spcPct val="120000"/>
              </a:lnSpc>
              <a:buAutoNum type="arabicPeriod"/>
            </a:pPr>
            <a:r>
              <a:rPr lang="zh-CN" altLang="en-US" sz="1600" dirty="0">
                <a:solidFill>
                  <a:srgbClr val="000000"/>
                </a:solidFill>
                <a:latin typeface="+mn-ea"/>
              </a:rPr>
              <a:t>初筛 </a:t>
            </a:r>
            <a:r>
              <a:rPr lang="en-US" altLang="zh-CN" sz="1600" dirty="0">
                <a:solidFill>
                  <a:srgbClr val="000000"/>
                </a:solidFill>
                <a:latin typeface="+mn-ea"/>
              </a:rPr>
              <a:t>– </a:t>
            </a:r>
            <a:r>
              <a:rPr lang="zh-CN" altLang="en-US" sz="1600" dirty="0">
                <a:solidFill>
                  <a:srgbClr val="000000"/>
                </a:solidFill>
                <a:latin typeface="+mn-ea"/>
              </a:rPr>
              <a:t>函数不能有任何导入（如 </a:t>
            </a:r>
            <a:r>
              <a:rPr lang="en-US" altLang="zh-CN" sz="1600" dirty="0">
                <a:solidFill>
                  <a:srgbClr val="000000"/>
                </a:solidFill>
                <a:latin typeface="+mn-ea"/>
              </a:rPr>
              <a:t>`</a:t>
            </a:r>
            <a:r>
              <a:rPr lang="en-US" altLang="zh-CN" sz="1600" dirty="0" err="1">
                <a:solidFill>
                  <a:srgbClr val="000000"/>
                </a:solidFill>
                <a:latin typeface="+mn-ea"/>
              </a:rPr>
              <a:t>os</a:t>
            </a:r>
            <a:r>
              <a:rPr lang="en-US" altLang="zh-CN" sz="1600" dirty="0">
                <a:solidFill>
                  <a:srgbClr val="000000"/>
                </a:solidFill>
                <a:latin typeface="+mn-ea"/>
              </a:rPr>
              <a:t>`, `random`</a:t>
            </a:r>
            <a:r>
              <a:rPr lang="zh-CN" altLang="en-US" sz="1600" dirty="0">
                <a:solidFill>
                  <a:srgbClr val="000000"/>
                </a:solidFill>
                <a:latin typeface="+mn-ea"/>
              </a:rPr>
              <a:t>），必须是确定性的（避免 </a:t>
            </a:r>
            <a:r>
              <a:rPr lang="en-US" altLang="zh-CN" sz="1600" dirty="0">
                <a:solidFill>
                  <a:srgbClr val="000000"/>
                </a:solidFill>
                <a:latin typeface="+mn-ea"/>
              </a:rPr>
              <a:t>`random`, </a:t>
            </a:r>
            <a:r>
              <a:rPr lang="zh-CN" altLang="en-US" sz="1600" dirty="0">
                <a:solidFill>
                  <a:srgbClr val="000000"/>
                </a:solidFill>
                <a:latin typeface="+mn-ea"/>
              </a:rPr>
              <a:t>集合排序），且不能有副作用（如 </a:t>
            </a:r>
            <a:r>
              <a:rPr lang="en-US" altLang="zh-CN" sz="1600" dirty="0">
                <a:solidFill>
                  <a:srgbClr val="000000"/>
                </a:solidFill>
                <a:latin typeface="+mn-ea"/>
              </a:rPr>
              <a:t>`input`, `__</a:t>
            </a:r>
            <a:r>
              <a:rPr lang="en-US" altLang="zh-CN" sz="1600" dirty="0" err="1">
                <a:solidFill>
                  <a:srgbClr val="000000"/>
                </a:solidFill>
                <a:latin typeface="+mn-ea"/>
              </a:rPr>
              <a:t>builtins</a:t>
            </a:r>
            <a:r>
              <a:rPr lang="en-US" altLang="zh-CN" sz="1600" dirty="0">
                <a:solidFill>
                  <a:srgbClr val="000000"/>
                </a:solidFill>
                <a:latin typeface="+mn-ea"/>
              </a:rPr>
              <a:t>__`</a:t>
            </a:r>
            <a:r>
              <a:rPr lang="zh-CN" altLang="en-US" sz="1600" dirty="0">
                <a:solidFill>
                  <a:srgbClr val="000000"/>
                </a:solidFill>
                <a:latin typeface="+mn-ea"/>
              </a:rPr>
              <a:t>）</a:t>
            </a:r>
            <a:endParaRPr lang="en-US" altLang="zh-CN" sz="1600" dirty="0">
              <a:solidFill>
                <a:srgbClr val="000000"/>
              </a:solidFill>
              <a:latin typeface="+mn-ea"/>
            </a:endParaRPr>
          </a:p>
          <a:p>
            <a:pPr marL="342900" indent="-342900">
              <a:lnSpc>
                <a:spcPct val="120000"/>
              </a:lnSpc>
              <a:buAutoNum type="arabicPeriod"/>
            </a:pPr>
            <a:r>
              <a:rPr lang="zh-CN" altLang="en-US" sz="1600" dirty="0">
                <a:solidFill>
                  <a:srgbClr val="000000"/>
                </a:solidFill>
                <a:latin typeface="+mn-ea"/>
              </a:rPr>
              <a:t>规模缩减 </a:t>
            </a:r>
            <a:r>
              <a:rPr lang="en-US" altLang="zh-CN" sz="1600" dirty="0">
                <a:solidFill>
                  <a:srgbClr val="000000"/>
                </a:solidFill>
                <a:latin typeface="+mn-ea"/>
              </a:rPr>
              <a:t>- </a:t>
            </a:r>
            <a:r>
              <a:rPr lang="zh-CN" altLang="en-US" sz="1600" dirty="0"/>
              <a:t>利用 </a:t>
            </a:r>
            <a:r>
              <a:rPr lang="en-US" altLang="zh-CN" sz="1600" dirty="0"/>
              <a:t>Bootstrap</a:t>
            </a:r>
            <a:r>
              <a:rPr lang="zh-CN" altLang="en-US" sz="1600" dirty="0"/>
              <a:t>（自助法）采样 验证了模型排名的稳定性，发现 </a:t>
            </a:r>
            <a:r>
              <a:rPr lang="en-US" altLang="zh-CN" sz="1600" dirty="0"/>
              <a:t>800 </a:t>
            </a:r>
            <a:r>
              <a:rPr lang="zh-CN" altLang="en-US" sz="1600" dirty="0"/>
              <a:t>个样本 是一个平衡点，既能保持评测的高效性，又足以在统计上确信强模型（如 </a:t>
            </a:r>
            <a:r>
              <a:rPr lang="en-US" altLang="zh-CN" sz="1600" dirty="0"/>
              <a:t>34B</a:t>
            </a:r>
            <a:r>
              <a:rPr lang="zh-CN" altLang="en-US" sz="1600" dirty="0"/>
              <a:t>）能稳定胜过弱模型（如 </a:t>
            </a:r>
            <a:r>
              <a:rPr lang="en-US" altLang="zh-CN" sz="1600" dirty="0"/>
              <a:t>13B</a:t>
            </a:r>
            <a:r>
              <a:rPr lang="zh-CN" altLang="en-US" sz="1600" dirty="0"/>
              <a:t>）。</a:t>
            </a:r>
            <a:endParaRPr lang="en-US" altLang="zh-CN" sz="1600" dirty="0"/>
          </a:p>
          <a:p>
            <a:pPr marL="342900" indent="-342900">
              <a:lnSpc>
                <a:spcPct val="120000"/>
              </a:lnSpc>
              <a:buAutoNum type="arabicPeriod"/>
            </a:pPr>
            <a:r>
              <a:rPr lang="zh-CN" altLang="en-US" sz="1600" dirty="0">
                <a:solidFill>
                  <a:srgbClr val="000000"/>
                </a:solidFill>
                <a:latin typeface="+mn-ea"/>
              </a:rPr>
              <a:t>规模缩减 </a:t>
            </a:r>
            <a:r>
              <a:rPr lang="en-US" altLang="zh-CN" sz="1600" dirty="0">
                <a:solidFill>
                  <a:srgbClr val="000000"/>
                </a:solidFill>
                <a:latin typeface="+mn-ea"/>
              </a:rPr>
              <a:t>- </a:t>
            </a:r>
            <a:r>
              <a:rPr lang="zh-CN" altLang="en-US" sz="1600" dirty="0"/>
              <a:t>分析指出数据采样噪声（即选哪些题目）是主要误差来源，但在 </a:t>
            </a:r>
            <a:r>
              <a:rPr lang="en-US" altLang="zh-CN" sz="1600" dirty="0"/>
              <a:t>800 </a:t>
            </a:r>
            <a:r>
              <a:rPr lang="zh-CN" altLang="en-US" sz="1600" dirty="0"/>
              <a:t>样本量下该噪声仅约 </a:t>
            </a:r>
            <a:r>
              <a:rPr lang="en-US" altLang="zh-CN" sz="1600" dirty="0"/>
              <a:t>1.5%</a:t>
            </a:r>
            <a:r>
              <a:rPr lang="zh-CN" altLang="en-US" sz="1600" dirty="0"/>
              <a:t>，足以保证不同模型之间的性能差异具有统计显著性，从而确保评测结果可靠</a:t>
            </a:r>
            <a:endParaRPr lang="en-US" altLang="zh-CN" sz="1600" dirty="0">
              <a:solidFill>
                <a:srgbClr val="000000"/>
              </a:solidFill>
              <a:latin typeface="+mn-ea"/>
            </a:endParaRPr>
          </a:p>
        </p:txBody>
      </p:sp>
      <p:pic>
        <p:nvPicPr>
          <p:cNvPr id="6" name="图片 5"/>
          <p:cNvPicPr>
            <a:picLocks noChangeAspect="1"/>
          </p:cNvPicPr>
          <p:nvPr/>
        </p:nvPicPr>
        <p:blipFill>
          <a:blip r:embed="rId1"/>
          <a:stretch>
            <a:fillRect/>
          </a:stretch>
        </p:blipFill>
        <p:spPr>
          <a:xfrm>
            <a:off x="6490970" y="4620260"/>
            <a:ext cx="5355590" cy="2131060"/>
          </a:xfrm>
          <a:prstGeom prst="rect">
            <a:avLst/>
          </a:prstGeom>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文本框 3"/>
          <p:cNvSpPr txBox="1"/>
          <p:nvPr/>
        </p:nvSpPr>
        <p:spPr>
          <a:xfrm>
            <a:off x="344805" y="302895"/>
            <a:ext cx="10500995" cy="460375"/>
          </a:xfrm>
          <a:prstGeom prst="rect">
            <a:avLst/>
          </a:prstGeom>
          <a:noFill/>
        </p:spPr>
        <p:txBody>
          <a:bodyPr wrap="square" rtlCol="0">
            <a:spAutoFit/>
          </a:bodyPr>
          <a:lstStyle/>
          <a:p>
            <a:pPr algn="l"/>
            <a:r>
              <a:rPr lang="zh-CN" altLang="en-US" sz="2400" dirty="0">
                <a:solidFill>
                  <a:schemeClr val="tx1"/>
                </a:solidFill>
              </a:rPr>
              <a:t>进展三：评估集相关工作分享</a:t>
            </a:r>
            <a:endParaRPr lang="en-US" altLang="zh-CN" sz="2400" dirty="0">
              <a:solidFill>
                <a:schemeClr val="tx1"/>
              </a:solidFill>
              <a:sym typeface="+mn-ea"/>
            </a:endParaRPr>
          </a:p>
        </p:txBody>
      </p:sp>
      <p:sp>
        <p:nvSpPr>
          <p:cNvPr id="2" name="文本框 1"/>
          <p:cNvSpPr txBox="1"/>
          <p:nvPr/>
        </p:nvSpPr>
        <p:spPr>
          <a:xfrm>
            <a:off x="344805" y="927923"/>
            <a:ext cx="11655907" cy="369332"/>
          </a:xfrm>
          <a:prstGeom prst="rect">
            <a:avLst/>
          </a:prstGeom>
          <a:noFill/>
        </p:spPr>
        <p:txBody>
          <a:bodyPr wrap="square" rtlCol="0">
            <a:spAutoFit/>
          </a:bodyPr>
          <a:lstStyle/>
          <a:p>
            <a:r>
              <a:rPr lang="en-US" altLang="zh-CN" dirty="0">
                <a:latin typeface="Times New Roman" panose="02020503050405090304" pitchFamily="18" charset="0"/>
                <a:cs typeface="Times New Roman" panose="02020503050405090304" pitchFamily="18" charset="0"/>
              </a:rPr>
              <a:t>1. </a:t>
            </a:r>
            <a:r>
              <a:rPr lang="en-US" altLang="zh-CN" i="1" dirty="0">
                <a:latin typeface="Times New Roman" panose="02020503050405090304" pitchFamily="18" charset="0"/>
                <a:cs typeface="Times New Roman" panose="02020503050405090304" pitchFamily="18" charset="0"/>
              </a:rPr>
              <a:t>CRUXEval: A Benchmark for Code Reasoning, Understanding and Execution </a:t>
            </a:r>
            <a:r>
              <a:rPr lang="en-US" altLang="zh-CN" dirty="0">
                <a:latin typeface="Times New Roman" panose="02020503050405090304" pitchFamily="18" charset="0"/>
                <a:cs typeface="Times New Roman" panose="02020503050405090304" pitchFamily="18" charset="0"/>
              </a:rPr>
              <a:t>ICLR 2024</a:t>
            </a:r>
            <a:endParaRPr lang="en-US" altLang="zh-CN" i="1" dirty="0">
              <a:latin typeface="Times New Roman" panose="02020503050405090304" pitchFamily="18" charset="0"/>
              <a:cs typeface="Times New Roman" panose="02020503050405090304" pitchFamily="18" charset="0"/>
            </a:endParaRPr>
          </a:p>
        </p:txBody>
      </p:sp>
      <p:sp>
        <p:nvSpPr>
          <p:cNvPr id="7" name="文本框 6"/>
          <p:cNvSpPr txBox="1"/>
          <p:nvPr/>
        </p:nvSpPr>
        <p:spPr>
          <a:xfrm>
            <a:off x="344805" y="1461908"/>
            <a:ext cx="11655907" cy="664221"/>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20000"/>
              </a:lnSpc>
            </a:pPr>
            <a:r>
              <a:rPr lang="en-US" altLang="zh-CN" sz="1600" dirty="0">
                <a:solidFill>
                  <a:srgbClr val="000000"/>
                </a:solidFill>
                <a:latin typeface="+mn-ea"/>
              </a:rPr>
              <a:t>【</a:t>
            </a:r>
            <a:r>
              <a:rPr lang="zh-CN" altLang="en-US" sz="1600" dirty="0">
                <a:solidFill>
                  <a:srgbClr val="000000"/>
                </a:solidFill>
                <a:latin typeface="+mn-ea"/>
              </a:rPr>
              <a:t>重点实验</a:t>
            </a:r>
            <a:r>
              <a:rPr lang="en-US" altLang="zh-CN" sz="1600" dirty="0">
                <a:solidFill>
                  <a:srgbClr val="000000"/>
                </a:solidFill>
                <a:latin typeface="+mn-ea"/>
              </a:rPr>
              <a:t>1】</a:t>
            </a:r>
            <a:r>
              <a:rPr lang="zh-CN" altLang="en-US" sz="1600" dirty="0">
                <a:solidFill>
                  <a:srgbClr val="000000"/>
                </a:solidFill>
                <a:latin typeface="+mn-ea"/>
              </a:rPr>
              <a:t>评估方案：</a:t>
            </a:r>
            <a:r>
              <a:rPr lang="en-US" altLang="zh-CN" sz="1600" dirty="0" err="1">
                <a:solidFill>
                  <a:srgbClr val="000000"/>
                </a:solidFill>
                <a:latin typeface="+mn-ea"/>
              </a:rPr>
              <a:t>StarCoder</a:t>
            </a:r>
            <a:r>
              <a:rPr lang="en-US" altLang="zh-CN" sz="1600" dirty="0">
                <a:solidFill>
                  <a:srgbClr val="000000"/>
                </a:solidFill>
                <a:latin typeface="+mn-ea"/>
              </a:rPr>
              <a:t> (Base 7B, 15.5B) </a:t>
            </a:r>
            <a:r>
              <a:rPr lang="zh-CN" altLang="en-US" sz="1600" dirty="0">
                <a:solidFill>
                  <a:srgbClr val="000000"/>
                </a:solidFill>
                <a:latin typeface="+mn-ea"/>
              </a:rPr>
              <a:t>、</a:t>
            </a:r>
            <a:r>
              <a:rPr lang="en-US" altLang="zh-CN" sz="1600" dirty="0">
                <a:solidFill>
                  <a:srgbClr val="000000"/>
                </a:solidFill>
                <a:latin typeface="+mn-ea"/>
              </a:rPr>
              <a:t>Mistral (7B</a:t>
            </a:r>
            <a:r>
              <a:rPr lang="zh-CN" altLang="en-US" sz="1600" dirty="0">
                <a:solidFill>
                  <a:srgbClr val="000000"/>
                </a:solidFill>
                <a:latin typeface="+mn-ea"/>
              </a:rPr>
              <a:t>）、</a:t>
            </a:r>
            <a:r>
              <a:rPr lang="en-US" altLang="zh-CN" sz="1600" dirty="0" err="1">
                <a:solidFill>
                  <a:srgbClr val="000000"/>
                </a:solidFill>
                <a:latin typeface="+mn-ea"/>
              </a:rPr>
              <a:t>WizardCoder</a:t>
            </a:r>
            <a:r>
              <a:rPr lang="en-US" altLang="zh-CN" sz="1600" dirty="0">
                <a:solidFill>
                  <a:srgbClr val="000000"/>
                </a:solidFill>
                <a:latin typeface="+mn-ea"/>
              </a:rPr>
              <a:t> (13B, 34B) </a:t>
            </a:r>
            <a:r>
              <a:rPr lang="zh-CN" altLang="en-US" sz="1600" dirty="0">
                <a:solidFill>
                  <a:srgbClr val="000000"/>
                </a:solidFill>
                <a:latin typeface="+mn-ea"/>
              </a:rPr>
              <a:t>、</a:t>
            </a:r>
            <a:r>
              <a:rPr lang="en-US" altLang="zh-CN" sz="1600" dirty="0">
                <a:solidFill>
                  <a:srgbClr val="000000"/>
                </a:solidFill>
                <a:latin typeface="+mn-ea"/>
              </a:rPr>
              <a:t>Phi-1 </a:t>
            </a:r>
            <a:r>
              <a:rPr lang="zh-CN" altLang="en-US" sz="1600" dirty="0">
                <a:solidFill>
                  <a:srgbClr val="000000"/>
                </a:solidFill>
                <a:latin typeface="+mn-ea"/>
              </a:rPr>
              <a:t>和 </a:t>
            </a:r>
            <a:r>
              <a:rPr lang="en-US" altLang="zh-CN" sz="1600" dirty="0">
                <a:solidFill>
                  <a:srgbClr val="000000"/>
                </a:solidFill>
                <a:latin typeface="+mn-ea"/>
              </a:rPr>
              <a:t>Phi-1.5 (1.3B)</a:t>
            </a:r>
            <a:r>
              <a:rPr lang="zh-CN" altLang="en-US" sz="1600" dirty="0">
                <a:solidFill>
                  <a:srgbClr val="000000"/>
                </a:solidFill>
                <a:latin typeface="+mn-ea"/>
              </a:rPr>
              <a:t>、</a:t>
            </a:r>
            <a:r>
              <a:rPr lang="en-US" altLang="zh-CN" sz="1600" dirty="0" err="1">
                <a:solidFill>
                  <a:srgbClr val="000000"/>
                </a:solidFill>
                <a:latin typeface="+mn-ea"/>
              </a:rPr>
              <a:t>Phind</a:t>
            </a:r>
            <a:r>
              <a:rPr lang="en-US" altLang="zh-CN" sz="1600" dirty="0">
                <a:solidFill>
                  <a:srgbClr val="000000"/>
                </a:solidFill>
                <a:latin typeface="+mn-ea"/>
              </a:rPr>
              <a:t> (34B)</a:t>
            </a:r>
            <a:r>
              <a:rPr lang="zh-CN" altLang="en-US" sz="1600" dirty="0">
                <a:solidFill>
                  <a:srgbClr val="000000"/>
                </a:solidFill>
                <a:latin typeface="+mn-ea"/>
              </a:rPr>
              <a:t>、</a:t>
            </a:r>
            <a:r>
              <a:rPr lang="en-US" altLang="zh-CN" sz="1600" dirty="0">
                <a:solidFill>
                  <a:srgbClr val="000000"/>
                </a:solidFill>
                <a:latin typeface="+mn-ea"/>
              </a:rPr>
              <a:t>Code Llama</a:t>
            </a:r>
            <a:r>
              <a:rPr lang="zh-CN" altLang="en-US" sz="1600" dirty="0">
                <a:solidFill>
                  <a:srgbClr val="000000"/>
                </a:solidFill>
                <a:latin typeface="+mn-ea"/>
              </a:rPr>
              <a:t>（</a:t>
            </a:r>
            <a:r>
              <a:rPr lang="en-US" altLang="zh-CN" sz="1600" dirty="0">
                <a:solidFill>
                  <a:srgbClr val="000000"/>
                </a:solidFill>
                <a:latin typeface="+mn-ea"/>
              </a:rPr>
              <a:t>7B, 13B, 34B)</a:t>
            </a:r>
            <a:r>
              <a:rPr lang="zh-CN" altLang="en-US" sz="1600" dirty="0">
                <a:solidFill>
                  <a:srgbClr val="000000"/>
                </a:solidFill>
                <a:latin typeface="+mn-ea"/>
              </a:rPr>
              <a:t>、</a:t>
            </a:r>
            <a:r>
              <a:rPr lang="en-US" altLang="zh-CN" sz="1600" dirty="0" err="1">
                <a:solidFill>
                  <a:srgbClr val="000000"/>
                </a:solidFill>
                <a:latin typeface="+mn-ea"/>
              </a:rPr>
              <a:t>DeepSeek</a:t>
            </a:r>
            <a:r>
              <a:rPr lang="en-US" altLang="zh-CN" sz="1600" dirty="0">
                <a:solidFill>
                  <a:srgbClr val="000000"/>
                </a:solidFill>
                <a:latin typeface="+mn-ea"/>
              </a:rPr>
              <a:t> Coder (6.7B, 33B)</a:t>
            </a:r>
            <a:r>
              <a:rPr lang="zh-CN" altLang="en-US" sz="1600" dirty="0">
                <a:solidFill>
                  <a:srgbClr val="000000"/>
                </a:solidFill>
                <a:latin typeface="+mn-ea"/>
              </a:rPr>
              <a:t>、</a:t>
            </a:r>
            <a:r>
              <a:rPr lang="en-US" altLang="zh-CN" sz="1600" dirty="0">
                <a:solidFill>
                  <a:srgbClr val="000000"/>
                </a:solidFill>
                <a:latin typeface="+mn-ea"/>
              </a:rPr>
              <a:t>GPT-3.5 </a:t>
            </a:r>
            <a:r>
              <a:rPr lang="zh-CN" altLang="en-US" sz="1600" dirty="0">
                <a:solidFill>
                  <a:srgbClr val="000000"/>
                </a:solidFill>
                <a:latin typeface="+mn-ea"/>
              </a:rPr>
              <a:t>以及 </a:t>
            </a:r>
            <a:r>
              <a:rPr lang="en-US" altLang="zh-CN" sz="1600" dirty="0">
                <a:solidFill>
                  <a:srgbClr val="000000"/>
                </a:solidFill>
                <a:latin typeface="+mn-ea"/>
              </a:rPr>
              <a:t>GPT-4 </a:t>
            </a:r>
            <a:endParaRPr lang="en-US" altLang="zh-CN" sz="1600" dirty="0">
              <a:solidFill>
                <a:srgbClr val="000000"/>
              </a:solidFill>
              <a:latin typeface="+mn-ea"/>
            </a:endParaRPr>
          </a:p>
        </p:txBody>
      </p:sp>
      <p:pic>
        <p:nvPicPr>
          <p:cNvPr id="5" name="图片 4"/>
          <p:cNvPicPr>
            <a:picLocks noChangeAspect="1"/>
          </p:cNvPicPr>
          <p:nvPr/>
        </p:nvPicPr>
        <p:blipFill>
          <a:blip r:embed="rId1"/>
          <a:stretch>
            <a:fillRect/>
          </a:stretch>
        </p:blipFill>
        <p:spPr>
          <a:xfrm>
            <a:off x="1056640" y="2290782"/>
            <a:ext cx="9570720" cy="4431660"/>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文本框 3"/>
          <p:cNvSpPr txBox="1"/>
          <p:nvPr/>
        </p:nvSpPr>
        <p:spPr>
          <a:xfrm>
            <a:off x="344805" y="302895"/>
            <a:ext cx="10500995" cy="460375"/>
          </a:xfrm>
          <a:prstGeom prst="rect">
            <a:avLst/>
          </a:prstGeom>
          <a:noFill/>
        </p:spPr>
        <p:txBody>
          <a:bodyPr wrap="square" rtlCol="0">
            <a:spAutoFit/>
          </a:bodyPr>
          <a:lstStyle/>
          <a:p>
            <a:pPr algn="l"/>
            <a:r>
              <a:rPr lang="zh-CN" altLang="en-US" sz="2400" dirty="0">
                <a:solidFill>
                  <a:schemeClr val="tx1"/>
                </a:solidFill>
              </a:rPr>
              <a:t>进展三：评估集相关工作分享</a:t>
            </a:r>
            <a:endParaRPr lang="en-US" altLang="zh-CN" sz="2400" dirty="0">
              <a:solidFill>
                <a:schemeClr val="tx1"/>
              </a:solidFill>
              <a:sym typeface="+mn-ea"/>
            </a:endParaRPr>
          </a:p>
        </p:txBody>
      </p:sp>
      <p:sp>
        <p:nvSpPr>
          <p:cNvPr id="2" name="文本框 1"/>
          <p:cNvSpPr txBox="1"/>
          <p:nvPr/>
        </p:nvSpPr>
        <p:spPr>
          <a:xfrm>
            <a:off x="344805" y="927923"/>
            <a:ext cx="11655907" cy="369332"/>
          </a:xfrm>
          <a:prstGeom prst="rect">
            <a:avLst/>
          </a:prstGeom>
          <a:noFill/>
        </p:spPr>
        <p:txBody>
          <a:bodyPr wrap="square" rtlCol="0">
            <a:spAutoFit/>
          </a:bodyPr>
          <a:lstStyle/>
          <a:p>
            <a:r>
              <a:rPr lang="en-US" altLang="zh-CN" dirty="0">
                <a:latin typeface="Times New Roman" panose="02020503050405090304" pitchFamily="18" charset="0"/>
                <a:cs typeface="Times New Roman" panose="02020503050405090304" pitchFamily="18" charset="0"/>
              </a:rPr>
              <a:t>1. </a:t>
            </a:r>
            <a:r>
              <a:rPr lang="en-US" altLang="zh-CN" i="1" dirty="0">
                <a:latin typeface="Times New Roman" panose="02020503050405090304" pitchFamily="18" charset="0"/>
                <a:cs typeface="Times New Roman" panose="02020503050405090304" pitchFamily="18" charset="0"/>
              </a:rPr>
              <a:t>CRUXEval: A Benchmark for Code Reasoning, Understanding and Execution </a:t>
            </a:r>
            <a:r>
              <a:rPr lang="en-US" altLang="zh-CN" dirty="0">
                <a:latin typeface="Times New Roman" panose="02020503050405090304" pitchFamily="18" charset="0"/>
                <a:cs typeface="Times New Roman" panose="02020503050405090304" pitchFamily="18" charset="0"/>
              </a:rPr>
              <a:t>ICLR 2024</a:t>
            </a:r>
            <a:endParaRPr lang="en-US" altLang="zh-CN" i="1" dirty="0">
              <a:latin typeface="Times New Roman" panose="02020503050405090304" pitchFamily="18" charset="0"/>
              <a:cs typeface="Times New Roman" panose="02020503050405090304" pitchFamily="18" charset="0"/>
            </a:endParaRPr>
          </a:p>
        </p:txBody>
      </p:sp>
      <p:sp>
        <p:nvSpPr>
          <p:cNvPr id="7" name="文本框 6"/>
          <p:cNvSpPr txBox="1"/>
          <p:nvPr/>
        </p:nvSpPr>
        <p:spPr>
          <a:xfrm>
            <a:off x="344805" y="1461908"/>
            <a:ext cx="11655907" cy="1846083"/>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20000"/>
              </a:lnSpc>
            </a:pPr>
            <a:r>
              <a:rPr lang="en-US" altLang="zh-CN" sz="1600" dirty="0">
                <a:solidFill>
                  <a:srgbClr val="000000"/>
                </a:solidFill>
                <a:latin typeface="+mn-ea"/>
              </a:rPr>
              <a:t>【</a:t>
            </a:r>
            <a:r>
              <a:rPr lang="zh-CN" altLang="en-US" sz="1600" dirty="0">
                <a:solidFill>
                  <a:srgbClr val="000000"/>
                </a:solidFill>
                <a:latin typeface="+mn-ea"/>
              </a:rPr>
              <a:t>重点实验</a:t>
            </a:r>
            <a:r>
              <a:rPr lang="en-US" altLang="zh-CN" sz="1600" dirty="0">
                <a:solidFill>
                  <a:srgbClr val="000000"/>
                </a:solidFill>
                <a:latin typeface="+mn-ea"/>
              </a:rPr>
              <a:t>2】</a:t>
            </a:r>
            <a:r>
              <a:rPr lang="zh-CN" altLang="en-US" sz="1600" dirty="0">
                <a:solidFill>
                  <a:srgbClr val="000000"/>
                </a:solidFill>
                <a:latin typeface="+mn-ea"/>
              </a:rPr>
              <a:t>数据集分析：</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列举了很多通过蒸馏方法训练得到的更强大的代码模型：</a:t>
            </a:r>
            <a:r>
              <a:rPr lang="en-US" altLang="zh-CN" sz="1600" dirty="0" err="1">
                <a:solidFill>
                  <a:srgbClr val="000000"/>
                </a:solidFill>
                <a:latin typeface="+mn-ea"/>
              </a:rPr>
              <a:t>WizardCoder</a:t>
            </a:r>
            <a:r>
              <a:rPr lang="zh-CN" altLang="en-US" sz="1600" dirty="0">
                <a:solidFill>
                  <a:srgbClr val="000000"/>
                </a:solidFill>
                <a:latin typeface="+mn-ea"/>
              </a:rPr>
              <a:t>、</a:t>
            </a:r>
            <a:r>
              <a:rPr lang="en-US" altLang="zh-CN" sz="1600" dirty="0">
                <a:solidFill>
                  <a:srgbClr val="000000"/>
                </a:solidFill>
                <a:latin typeface="+mn-ea"/>
              </a:rPr>
              <a:t>Phi-1</a:t>
            </a:r>
            <a:r>
              <a:rPr lang="zh-CN" altLang="en-US" sz="1600" dirty="0">
                <a:solidFill>
                  <a:srgbClr val="000000"/>
                </a:solidFill>
                <a:latin typeface="+mn-ea"/>
              </a:rPr>
              <a:t>、</a:t>
            </a:r>
            <a:r>
              <a:rPr lang="en-US" altLang="zh-CN" sz="1600" dirty="0">
                <a:solidFill>
                  <a:srgbClr val="000000"/>
                </a:solidFill>
                <a:latin typeface="+mn-ea"/>
              </a:rPr>
              <a:t>Phi-1.5</a:t>
            </a:r>
            <a:r>
              <a:rPr lang="zh-CN" altLang="en-US" sz="1600" dirty="0">
                <a:solidFill>
                  <a:srgbClr val="000000"/>
                </a:solidFill>
                <a:latin typeface="+mn-ea"/>
              </a:rPr>
              <a:t>、</a:t>
            </a:r>
            <a:r>
              <a:rPr lang="en-US" altLang="zh-CN" sz="1600" dirty="0" err="1">
                <a:solidFill>
                  <a:srgbClr val="000000"/>
                </a:solidFill>
                <a:latin typeface="+mn-ea"/>
              </a:rPr>
              <a:t>Phind</a:t>
            </a:r>
            <a:r>
              <a:rPr lang="zh-CN" altLang="en-US" sz="1600" dirty="0">
                <a:solidFill>
                  <a:srgbClr val="000000"/>
                </a:solidFill>
                <a:latin typeface="+mn-ea"/>
              </a:rPr>
              <a:t>等等</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他们在发表的时候提到了在</a:t>
            </a:r>
            <a:r>
              <a:rPr lang="en-US" altLang="zh-CN" sz="1600" dirty="0" err="1">
                <a:solidFill>
                  <a:srgbClr val="000000"/>
                </a:solidFill>
                <a:latin typeface="+mn-ea"/>
              </a:rPr>
              <a:t>HumanEval</a:t>
            </a:r>
            <a:r>
              <a:rPr lang="zh-CN" altLang="en-US" sz="1600" dirty="0">
                <a:solidFill>
                  <a:srgbClr val="000000"/>
                </a:solidFill>
                <a:latin typeface="+mn-ea"/>
              </a:rPr>
              <a:t>上有巨量提升</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同时将各个工作在</a:t>
            </a:r>
            <a:r>
              <a:rPr lang="en-US" altLang="zh-CN" sz="1600" dirty="0" err="1">
                <a:solidFill>
                  <a:srgbClr val="000000"/>
                </a:solidFill>
                <a:latin typeface="+mn-ea"/>
              </a:rPr>
              <a:t>HumanEval</a:t>
            </a:r>
            <a:r>
              <a:rPr lang="zh-CN" altLang="en-US" sz="1600" dirty="0">
                <a:solidFill>
                  <a:srgbClr val="000000"/>
                </a:solidFill>
                <a:latin typeface="+mn-ea"/>
              </a:rPr>
              <a:t>和</a:t>
            </a:r>
            <a:r>
              <a:rPr lang="en-US" altLang="zh-CN" sz="1600" dirty="0">
                <a:solidFill>
                  <a:srgbClr val="000000"/>
                </a:solidFill>
                <a:latin typeface="+mn-ea"/>
              </a:rPr>
              <a:t>CRUXEval</a:t>
            </a:r>
            <a:r>
              <a:rPr lang="zh-CN" altLang="en-US" sz="1600" dirty="0">
                <a:solidFill>
                  <a:srgbClr val="000000"/>
                </a:solidFill>
                <a:latin typeface="+mn-ea"/>
              </a:rPr>
              <a:t>的提升量进行比对，来论证是否目前的代码推理能力忽视了一部分代码推理能力的提升，也论证提升的正相关性来证明代码生成执行和代码理解能力相关</a:t>
            </a:r>
            <a:endParaRPr lang="en-US" altLang="zh-CN" sz="1600" dirty="0">
              <a:solidFill>
                <a:srgbClr val="000000"/>
              </a:solidFill>
              <a:latin typeface="+mn-ea"/>
            </a:endParaRPr>
          </a:p>
          <a:p>
            <a:pPr>
              <a:lnSpc>
                <a:spcPct val="120000"/>
              </a:lnSpc>
            </a:pPr>
            <a:endParaRPr lang="en-US" altLang="zh-CN" sz="1600" dirty="0">
              <a:solidFill>
                <a:srgbClr val="000000"/>
              </a:solidFill>
              <a:latin typeface="+mn-ea"/>
            </a:endParaRPr>
          </a:p>
        </p:txBody>
      </p:sp>
      <p:pic>
        <p:nvPicPr>
          <p:cNvPr id="8" name="图片 7"/>
          <p:cNvPicPr>
            <a:picLocks noChangeAspect="1"/>
          </p:cNvPicPr>
          <p:nvPr/>
        </p:nvPicPr>
        <p:blipFill>
          <a:blip r:embed="rId1"/>
          <a:stretch>
            <a:fillRect/>
          </a:stretch>
        </p:blipFill>
        <p:spPr>
          <a:xfrm>
            <a:off x="2538604" y="3307991"/>
            <a:ext cx="7268308" cy="3103785"/>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文本框 3"/>
          <p:cNvSpPr txBox="1"/>
          <p:nvPr/>
        </p:nvSpPr>
        <p:spPr>
          <a:xfrm>
            <a:off x="344805" y="302895"/>
            <a:ext cx="10500995" cy="460375"/>
          </a:xfrm>
          <a:prstGeom prst="rect">
            <a:avLst/>
          </a:prstGeom>
          <a:noFill/>
        </p:spPr>
        <p:txBody>
          <a:bodyPr wrap="square" rtlCol="0">
            <a:spAutoFit/>
          </a:bodyPr>
          <a:lstStyle/>
          <a:p>
            <a:pPr algn="l"/>
            <a:r>
              <a:rPr lang="zh-CN" altLang="en-US" sz="2400" dirty="0">
                <a:solidFill>
                  <a:schemeClr val="tx1"/>
                </a:solidFill>
              </a:rPr>
              <a:t>进展三：评估集相关工作分享</a:t>
            </a:r>
            <a:endParaRPr lang="en-US" altLang="zh-CN" sz="2400" dirty="0">
              <a:solidFill>
                <a:schemeClr val="tx1"/>
              </a:solidFill>
              <a:sym typeface="+mn-ea"/>
            </a:endParaRPr>
          </a:p>
        </p:txBody>
      </p:sp>
      <p:sp>
        <p:nvSpPr>
          <p:cNvPr id="2" name="文本框 1"/>
          <p:cNvSpPr txBox="1"/>
          <p:nvPr/>
        </p:nvSpPr>
        <p:spPr>
          <a:xfrm>
            <a:off x="344805" y="927923"/>
            <a:ext cx="11655907" cy="369332"/>
          </a:xfrm>
          <a:prstGeom prst="rect">
            <a:avLst/>
          </a:prstGeom>
          <a:noFill/>
        </p:spPr>
        <p:txBody>
          <a:bodyPr wrap="square" rtlCol="0">
            <a:spAutoFit/>
          </a:bodyPr>
          <a:lstStyle/>
          <a:p>
            <a:r>
              <a:rPr lang="en-US" altLang="zh-CN" dirty="0">
                <a:latin typeface="Times New Roman" panose="02020503050405090304" pitchFamily="18" charset="0"/>
                <a:cs typeface="Times New Roman" panose="02020503050405090304" pitchFamily="18" charset="0"/>
              </a:rPr>
              <a:t>2. </a:t>
            </a:r>
            <a:r>
              <a:rPr lang="en-US" altLang="zh-CN" i="1" dirty="0">
                <a:latin typeface="Times New Roman" panose="02020503050405090304" pitchFamily="18" charset="0"/>
                <a:cs typeface="Times New Roman" panose="02020503050405090304" pitchFamily="18" charset="0"/>
              </a:rPr>
              <a:t>LiveCodeBench: Holistic and Contamination Free Evaluation of Large Language Models for Code </a:t>
            </a:r>
            <a:r>
              <a:rPr lang="en-US" altLang="zh-CN" dirty="0">
                <a:latin typeface="Times New Roman" panose="02020503050405090304" pitchFamily="18" charset="0"/>
                <a:cs typeface="Times New Roman" panose="02020503050405090304" pitchFamily="18" charset="0"/>
              </a:rPr>
              <a:t>ICLR 2025</a:t>
            </a:r>
            <a:endParaRPr lang="en-US" altLang="zh-CN" dirty="0">
              <a:latin typeface="Times New Roman" panose="02020503050405090304" pitchFamily="18" charset="0"/>
              <a:cs typeface="Times New Roman" panose="02020503050405090304" pitchFamily="18" charset="0"/>
            </a:endParaRPr>
          </a:p>
        </p:txBody>
      </p:sp>
      <p:sp>
        <p:nvSpPr>
          <p:cNvPr id="7" name="文本框 6"/>
          <p:cNvSpPr txBox="1"/>
          <p:nvPr/>
        </p:nvSpPr>
        <p:spPr>
          <a:xfrm>
            <a:off x="344805" y="1461908"/>
            <a:ext cx="11655907" cy="959686"/>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20000"/>
              </a:lnSpc>
            </a:pPr>
            <a:r>
              <a:rPr lang="zh-CN" altLang="en-US" sz="1600" dirty="0">
                <a:solidFill>
                  <a:srgbClr val="000000"/>
                </a:solidFill>
                <a:latin typeface="+mn-ea"/>
              </a:rPr>
              <a:t>一句话总结：</a:t>
            </a:r>
            <a:endParaRPr lang="en-US" altLang="zh-CN" sz="1600" dirty="0">
              <a:solidFill>
                <a:srgbClr val="000000"/>
              </a:solidFill>
              <a:latin typeface="+mn-ea"/>
            </a:endParaRPr>
          </a:p>
          <a:p>
            <a:pPr>
              <a:lnSpc>
                <a:spcPct val="120000"/>
              </a:lnSpc>
            </a:pPr>
            <a:r>
              <a:rPr lang="zh-CN" altLang="en-US" sz="1600" dirty="0"/>
              <a:t>旨在解决数据污染问题的动态更新基准测试集，它通过收集最新的编程竞赛题目（</a:t>
            </a:r>
            <a:r>
              <a:rPr lang="en-US" altLang="zh-CN" sz="1600" dirty="0" err="1"/>
              <a:t>LeetCode</a:t>
            </a:r>
            <a:r>
              <a:rPr lang="zh-CN" altLang="en-US" sz="1600" dirty="0"/>
              <a:t>、</a:t>
            </a:r>
            <a:r>
              <a:rPr lang="en-US" altLang="zh-CN" sz="1600" dirty="0" err="1"/>
              <a:t>AtCoder</a:t>
            </a:r>
            <a:r>
              <a:rPr lang="zh-CN" altLang="en-US" sz="1600" dirty="0"/>
              <a:t>、</a:t>
            </a:r>
            <a:r>
              <a:rPr lang="en-US" altLang="zh-CN" sz="1600" dirty="0" err="1"/>
              <a:t>CodeForces</a:t>
            </a:r>
            <a:r>
              <a:rPr lang="zh-CN" altLang="en-US" sz="1600" dirty="0"/>
              <a:t>），从代码生成、自我修复、代码执行和测试输出预测四个维度，对大语言模型的编程能力进行全面且无污染的评估。</a:t>
            </a:r>
            <a:endParaRPr lang="en-US" altLang="zh-CN" sz="1600" dirty="0">
              <a:solidFill>
                <a:srgbClr val="000000"/>
              </a:solidFill>
              <a:latin typeface="+mn-ea"/>
            </a:endParaRPr>
          </a:p>
        </p:txBody>
      </p:sp>
      <p:sp>
        <p:nvSpPr>
          <p:cNvPr id="3" name="文本框 2"/>
          <p:cNvSpPr txBox="1"/>
          <p:nvPr/>
        </p:nvSpPr>
        <p:spPr>
          <a:xfrm>
            <a:off x="344805" y="2586247"/>
            <a:ext cx="11655907" cy="1255152"/>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20000"/>
              </a:lnSpc>
            </a:pPr>
            <a:r>
              <a:rPr lang="zh-CN" altLang="en-US" sz="1600" dirty="0">
                <a:solidFill>
                  <a:srgbClr val="000000"/>
                </a:solidFill>
                <a:latin typeface="+mn-ea"/>
              </a:rPr>
              <a:t>构建重点：</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实时更新以防污染（</a:t>
            </a:r>
            <a:r>
              <a:rPr lang="en-US" altLang="zh-CN" sz="1600" dirty="0">
                <a:solidFill>
                  <a:srgbClr val="000000"/>
                </a:solidFill>
                <a:latin typeface="+mn-ea"/>
              </a:rPr>
              <a:t>cutoff date</a:t>
            </a:r>
            <a:r>
              <a:rPr lang="zh-CN" altLang="en-US" sz="1600" dirty="0">
                <a:solidFill>
                  <a:srgbClr val="000000"/>
                </a:solidFill>
                <a:latin typeface="+mn-ea"/>
              </a:rPr>
              <a:t>）；代码生成场景</a:t>
            </a:r>
            <a:r>
              <a:rPr lang="en-US" altLang="zh-CN" sz="1600" dirty="0">
                <a:solidFill>
                  <a:srgbClr val="000000"/>
                </a:solidFill>
                <a:latin typeface="+mn-ea"/>
              </a:rPr>
              <a:t>+</a:t>
            </a:r>
            <a:r>
              <a:rPr lang="zh-CN" altLang="en-US" sz="1600" dirty="0">
                <a:solidFill>
                  <a:srgbClr val="000000"/>
                </a:solidFill>
                <a:latin typeface="+mn-ea"/>
              </a:rPr>
              <a:t>自我修复场景</a:t>
            </a:r>
            <a:r>
              <a:rPr lang="en-US" altLang="zh-CN" sz="1600" dirty="0">
                <a:solidFill>
                  <a:srgbClr val="000000"/>
                </a:solidFill>
                <a:latin typeface="+mn-ea"/>
              </a:rPr>
              <a:t>+</a:t>
            </a:r>
            <a:r>
              <a:rPr lang="zh-CN" altLang="en-US" sz="1600" dirty="0">
                <a:solidFill>
                  <a:srgbClr val="000000"/>
                </a:solidFill>
                <a:latin typeface="+mn-ea"/>
              </a:rPr>
              <a:t>代码执行场景</a:t>
            </a:r>
            <a:r>
              <a:rPr lang="en-US" altLang="zh-CN" sz="1600" dirty="0">
                <a:solidFill>
                  <a:srgbClr val="000000"/>
                </a:solidFill>
                <a:latin typeface="+mn-ea"/>
              </a:rPr>
              <a:t>+</a:t>
            </a:r>
            <a:r>
              <a:rPr lang="zh-CN" altLang="en-US" sz="1600" dirty="0">
                <a:solidFill>
                  <a:srgbClr val="000000"/>
                </a:solidFill>
                <a:latin typeface="+mn-ea"/>
              </a:rPr>
              <a:t>输出预测场景；竞赛平台获取</a:t>
            </a:r>
            <a:r>
              <a:rPr lang="en-US" altLang="zh-CN" sz="1600" dirty="0">
                <a:solidFill>
                  <a:srgbClr val="000000"/>
                </a:solidFill>
                <a:latin typeface="+mn-ea"/>
              </a:rPr>
              <a:t>612</a:t>
            </a:r>
            <a:r>
              <a:rPr lang="zh-CN" altLang="en-US" sz="1600" dirty="0">
                <a:solidFill>
                  <a:srgbClr val="000000"/>
                </a:solidFill>
                <a:latin typeface="+mn-ea"/>
              </a:rPr>
              <a:t>题目，利用他们构建不同场景，并每个题目提供大量测例。（同期有一个很相似的工作 </a:t>
            </a:r>
            <a:r>
              <a:rPr lang="en-US" altLang="zh-CN" sz="1600" dirty="0">
                <a:solidFill>
                  <a:srgbClr val="000000"/>
                </a:solidFill>
                <a:latin typeface="+mn-ea"/>
              </a:rPr>
              <a:t>Competition-Level Problems are Effective LLM Evaluators ACL 2024</a:t>
            </a:r>
            <a:r>
              <a:rPr lang="zh-CN" altLang="en-US" sz="1600" dirty="0">
                <a:solidFill>
                  <a:srgbClr val="000000"/>
                </a:solidFill>
                <a:latin typeface="+mn-ea"/>
              </a:rPr>
              <a:t>。做了实时更新和竞赛题目获取。</a:t>
            </a:r>
            <a:r>
              <a:rPr lang="en-US" altLang="zh-CN" sz="1600" dirty="0" err="1">
                <a:solidFill>
                  <a:srgbClr val="000000"/>
                </a:solidFill>
                <a:latin typeface="+mn-ea"/>
              </a:rPr>
              <a:t>Lcb</a:t>
            </a:r>
            <a:r>
              <a:rPr lang="zh-CN" altLang="en-US" sz="1600" dirty="0">
                <a:solidFill>
                  <a:srgbClr val="000000"/>
                </a:solidFill>
                <a:latin typeface="+mn-ea"/>
              </a:rPr>
              <a:t>声称他们的创新点还在多场景评估和跨平台来源）</a:t>
            </a:r>
            <a:endParaRPr lang="en-US" altLang="zh-CN" sz="1600" dirty="0">
              <a:solidFill>
                <a:srgbClr val="000000"/>
              </a:solidFill>
              <a:latin typeface="+mn-ea"/>
            </a:endParaRPr>
          </a:p>
        </p:txBody>
      </p:sp>
      <p:pic>
        <p:nvPicPr>
          <p:cNvPr id="6" name="图片 5"/>
          <p:cNvPicPr>
            <a:picLocks noChangeAspect="1"/>
          </p:cNvPicPr>
          <p:nvPr/>
        </p:nvPicPr>
        <p:blipFill>
          <a:blip r:embed="rId1"/>
          <a:stretch>
            <a:fillRect/>
          </a:stretch>
        </p:blipFill>
        <p:spPr>
          <a:xfrm>
            <a:off x="790282" y="4153562"/>
            <a:ext cx="2941960" cy="2101399"/>
          </a:xfrm>
          <a:prstGeom prst="rect">
            <a:avLst/>
          </a:prstGeom>
        </p:spPr>
      </p:pic>
      <p:pic>
        <p:nvPicPr>
          <p:cNvPr id="10" name="图片 9"/>
          <p:cNvPicPr>
            <a:picLocks noChangeAspect="1"/>
          </p:cNvPicPr>
          <p:nvPr/>
        </p:nvPicPr>
        <p:blipFill>
          <a:blip r:embed="rId2"/>
          <a:stretch>
            <a:fillRect/>
          </a:stretch>
        </p:blipFill>
        <p:spPr>
          <a:xfrm>
            <a:off x="4169866" y="4153562"/>
            <a:ext cx="2850871" cy="905571"/>
          </a:xfrm>
          <a:prstGeom prst="rect">
            <a:avLst/>
          </a:prstGeom>
        </p:spPr>
      </p:pic>
      <p:pic>
        <p:nvPicPr>
          <p:cNvPr id="12" name="图片 11"/>
          <p:cNvPicPr>
            <a:picLocks noChangeAspect="1"/>
          </p:cNvPicPr>
          <p:nvPr/>
        </p:nvPicPr>
        <p:blipFill>
          <a:blip r:embed="rId3"/>
          <a:stretch>
            <a:fillRect/>
          </a:stretch>
        </p:blipFill>
        <p:spPr>
          <a:xfrm>
            <a:off x="7621585" y="4153561"/>
            <a:ext cx="3323144" cy="2101399"/>
          </a:xfrm>
          <a:prstGeom prst="rect">
            <a:avLst/>
          </a:prstGeom>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文本框 3"/>
          <p:cNvSpPr txBox="1"/>
          <p:nvPr/>
        </p:nvSpPr>
        <p:spPr>
          <a:xfrm>
            <a:off x="344805" y="302895"/>
            <a:ext cx="10500995" cy="460375"/>
          </a:xfrm>
          <a:prstGeom prst="rect">
            <a:avLst/>
          </a:prstGeom>
          <a:noFill/>
        </p:spPr>
        <p:txBody>
          <a:bodyPr wrap="square" rtlCol="0">
            <a:spAutoFit/>
          </a:bodyPr>
          <a:lstStyle/>
          <a:p>
            <a:pPr algn="l"/>
            <a:r>
              <a:rPr lang="zh-CN" altLang="en-US" sz="2400" dirty="0">
                <a:solidFill>
                  <a:schemeClr val="tx1"/>
                </a:solidFill>
              </a:rPr>
              <a:t>进展三：评估集相关工作分享</a:t>
            </a:r>
            <a:endParaRPr lang="en-US" altLang="zh-CN" sz="2400" dirty="0">
              <a:solidFill>
                <a:schemeClr val="tx1"/>
              </a:solidFill>
              <a:sym typeface="+mn-ea"/>
            </a:endParaRPr>
          </a:p>
        </p:txBody>
      </p:sp>
      <p:sp>
        <p:nvSpPr>
          <p:cNvPr id="2" name="文本框 1"/>
          <p:cNvSpPr txBox="1"/>
          <p:nvPr/>
        </p:nvSpPr>
        <p:spPr>
          <a:xfrm>
            <a:off x="344805" y="927923"/>
            <a:ext cx="11655907" cy="369332"/>
          </a:xfrm>
          <a:prstGeom prst="rect">
            <a:avLst/>
          </a:prstGeom>
          <a:noFill/>
        </p:spPr>
        <p:txBody>
          <a:bodyPr wrap="square" rtlCol="0">
            <a:spAutoFit/>
          </a:bodyPr>
          <a:lstStyle/>
          <a:p>
            <a:r>
              <a:rPr lang="en-US" altLang="zh-CN" dirty="0">
                <a:latin typeface="Times New Roman" panose="02020503050405090304" pitchFamily="18" charset="0"/>
                <a:cs typeface="Times New Roman" panose="02020503050405090304" pitchFamily="18" charset="0"/>
              </a:rPr>
              <a:t>2. </a:t>
            </a:r>
            <a:r>
              <a:rPr lang="en-US" altLang="zh-CN" i="1" dirty="0">
                <a:latin typeface="Times New Roman" panose="02020503050405090304" pitchFamily="18" charset="0"/>
                <a:cs typeface="Times New Roman" panose="02020503050405090304" pitchFamily="18" charset="0"/>
              </a:rPr>
              <a:t>LiveCodeBench: Holistic and Contamination Free Evaluation of Large Language Models for Code </a:t>
            </a:r>
            <a:r>
              <a:rPr lang="en-US" altLang="zh-CN" dirty="0">
                <a:latin typeface="Times New Roman" panose="02020503050405090304" pitchFamily="18" charset="0"/>
                <a:cs typeface="Times New Roman" panose="02020503050405090304" pitchFamily="18" charset="0"/>
              </a:rPr>
              <a:t>ICLR 2025</a:t>
            </a:r>
            <a:endParaRPr lang="en-US" altLang="zh-CN" dirty="0">
              <a:latin typeface="Times New Roman" panose="02020503050405090304" pitchFamily="18" charset="0"/>
              <a:cs typeface="Times New Roman" panose="02020503050405090304" pitchFamily="18" charset="0"/>
            </a:endParaRPr>
          </a:p>
        </p:txBody>
      </p:sp>
      <p:sp>
        <p:nvSpPr>
          <p:cNvPr id="7" name="文本框 6"/>
          <p:cNvSpPr txBox="1"/>
          <p:nvPr/>
        </p:nvSpPr>
        <p:spPr>
          <a:xfrm>
            <a:off x="344805" y="1461908"/>
            <a:ext cx="11655907" cy="959686"/>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20000"/>
              </a:lnSpc>
            </a:pPr>
            <a:r>
              <a:rPr lang="zh-CN" altLang="en-US" sz="1600" dirty="0">
                <a:solidFill>
                  <a:srgbClr val="000000"/>
                </a:solidFill>
                <a:latin typeface="+mn-ea"/>
              </a:rPr>
              <a:t>一句话总结：</a:t>
            </a:r>
            <a:endParaRPr lang="en-US" altLang="zh-CN" sz="1600" dirty="0">
              <a:solidFill>
                <a:srgbClr val="000000"/>
              </a:solidFill>
              <a:latin typeface="+mn-ea"/>
            </a:endParaRPr>
          </a:p>
          <a:p>
            <a:pPr>
              <a:lnSpc>
                <a:spcPct val="120000"/>
              </a:lnSpc>
            </a:pPr>
            <a:r>
              <a:rPr lang="zh-CN" altLang="en-US" sz="1600" dirty="0"/>
              <a:t>旨在解决数据污染问题的动态更新基准测试集，它通过收集最新的编程竞赛题目（</a:t>
            </a:r>
            <a:r>
              <a:rPr lang="en-US" altLang="zh-CN" sz="1600" dirty="0" err="1"/>
              <a:t>LeetCode</a:t>
            </a:r>
            <a:r>
              <a:rPr lang="zh-CN" altLang="en-US" sz="1600" dirty="0"/>
              <a:t>、</a:t>
            </a:r>
            <a:r>
              <a:rPr lang="en-US" altLang="zh-CN" sz="1600" dirty="0" err="1"/>
              <a:t>AtCoder</a:t>
            </a:r>
            <a:r>
              <a:rPr lang="zh-CN" altLang="en-US" sz="1600" dirty="0"/>
              <a:t>、</a:t>
            </a:r>
            <a:r>
              <a:rPr lang="en-US" altLang="zh-CN" sz="1600" dirty="0" err="1"/>
              <a:t>CodeForces</a:t>
            </a:r>
            <a:r>
              <a:rPr lang="zh-CN" altLang="en-US" sz="1600" dirty="0"/>
              <a:t>），从代码生成、自我修复、代码执行和测试输出预测四个维度，对大语言模型的编程能力进行全面且无污染的评估。</a:t>
            </a:r>
            <a:endParaRPr lang="en-US" altLang="zh-CN" sz="1600" dirty="0">
              <a:solidFill>
                <a:srgbClr val="000000"/>
              </a:solidFill>
              <a:latin typeface="+mn-ea"/>
            </a:endParaRPr>
          </a:p>
        </p:txBody>
      </p:sp>
      <p:sp>
        <p:nvSpPr>
          <p:cNvPr id="3" name="文本框 2"/>
          <p:cNvSpPr txBox="1"/>
          <p:nvPr/>
        </p:nvSpPr>
        <p:spPr>
          <a:xfrm>
            <a:off x="344805" y="2586247"/>
            <a:ext cx="11655907" cy="1255152"/>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20000"/>
              </a:lnSpc>
            </a:pPr>
            <a:r>
              <a:rPr lang="zh-CN" altLang="en-US" sz="1600" dirty="0">
                <a:solidFill>
                  <a:srgbClr val="000000"/>
                </a:solidFill>
                <a:latin typeface="+mn-ea"/>
              </a:rPr>
              <a:t>构建重点：</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实时更新以防污染（</a:t>
            </a:r>
            <a:r>
              <a:rPr lang="en-US" altLang="zh-CN" sz="1600" dirty="0">
                <a:solidFill>
                  <a:srgbClr val="000000"/>
                </a:solidFill>
                <a:latin typeface="+mn-ea"/>
              </a:rPr>
              <a:t>cutoff date</a:t>
            </a:r>
            <a:r>
              <a:rPr lang="zh-CN" altLang="en-US" sz="1600" dirty="0">
                <a:solidFill>
                  <a:srgbClr val="000000"/>
                </a:solidFill>
                <a:latin typeface="+mn-ea"/>
              </a:rPr>
              <a:t>）；代码生成场景</a:t>
            </a:r>
            <a:r>
              <a:rPr lang="en-US" altLang="zh-CN" sz="1600" dirty="0">
                <a:solidFill>
                  <a:srgbClr val="000000"/>
                </a:solidFill>
                <a:latin typeface="+mn-ea"/>
              </a:rPr>
              <a:t>+</a:t>
            </a:r>
            <a:r>
              <a:rPr lang="zh-CN" altLang="en-US" sz="1600" dirty="0">
                <a:solidFill>
                  <a:srgbClr val="000000"/>
                </a:solidFill>
                <a:latin typeface="+mn-ea"/>
              </a:rPr>
              <a:t>自我修复场景</a:t>
            </a:r>
            <a:r>
              <a:rPr lang="en-US" altLang="zh-CN" sz="1600" dirty="0">
                <a:solidFill>
                  <a:srgbClr val="000000"/>
                </a:solidFill>
                <a:latin typeface="+mn-ea"/>
              </a:rPr>
              <a:t>+</a:t>
            </a:r>
            <a:r>
              <a:rPr lang="zh-CN" altLang="en-US" sz="1600" dirty="0">
                <a:solidFill>
                  <a:srgbClr val="000000"/>
                </a:solidFill>
                <a:latin typeface="+mn-ea"/>
              </a:rPr>
              <a:t>代码执行场景</a:t>
            </a:r>
            <a:r>
              <a:rPr lang="en-US" altLang="zh-CN" sz="1600" dirty="0">
                <a:solidFill>
                  <a:srgbClr val="000000"/>
                </a:solidFill>
                <a:latin typeface="+mn-ea"/>
              </a:rPr>
              <a:t>+</a:t>
            </a:r>
            <a:r>
              <a:rPr lang="zh-CN" altLang="en-US" sz="1600" dirty="0">
                <a:solidFill>
                  <a:srgbClr val="000000"/>
                </a:solidFill>
                <a:latin typeface="+mn-ea"/>
              </a:rPr>
              <a:t>输出预测场景；竞赛平台获取</a:t>
            </a:r>
            <a:r>
              <a:rPr lang="en-US" altLang="zh-CN" sz="1600" dirty="0">
                <a:solidFill>
                  <a:srgbClr val="000000"/>
                </a:solidFill>
                <a:latin typeface="+mn-ea"/>
              </a:rPr>
              <a:t>612</a:t>
            </a:r>
            <a:r>
              <a:rPr lang="zh-CN" altLang="en-US" sz="1600" dirty="0">
                <a:solidFill>
                  <a:srgbClr val="000000"/>
                </a:solidFill>
                <a:latin typeface="+mn-ea"/>
              </a:rPr>
              <a:t>题目，利用他们构建不同场景，并每个题目提供大量测例。（同期有一个很相似的工作 </a:t>
            </a:r>
            <a:r>
              <a:rPr lang="en-US" altLang="zh-CN" sz="1600" dirty="0">
                <a:solidFill>
                  <a:srgbClr val="000000"/>
                </a:solidFill>
                <a:latin typeface="+mn-ea"/>
              </a:rPr>
              <a:t>Competition-Level Problems are Effective LLM Evaluators ACL 2024</a:t>
            </a:r>
            <a:r>
              <a:rPr lang="zh-CN" altLang="en-US" sz="1600" dirty="0">
                <a:solidFill>
                  <a:srgbClr val="000000"/>
                </a:solidFill>
                <a:latin typeface="+mn-ea"/>
              </a:rPr>
              <a:t>。做了实时更新和竞赛题目获取。</a:t>
            </a:r>
            <a:r>
              <a:rPr lang="en-US" altLang="zh-CN" sz="1600" dirty="0" err="1">
                <a:solidFill>
                  <a:srgbClr val="000000"/>
                </a:solidFill>
                <a:latin typeface="+mn-ea"/>
              </a:rPr>
              <a:t>Lcb</a:t>
            </a:r>
            <a:r>
              <a:rPr lang="zh-CN" altLang="en-US" sz="1600" dirty="0">
                <a:solidFill>
                  <a:srgbClr val="000000"/>
                </a:solidFill>
                <a:latin typeface="+mn-ea"/>
              </a:rPr>
              <a:t>声称他们的创新点还在多场景评估和跨平台来源）</a:t>
            </a:r>
            <a:endParaRPr lang="en-US" altLang="zh-CN" sz="1600" dirty="0">
              <a:solidFill>
                <a:srgbClr val="000000"/>
              </a:solidFill>
              <a:latin typeface="+mn-ea"/>
            </a:endParaRPr>
          </a:p>
        </p:txBody>
      </p:sp>
      <p:pic>
        <p:nvPicPr>
          <p:cNvPr id="6" name="图片 5"/>
          <p:cNvPicPr>
            <a:picLocks noChangeAspect="1"/>
          </p:cNvPicPr>
          <p:nvPr/>
        </p:nvPicPr>
        <p:blipFill>
          <a:blip r:embed="rId1"/>
          <a:stretch>
            <a:fillRect/>
          </a:stretch>
        </p:blipFill>
        <p:spPr>
          <a:xfrm>
            <a:off x="790282" y="4153562"/>
            <a:ext cx="2941960" cy="2101399"/>
          </a:xfrm>
          <a:prstGeom prst="rect">
            <a:avLst/>
          </a:prstGeom>
        </p:spPr>
      </p:pic>
      <p:pic>
        <p:nvPicPr>
          <p:cNvPr id="8" name="图片 7"/>
          <p:cNvPicPr>
            <a:picLocks noChangeAspect="1"/>
          </p:cNvPicPr>
          <p:nvPr/>
        </p:nvPicPr>
        <p:blipFill>
          <a:blip r:embed="rId2"/>
          <a:stretch>
            <a:fillRect/>
          </a:stretch>
        </p:blipFill>
        <p:spPr>
          <a:xfrm>
            <a:off x="5444186" y="4153562"/>
            <a:ext cx="2398552" cy="2101400"/>
          </a:xfrm>
          <a:prstGeom prst="rect">
            <a:avLst/>
          </a:prstGeom>
        </p:spPr>
      </p:pic>
      <p:sp>
        <p:nvSpPr>
          <p:cNvPr id="9" name="文本框 8"/>
          <p:cNvSpPr txBox="1"/>
          <p:nvPr/>
        </p:nvSpPr>
        <p:spPr>
          <a:xfrm>
            <a:off x="8692907" y="4595446"/>
            <a:ext cx="1723549" cy="400110"/>
          </a:xfrm>
          <a:prstGeom prst="rect">
            <a:avLst/>
          </a:prstGeom>
          <a:noFill/>
        </p:spPr>
        <p:txBody>
          <a:bodyPr wrap="none" rtlCol="0">
            <a:spAutoFit/>
          </a:bodyPr>
          <a:lstStyle/>
          <a:p>
            <a:r>
              <a:rPr lang="zh-CN" altLang="en-US" sz="2000" dirty="0"/>
              <a:t>代码生成场景</a:t>
            </a:r>
            <a:endParaRPr lang="zh-CN" altLang="en-US" sz="2000" dirty="0"/>
          </a:p>
        </p:txBody>
      </p:sp>
      <p:cxnSp>
        <p:nvCxnSpPr>
          <p:cNvPr id="13" name="直接箭头连接符 12"/>
          <p:cNvCxnSpPr/>
          <p:nvPr/>
        </p:nvCxnSpPr>
        <p:spPr>
          <a:xfrm>
            <a:off x="3848231" y="5211682"/>
            <a:ext cx="159595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文本框 3"/>
          <p:cNvSpPr txBox="1"/>
          <p:nvPr/>
        </p:nvSpPr>
        <p:spPr>
          <a:xfrm>
            <a:off x="344805" y="302895"/>
            <a:ext cx="10500995" cy="460375"/>
          </a:xfrm>
          <a:prstGeom prst="rect">
            <a:avLst/>
          </a:prstGeom>
          <a:noFill/>
        </p:spPr>
        <p:txBody>
          <a:bodyPr wrap="square" rtlCol="0">
            <a:spAutoFit/>
          </a:bodyPr>
          <a:lstStyle/>
          <a:p>
            <a:pPr algn="l"/>
            <a:r>
              <a:rPr lang="zh-CN" altLang="en-US" sz="2400" dirty="0">
                <a:solidFill>
                  <a:schemeClr val="tx1"/>
                </a:solidFill>
              </a:rPr>
              <a:t>进展三：评估集相关工作分享</a:t>
            </a:r>
            <a:endParaRPr lang="en-US" altLang="zh-CN" sz="2400" dirty="0">
              <a:solidFill>
                <a:schemeClr val="tx1"/>
              </a:solidFill>
              <a:sym typeface="+mn-ea"/>
            </a:endParaRPr>
          </a:p>
        </p:txBody>
      </p:sp>
      <p:sp>
        <p:nvSpPr>
          <p:cNvPr id="2" name="文本框 1"/>
          <p:cNvSpPr txBox="1"/>
          <p:nvPr/>
        </p:nvSpPr>
        <p:spPr>
          <a:xfrm>
            <a:off x="344805" y="927923"/>
            <a:ext cx="11655907" cy="369332"/>
          </a:xfrm>
          <a:prstGeom prst="rect">
            <a:avLst/>
          </a:prstGeom>
          <a:noFill/>
        </p:spPr>
        <p:txBody>
          <a:bodyPr wrap="square" rtlCol="0">
            <a:spAutoFit/>
          </a:bodyPr>
          <a:lstStyle/>
          <a:p>
            <a:r>
              <a:rPr lang="en-US" altLang="zh-CN" dirty="0">
                <a:latin typeface="Times New Roman" panose="02020503050405090304" pitchFamily="18" charset="0"/>
                <a:cs typeface="Times New Roman" panose="02020503050405090304" pitchFamily="18" charset="0"/>
              </a:rPr>
              <a:t>2. </a:t>
            </a:r>
            <a:r>
              <a:rPr lang="en-US" altLang="zh-CN" i="1" dirty="0">
                <a:latin typeface="Times New Roman" panose="02020503050405090304" pitchFamily="18" charset="0"/>
                <a:cs typeface="Times New Roman" panose="02020503050405090304" pitchFamily="18" charset="0"/>
              </a:rPr>
              <a:t>LiveCodeBench: Holistic and Contamination Free Evaluation of Large Language Models for Code </a:t>
            </a:r>
            <a:r>
              <a:rPr lang="en-US" altLang="zh-CN" dirty="0">
                <a:latin typeface="Times New Roman" panose="02020503050405090304" pitchFamily="18" charset="0"/>
                <a:cs typeface="Times New Roman" panose="02020503050405090304" pitchFamily="18" charset="0"/>
              </a:rPr>
              <a:t>ICLR 2025</a:t>
            </a:r>
            <a:endParaRPr lang="en-US" altLang="zh-CN" dirty="0">
              <a:latin typeface="Times New Roman" panose="02020503050405090304" pitchFamily="18" charset="0"/>
              <a:cs typeface="Times New Roman" panose="02020503050405090304" pitchFamily="18" charset="0"/>
            </a:endParaRPr>
          </a:p>
        </p:txBody>
      </p:sp>
      <p:sp>
        <p:nvSpPr>
          <p:cNvPr id="7" name="文本框 6"/>
          <p:cNvSpPr txBox="1"/>
          <p:nvPr/>
        </p:nvSpPr>
        <p:spPr>
          <a:xfrm>
            <a:off x="344805" y="1461908"/>
            <a:ext cx="11655907" cy="959686"/>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20000"/>
              </a:lnSpc>
            </a:pPr>
            <a:r>
              <a:rPr lang="zh-CN" altLang="en-US" sz="1600" dirty="0">
                <a:solidFill>
                  <a:srgbClr val="000000"/>
                </a:solidFill>
                <a:latin typeface="+mn-ea"/>
              </a:rPr>
              <a:t>一句话总结：</a:t>
            </a:r>
            <a:endParaRPr lang="en-US" altLang="zh-CN" sz="1600" dirty="0">
              <a:solidFill>
                <a:srgbClr val="000000"/>
              </a:solidFill>
              <a:latin typeface="+mn-ea"/>
            </a:endParaRPr>
          </a:p>
          <a:p>
            <a:pPr>
              <a:lnSpc>
                <a:spcPct val="120000"/>
              </a:lnSpc>
            </a:pPr>
            <a:r>
              <a:rPr lang="zh-CN" altLang="en-US" sz="1600" dirty="0"/>
              <a:t>旨在解决数据污染问题的动态更新基准测试集，它通过收集最新的编程竞赛题目（</a:t>
            </a:r>
            <a:r>
              <a:rPr lang="en-US" altLang="zh-CN" sz="1600" dirty="0" err="1"/>
              <a:t>LeetCode</a:t>
            </a:r>
            <a:r>
              <a:rPr lang="zh-CN" altLang="en-US" sz="1600" dirty="0"/>
              <a:t>、</a:t>
            </a:r>
            <a:r>
              <a:rPr lang="en-US" altLang="zh-CN" sz="1600" dirty="0" err="1"/>
              <a:t>AtCoder</a:t>
            </a:r>
            <a:r>
              <a:rPr lang="zh-CN" altLang="en-US" sz="1600" dirty="0"/>
              <a:t>、</a:t>
            </a:r>
            <a:r>
              <a:rPr lang="en-US" altLang="zh-CN" sz="1600" dirty="0" err="1"/>
              <a:t>CodeForces</a:t>
            </a:r>
            <a:r>
              <a:rPr lang="zh-CN" altLang="en-US" sz="1600" dirty="0"/>
              <a:t>），从代码生成、自我修复、代码执行和测试输出预测四个维度，对大语言模型的编程能力进行全面且无污染的评估。</a:t>
            </a:r>
            <a:endParaRPr lang="en-US" altLang="zh-CN" sz="1600" dirty="0">
              <a:solidFill>
                <a:srgbClr val="000000"/>
              </a:solidFill>
              <a:latin typeface="+mn-ea"/>
            </a:endParaRPr>
          </a:p>
        </p:txBody>
      </p:sp>
      <p:sp>
        <p:nvSpPr>
          <p:cNvPr id="3" name="文本框 2"/>
          <p:cNvSpPr txBox="1"/>
          <p:nvPr/>
        </p:nvSpPr>
        <p:spPr>
          <a:xfrm>
            <a:off x="344805" y="2586247"/>
            <a:ext cx="11655907" cy="1255152"/>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20000"/>
              </a:lnSpc>
            </a:pPr>
            <a:r>
              <a:rPr lang="zh-CN" altLang="en-US" sz="1600" dirty="0">
                <a:solidFill>
                  <a:srgbClr val="000000"/>
                </a:solidFill>
                <a:latin typeface="+mn-ea"/>
              </a:rPr>
              <a:t>构建重点：</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实时更新以防污染（</a:t>
            </a:r>
            <a:r>
              <a:rPr lang="en-US" altLang="zh-CN" sz="1600" dirty="0">
                <a:solidFill>
                  <a:srgbClr val="000000"/>
                </a:solidFill>
                <a:latin typeface="+mn-ea"/>
              </a:rPr>
              <a:t>cutoff date</a:t>
            </a:r>
            <a:r>
              <a:rPr lang="zh-CN" altLang="en-US" sz="1600" dirty="0">
                <a:solidFill>
                  <a:srgbClr val="000000"/>
                </a:solidFill>
                <a:latin typeface="+mn-ea"/>
              </a:rPr>
              <a:t>）；代码生成场景</a:t>
            </a:r>
            <a:r>
              <a:rPr lang="en-US" altLang="zh-CN" sz="1600" dirty="0">
                <a:solidFill>
                  <a:srgbClr val="000000"/>
                </a:solidFill>
                <a:latin typeface="+mn-ea"/>
              </a:rPr>
              <a:t>+</a:t>
            </a:r>
            <a:r>
              <a:rPr lang="zh-CN" altLang="en-US" sz="1600" dirty="0">
                <a:solidFill>
                  <a:srgbClr val="000000"/>
                </a:solidFill>
                <a:latin typeface="+mn-ea"/>
              </a:rPr>
              <a:t>自我修复场景</a:t>
            </a:r>
            <a:r>
              <a:rPr lang="en-US" altLang="zh-CN" sz="1600" dirty="0">
                <a:solidFill>
                  <a:srgbClr val="000000"/>
                </a:solidFill>
                <a:latin typeface="+mn-ea"/>
              </a:rPr>
              <a:t>+</a:t>
            </a:r>
            <a:r>
              <a:rPr lang="zh-CN" altLang="en-US" sz="1600" dirty="0">
                <a:solidFill>
                  <a:srgbClr val="000000"/>
                </a:solidFill>
                <a:latin typeface="+mn-ea"/>
              </a:rPr>
              <a:t>代码执行场景</a:t>
            </a:r>
            <a:r>
              <a:rPr lang="en-US" altLang="zh-CN" sz="1600" dirty="0">
                <a:solidFill>
                  <a:srgbClr val="000000"/>
                </a:solidFill>
                <a:latin typeface="+mn-ea"/>
              </a:rPr>
              <a:t>+</a:t>
            </a:r>
            <a:r>
              <a:rPr lang="zh-CN" altLang="en-US" sz="1600" dirty="0">
                <a:solidFill>
                  <a:srgbClr val="000000"/>
                </a:solidFill>
                <a:latin typeface="+mn-ea"/>
              </a:rPr>
              <a:t>输出预测场景；竞赛平台获取</a:t>
            </a:r>
            <a:r>
              <a:rPr lang="en-US" altLang="zh-CN" sz="1600" dirty="0">
                <a:solidFill>
                  <a:srgbClr val="000000"/>
                </a:solidFill>
                <a:latin typeface="+mn-ea"/>
              </a:rPr>
              <a:t>612</a:t>
            </a:r>
            <a:r>
              <a:rPr lang="zh-CN" altLang="en-US" sz="1600" dirty="0">
                <a:solidFill>
                  <a:srgbClr val="000000"/>
                </a:solidFill>
                <a:latin typeface="+mn-ea"/>
              </a:rPr>
              <a:t>题目，利用他们构建不同场景，并每个题目提供大量测例。（同期有一个很相似的工作 </a:t>
            </a:r>
            <a:r>
              <a:rPr lang="en-US" altLang="zh-CN" sz="1600" dirty="0">
                <a:solidFill>
                  <a:srgbClr val="000000"/>
                </a:solidFill>
                <a:latin typeface="+mn-ea"/>
              </a:rPr>
              <a:t>Competition-Level Problems are Effective LLM Evaluators ACL 2024</a:t>
            </a:r>
            <a:r>
              <a:rPr lang="zh-CN" altLang="en-US" sz="1600" dirty="0">
                <a:solidFill>
                  <a:srgbClr val="000000"/>
                </a:solidFill>
                <a:latin typeface="+mn-ea"/>
              </a:rPr>
              <a:t>。做了实时更新和竞赛题目获取。</a:t>
            </a:r>
            <a:r>
              <a:rPr lang="en-US" altLang="zh-CN" sz="1600" dirty="0" err="1">
                <a:solidFill>
                  <a:srgbClr val="000000"/>
                </a:solidFill>
                <a:latin typeface="+mn-ea"/>
              </a:rPr>
              <a:t>Lcb</a:t>
            </a:r>
            <a:r>
              <a:rPr lang="zh-CN" altLang="en-US" sz="1600" dirty="0">
                <a:solidFill>
                  <a:srgbClr val="000000"/>
                </a:solidFill>
                <a:latin typeface="+mn-ea"/>
              </a:rPr>
              <a:t>声称他们的创新点还在多场景评估和跨平台来源）</a:t>
            </a:r>
            <a:endParaRPr lang="en-US" altLang="zh-CN" sz="1600" dirty="0">
              <a:solidFill>
                <a:srgbClr val="000000"/>
              </a:solidFill>
              <a:latin typeface="+mn-ea"/>
            </a:endParaRPr>
          </a:p>
        </p:txBody>
      </p:sp>
      <p:pic>
        <p:nvPicPr>
          <p:cNvPr id="6" name="图片 5"/>
          <p:cNvPicPr>
            <a:picLocks noChangeAspect="1"/>
          </p:cNvPicPr>
          <p:nvPr/>
        </p:nvPicPr>
        <p:blipFill>
          <a:blip r:embed="rId1"/>
          <a:stretch>
            <a:fillRect/>
          </a:stretch>
        </p:blipFill>
        <p:spPr>
          <a:xfrm>
            <a:off x="820762" y="3974181"/>
            <a:ext cx="1739543" cy="1242530"/>
          </a:xfrm>
          <a:prstGeom prst="rect">
            <a:avLst/>
          </a:prstGeom>
        </p:spPr>
      </p:pic>
      <p:pic>
        <p:nvPicPr>
          <p:cNvPr id="8" name="图片 7"/>
          <p:cNvPicPr>
            <a:picLocks noChangeAspect="1"/>
          </p:cNvPicPr>
          <p:nvPr/>
        </p:nvPicPr>
        <p:blipFill>
          <a:blip r:embed="rId2"/>
          <a:stretch>
            <a:fillRect/>
          </a:stretch>
        </p:blipFill>
        <p:spPr>
          <a:xfrm>
            <a:off x="820762" y="5480509"/>
            <a:ext cx="1739543" cy="1377491"/>
          </a:xfrm>
          <a:prstGeom prst="rect">
            <a:avLst/>
          </a:prstGeom>
        </p:spPr>
      </p:pic>
      <p:sp>
        <p:nvSpPr>
          <p:cNvPr id="9" name="文本框 8"/>
          <p:cNvSpPr txBox="1"/>
          <p:nvPr/>
        </p:nvSpPr>
        <p:spPr>
          <a:xfrm>
            <a:off x="7338669" y="4816601"/>
            <a:ext cx="1723549" cy="400110"/>
          </a:xfrm>
          <a:prstGeom prst="rect">
            <a:avLst/>
          </a:prstGeom>
          <a:noFill/>
        </p:spPr>
        <p:txBody>
          <a:bodyPr wrap="none" rtlCol="0">
            <a:spAutoFit/>
          </a:bodyPr>
          <a:lstStyle/>
          <a:p>
            <a:r>
              <a:rPr lang="zh-CN" altLang="en-US" sz="2000" dirty="0"/>
              <a:t>自我修复场景</a:t>
            </a:r>
            <a:endParaRPr lang="zh-CN" altLang="en-US" sz="2000" dirty="0"/>
          </a:p>
        </p:txBody>
      </p:sp>
      <p:cxnSp>
        <p:nvCxnSpPr>
          <p:cNvPr id="13" name="直接箭头连接符 12"/>
          <p:cNvCxnSpPr/>
          <p:nvPr/>
        </p:nvCxnSpPr>
        <p:spPr>
          <a:xfrm>
            <a:off x="2679831" y="5449631"/>
            <a:ext cx="171944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1" name="图片 10"/>
          <p:cNvPicPr>
            <a:picLocks noChangeAspect="1"/>
          </p:cNvPicPr>
          <p:nvPr/>
        </p:nvPicPr>
        <p:blipFill>
          <a:blip r:embed="rId3"/>
          <a:stretch>
            <a:fillRect/>
          </a:stretch>
        </p:blipFill>
        <p:spPr>
          <a:xfrm>
            <a:off x="4399280" y="4434021"/>
            <a:ext cx="2258606" cy="2092976"/>
          </a:xfrm>
          <a:prstGeom prst="rect">
            <a:avLst/>
          </a:prstGeom>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文本框 3"/>
          <p:cNvSpPr txBox="1"/>
          <p:nvPr/>
        </p:nvSpPr>
        <p:spPr>
          <a:xfrm>
            <a:off x="344805" y="302895"/>
            <a:ext cx="10500995" cy="460375"/>
          </a:xfrm>
          <a:prstGeom prst="rect">
            <a:avLst/>
          </a:prstGeom>
          <a:noFill/>
        </p:spPr>
        <p:txBody>
          <a:bodyPr wrap="square" rtlCol="0">
            <a:spAutoFit/>
          </a:bodyPr>
          <a:lstStyle/>
          <a:p>
            <a:pPr algn="l"/>
            <a:r>
              <a:rPr lang="zh-CN" altLang="en-US" sz="2400" dirty="0">
                <a:solidFill>
                  <a:schemeClr val="tx1"/>
                </a:solidFill>
              </a:rPr>
              <a:t>进展三：评估集相关工作分享</a:t>
            </a:r>
            <a:endParaRPr lang="en-US" altLang="zh-CN" sz="2400" dirty="0">
              <a:solidFill>
                <a:schemeClr val="tx1"/>
              </a:solidFill>
              <a:sym typeface="+mn-ea"/>
            </a:endParaRPr>
          </a:p>
        </p:txBody>
      </p:sp>
      <p:sp>
        <p:nvSpPr>
          <p:cNvPr id="2" name="文本框 1"/>
          <p:cNvSpPr txBox="1"/>
          <p:nvPr/>
        </p:nvSpPr>
        <p:spPr>
          <a:xfrm>
            <a:off x="344805" y="927923"/>
            <a:ext cx="11655907" cy="369332"/>
          </a:xfrm>
          <a:prstGeom prst="rect">
            <a:avLst/>
          </a:prstGeom>
          <a:noFill/>
        </p:spPr>
        <p:txBody>
          <a:bodyPr wrap="square" rtlCol="0">
            <a:spAutoFit/>
          </a:bodyPr>
          <a:lstStyle/>
          <a:p>
            <a:r>
              <a:rPr lang="en-US" altLang="zh-CN" dirty="0">
                <a:latin typeface="Times New Roman" panose="02020503050405090304" pitchFamily="18" charset="0"/>
                <a:cs typeface="Times New Roman" panose="02020503050405090304" pitchFamily="18" charset="0"/>
              </a:rPr>
              <a:t>2. </a:t>
            </a:r>
            <a:r>
              <a:rPr lang="en-US" altLang="zh-CN" i="1" dirty="0">
                <a:latin typeface="Times New Roman" panose="02020503050405090304" pitchFamily="18" charset="0"/>
                <a:cs typeface="Times New Roman" panose="02020503050405090304" pitchFamily="18" charset="0"/>
              </a:rPr>
              <a:t>LiveCodeBench: Holistic and Contamination Free Evaluation of Large Language Models for Code </a:t>
            </a:r>
            <a:r>
              <a:rPr lang="en-US" altLang="zh-CN" dirty="0">
                <a:latin typeface="Times New Roman" panose="02020503050405090304" pitchFamily="18" charset="0"/>
                <a:cs typeface="Times New Roman" panose="02020503050405090304" pitchFamily="18" charset="0"/>
              </a:rPr>
              <a:t>ICLR 2025</a:t>
            </a:r>
            <a:endParaRPr lang="en-US" altLang="zh-CN" dirty="0">
              <a:latin typeface="Times New Roman" panose="02020503050405090304" pitchFamily="18" charset="0"/>
              <a:cs typeface="Times New Roman" panose="02020503050405090304" pitchFamily="18" charset="0"/>
            </a:endParaRPr>
          </a:p>
        </p:txBody>
      </p:sp>
      <p:sp>
        <p:nvSpPr>
          <p:cNvPr id="7" name="文本框 6"/>
          <p:cNvSpPr txBox="1"/>
          <p:nvPr/>
        </p:nvSpPr>
        <p:spPr>
          <a:xfrm>
            <a:off x="344805" y="1461908"/>
            <a:ext cx="11655907" cy="959686"/>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20000"/>
              </a:lnSpc>
            </a:pPr>
            <a:r>
              <a:rPr lang="zh-CN" altLang="en-US" sz="1600" dirty="0">
                <a:solidFill>
                  <a:srgbClr val="000000"/>
                </a:solidFill>
                <a:latin typeface="+mn-ea"/>
              </a:rPr>
              <a:t>一句话总结：</a:t>
            </a:r>
            <a:endParaRPr lang="en-US" altLang="zh-CN" sz="1600" dirty="0">
              <a:solidFill>
                <a:srgbClr val="000000"/>
              </a:solidFill>
              <a:latin typeface="+mn-ea"/>
            </a:endParaRPr>
          </a:p>
          <a:p>
            <a:pPr>
              <a:lnSpc>
                <a:spcPct val="120000"/>
              </a:lnSpc>
            </a:pPr>
            <a:r>
              <a:rPr lang="zh-CN" altLang="en-US" sz="1600" dirty="0"/>
              <a:t>旨在解决数据污染问题的动态更新基准测试集，它通过收集最新的编程竞赛题目（</a:t>
            </a:r>
            <a:r>
              <a:rPr lang="en-US" altLang="zh-CN" sz="1600" dirty="0" err="1"/>
              <a:t>LeetCode</a:t>
            </a:r>
            <a:r>
              <a:rPr lang="zh-CN" altLang="en-US" sz="1600" dirty="0"/>
              <a:t>、</a:t>
            </a:r>
            <a:r>
              <a:rPr lang="en-US" altLang="zh-CN" sz="1600" dirty="0" err="1"/>
              <a:t>AtCoder</a:t>
            </a:r>
            <a:r>
              <a:rPr lang="zh-CN" altLang="en-US" sz="1600" dirty="0"/>
              <a:t>、</a:t>
            </a:r>
            <a:r>
              <a:rPr lang="en-US" altLang="zh-CN" sz="1600" dirty="0" err="1"/>
              <a:t>CodeForces</a:t>
            </a:r>
            <a:r>
              <a:rPr lang="zh-CN" altLang="en-US" sz="1600" dirty="0"/>
              <a:t>），从代码生成、自我修复、代码执行和测试输出预测四个维度，对大语言模型的编程能力进行全面且无污染的评估。</a:t>
            </a:r>
            <a:endParaRPr lang="en-US" altLang="zh-CN" sz="1600" dirty="0">
              <a:solidFill>
                <a:srgbClr val="000000"/>
              </a:solidFill>
              <a:latin typeface="+mn-ea"/>
            </a:endParaRPr>
          </a:p>
        </p:txBody>
      </p:sp>
      <p:sp>
        <p:nvSpPr>
          <p:cNvPr id="3" name="文本框 2"/>
          <p:cNvSpPr txBox="1"/>
          <p:nvPr/>
        </p:nvSpPr>
        <p:spPr>
          <a:xfrm>
            <a:off x="344805" y="2586247"/>
            <a:ext cx="11655907" cy="1255152"/>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20000"/>
              </a:lnSpc>
            </a:pPr>
            <a:r>
              <a:rPr lang="zh-CN" altLang="en-US" sz="1600" dirty="0">
                <a:solidFill>
                  <a:srgbClr val="000000"/>
                </a:solidFill>
                <a:latin typeface="+mn-ea"/>
              </a:rPr>
              <a:t>构建重点：</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实时更新以防污染（</a:t>
            </a:r>
            <a:r>
              <a:rPr lang="en-US" altLang="zh-CN" sz="1600" dirty="0">
                <a:solidFill>
                  <a:srgbClr val="000000"/>
                </a:solidFill>
                <a:latin typeface="+mn-ea"/>
              </a:rPr>
              <a:t>cutoff date</a:t>
            </a:r>
            <a:r>
              <a:rPr lang="zh-CN" altLang="en-US" sz="1600" dirty="0">
                <a:solidFill>
                  <a:srgbClr val="000000"/>
                </a:solidFill>
                <a:latin typeface="+mn-ea"/>
              </a:rPr>
              <a:t>）；代码生成场景</a:t>
            </a:r>
            <a:r>
              <a:rPr lang="en-US" altLang="zh-CN" sz="1600" dirty="0">
                <a:solidFill>
                  <a:srgbClr val="000000"/>
                </a:solidFill>
                <a:latin typeface="+mn-ea"/>
              </a:rPr>
              <a:t>+</a:t>
            </a:r>
            <a:r>
              <a:rPr lang="zh-CN" altLang="en-US" sz="1600" dirty="0">
                <a:solidFill>
                  <a:srgbClr val="000000"/>
                </a:solidFill>
                <a:latin typeface="+mn-ea"/>
              </a:rPr>
              <a:t>自我修复场景</a:t>
            </a:r>
            <a:r>
              <a:rPr lang="en-US" altLang="zh-CN" sz="1600" dirty="0">
                <a:solidFill>
                  <a:srgbClr val="000000"/>
                </a:solidFill>
                <a:latin typeface="+mn-ea"/>
              </a:rPr>
              <a:t>+</a:t>
            </a:r>
            <a:r>
              <a:rPr lang="zh-CN" altLang="en-US" sz="1600" dirty="0">
                <a:solidFill>
                  <a:srgbClr val="000000"/>
                </a:solidFill>
                <a:latin typeface="+mn-ea"/>
              </a:rPr>
              <a:t>代码执行场景</a:t>
            </a:r>
            <a:r>
              <a:rPr lang="en-US" altLang="zh-CN" sz="1600" dirty="0">
                <a:solidFill>
                  <a:srgbClr val="000000"/>
                </a:solidFill>
                <a:latin typeface="+mn-ea"/>
              </a:rPr>
              <a:t>+</a:t>
            </a:r>
            <a:r>
              <a:rPr lang="zh-CN" altLang="en-US" sz="1600" dirty="0">
                <a:solidFill>
                  <a:srgbClr val="000000"/>
                </a:solidFill>
                <a:latin typeface="+mn-ea"/>
              </a:rPr>
              <a:t>输出预测场景；竞赛平台获取</a:t>
            </a:r>
            <a:r>
              <a:rPr lang="en-US" altLang="zh-CN" sz="1600" dirty="0">
                <a:solidFill>
                  <a:srgbClr val="000000"/>
                </a:solidFill>
                <a:latin typeface="+mn-ea"/>
              </a:rPr>
              <a:t>612</a:t>
            </a:r>
            <a:r>
              <a:rPr lang="zh-CN" altLang="en-US" sz="1600" dirty="0">
                <a:solidFill>
                  <a:srgbClr val="000000"/>
                </a:solidFill>
                <a:latin typeface="+mn-ea"/>
              </a:rPr>
              <a:t>题目，利用他们构建不同场景，并每个题目提供大量测例。（同期有一个很相似的工作 </a:t>
            </a:r>
            <a:r>
              <a:rPr lang="en-US" altLang="zh-CN" sz="1600" dirty="0">
                <a:solidFill>
                  <a:srgbClr val="000000"/>
                </a:solidFill>
                <a:latin typeface="+mn-ea"/>
              </a:rPr>
              <a:t>Competition-Level Problems are Effective LLM Evaluators ACL 2024</a:t>
            </a:r>
            <a:r>
              <a:rPr lang="zh-CN" altLang="en-US" sz="1600" dirty="0">
                <a:solidFill>
                  <a:srgbClr val="000000"/>
                </a:solidFill>
                <a:latin typeface="+mn-ea"/>
              </a:rPr>
              <a:t>。做了实时更新和竞赛题目获取。</a:t>
            </a:r>
            <a:r>
              <a:rPr lang="en-US" altLang="zh-CN" sz="1600" dirty="0" err="1">
                <a:solidFill>
                  <a:srgbClr val="000000"/>
                </a:solidFill>
                <a:latin typeface="+mn-ea"/>
              </a:rPr>
              <a:t>Lcb</a:t>
            </a:r>
            <a:r>
              <a:rPr lang="zh-CN" altLang="en-US" sz="1600" dirty="0">
                <a:solidFill>
                  <a:srgbClr val="000000"/>
                </a:solidFill>
                <a:latin typeface="+mn-ea"/>
              </a:rPr>
              <a:t>声称他们的创新点还在多场景评估和跨平台来源）</a:t>
            </a:r>
            <a:endParaRPr lang="en-US" altLang="zh-CN" sz="1600" dirty="0">
              <a:solidFill>
                <a:srgbClr val="000000"/>
              </a:solidFill>
              <a:latin typeface="+mn-ea"/>
            </a:endParaRPr>
          </a:p>
        </p:txBody>
      </p:sp>
      <p:pic>
        <p:nvPicPr>
          <p:cNvPr id="6" name="图片 5"/>
          <p:cNvPicPr>
            <a:picLocks noChangeAspect="1"/>
          </p:cNvPicPr>
          <p:nvPr/>
        </p:nvPicPr>
        <p:blipFill>
          <a:blip r:embed="rId1"/>
          <a:stretch>
            <a:fillRect/>
          </a:stretch>
        </p:blipFill>
        <p:spPr>
          <a:xfrm>
            <a:off x="445733" y="3936822"/>
            <a:ext cx="2489597" cy="1778283"/>
          </a:xfrm>
          <a:prstGeom prst="rect">
            <a:avLst/>
          </a:prstGeom>
        </p:spPr>
      </p:pic>
      <p:sp>
        <p:nvSpPr>
          <p:cNvPr id="9" name="文本框 8"/>
          <p:cNvSpPr txBox="1"/>
          <p:nvPr/>
        </p:nvSpPr>
        <p:spPr>
          <a:xfrm>
            <a:off x="8232279" y="5196037"/>
            <a:ext cx="1723549" cy="400110"/>
          </a:xfrm>
          <a:prstGeom prst="rect">
            <a:avLst/>
          </a:prstGeom>
          <a:noFill/>
        </p:spPr>
        <p:txBody>
          <a:bodyPr wrap="none" rtlCol="0">
            <a:spAutoFit/>
          </a:bodyPr>
          <a:lstStyle/>
          <a:p>
            <a:r>
              <a:rPr lang="zh-CN" altLang="en-US" sz="2000" dirty="0"/>
              <a:t>输出预测场景</a:t>
            </a:r>
            <a:endParaRPr lang="zh-CN" altLang="en-US" sz="2000" dirty="0"/>
          </a:p>
        </p:txBody>
      </p:sp>
      <p:cxnSp>
        <p:nvCxnSpPr>
          <p:cNvPr id="13" name="直接箭头连接符 12"/>
          <p:cNvCxnSpPr/>
          <p:nvPr/>
        </p:nvCxnSpPr>
        <p:spPr>
          <a:xfrm>
            <a:off x="3115968" y="5438056"/>
            <a:ext cx="171944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5" name="图片 4"/>
          <p:cNvPicPr>
            <a:picLocks noChangeAspect="1"/>
          </p:cNvPicPr>
          <p:nvPr/>
        </p:nvPicPr>
        <p:blipFill>
          <a:blip r:embed="rId2"/>
          <a:stretch>
            <a:fillRect/>
          </a:stretch>
        </p:blipFill>
        <p:spPr>
          <a:xfrm>
            <a:off x="265097" y="5797167"/>
            <a:ext cx="2850871" cy="905571"/>
          </a:xfrm>
          <a:prstGeom prst="rect">
            <a:avLst/>
          </a:prstGeom>
        </p:spPr>
      </p:pic>
      <p:pic>
        <p:nvPicPr>
          <p:cNvPr id="12" name="图片 11"/>
          <p:cNvPicPr>
            <a:picLocks noChangeAspect="1"/>
          </p:cNvPicPr>
          <p:nvPr/>
        </p:nvPicPr>
        <p:blipFill>
          <a:blip r:embed="rId3"/>
          <a:stretch>
            <a:fillRect/>
          </a:stretch>
        </p:blipFill>
        <p:spPr>
          <a:xfrm>
            <a:off x="4908015" y="4489559"/>
            <a:ext cx="3075128" cy="1896994"/>
          </a:xfrm>
          <a:prstGeom prst="rect">
            <a:avLst/>
          </a:prstGeom>
        </p:spPr>
      </p:pic>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文本框 3"/>
          <p:cNvSpPr txBox="1"/>
          <p:nvPr/>
        </p:nvSpPr>
        <p:spPr>
          <a:xfrm>
            <a:off x="344805" y="302895"/>
            <a:ext cx="10500995" cy="460375"/>
          </a:xfrm>
          <a:prstGeom prst="rect">
            <a:avLst/>
          </a:prstGeom>
          <a:noFill/>
        </p:spPr>
        <p:txBody>
          <a:bodyPr wrap="square" rtlCol="0">
            <a:spAutoFit/>
          </a:bodyPr>
          <a:lstStyle/>
          <a:p>
            <a:pPr algn="l"/>
            <a:r>
              <a:rPr lang="zh-CN" altLang="en-US" sz="2400" dirty="0">
                <a:solidFill>
                  <a:schemeClr val="tx1"/>
                </a:solidFill>
              </a:rPr>
              <a:t>进展三：评估集相关工作分享</a:t>
            </a:r>
            <a:endParaRPr lang="en-US" altLang="zh-CN" sz="2400" dirty="0">
              <a:solidFill>
                <a:schemeClr val="tx1"/>
              </a:solidFill>
              <a:sym typeface="+mn-ea"/>
            </a:endParaRPr>
          </a:p>
        </p:txBody>
      </p:sp>
      <p:sp>
        <p:nvSpPr>
          <p:cNvPr id="2" name="文本框 1"/>
          <p:cNvSpPr txBox="1"/>
          <p:nvPr/>
        </p:nvSpPr>
        <p:spPr>
          <a:xfrm>
            <a:off x="344805" y="927923"/>
            <a:ext cx="11655907" cy="369332"/>
          </a:xfrm>
          <a:prstGeom prst="rect">
            <a:avLst/>
          </a:prstGeom>
          <a:noFill/>
        </p:spPr>
        <p:txBody>
          <a:bodyPr wrap="square" rtlCol="0">
            <a:spAutoFit/>
          </a:bodyPr>
          <a:lstStyle/>
          <a:p>
            <a:r>
              <a:rPr lang="en-US" altLang="zh-CN" dirty="0">
                <a:latin typeface="Times New Roman" panose="02020503050405090304" pitchFamily="18" charset="0"/>
                <a:cs typeface="Times New Roman" panose="02020503050405090304" pitchFamily="18" charset="0"/>
              </a:rPr>
              <a:t>2. </a:t>
            </a:r>
            <a:r>
              <a:rPr lang="en-US" altLang="zh-CN" i="1" dirty="0">
                <a:latin typeface="Times New Roman" panose="02020503050405090304" pitchFamily="18" charset="0"/>
                <a:cs typeface="Times New Roman" panose="02020503050405090304" pitchFamily="18" charset="0"/>
              </a:rPr>
              <a:t>LiveCodeBench: Holistic and Contamination Free Evaluation of Large Language Models for Code </a:t>
            </a:r>
            <a:r>
              <a:rPr lang="en-US" altLang="zh-CN" dirty="0">
                <a:latin typeface="Times New Roman" panose="02020503050405090304" pitchFamily="18" charset="0"/>
                <a:cs typeface="Times New Roman" panose="02020503050405090304" pitchFamily="18" charset="0"/>
              </a:rPr>
              <a:t>ICLR 2025</a:t>
            </a:r>
            <a:endParaRPr lang="en-US" altLang="zh-CN" dirty="0">
              <a:latin typeface="Times New Roman" panose="02020503050405090304" pitchFamily="18" charset="0"/>
              <a:cs typeface="Times New Roman" panose="02020503050405090304" pitchFamily="18" charset="0"/>
            </a:endParaRPr>
          </a:p>
        </p:txBody>
      </p:sp>
      <p:sp>
        <p:nvSpPr>
          <p:cNvPr id="7" name="文本框 6"/>
          <p:cNvSpPr txBox="1"/>
          <p:nvPr/>
        </p:nvSpPr>
        <p:spPr>
          <a:xfrm>
            <a:off x="344805" y="1461908"/>
            <a:ext cx="11655907" cy="959686"/>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20000"/>
              </a:lnSpc>
            </a:pPr>
            <a:r>
              <a:rPr lang="zh-CN" altLang="en-US" sz="1600" dirty="0">
                <a:solidFill>
                  <a:srgbClr val="000000"/>
                </a:solidFill>
                <a:latin typeface="+mn-ea"/>
              </a:rPr>
              <a:t>一句话总结：</a:t>
            </a:r>
            <a:endParaRPr lang="en-US" altLang="zh-CN" sz="1600" dirty="0">
              <a:solidFill>
                <a:srgbClr val="000000"/>
              </a:solidFill>
              <a:latin typeface="+mn-ea"/>
            </a:endParaRPr>
          </a:p>
          <a:p>
            <a:pPr>
              <a:lnSpc>
                <a:spcPct val="120000"/>
              </a:lnSpc>
            </a:pPr>
            <a:r>
              <a:rPr lang="zh-CN" altLang="en-US" sz="1600" dirty="0"/>
              <a:t>旨在解决数据污染问题的动态更新基准测试集，它通过收集最新的编程竞赛题目（</a:t>
            </a:r>
            <a:r>
              <a:rPr lang="en-US" altLang="zh-CN" sz="1600" dirty="0" err="1"/>
              <a:t>LeetCode</a:t>
            </a:r>
            <a:r>
              <a:rPr lang="zh-CN" altLang="en-US" sz="1600" dirty="0"/>
              <a:t>、</a:t>
            </a:r>
            <a:r>
              <a:rPr lang="en-US" altLang="zh-CN" sz="1600" dirty="0" err="1"/>
              <a:t>AtCoder</a:t>
            </a:r>
            <a:r>
              <a:rPr lang="zh-CN" altLang="en-US" sz="1600" dirty="0"/>
              <a:t>、</a:t>
            </a:r>
            <a:r>
              <a:rPr lang="en-US" altLang="zh-CN" sz="1600" dirty="0" err="1"/>
              <a:t>CodeForces</a:t>
            </a:r>
            <a:r>
              <a:rPr lang="zh-CN" altLang="en-US" sz="1600" dirty="0"/>
              <a:t>），从代码生成、自我修复、代码执行和测试输出预测四个维度，对大语言模型的编程能力进行全面且无污染的评估。</a:t>
            </a:r>
            <a:endParaRPr lang="en-US" altLang="zh-CN" sz="1600" dirty="0">
              <a:solidFill>
                <a:srgbClr val="000000"/>
              </a:solidFill>
              <a:latin typeface="+mn-ea"/>
            </a:endParaRPr>
          </a:p>
        </p:txBody>
      </p:sp>
      <p:sp>
        <p:nvSpPr>
          <p:cNvPr id="3" name="文本框 2"/>
          <p:cNvSpPr txBox="1"/>
          <p:nvPr/>
        </p:nvSpPr>
        <p:spPr>
          <a:xfrm>
            <a:off x="344805" y="2586247"/>
            <a:ext cx="11655907" cy="1255152"/>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20000"/>
              </a:lnSpc>
            </a:pPr>
            <a:r>
              <a:rPr lang="zh-CN" altLang="en-US" sz="1600" dirty="0">
                <a:solidFill>
                  <a:srgbClr val="000000"/>
                </a:solidFill>
                <a:latin typeface="+mn-ea"/>
              </a:rPr>
              <a:t>构建重点：</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实时更新以防污染（</a:t>
            </a:r>
            <a:r>
              <a:rPr lang="en-US" altLang="zh-CN" sz="1600" dirty="0">
                <a:solidFill>
                  <a:srgbClr val="000000"/>
                </a:solidFill>
                <a:latin typeface="+mn-ea"/>
              </a:rPr>
              <a:t>cutoff date</a:t>
            </a:r>
            <a:r>
              <a:rPr lang="zh-CN" altLang="en-US" sz="1600" dirty="0">
                <a:solidFill>
                  <a:srgbClr val="000000"/>
                </a:solidFill>
                <a:latin typeface="+mn-ea"/>
              </a:rPr>
              <a:t>）；代码生成场景</a:t>
            </a:r>
            <a:r>
              <a:rPr lang="en-US" altLang="zh-CN" sz="1600" dirty="0">
                <a:solidFill>
                  <a:srgbClr val="000000"/>
                </a:solidFill>
                <a:latin typeface="+mn-ea"/>
              </a:rPr>
              <a:t>+</a:t>
            </a:r>
            <a:r>
              <a:rPr lang="zh-CN" altLang="en-US" sz="1600" dirty="0">
                <a:solidFill>
                  <a:srgbClr val="000000"/>
                </a:solidFill>
                <a:latin typeface="+mn-ea"/>
              </a:rPr>
              <a:t>自我修复场景</a:t>
            </a:r>
            <a:r>
              <a:rPr lang="en-US" altLang="zh-CN" sz="1600" dirty="0">
                <a:solidFill>
                  <a:srgbClr val="000000"/>
                </a:solidFill>
                <a:latin typeface="+mn-ea"/>
              </a:rPr>
              <a:t>+</a:t>
            </a:r>
            <a:r>
              <a:rPr lang="zh-CN" altLang="en-US" sz="1600" dirty="0">
                <a:solidFill>
                  <a:srgbClr val="000000"/>
                </a:solidFill>
                <a:latin typeface="+mn-ea"/>
              </a:rPr>
              <a:t>代码执行场景</a:t>
            </a:r>
            <a:r>
              <a:rPr lang="en-US" altLang="zh-CN" sz="1600" dirty="0">
                <a:solidFill>
                  <a:srgbClr val="000000"/>
                </a:solidFill>
                <a:latin typeface="+mn-ea"/>
              </a:rPr>
              <a:t>+</a:t>
            </a:r>
            <a:r>
              <a:rPr lang="zh-CN" altLang="en-US" sz="1600" dirty="0">
                <a:solidFill>
                  <a:srgbClr val="000000"/>
                </a:solidFill>
                <a:latin typeface="+mn-ea"/>
              </a:rPr>
              <a:t>输出预测场景；竞赛平台获取</a:t>
            </a:r>
            <a:r>
              <a:rPr lang="en-US" altLang="zh-CN" sz="1600" dirty="0">
                <a:solidFill>
                  <a:srgbClr val="000000"/>
                </a:solidFill>
                <a:latin typeface="+mn-ea"/>
              </a:rPr>
              <a:t>612</a:t>
            </a:r>
            <a:r>
              <a:rPr lang="zh-CN" altLang="en-US" sz="1600" dirty="0">
                <a:solidFill>
                  <a:srgbClr val="000000"/>
                </a:solidFill>
                <a:latin typeface="+mn-ea"/>
              </a:rPr>
              <a:t>题目，利用他们构建不同场景，并每个题目提供大量测例。（同期有一个很相似的工作 </a:t>
            </a:r>
            <a:r>
              <a:rPr lang="en-US" altLang="zh-CN" sz="1600" dirty="0">
                <a:solidFill>
                  <a:srgbClr val="000000"/>
                </a:solidFill>
                <a:latin typeface="+mn-ea"/>
              </a:rPr>
              <a:t>Competition-Level Problems are Effective LLM Evaluators ACL 2024</a:t>
            </a:r>
            <a:r>
              <a:rPr lang="zh-CN" altLang="en-US" sz="1600" dirty="0">
                <a:solidFill>
                  <a:srgbClr val="000000"/>
                </a:solidFill>
                <a:latin typeface="+mn-ea"/>
              </a:rPr>
              <a:t>。做了实时更新和竞赛题目获取。</a:t>
            </a:r>
            <a:r>
              <a:rPr lang="en-US" altLang="zh-CN" sz="1600" dirty="0" err="1">
                <a:solidFill>
                  <a:srgbClr val="000000"/>
                </a:solidFill>
                <a:latin typeface="+mn-ea"/>
              </a:rPr>
              <a:t>Lcb</a:t>
            </a:r>
            <a:r>
              <a:rPr lang="zh-CN" altLang="en-US" sz="1600" dirty="0">
                <a:solidFill>
                  <a:srgbClr val="000000"/>
                </a:solidFill>
                <a:latin typeface="+mn-ea"/>
              </a:rPr>
              <a:t>声称他们的创新点还在多场景评估和跨平台来源）</a:t>
            </a:r>
            <a:endParaRPr lang="en-US" altLang="zh-CN" sz="1600" dirty="0">
              <a:solidFill>
                <a:srgbClr val="000000"/>
              </a:solidFill>
              <a:latin typeface="+mn-ea"/>
            </a:endParaRPr>
          </a:p>
        </p:txBody>
      </p:sp>
      <p:sp>
        <p:nvSpPr>
          <p:cNvPr id="9" name="文本框 8"/>
          <p:cNvSpPr txBox="1"/>
          <p:nvPr/>
        </p:nvSpPr>
        <p:spPr>
          <a:xfrm>
            <a:off x="8232279" y="5196037"/>
            <a:ext cx="1723549" cy="400110"/>
          </a:xfrm>
          <a:prstGeom prst="rect">
            <a:avLst/>
          </a:prstGeom>
          <a:noFill/>
        </p:spPr>
        <p:txBody>
          <a:bodyPr wrap="none" rtlCol="0">
            <a:spAutoFit/>
          </a:bodyPr>
          <a:lstStyle/>
          <a:p>
            <a:r>
              <a:rPr lang="zh-CN" altLang="en-US" sz="2000" dirty="0"/>
              <a:t>代码执行场景</a:t>
            </a:r>
            <a:endParaRPr lang="zh-CN" altLang="en-US" sz="2000" dirty="0"/>
          </a:p>
        </p:txBody>
      </p:sp>
      <p:cxnSp>
        <p:nvCxnSpPr>
          <p:cNvPr id="13" name="直接箭头连接符 12"/>
          <p:cNvCxnSpPr/>
          <p:nvPr/>
        </p:nvCxnSpPr>
        <p:spPr>
          <a:xfrm>
            <a:off x="3115968" y="5438056"/>
            <a:ext cx="171944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5" name="图片 4"/>
          <p:cNvPicPr>
            <a:picLocks noChangeAspect="1"/>
          </p:cNvPicPr>
          <p:nvPr/>
        </p:nvPicPr>
        <p:blipFill>
          <a:blip r:embed="rId1"/>
          <a:stretch>
            <a:fillRect/>
          </a:stretch>
        </p:blipFill>
        <p:spPr>
          <a:xfrm>
            <a:off x="265097" y="5797167"/>
            <a:ext cx="2850871" cy="905571"/>
          </a:xfrm>
          <a:prstGeom prst="rect">
            <a:avLst/>
          </a:prstGeom>
        </p:spPr>
      </p:pic>
      <p:pic>
        <p:nvPicPr>
          <p:cNvPr id="8" name="图片 7"/>
          <p:cNvPicPr>
            <a:picLocks noChangeAspect="1"/>
          </p:cNvPicPr>
          <p:nvPr/>
        </p:nvPicPr>
        <p:blipFill>
          <a:blip r:embed="rId2"/>
          <a:stretch>
            <a:fillRect/>
          </a:stretch>
        </p:blipFill>
        <p:spPr>
          <a:xfrm>
            <a:off x="344805" y="4044815"/>
            <a:ext cx="2771163" cy="1752352"/>
          </a:xfrm>
          <a:prstGeom prst="rect">
            <a:avLst/>
          </a:prstGeom>
        </p:spPr>
      </p:pic>
      <p:pic>
        <p:nvPicPr>
          <p:cNvPr id="11" name="图片 10"/>
          <p:cNvPicPr>
            <a:picLocks noChangeAspect="1"/>
          </p:cNvPicPr>
          <p:nvPr/>
        </p:nvPicPr>
        <p:blipFill>
          <a:blip r:embed="rId3"/>
          <a:stretch>
            <a:fillRect/>
          </a:stretch>
        </p:blipFill>
        <p:spPr>
          <a:xfrm>
            <a:off x="4819002" y="4908150"/>
            <a:ext cx="3413277" cy="1184608"/>
          </a:xfrm>
          <a:prstGeom prst="rect">
            <a:avLst/>
          </a:prstGeom>
        </p:spPr>
      </p:pic>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文本框 3"/>
          <p:cNvSpPr txBox="1"/>
          <p:nvPr/>
        </p:nvSpPr>
        <p:spPr>
          <a:xfrm>
            <a:off x="344805" y="302895"/>
            <a:ext cx="10500995" cy="460375"/>
          </a:xfrm>
          <a:prstGeom prst="rect">
            <a:avLst/>
          </a:prstGeom>
          <a:noFill/>
        </p:spPr>
        <p:txBody>
          <a:bodyPr wrap="square" rtlCol="0">
            <a:spAutoFit/>
          </a:bodyPr>
          <a:lstStyle/>
          <a:p>
            <a:pPr algn="l"/>
            <a:r>
              <a:rPr lang="zh-CN" altLang="en-US" sz="2400" dirty="0">
                <a:solidFill>
                  <a:schemeClr val="tx1"/>
                </a:solidFill>
              </a:rPr>
              <a:t>进展三：评估集相关工作分享</a:t>
            </a:r>
            <a:endParaRPr lang="en-US" altLang="zh-CN" sz="2400" dirty="0">
              <a:solidFill>
                <a:schemeClr val="tx1"/>
              </a:solidFill>
              <a:sym typeface="+mn-ea"/>
            </a:endParaRPr>
          </a:p>
        </p:txBody>
      </p:sp>
      <p:sp>
        <p:nvSpPr>
          <p:cNvPr id="2" name="文本框 1"/>
          <p:cNvSpPr txBox="1"/>
          <p:nvPr/>
        </p:nvSpPr>
        <p:spPr>
          <a:xfrm>
            <a:off x="344805" y="927923"/>
            <a:ext cx="11655907" cy="369332"/>
          </a:xfrm>
          <a:prstGeom prst="rect">
            <a:avLst/>
          </a:prstGeom>
          <a:noFill/>
        </p:spPr>
        <p:txBody>
          <a:bodyPr wrap="square" rtlCol="0">
            <a:spAutoFit/>
          </a:bodyPr>
          <a:lstStyle/>
          <a:p>
            <a:r>
              <a:rPr lang="en-US" altLang="zh-CN" dirty="0">
                <a:latin typeface="Times New Roman" panose="02020503050405090304" pitchFamily="18" charset="0"/>
                <a:cs typeface="Times New Roman" panose="02020503050405090304" pitchFamily="18" charset="0"/>
              </a:rPr>
              <a:t>2. </a:t>
            </a:r>
            <a:r>
              <a:rPr lang="en-US" altLang="zh-CN" i="1" dirty="0">
                <a:latin typeface="Times New Roman" panose="02020503050405090304" pitchFamily="18" charset="0"/>
                <a:cs typeface="Times New Roman" panose="02020503050405090304" pitchFamily="18" charset="0"/>
              </a:rPr>
              <a:t>LiveCodeBench: Holistic and Contamination Free Evaluation of Large Language Models for Code </a:t>
            </a:r>
            <a:r>
              <a:rPr lang="en-US" altLang="zh-CN" dirty="0">
                <a:latin typeface="Times New Roman" panose="02020503050405090304" pitchFamily="18" charset="0"/>
                <a:cs typeface="Times New Roman" panose="02020503050405090304" pitchFamily="18" charset="0"/>
              </a:rPr>
              <a:t>ICLR 2025</a:t>
            </a:r>
            <a:endParaRPr lang="en-US" altLang="zh-CN" dirty="0">
              <a:latin typeface="Times New Roman" panose="02020503050405090304" pitchFamily="18" charset="0"/>
              <a:cs typeface="Times New Roman" panose="02020503050405090304" pitchFamily="18" charset="0"/>
            </a:endParaRPr>
          </a:p>
        </p:txBody>
      </p:sp>
      <p:sp>
        <p:nvSpPr>
          <p:cNvPr id="7" name="文本框 6"/>
          <p:cNvSpPr txBox="1"/>
          <p:nvPr/>
        </p:nvSpPr>
        <p:spPr>
          <a:xfrm>
            <a:off x="344805" y="1461908"/>
            <a:ext cx="11655907" cy="959686"/>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20000"/>
              </a:lnSpc>
            </a:pPr>
            <a:r>
              <a:rPr lang="zh-CN" altLang="en-US" sz="1600" dirty="0">
                <a:solidFill>
                  <a:srgbClr val="000000"/>
                </a:solidFill>
                <a:latin typeface="+mn-ea"/>
              </a:rPr>
              <a:t>实验设置：</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评估了</a:t>
            </a:r>
            <a:r>
              <a:rPr lang="en-US" altLang="zh-CN" sz="1600" dirty="0">
                <a:solidFill>
                  <a:srgbClr val="000000"/>
                </a:solidFill>
                <a:latin typeface="+mn-ea"/>
              </a:rPr>
              <a:t>52</a:t>
            </a:r>
            <a:r>
              <a:rPr lang="zh-CN" altLang="en-US" sz="1600" dirty="0">
                <a:solidFill>
                  <a:srgbClr val="000000"/>
                </a:solidFill>
                <a:latin typeface="+mn-ea"/>
              </a:rPr>
              <a:t>个模型。</a:t>
            </a:r>
            <a:r>
              <a:rPr lang="en-US" altLang="zh-CN" sz="1600" dirty="0">
                <a:solidFill>
                  <a:srgbClr val="000000"/>
                </a:solidFill>
                <a:latin typeface="+mn-ea"/>
              </a:rPr>
              <a:t>18</a:t>
            </a:r>
            <a:r>
              <a:rPr lang="zh-CN" altLang="en-US" sz="1600" dirty="0">
                <a:solidFill>
                  <a:srgbClr val="000000"/>
                </a:solidFill>
                <a:latin typeface="+mn-ea"/>
              </a:rPr>
              <a:t>个基础模型</a:t>
            </a:r>
            <a:r>
              <a:rPr lang="en-US" altLang="zh-CN" sz="1600" dirty="0">
                <a:solidFill>
                  <a:srgbClr val="000000"/>
                </a:solidFill>
                <a:latin typeface="+mn-ea"/>
              </a:rPr>
              <a:t>+34</a:t>
            </a:r>
            <a:r>
              <a:rPr lang="zh-CN" altLang="en-US" sz="1600" dirty="0">
                <a:solidFill>
                  <a:srgbClr val="000000"/>
                </a:solidFill>
                <a:latin typeface="+mn-ea"/>
              </a:rPr>
              <a:t>个微调模型。在四个场景的表现</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基础模型仅用于代码生成场景（文中说它们不容易遵循其他场景格式要求 ）</a:t>
            </a:r>
            <a:endParaRPr lang="en-US" altLang="zh-CN" sz="1600" dirty="0">
              <a:solidFill>
                <a:srgbClr val="000000"/>
              </a:solidFill>
              <a:latin typeface="+mn-ea"/>
            </a:endParaRPr>
          </a:p>
        </p:txBody>
      </p:sp>
      <p:pic>
        <p:nvPicPr>
          <p:cNvPr id="10" name="图片 9"/>
          <p:cNvPicPr>
            <a:picLocks noChangeAspect="1"/>
          </p:cNvPicPr>
          <p:nvPr/>
        </p:nvPicPr>
        <p:blipFill>
          <a:blip r:embed="rId1"/>
          <a:stretch>
            <a:fillRect/>
          </a:stretch>
        </p:blipFill>
        <p:spPr>
          <a:xfrm>
            <a:off x="437402" y="2586247"/>
            <a:ext cx="5996024" cy="4133729"/>
          </a:xfrm>
          <a:prstGeom prst="rect">
            <a:avLst/>
          </a:prstGeom>
        </p:spPr>
      </p:pic>
      <p:sp>
        <p:nvSpPr>
          <p:cNvPr id="12" name="文本框 11"/>
          <p:cNvSpPr txBox="1"/>
          <p:nvPr/>
        </p:nvSpPr>
        <p:spPr>
          <a:xfrm>
            <a:off x="6729621" y="2586247"/>
            <a:ext cx="3919088" cy="1255152"/>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20000"/>
              </a:lnSpc>
            </a:pPr>
            <a:r>
              <a:rPr lang="zh-CN" altLang="en-US" sz="1600" dirty="0">
                <a:solidFill>
                  <a:srgbClr val="000000"/>
                </a:solidFill>
                <a:latin typeface="+mn-ea"/>
              </a:rPr>
              <a:t>代码生成：</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左侧提示词</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包含适当变体，添加适配每个指令微调模型的特殊标记</a:t>
            </a:r>
            <a:endParaRPr lang="en-US" altLang="zh-CN" sz="1600" dirty="0">
              <a:solidFill>
                <a:srgbClr val="000000"/>
              </a:solidFill>
              <a:latin typeface="+mn-ea"/>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文本框 3"/>
          <p:cNvSpPr txBox="1"/>
          <p:nvPr/>
        </p:nvSpPr>
        <p:spPr>
          <a:xfrm>
            <a:off x="344805" y="302895"/>
            <a:ext cx="10500995" cy="460375"/>
          </a:xfrm>
          <a:prstGeom prst="rect">
            <a:avLst/>
          </a:prstGeom>
          <a:noFill/>
        </p:spPr>
        <p:txBody>
          <a:bodyPr wrap="square" rtlCol="0">
            <a:spAutoFit/>
          </a:bodyPr>
          <a:lstStyle/>
          <a:p>
            <a:pPr algn="l"/>
            <a:r>
              <a:rPr lang="zh-CN" altLang="en-US" sz="2400" dirty="0">
                <a:solidFill>
                  <a:schemeClr val="tx1"/>
                </a:solidFill>
              </a:rPr>
              <a:t>进展三：评估集相关工作分享</a:t>
            </a:r>
            <a:endParaRPr lang="en-US" altLang="zh-CN" sz="2400" dirty="0">
              <a:solidFill>
                <a:schemeClr val="tx1"/>
              </a:solidFill>
              <a:sym typeface="+mn-ea"/>
            </a:endParaRPr>
          </a:p>
        </p:txBody>
      </p:sp>
      <p:sp>
        <p:nvSpPr>
          <p:cNvPr id="2" name="文本框 1"/>
          <p:cNvSpPr txBox="1"/>
          <p:nvPr/>
        </p:nvSpPr>
        <p:spPr>
          <a:xfrm>
            <a:off x="344805" y="927923"/>
            <a:ext cx="11655907" cy="369332"/>
          </a:xfrm>
          <a:prstGeom prst="rect">
            <a:avLst/>
          </a:prstGeom>
          <a:noFill/>
        </p:spPr>
        <p:txBody>
          <a:bodyPr wrap="square" rtlCol="0">
            <a:spAutoFit/>
          </a:bodyPr>
          <a:lstStyle/>
          <a:p>
            <a:r>
              <a:rPr lang="en-US" altLang="zh-CN" dirty="0">
                <a:latin typeface="Times New Roman" panose="02020503050405090304" pitchFamily="18" charset="0"/>
                <a:cs typeface="Times New Roman" panose="02020503050405090304" pitchFamily="18" charset="0"/>
              </a:rPr>
              <a:t>2. </a:t>
            </a:r>
            <a:r>
              <a:rPr lang="en-US" altLang="zh-CN" i="1" dirty="0">
                <a:latin typeface="Times New Roman" panose="02020503050405090304" pitchFamily="18" charset="0"/>
                <a:cs typeface="Times New Roman" panose="02020503050405090304" pitchFamily="18" charset="0"/>
              </a:rPr>
              <a:t>LiveCodeBench: Holistic and Contamination Free Evaluation of Large Language Models for Code </a:t>
            </a:r>
            <a:r>
              <a:rPr lang="en-US" altLang="zh-CN" dirty="0">
                <a:latin typeface="Times New Roman" panose="02020503050405090304" pitchFamily="18" charset="0"/>
                <a:cs typeface="Times New Roman" panose="02020503050405090304" pitchFamily="18" charset="0"/>
              </a:rPr>
              <a:t>ICLR 2025</a:t>
            </a:r>
            <a:endParaRPr lang="en-US" altLang="zh-CN" dirty="0">
              <a:latin typeface="Times New Roman" panose="02020503050405090304" pitchFamily="18" charset="0"/>
              <a:cs typeface="Times New Roman" panose="02020503050405090304" pitchFamily="18" charset="0"/>
            </a:endParaRPr>
          </a:p>
        </p:txBody>
      </p:sp>
      <p:sp>
        <p:nvSpPr>
          <p:cNvPr id="7" name="文本框 6"/>
          <p:cNvSpPr txBox="1"/>
          <p:nvPr/>
        </p:nvSpPr>
        <p:spPr>
          <a:xfrm>
            <a:off x="344805" y="1461908"/>
            <a:ext cx="11655907" cy="959686"/>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20000"/>
              </a:lnSpc>
            </a:pPr>
            <a:r>
              <a:rPr lang="zh-CN" altLang="en-US" sz="1600" dirty="0">
                <a:solidFill>
                  <a:srgbClr val="000000"/>
                </a:solidFill>
                <a:latin typeface="+mn-ea"/>
              </a:rPr>
              <a:t>实验设置：</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评估了</a:t>
            </a:r>
            <a:r>
              <a:rPr lang="en-US" altLang="zh-CN" sz="1600" dirty="0">
                <a:solidFill>
                  <a:srgbClr val="000000"/>
                </a:solidFill>
                <a:latin typeface="+mn-ea"/>
              </a:rPr>
              <a:t>52</a:t>
            </a:r>
            <a:r>
              <a:rPr lang="zh-CN" altLang="en-US" sz="1600" dirty="0">
                <a:solidFill>
                  <a:srgbClr val="000000"/>
                </a:solidFill>
                <a:latin typeface="+mn-ea"/>
              </a:rPr>
              <a:t>个模型。</a:t>
            </a:r>
            <a:r>
              <a:rPr lang="en-US" altLang="zh-CN" sz="1600" dirty="0">
                <a:solidFill>
                  <a:srgbClr val="000000"/>
                </a:solidFill>
                <a:latin typeface="+mn-ea"/>
              </a:rPr>
              <a:t>18</a:t>
            </a:r>
            <a:r>
              <a:rPr lang="zh-CN" altLang="en-US" sz="1600" dirty="0">
                <a:solidFill>
                  <a:srgbClr val="000000"/>
                </a:solidFill>
                <a:latin typeface="+mn-ea"/>
              </a:rPr>
              <a:t>个基础模型</a:t>
            </a:r>
            <a:r>
              <a:rPr lang="en-US" altLang="zh-CN" sz="1600" dirty="0">
                <a:solidFill>
                  <a:srgbClr val="000000"/>
                </a:solidFill>
                <a:latin typeface="+mn-ea"/>
              </a:rPr>
              <a:t>+34</a:t>
            </a:r>
            <a:r>
              <a:rPr lang="zh-CN" altLang="en-US" sz="1600" dirty="0">
                <a:solidFill>
                  <a:srgbClr val="000000"/>
                </a:solidFill>
                <a:latin typeface="+mn-ea"/>
              </a:rPr>
              <a:t>个微调模型。在四个场景的表现</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基础模型仅用于代码生成场景（文中说它们不容易遵循其他场景格式要求 ）</a:t>
            </a:r>
            <a:endParaRPr lang="en-US" altLang="zh-CN" sz="1600" dirty="0">
              <a:solidFill>
                <a:srgbClr val="000000"/>
              </a:solidFill>
              <a:latin typeface="+mn-ea"/>
            </a:endParaRPr>
          </a:p>
        </p:txBody>
      </p:sp>
      <p:sp>
        <p:nvSpPr>
          <p:cNvPr id="12" name="文本框 11"/>
          <p:cNvSpPr txBox="1"/>
          <p:nvPr/>
        </p:nvSpPr>
        <p:spPr>
          <a:xfrm>
            <a:off x="6729621" y="2586247"/>
            <a:ext cx="3919088" cy="1255152"/>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20000"/>
              </a:lnSpc>
            </a:pPr>
            <a:r>
              <a:rPr lang="zh-CN" altLang="en-US" sz="1600" dirty="0">
                <a:solidFill>
                  <a:srgbClr val="000000"/>
                </a:solidFill>
                <a:latin typeface="+mn-ea"/>
              </a:rPr>
              <a:t>自我修复：</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左侧提示词</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包含适当变体，添加适配每个指令微调模型的特殊标记</a:t>
            </a:r>
            <a:endParaRPr lang="en-US" altLang="zh-CN" sz="1600" dirty="0">
              <a:solidFill>
                <a:srgbClr val="000000"/>
              </a:solidFill>
              <a:latin typeface="+mn-ea"/>
            </a:endParaRPr>
          </a:p>
        </p:txBody>
      </p:sp>
      <p:pic>
        <p:nvPicPr>
          <p:cNvPr id="5" name="图片 4"/>
          <p:cNvPicPr>
            <a:picLocks noChangeAspect="1"/>
          </p:cNvPicPr>
          <p:nvPr/>
        </p:nvPicPr>
        <p:blipFill>
          <a:blip r:embed="rId1"/>
          <a:stretch>
            <a:fillRect/>
          </a:stretch>
        </p:blipFill>
        <p:spPr>
          <a:xfrm>
            <a:off x="431152" y="2584851"/>
            <a:ext cx="5981224" cy="3472512"/>
          </a:xfrm>
          <a:prstGeom prst="rect">
            <a:avLst/>
          </a:prstGeom>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文本框 3"/>
          <p:cNvSpPr txBox="1"/>
          <p:nvPr/>
        </p:nvSpPr>
        <p:spPr>
          <a:xfrm>
            <a:off x="344805" y="302895"/>
            <a:ext cx="10500995" cy="460375"/>
          </a:xfrm>
          <a:prstGeom prst="rect">
            <a:avLst/>
          </a:prstGeom>
          <a:noFill/>
        </p:spPr>
        <p:txBody>
          <a:bodyPr wrap="square" rtlCol="0">
            <a:spAutoFit/>
          </a:bodyPr>
          <a:lstStyle/>
          <a:p>
            <a:pPr algn="l"/>
            <a:r>
              <a:rPr lang="zh-CN" altLang="en-US" sz="2400" dirty="0">
                <a:solidFill>
                  <a:schemeClr val="tx1"/>
                </a:solidFill>
              </a:rPr>
              <a:t>进展三：评估集相关工作分享</a:t>
            </a:r>
            <a:endParaRPr lang="en-US" altLang="zh-CN" sz="2400" dirty="0">
              <a:solidFill>
                <a:schemeClr val="tx1"/>
              </a:solidFill>
              <a:sym typeface="+mn-ea"/>
            </a:endParaRPr>
          </a:p>
        </p:txBody>
      </p:sp>
      <p:sp>
        <p:nvSpPr>
          <p:cNvPr id="2" name="文本框 1"/>
          <p:cNvSpPr txBox="1"/>
          <p:nvPr/>
        </p:nvSpPr>
        <p:spPr>
          <a:xfrm>
            <a:off x="344805" y="927923"/>
            <a:ext cx="11655907" cy="369332"/>
          </a:xfrm>
          <a:prstGeom prst="rect">
            <a:avLst/>
          </a:prstGeom>
          <a:noFill/>
        </p:spPr>
        <p:txBody>
          <a:bodyPr wrap="square" rtlCol="0">
            <a:spAutoFit/>
          </a:bodyPr>
          <a:lstStyle/>
          <a:p>
            <a:r>
              <a:rPr lang="en-US" altLang="zh-CN" dirty="0">
                <a:latin typeface="Times New Roman" panose="02020503050405090304" pitchFamily="18" charset="0"/>
                <a:cs typeface="Times New Roman" panose="02020503050405090304" pitchFamily="18" charset="0"/>
              </a:rPr>
              <a:t>2. </a:t>
            </a:r>
            <a:r>
              <a:rPr lang="en-US" altLang="zh-CN" i="1" dirty="0">
                <a:latin typeface="Times New Roman" panose="02020503050405090304" pitchFamily="18" charset="0"/>
                <a:cs typeface="Times New Roman" panose="02020503050405090304" pitchFamily="18" charset="0"/>
              </a:rPr>
              <a:t>LiveCodeBench: Holistic and Contamination Free Evaluation of Large Language Models for Code </a:t>
            </a:r>
            <a:r>
              <a:rPr lang="en-US" altLang="zh-CN" dirty="0">
                <a:latin typeface="Times New Roman" panose="02020503050405090304" pitchFamily="18" charset="0"/>
                <a:cs typeface="Times New Roman" panose="02020503050405090304" pitchFamily="18" charset="0"/>
              </a:rPr>
              <a:t>ICLR 2025</a:t>
            </a:r>
            <a:endParaRPr lang="en-US" altLang="zh-CN" dirty="0">
              <a:latin typeface="Times New Roman" panose="02020503050405090304" pitchFamily="18" charset="0"/>
              <a:cs typeface="Times New Roman" panose="02020503050405090304" pitchFamily="18" charset="0"/>
            </a:endParaRPr>
          </a:p>
        </p:txBody>
      </p:sp>
      <p:sp>
        <p:nvSpPr>
          <p:cNvPr id="7" name="文本框 6"/>
          <p:cNvSpPr txBox="1"/>
          <p:nvPr/>
        </p:nvSpPr>
        <p:spPr>
          <a:xfrm>
            <a:off x="344805" y="1461908"/>
            <a:ext cx="11655907" cy="959686"/>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20000"/>
              </a:lnSpc>
            </a:pPr>
            <a:r>
              <a:rPr lang="zh-CN" altLang="en-US" sz="1600" dirty="0">
                <a:solidFill>
                  <a:srgbClr val="000000"/>
                </a:solidFill>
                <a:latin typeface="+mn-ea"/>
              </a:rPr>
              <a:t>实验设置：</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评估了</a:t>
            </a:r>
            <a:r>
              <a:rPr lang="en-US" altLang="zh-CN" sz="1600" dirty="0">
                <a:solidFill>
                  <a:srgbClr val="000000"/>
                </a:solidFill>
                <a:latin typeface="+mn-ea"/>
              </a:rPr>
              <a:t>52</a:t>
            </a:r>
            <a:r>
              <a:rPr lang="zh-CN" altLang="en-US" sz="1600" dirty="0">
                <a:solidFill>
                  <a:srgbClr val="000000"/>
                </a:solidFill>
                <a:latin typeface="+mn-ea"/>
              </a:rPr>
              <a:t>个模型。</a:t>
            </a:r>
            <a:r>
              <a:rPr lang="en-US" altLang="zh-CN" sz="1600" dirty="0">
                <a:solidFill>
                  <a:srgbClr val="000000"/>
                </a:solidFill>
                <a:latin typeface="+mn-ea"/>
              </a:rPr>
              <a:t>18</a:t>
            </a:r>
            <a:r>
              <a:rPr lang="zh-CN" altLang="en-US" sz="1600" dirty="0">
                <a:solidFill>
                  <a:srgbClr val="000000"/>
                </a:solidFill>
                <a:latin typeface="+mn-ea"/>
              </a:rPr>
              <a:t>个基础模型</a:t>
            </a:r>
            <a:r>
              <a:rPr lang="en-US" altLang="zh-CN" sz="1600" dirty="0">
                <a:solidFill>
                  <a:srgbClr val="000000"/>
                </a:solidFill>
                <a:latin typeface="+mn-ea"/>
              </a:rPr>
              <a:t>+34</a:t>
            </a:r>
            <a:r>
              <a:rPr lang="zh-CN" altLang="en-US" sz="1600" dirty="0">
                <a:solidFill>
                  <a:srgbClr val="000000"/>
                </a:solidFill>
                <a:latin typeface="+mn-ea"/>
              </a:rPr>
              <a:t>个微调模型。在四个场景的表现</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基础模型仅用于代码生成场景（文中说它们不容易遵循其他场景格式要求 ）</a:t>
            </a:r>
            <a:endParaRPr lang="en-US" altLang="zh-CN" sz="1600" dirty="0">
              <a:solidFill>
                <a:srgbClr val="000000"/>
              </a:solidFill>
              <a:latin typeface="+mn-ea"/>
            </a:endParaRPr>
          </a:p>
        </p:txBody>
      </p:sp>
      <p:sp>
        <p:nvSpPr>
          <p:cNvPr id="12" name="文本框 11"/>
          <p:cNvSpPr txBox="1"/>
          <p:nvPr/>
        </p:nvSpPr>
        <p:spPr>
          <a:xfrm>
            <a:off x="6096000" y="3083959"/>
            <a:ext cx="3919088" cy="1255152"/>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20000"/>
              </a:lnSpc>
            </a:pPr>
            <a:r>
              <a:rPr lang="zh-CN" altLang="en-US" sz="1600" dirty="0">
                <a:solidFill>
                  <a:srgbClr val="000000"/>
                </a:solidFill>
                <a:latin typeface="+mn-ea"/>
              </a:rPr>
              <a:t>代码执行：</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专注于函数级别</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（无</a:t>
            </a:r>
            <a:r>
              <a:rPr lang="en-US" altLang="zh-CN" sz="1600" dirty="0">
                <a:solidFill>
                  <a:srgbClr val="000000"/>
                </a:solidFill>
                <a:latin typeface="+mn-ea"/>
              </a:rPr>
              <a:t>cot/</a:t>
            </a:r>
            <a:r>
              <a:rPr lang="zh-CN" altLang="en-US" sz="1600" dirty="0">
                <a:solidFill>
                  <a:srgbClr val="000000"/>
                </a:solidFill>
                <a:latin typeface="+mn-ea"/>
              </a:rPr>
              <a:t>有</a:t>
            </a:r>
            <a:r>
              <a:rPr lang="en-US" altLang="zh-CN" sz="1600" dirty="0">
                <a:solidFill>
                  <a:srgbClr val="000000"/>
                </a:solidFill>
                <a:latin typeface="+mn-ea"/>
              </a:rPr>
              <a:t>cot</a:t>
            </a:r>
            <a:r>
              <a:rPr lang="zh-CN" altLang="en-US" sz="1600" dirty="0">
                <a:solidFill>
                  <a:srgbClr val="000000"/>
                </a:solidFill>
                <a:latin typeface="+mn-ea"/>
              </a:rPr>
              <a:t>两种模式）</a:t>
            </a:r>
            <a:endParaRPr lang="en-US" altLang="zh-CN" sz="1600" dirty="0">
              <a:solidFill>
                <a:srgbClr val="000000"/>
              </a:solidFill>
              <a:latin typeface="+mn-ea"/>
            </a:endParaRPr>
          </a:p>
          <a:p>
            <a:pPr>
              <a:lnSpc>
                <a:spcPct val="120000"/>
              </a:lnSpc>
            </a:pPr>
            <a:endParaRPr lang="en-US" altLang="zh-CN" sz="1600" dirty="0">
              <a:solidFill>
                <a:srgbClr val="000000"/>
              </a:solidFill>
              <a:latin typeface="+mn-ea"/>
            </a:endParaRPr>
          </a:p>
        </p:txBody>
      </p:sp>
      <p:pic>
        <p:nvPicPr>
          <p:cNvPr id="11" name="图片 10"/>
          <p:cNvPicPr>
            <a:picLocks noChangeAspect="1"/>
          </p:cNvPicPr>
          <p:nvPr/>
        </p:nvPicPr>
        <p:blipFill>
          <a:blip r:embed="rId1"/>
          <a:stretch>
            <a:fillRect/>
          </a:stretch>
        </p:blipFill>
        <p:spPr>
          <a:xfrm>
            <a:off x="665932" y="2492002"/>
            <a:ext cx="4889918" cy="4365998"/>
          </a:xfrm>
          <a:prstGeom prst="rect">
            <a:avLst/>
          </a:prstGeom>
        </p:spPr>
      </p:pic>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文本框 3"/>
          <p:cNvSpPr txBox="1"/>
          <p:nvPr/>
        </p:nvSpPr>
        <p:spPr>
          <a:xfrm>
            <a:off x="344805" y="302895"/>
            <a:ext cx="10500995" cy="460375"/>
          </a:xfrm>
          <a:prstGeom prst="rect">
            <a:avLst/>
          </a:prstGeom>
          <a:noFill/>
        </p:spPr>
        <p:txBody>
          <a:bodyPr wrap="square" rtlCol="0">
            <a:spAutoFit/>
          </a:bodyPr>
          <a:lstStyle/>
          <a:p>
            <a:pPr algn="l"/>
            <a:r>
              <a:rPr lang="zh-CN" altLang="en-US" sz="2400" dirty="0">
                <a:solidFill>
                  <a:schemeClr val="tx1"/>
                </a:solidFill>
              </a:rPr>
              <a:t>进展三：评估集相关工作分享</a:t>
            </a:r>
            <a:endParaRPr lang="en-US" altLang="zh-CN" sz="2400" dirty="0">
              <a:solidFill>
                <a:schemeClr val="tx1"/>
              </a:solidFill>
              <a:sym typeface="+mn-ea"/>
            </a:endParaRPr>
          </a:p>
        </p:txBody>
      </p:sp>
      <p:sp>
        <p:nvSpPr>
          <p:cNvPr id="2" name="文本框 1"/>
          <p:cNvSpPr txBox="1"/>
          <p:nvPr/>
        </p:nvSpPr>
        <p:spPr>
          <a:xfrm>
            <a:off x="344805" y="927923"/>
            <a:ext cx="11655907" cy="369332"/>
          </a:xfrm>
          <a:prstGeom prst="rect">
            <a:avLst/>
          </a:prstGeom>
          <a:noFill/>
        </p:spPr>
        <p:txBody>
          <a:bodyPr wrap="square" rtlCol="0">
            <a:spAutoFit/>
          </a:bodyPr>
          <a:lstStyle/>
          <a:p>
            <a:r>
              <a:rPr lang="en-US" altLang="zh-CN" dirty="0">
                <a:latin typeface="Times New Roman" panose="02020503050405090304" pitchFamily="18" charset="0"/>
                <a:cs typeface="Times New Roman" panose="02020503050405090304" pitchFamily="18" charset="0"/>
              </a:rPr>
              <a:t>2. </a:t>
            </a:r>
            <a:r>
              <a:rPr lang="en-US" altLang="zh-CN" i="1" dirty="0">
                <a:latin typeface="Times New Roman" panose="02020503050405090304" pitchFamily="18" charset="0"/>
                <a:cs typeface="Times New Roman" panose="02020503050405090304" pitchFamily="18" charset="0"/>
              </a:rPr>
              <a:t>LiveCodeBench: Holistic and Contamination Free Evaluation of Large Language Models for Code </a:t>
            </a:r>
            <a:r>
              <a:rPr lang="en-US" altLang="zh-CN" dirty="0">
                <a:latin typeface="Times New Roman" panose="02020503050405090304" pitchFamily="18" charset="0"/>
                <a:cs typeface="Times New Roman" panose="02020503050405090304" pitchFamily="18" charset="0"/>
              </a:rPr>
              <a:t>ICLR 2025</a:t>
            </a:r>
            <a:endParaRPr lang="en-US" altLang="zh-CN" dirty="0">
              <a:latin typeface="Times New Roman" panose="02020503050405090304" pitchFamily="18" charset="0"/>
              <a:cs typeface="Times New Roman" panose="02020503050405090304" pitchFamily="18" charset="0"/>
            </a:endParaRPr>
          </a:p>
        </p:txBody>
      </p:sp>
      <p:sp>
        <p:nvSpPr>
          <p:cNvPr id="7" name="文本框 6"/>
          <p:cNvSpPr txBox="1"/>
          <p:nvPr/>
        </p:nvSpPr>
        <p:spPr>
          <a:xfrm>
            <a:off x="344805" y="1347052"/>
            <a:ext cx="11655907" cy="1255152"/>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20000"/>
              </a:lnSpc>
            </a:pPr>
            <a:r>
              <a:rPr lang="zh-CN" altLang="en-US" sz="1600" dirty="0">
                <a:solidFill>
                  <a:srgbClr val="000000"/>
                </a:solidFill>
                <a:latin typeface="+mn-ea"/>
              </a:rPr>
              <a:t>实验结果：</a:t>
            </a:r>
            <a:r>
              <a:rPr lang="en-US" altLang="zh-CN" sz="1600" dirty="0">
                <a:solidFill>
                  <a:srgbClr val="000000"/>
                </a:solidFill>
                <a:latin typeface="+mn-ea"/>
              </a:rPr>
              <a:t>[ </a:t>
            </a:r>
            <a:r>
              <a:rPr lang="zh-CN" altLang="en-US" sz="1600" dirty="0">
                <a:solidFill>
                  <a:srgbClr val="000000"/>
                </a:solidFill>
                <a:latin typeface="+mn-ea"/>
              </a:rPr>
              <a:t>评估了</a:t>
            </a:r>
            <a:r>
              <a:rPr lang="en-US" altLang="zh-CN" sz="1600" dirty="0">
                <a:solidFill>
                  <a:srgbClr val="000000"/>
                </a:solidFill>
                <a:latin typeface="+mn-ea"/>
              </a:rPr>
              <a:t>52</a:t>
            </a:r>
            <a:r>
              <a:rPr lang="zh-CN" altLang="en-US" sz="1600" dirty="0">
                <a:solidFill>
                  <a:srgbClr val="000000"/>
                </a:solidFill>
                <a:latin typeface="+mn-ea"/>
              </a:rPr>
              <a:t>个模型。</a:t>
            </a:r>
            <a:r>
              <a:rPr lang="en-US" altLang="zh-CN" sz="1600" dirty="0">
                <a:solidFill>
                  <a:srgbClr val="000000"/>
                </a:solidFill>
                <a:latin typeface="+mn-ea"/>
              </a:rPr>
              <a:t>18</a:t>
            </a:r>
            <a:r>
              <a:rPr lang="zh-CN" altLang="en-US" sz="1600" dirty="0">
                <a:solidFill>
                  <a:srgbClr val="000000"/>
                </a:solidFill>
                <a:latin typeface="+mn-ea"/>
              </a:rPr>
              <a:t>个基础模型</a:t>
            </a:r>
            <a:r>
              <a:rPr lang="en-US" altLang="zh-CN" sz="1600" dirty="0">
                <a:solidFill>
                  <a:srgbClr val="000000"/>
                </a:solidFill>
                <a:latin typeface="+mn-ea"/>
              </a:rPr>
              <a:t>+34</a:t>
            </a:r>
            <a:r>
              <a:rPr lang="zh-CN" altLang="en-US" sz="1600" dirty="0">
                <a:solidFill>
                  <a:srgbClr val="000000"/>
                </a:solidFill>
                <a:latin typeface="+mn-ea"/>
              </a:rPr>
              <a:t>个微调模型。在四个场景的表现</a:t>
            </a:r>
            <a:r>
              <a:rPr lang="en-US" altLang="zh-CN" sz="1600" dirty="0">
                <a:solidFill>
                  <a:srgbClr val="000000"/>
                </a:solidFill>
                <a:latin typeface="+mn-ea"/>
              </a:rPr>
              <a:t>]</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关于后训练：基础模型在 </a:t>
            </a:r>
            <a:r>
              <a:rPr lang="en-US" altLang="zh-CN" sz="1600" dirty="0">
                <a:solidFill>
                  <a:srgbClr val="000000"/>
                </a:solidFill>
                <a:latin typeface="+mn-ea"/>
              </a:rPr>
              <a:t>LCB </a:t>
            </a:r>
            <a:r>
              <a:rPr lang="zh-CN" altLang="en-US" sz="1600" dirty="0">
                <a:solidFill>
                  <a:srgbClr val="000000"/>
                </a:solidFill>
                <a:latin typeface="+mn-ea"/>
              </a:rPr>
              <a:t>代码生成和 </a:t>
            </a:r>
            <a:r>
              <a:rPr lang="en-US" altLang="zh-CN" sz="1600" dirty="0" err="1">
                <a:solidFill>
                  <a:srgbClr val="000000"/>
                </a:solidFill>
                <a:latin typeface="+mn-ea"/>
              </a:rPr>
              <a:t>HumanEval</a:t>
            </a:r>
            <a:r>
              <a:rPr lang="en-US" altLang="zh-CN" sz="1600" dirty="0">
                <a:solidFill>
                  <a:srgbClr val="000000"/>
                </a:solidFill>
                <a:latin typeface="+mn-ea"/>
              </a:rPr>
              <a:t>+ </a:t>
            </a:r>
            <a:r>
              <a:rPr lang="zh-CN" altLang="en-US" sz="1600" dirty="0">
                <a:solidFill>
                  <a:srgbClr val="000000"/>
                </a:solidFill>
                <a:latin typeface="+mn-ea"/>
              </a:rPr>
              <a:t>基准上的表现是一致的，并且位于或接近的绿色阴影区域</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微调后的开源模型表现出更大的性能差距，在 </a:t>
            </a:r>
            <a:r>
              <a:rPr lang="en-US" altLang="zh-CN" sz="1600" dirty="0" err="1">
                <a:solidFill>
                  <a:srgbClr val="000000"/>
                </a:solidFill>
                <a:latin typeface="+mn-ea"/>
              </a:rPr>
              <a:t>HumanEval</a:t>
            </a:r>
            <a:r>
              <a:rPr lang="en-US" altLang="zh-CN" sz="1600" dirty="0">
                <a:solidFill>
                  <a:srgbClr val="000000"/>
                </a:solidFill>
                <a:latin typeface="+mn-ea"/>
              </a:rPr>
              <a:t>+ </a:t>
            </a:r>
            <a:r>
              <a:rPr lang="zh-CN" altLang="en-US" sz="1600" dirty="0">
                <a:solidFill>
                  <a:srgbClr val="000000"/>
                </a:solidFill>
                <a:latin typeface="+mn-ea"/>
              </a:rPr>
              <a:t>上的表现要好得多（过拟合问题）</a:t>
            </a:r>
            <a:endParaRPr lang="en-US" altLang="zh-CN" sz="1600" dirty="0">
              <a:solidFill>
                <a:srgbClr val="000000"/>
              </a:solidFill>
              <a:latin typeface="+mn-ea"/>
            </a:endParaRPr>
          </a:p>
          <a:p>
            <a:pPr>
              <a:lnSpc>
                <a:spcPct val="120000"/>
              </a:lnSpc>
            </a:pPr>
            <a:endParaRPr lang="en-US" altLang="zh-CN" sz="1600" dirty="0">
              <a:solidFill>
                <a:srgbClr val="000000"/>
              </a:solidFill>
              <a:latin typeface="+mn-ea"/>
            </a:endParaRPr>
          </a:p>
        </p:txBody>
      </p:sp>
      <p:pic>
        <p:nvPicPr>
          <p:cNvPr id="10" name="图片 9"/>
          <p:cNvPicPr>
            <a:picLocks noChangeAspect="1"/>
          </p:cNvPicPr>
          <p:nvPr/>
        </p:nvPicPr>
        <p:blipFill>
          <a:blip r:embed="rId1"/>
          <a:stretch>
            <a:fillRect/>
          </a:stretch>
        </p:blipFill>
        <p:spPr>
          <a:xfrm>
            <a:off x="344805" y="2400493"/>
            <a:ext cx="6562844" cy="4457507"/>
          </a:xfrm>
          <a:prstGeom prst="rect">
            <a:avLst/>
          </a:prstGeom>
        </p:spPr>
      </p:pic>
      <p:pic>
        <p:nvPicPr>
          <p:cNvPr id="16" name="图片 15"/>
          <p:cNvPicPr>
            <a:picLocks noChangeAspect="1"/>
          </p:cNvPicPr>
          <p:nvPr/>
        </p:nvPicPr>
        <p:blipFill>
          <a:blip r:embed="rId2"/>
          <a:stretch>
            <a:fillRect/>
          </a:stretch>
        </p:blipFill>
        <p:spPr>
          <a:xfrm>
            <a:off x="6616069" y="2652001"/>
            <a:ext cx="5231126" cy="4077901"/>
          </a:xfrm>
          <a:prstGeom prst="rect">
            <a:avLst/>
          </a:prstGeom>
        </p:spPr>
      </p:pic>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文本框 3"/>
          <p:cNvSpPr txBox="1"/>
          <p:nvPr/>
        </p:nvSpPr>
        <p:spPr>
          <a:xfrm>
            <a:off x="344805" y="302895"/>
            <a:ext cx="10500995" cy="460375"/>
          </a:xfrm>
          <a:prstGeom prst="rect">
            <a:avLst/>
          </a:prstGeom>
          <a:noFill/>
        </p:spPr>
        <p:txBody>
          <a:bodyPr wrap="square" rtlCol="0">
            <a:spAutoFit/>
          </a:bodyPr>
          <a:lstStyle/>
          <a:p>
            <a:pPr algn="l"/>
            <a:r>
              <a:rPr lang="zh-CN" altLang="en-US" sz="2400" dirty="0">
                <a:solidFill>
                  <a:schemeClr val="tx1"/>
                </a:solidFill>
              </a:rPr>
              <a:t>进展三：评估集相关工作分享</a:t>
            </a:r>
            <a:endParaRPr lang="en-US" altLang="zh-CN" sz="2400" dirty="0">
              <a:solidFill>
                <a:schemeClr val="tx1"/>
              </a:solidFill>
              <a:sym typeface="+mn-ea"/>
            </a:endParaRPr>
          </a:p>
        </p:txBody>
      </p:sp>
      <p:sp>
        <p:nvSpPr>
          <p:cNvPr id="2" name="文本框 1"/>
          <p:cNvSpPr txBox="1"/>
          <p:nvPr/>
        </p:nvSpPr>
        <p:spPr>
          <a:xfrm>
            <a:off x="344805" y="927923"/>
            <a:ext cx="11655907" cy="369332"/>
          </a:xfrm>
          <a:prstGeom prst="rect">
            <a:avLst/>
          </a:prstGeom>
          <a:noFill/>
        </p:spPr>
        <p:txBody>
          <a:bodyPr wrap="square" rtlCol="0">
            <a:spAutoFit/>
          </a:bodyPr>
          <a:lstStyle/>
          <a:p>
            <a:r>
              <a:rPr lang="en-US" altLang="zh-CN" dirty="0">
                <a:latin typeface="Times New Roman" panose="02020503050405090304" pitchFamily="18" charset="0"/>
                <a:cs typeface="Times New Roman" panose="02020503050405090304" pitchFamily="18" charset="0"/>
              </a:rPr>
              <a:t>3. </a:t>
            </a:r>
            <a:r>
              <a:rPr lang="en-US" altLang="zh-CN" i="1" dirty="0">
                <a:latin typeface="Times New Roman" panose="02020503050405090304" pitchFamily="18" charset="0"/>
                <a:cs typeface="Times New Roman" panose="02020503050405090304" pitchFamily="18" charset="0"/>
              </a:rPr>
              <a:t>SWE-bench: Can Language Models Resolve Real-world </a:t>
            </a:r>
            <a:r>
              <a:rPr lang="en-US" altLang="zh-CN" i="1" dirty="0" err="1">
                <a:latin typeface="Times New Roman" panose="02020503050405090304" pitchFamily="18" charset="0"/>
                <a:cs typeface="Times New Roman" panose="02020503050405090304" pitchFamily="18" charset="0"/>
              </a:rPr>
              <a:t>Github</a:t>
            </a:r>
            <a:r>
              <a:rPr lang="en-US" altLang="zh-CN" i="1" dirty="0">
                <a:latin typeface="Times New Roman" panose="02020503050405090304" pitchFamily="18" charset="0"/>
                <a:cs typeface="Times New Roman" panose="02020503050405090304" pitchFamily="18" charset="0"/>
              </a:rPr>
              <a:t> Issues? </a:t>
            </a:r>
            <a:r>
              <a:rPr lang="en-US" altLang="zh-CN" dirty="0">
                <a:latin typeface="Times New Roman" panose="02020503050405090304" pitchFamily="18" charset="0"/>
                <a:cs typeface="Times New Roman" panose="02020503050405090304" pitchFamily="18" charset="0"/>
              </a:rPr>
              <a:t>ICLR 2024 oral</a:t>
            </a:r>
            <a:endParaRPr lang="en-US" altLang="zh-CN" dirty="0">
              <a:latin typeface="Times New Roman" panose="02020503050405090304" pitchFamily="18" charset="0"/>
              <a:cs typeface="Times New Roman" panose="02020503050405090304" pitchFamily="18" charset="0"/>
            </a:endParaRPr>
          </a:p>
        </p:txBody>
      </p:sp>
      <p:sp>
        <p:nvSpPr>
          <p:cNvPr id="7" name="文本框 6"/>
          <p:cNvSpPr txBox="1"/>
          <p:nvPr/>
        </p:nvSpPr>
        <p:spPr>
          <a:xfrm>
            <a:off x="344805" y="1347052"/>
            <a:ext cx="11655907" cy="959686"/>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20000"/>
              </a:lnSpc>
            </a:pPr>
            <a:r>
              <a:rPr lang="zh-CN" altLang="en-US" sz="1600" dirty="0">
                <a:solidFill>
                  <a:srgbClr val="000000"/>
                </a:solidFill>
                <a:latin typeface="+mn-ea"/>
              </a:rPr>
              <a:t>一句话总结：</a:t>
            </a:r>
            <a:endParaRPr lang="en-US" altLang="zh-CN" sz="1600" dirty="0">
              <a:solidFill>
                <a:srgbClr val="000000"/>
              </a:solidFill>
              <a:latin typeface="+mn-ea"/>
            </a:endParaRPr>
          </a:p>
          <a:p>
            <a:pPr>
              <a:lnSpc>
                <a:spcPct val="120000"/>
              </a:lnSpc>
            </a:pPr>
            <a:r>
              <a:rPr lang="zh-CN" altLang="en-US" sz="1600" dirty="0"/>
              <a:t>一个基于 </a:t>
            </a:r>
            <a:r>
              <a:rPr lang="en-US" altLang="zh-CN" sz="1600" dirty="0"/>
              <a:t>12 </a:t>
            </a:r>
            <a:r>
              <a:rPr lang="zh-CN" altLang="en-US" sz="1600" dirty="0"/>
              <a:t>个流行 </a:t>
            </a:r>
            <a:r>
              <a:rPr lang="en-US" altLang="zh-CN" sz="1600" dirty="0"/>
              <a:t>Python </a:t>
            </a:r>
            <a:r>
              <a:rPr lang="zh-CN" altLang="en-US" sz="1600" dirty="0"/>
              <a:t>开源仓库构建的评估框架，包含 </a:t>
            </a:r>
            <a:r>
              <a:rPr lang="en-US" altLang="zh-CN" sz="1600" dirty="0"/>
              <a:t>2,294 </a:t>
            </a:r>
            <a:r>
              <a:rPr lang="zh-CN" altLang="en-US" sz="1600" dirty="0"/>
              <a:t>个真实的软件工程问题（</a:t>
            </a:r>
            <a:r>
              <a:rPr lang="en-US" altLang="zh-CN" sz="1600" dirty="0"/>
              <a:t>Issue-Pull Request </a:t>
            </a:r>
            <a:r>
              <a:rPr lang="zh-CN" altLang="en-US" sz="1600" dirty="0"/>
              <a:t>对），旨在考察大模型仓库级代码理解能力，通过检索、理解长上下文并进行跨文件编辑来解决实际 </a:t>
            </a:r>
            <a:r>
              <a:rPr lang="en-US" altLang="zh-CN" sz="1600" dirty="0"/>
              <a:t>Bug </a:t>
            </a:r>
            <a:r>
              <a:rPr lang="zh-CN" altLang="en-US" sz="1600" dirty="0"/>
              <a:t>或新增功能的能力。</a:t>
            </a:r>
            <a:endParaRPr lang="en-US" altLang="zh-CN" sz="1600" dirty="0">
              <a:solidFill>
                <a:srgbClr val="000000"/>
              </a:solidFill>
              <a:latin typeface="+mn-ea"/>
            </a:endParaRPr>
          </a:p>
        </p:txBody>
      </p:sp>
      <p:sp>
        <p:nvSpPr>
          <p:cNvPr id="3" name="文本框 2"/>
          <p:cNvSpPr txBox="1"/>
          <p:nvPr/>
        </p:nvSpPr>
        <p:spPr>
          <a:xfrm>
            <a:off x="344805" y="2469314"/>
            <a:ext cx="11655907" cy="1550617"/>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20000"/>
              </a:lnSpc>
            </a:pPr>
            <a:r>
              <a:rPr lang="zh-CN" altLang="en-US" sz="1600" dirty="0">
                <a:solidFill>
                  <a:srgbClr val="000000"/>
                </a:solidFill>
                <a:latin typeface="+mn-ea"/>
              </a:rPr>
              <a:t>构建重点：</a:t>
            </a:r>
            <a:endParaRPr lang="en-US" altLang="zh-CN" sz="1600" dirty="0">
              <a:solidFill>
                <a:srgbClr val="000000"/>
              </a:solidFill>
              <a:latin typeface="+mn-ea"/>
            </a:endParaRPr>
          </a:p>
          <a:p>
            <a:pPr>
              <a:lnSpc>
                <a:spcPct val="120000"/>
              </a:lnSpc>
            </a:pPr>
            <a:r>
              <a:rPr lang="en-US" altLang="zh-CN" sz="1600" dirty="0">
                <a:solidFill>
                  <a:srgbClr val="000000"/>
                </a:solidFill>
                <a:latin typeface="+mn-ea"/>
              </a:rPr>
              <a:t>1. </a:t>
            </a:r>
            <a:r>
              <a:rPr lang="zh-CN" altLang="en-US" sz="1600" dirty="0"/>
              <a:t>从 </a:t>
            </a:r>
            <a:r>
              <a:rPr lang="en-US" altLang="zh-CN" sz="1600" dirty="0"/>
              <a:t>GitHub </a:t>
            </a:r>
            <a:r>
              <a:rPr lang="zh-CN" altLang="en-US" sz="1600" dirty="0"/>
              <a:t>上 </a:t>
            </a:r>
            <a:r>
              <a:rPr lang="en-US" altLang="zh-CN" sz="1600" dirty="0"/>
              <a:t>12 </a:t>
            </a:r>
            <a:r>
              <a:rPr lang="zh-CN" altLang="en-US" sz="1600" dirty="0"/>
              <a:t>个流行的 </a:t>
            </a:r>
            <a:r>
              <a:rPr lang="en-US" altLang="zh-CN" sz="1600" dirty="0"/>
              <a:t>Python </a:t>
            </a:r>
            <a:r>
              <a:rPr lang="zh-CN" altLang="en-US" sz="1600" dirty="0"/>
              <a:t>库（如 </a:t>
            </a:r>
            <a:r>
              <a:rPr lang="en-US" altLang="zh-CN" sz="1600" dirty="0"/>
              <a:t>scikit-learn, flask, </a:t>
            </a:r>
            <a:r>
              <a:rPr lang="en-US" altLang="zh-CN" sz="1600" dirty="0" err="1"/>
              <a:t>django</a:t>
            </a:r>
            <a:r>
              <a:rPr lang="en-US" altLang="zh-CN" sz="1600" dirty="0"/>
              <a:t> </a:t>
            </a:r>
            <a:r>
              <a:rPr lang="zh-CN" altLang="en-US" sz="1600" dirty="0"/>
              <a:t>等）抓取数据</a:t>
            </a:r>
            <a:endParaRPr lang="en-US" altLang="zh-CN" sz="1600" dirty="0"/>
          </a:p>
          <a:p>
            <a:pPr>
              <a:lnSpc>
                <a:spcPct val="120000"/>
              </a:lnSpc>
            </a:pPr>
            <a:r>
              <a:rPr lang="en-US" altLang="zh-CN" sz="1600" dirty="0">
                <a:solidFill>
                  <a:srgbClr val="000000"/>
                </a:solidFill>
                <a:latin typeface="+mn-ea"/>
              </a:rPr>
              <a:t>2. </a:t>
            </a:r>
            <a:r>
              <a:rPr lang="zh-CN" altLang="en-US" sz="1600" dirty="0">
                <a:solidFill>
                  <a:srgbClr val="000000"/>
                </a:solidFill>
                <a:latin typeface="+mn-ea"/>
              </a:rPr>
              <a:t>三阶段筛选：</a:t>
            </a:r>
            <a:r>
              <a:rPr lang="zh-CN" altLang="en-US" sz="1600" dirty="0"/>
              <a:t>收集 </a:t>
            </a:r>
            <a:r>
              <a:rPr lang="en-US" altLang="zh-CN" sz="1600" dirty="0"/>
              <a:t>PR </a:t>
            </a:r>
            <a:r>
              <a:rPr lang="zh-CN" altLang="en-US" sz="1600" dirty="0"/>
              <a:t>及其关联的代码库快照；只保留解决了明确 </a:t>
            </a:r>
            <a:r>
              <a:rPr lang="en-US" altLang="zh-CN" sz="1600" dirty="0"/>
              <a:t>Issue </a:t>
            </a:r>
            <a:r>
              <a:rPr lang="zh-CN" altLang="en-US" sz="1600" dirty="0"/>
              <a:t>且包含测试文件变更的 </a:t>
            </a:r>
            <a:r>
              <a:rPr lang="en-US" altLang="zh-CN" sz="1600" dirty="0"/>
              <a:t>PR</a:t>
            </a:r>
            <a:r>
              <a:rPr lang="zh-CN" altLang="en-US" sz="1600" dirty="0"/>
              <a:t>；运行测试，确保每个任务至少包含一个“</a:t>
            </a:r>
            <a:r>
              <a:rPr lang="en-US" altLang="zh-CN" sz="1600" dirty="0"/>
              <a:t>Fail-to-Pass”</a:t>
            </a:r>
            <a:r>
              <a:rPr lang="zh-CN" altLang="en-US" sz="1600" dirty="0"/>
              <a:t>的测试用例，以此作为基准</a:t>
            </a:r>
            <a:endParaRPr lang="en-US" altLang="zh-CN" sz="1600" dirty="0">
              <a:solidFill>
                <a:srgbClr val="000000"/>
              </a:solidFill>
              <a:latin typeface="+mn-ea"/>
            </a:endParaRPr>
          </a:p>
          <a:p>
            <a:pPr>
              <a:lnSpc>
                <a:spcPct val="120000"/>
              </a:lnSpc>
            </a:pPr>
            <a:r>
              <a:rPr lang="en-US" altLang="zh-CN" sz="1600" dirty="0">
                <a:solidFill>
                  <a:srgbClr val="000000"/>
                </a:solidFill>
                <a:latin typeface="+mn-ea"/>
              </a:rPr>
              <a:t>3. </a:t>
            </a:r>
            <a:r>
              <a:rPr lang="zh-CN" altLang="en-US" sz="1600" dirty="0">
                <a:solidFill>
                  <a:srgbClr val="000000"/>
                </a:solidFill>
                <a:latin typeface="+mn-ea"/>
              </a:rPr>
              <a:t>评估集亮点：仓库级别、超长上下文、跨文件代码理解、流程自动化易更新</a:t>
            </a:r>
            <a:endParaRPr lang="en-US" altLang="zh-CN" sz="1600" dirty="0"/>
          </a:p>
        </p:txBody>
      </p:sp>
      <p:pic>
        <p:nvPicPr>
          <p:cNvPr id="6" name="图片 5"/>
          <p:cNvPicPr>
            <a:picLocks noChangeAspect="1"/>
          </p:cNvPicPr>
          <p:nvPr/>
        </p:nvPicPr>
        <p:blipFill>
          <a:blip r:embed="rId1"/>
          <a:stretch>
            <a:fillRect/>
          </a:stretch>
        </p:blipFill>
        <p:spPr>
          <a:xfrm>
            <a:off x="1711931" y="4297220"/>
            <a:ext cx="5368807" cy="2560780"/>
          </a:xfrm>
          <a:prstGeom prst="rect">
            <a:avLst/>
          </a:prstGeom>
        </p:spPr>
      </p:pic>
      <p:pic>
        <p:nvPicPr>
          <p:cNvPr id="9" name="图片 8"/>
          <p:cNvPicPr>
            <a:picLocks noChangeAspect="1"/>
          </p:cNvPicPr>
          <p:nvPr/>
        </p:nvPicPr>
        <p:blipFill>
          <a:blip r:embed="rId2"/>
          <a:stretch>
            <a:fillRect/>
          </a:stretch>
        </p:blipFill>
        <p:spPr>
          <a:xfrm>
            <a:off x="8115370" y="3659570"/>
            <a:ext cx="1591337" cy="3116368"/>
          </a:xfrm>
          <a:prstGeom prst="rect">
            <a:avLst/>
          </a:prstGeom>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文本框 3"/>
          <p:cNvSpPr txBox="1"/>
          <p:nvPr/>
        </p:nvSpPr>
        <p:spPr>
          <a:xfrm>
            <a:off x="344805" y="302895"/>
            <a:ext cx="10500995" cy="460375"/>
          </a:xfrm>
          <a:prstGeom prst="rect">
            <a:avLst/>
          </a:prstGeom>
          <a:noFill/>
        </p:spPr>
        <p:txBody>
          <a:bodyPr wrap="square" rtlCol="0">
            <a:spAutoFit/>
          </a:bodyPr>
          <a:lstStyle/>
          <a:p>
            <a:pPr algn="l"/>
            <a:r>
              <a:rPr lang="zh-CN" altLang="en-US" sz="2400" dirty="0">
                <a:solidFill>
                  <a:schemeClr val="tx1"/>
                </a:solidFill>
              </a:rPr>
              <a:t>进展三：评估集相关工作分享</a:t>
            </a:r>
            <a:endParaRPr lang="en-US" altLang="zh-CN" sz="2400" dirty="0">
              <a:solidFill>
                <a:schemeClr val="tx1"/>
              </a:solidFill>
              <a:sym typeface="+mn-ea"/>
            </a:endParaRPr>
          </a:p>
        </p:txBody>
      </p:sp>
      <p:sp>
        <p:nvSpPr>
          <p:cNvPr id="2" name="文本框 1"/>
          <p:cNvSpPr txBox="1"/>
          <p:nvPr/>
        </p:nvSpPr>
        <p:spPr>
          <a:xfrm>
            <a:off x="344805" y="927923"/>
            <a:ext cx="11655907" cy="369332"/>
          </a:xfrm>
          <a:prstGeom prst="rect">
            <a:avLst/>
          </a:prstGeom>
          <a:noFill/>
        </p:spPr>
        <p:txBody>
          <a:bodyPr wrap="square" rtlCol="0">
            <a:spAutoFit/>
          </a:bodyPr>
          <a:lstStyle/>
          <a:p>
            <a:r>
              <a:rPr lang="en-US" altLang="zh-CN" dirty="0">
                <a:latin typeface="Times New Roman" panose="02020503050405090304" pitchFamily="18" charset="0"/>
                <a:cs typeface="Times New Roman" panose="02020503050405090304" pitchFamily="18" charset="0"/>
              </a:rPr>
              <a:t>3. </a:t>
            </a:r>
            <a:r>
              <a:rPr lang="en-US" altLang="zh-CN" i="1" dirty="0">
                <a:latin typeface="Times New Roman" panose="02020503050405090304" pitchFamily="18" charset="0"/>
                <a:cs typeface="Times New Roman" panose="02020503050405090304" pitchFamily="18" charset="0"/>
              </a:rPr>
              <a:t>SWE-bench: Can Language Models Resolve Real-world </a:t>
            </a:r>
            <a:r>
              <a:rPr lang="en-US" altLang="zh-CN" i="1" dirty="0" err="1">
                <a:latin typeface="Times New Roman" panose="02020503050405090304" pitchFamily="18" charset="0"/>
                <a:cs typeface="Times New Roman" panose="02020503050405090304" pitchFamily="18" charset="0"/>
              </a:rPr>
              <a:t>Github</a:t>
            </a:r>
            <a:r>
              <a:rPr lang="en-US" altLang="zh-CN" i="1" dirty="0">
                <a:latin typeface="Times New Roman" panose="02020503050405090304" pitchFamily="18" charset="0"/>
                <a:cs typeface="Times New Roman" panose="02020503050405090304" pitchFamily="18" charset="0"/>
              </a:rPr>
              <a:t> Issues? </a:t>
            </a:r>
            <a:r>
              <a:rPr lang="en-US" altLang="zh-CN" dirty="0">
                <a:latin typeface="Times New Roman" panose="02020503050405090304" pitchFamily="18" charset="0"/>
                <a:cs typeface="Times New Roman" panose="02020503050405090304" pitchFamily="18" charset="0"/>
              </a:rPr>
              <a:t>ICLR 2024 oral</a:t>
            </a:r>
            <a:endParaRPr lang="en-US" altLang="zh-CN" dirty="0">
              <a:latin typeface="Times New Roman" panose="02020503050405090304" pitchFamily="18" charset="0"/>
              <a:cs typeface="Times New Roman" panose="02020503050405090304" pitchFamily="18" charset="0"/>
            </a:endParaRPr>
          </a:p>
        </p:txBody>
      </p:sp>
      <p:sp>
        <p:nvSpPr>
          <p:cNvPr id="7" name="文本框 6"/>
          <p:cNvSpPr txBox="1"/>
          <p:nvPr/>
        </p:nvSpPr>
        <p:spPr>
          <a:xfrm>
            <a:off x="344805" y="1347052"/>
            <a:ext cx="11655907" cy="1550617"/>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20000"/>
              </a:lnSpc>
            </a:pPr>
            <a:r>
              <a:rPr lang="zh-CN" altLang="en-US" sz="1600" dirty="0">
                <a:solidFill>
                  <a:srgbClr val="000000"/>
                </a:solidFill>
                <a:latin typeface="+mn-ea"/>
              </a:rPr>
              <a:t>实验设置：</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输入：</a:t>
            </a:r>
            <a:r>
              <a:rPr lang="zh-CN" altLang="en-US" sz="1600" dirty="0"/>
              <a:t>模型接收 </a:t>
            </a:r>
            <a:r>
              <a:rPr lang="en-US" altLang="zh-CN" sz="1600" dirty="0"/>
              <a:t>Issue </a:t>
            </a:r>
            <a:r>
              <a:rPr lang="zh-CN" altLang="en-US" sz="1600" dirty="0"/>
              <a:t>的文本描述 </a:t>
            </a:r>
            <a:r>
              <a:rPr lang="en-US" altLang="zh-CN" sz="1600" dirty="0"/>
              <a:t>+ </a:t>
            </a:r>
            <a:r>
              <a:rPr lang="zh-CN" altLang="en-US" sz="1600" dirty="0"/>
              <a:t>代码库中的部分文件 </a:t>
            </a:r>
            <a:r>
              <a:rPr lang="en-US" altLang="zh-CN" sz="1600" dirty="0">
                <a:solidFill>
                  <a:srgbClr val="000000"/>
                </a:solidFill>
                <a:latin typeface="+mn-ea"/>
              </a:rPr>
              <a:t>+ </a:t>
            </a:r>
            <a:r>
              <a:rPr lang="zh-CN" altLang="en-US" sz="1600" dirty="0">
                <a:solidFill>
                  <a:srgbClr val="000000"/>
                </a:solidFill>
                <a:latin typeface="+mn-ea"/>
              </a:rPr>
              <a:t>提供上下文检索策略（模拟真实</a:t>
            </a:r>
            <a:r>
              <a:rPr lang="en-US" altLang="zh-CN" sz="1600" dirty="0">
                <a:solidFill>
                  <a:srgbClr val="000000"/>
                </a:solidFill>
                <a:latin typeface="+mn-ea"/>
              </a:rPr>
              <a:t>BM25</a:t>
            </a:r>
            <a:r>
              <a:rPr lang="zh-CN" altLang="en-US" sz="1600" dirty="0">
                <a:solidFill>
                  <a:srgbClr val="000000"/>
                </a:solidFill>
                <a:latin typeface="+mn-ea"/>
              </a:rPr>
              <a:t>，标注真实文件上帝视角</a:t>
            </a:r>
            <a:r>
              <a:rPr lang="en-US" altLang="zh-CN" sz="1600" dirty="0">
                <a:solidFill>
                  <a:srgbClr val="000000"/>
                </a:solidFill>
                <a:latin typeface="+mn-ea"/>
              </a:rPr>
              <a:t>Oracle</a:t>
            </a:r>
            <a:r>
              <a:rPr lang="zh-CN" altLang="en-US" sz="1600" dirty="0">
                <a:solidFill>
                  <a:srgbClr val="000000"/>
                </a:solidFill>
                <a:latin typeface="+mn-ea"/>
              </a:rPr>
              <a:t>）</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输出：</a:t>
            </a:r>
            <a:r>
              <a:rPr lang="zh-CN" altLang="en-US" sz="1600" dirty="0"/>
              <a:t>要求模型生成一个 </a:t>
            </a:r>
            <a:r>
              <a:rPr lang="en-US" altLang="zh-CN" sz="1600" dirty="0"/>
              <a:t>Patch</a:t>
            </a:r>
            <a:r>
              <a:rPr lang="zh-CN" altLang="en-US" sz="1600" dirty="0"/>
              <a:t>（补丁）文件，并通过 </a:t>
            </a:r>
            <a:r>
              <a:rPr lang="en-US" altLang="zh-CN" sz="1600" dirty="0"/>
              <a:t>Unix patch </a:t>
            </a:r>
            <a:r>
              <a:rPr lang="zh-CN" altLang="en-US" sz="1600" dirty="0"/>
              <a:t>程序应用到代码库</a:t>
            </a:r>
            <a:endParaRPr lang="en-US" altLang="zh-CN" sz="1600" dirty="0"/>
          </a:p>
          <a:p>
            <a:pPr>
              <a:lnSpc>
                <a:spcPct val="120000"/>
              </a:lnSpc>
            </a:pPr>
            <a:r>
              <a:rPr lang="zh-CN" altLang="en-US" sz="1600" dirty="0"/>
              <a:t>评估指标：</a:t>
            </a:r>
            <a:r>
              <a:rPr lang="en-US" altLang="zh-CN" sz="1600" dirty="0"/>
              <a:t>Pass Rate</a:t>
            </a:r>
            <a:r>
              <a:rPr lang="zh-CN" altLang="en-US" sz="1600" dirty="0"/>
              <a:t>（解决率）。即应用补丁后，通过所有相关单元测试和系统测试的任务比例。</a:t>
            </a:r>
            <a:endParaRPr lang="en-US" altLang="zh-CN" sz="1600" dirty="0"/>
          </a:p>
          <a:p>
            <a:pPr>
              <a:lnSpc>
                <a:spcPct val="120000"/>
              </a:lnSpc>
            </a:pPr>
            <a:r>
              <a:rPr lang="zh-CN" altLang="en-US" sz="1600" dirty="0"/>
              <a:t>评估模型：闭源模型（</a:t>
            </a:r>
            <a:r>
              <a:rPr lang="en-US" altLang="zh-CN" sz="1600" dirty="0"/>
              <a:t>GPT-3.5, GPT-4, Claude 2</a:t>
            </a:r>
            <a:r>
              <a:rPr lang="zh-CN" altLang="en-US" sz="1600" dirty="0"/>
              <a:t>）</a:t>
            </a:r>
            <a:r>
              <a:rPr lang="en-US" altLang="zh-CN" sz="1600" dirty="0"/>
              <a:t>+ </a:t>
            </a:r>
            <a:r>
              <a:rPr lang="zh-CN" altLang="en-US" sz="1600" dirty="0"/>
              <a:t>基于 </a:t>
            </a:r>
            <a:r>
              <a:rPr lang="en-US" altLang="zh-CN" sz="1600" dirty="0" err="1"/>
              <a:t>CodeLlama</a:t>
            </a:r>
            <a:r>
              <a:rPr lang="en-US" altLang="zh-CN" sz="1600" dirty="0"/>
              <a:t> </a:t>
            </a:r>
            <a:r>
              <a:rPr lang="zh-CN" altLang="en-US" sz="1600" dirty="0"/>
              <a:t>微调的开源模型（</a:t>
            </a:r>
            <a:r>
              <a:rPr lang="en-US" altLang="zh-CN" sz="1600" dirty="0"/>
              <a:t>SWE-Llama 7B/13B</a:t>
            </a:r>
            <a:r>
              <a:rPr lang="zh-CN" altLang="en-US" sz="1600" dirty="0"/>
              <a:t>）</a:t>
            </a:r>
            <a:endParaRPr lang="en-US" altLang="zh-CN" sz="1600" dirty="0"/>
          </a:p>
        </p:txBody>
      </p:sp>
      <p:pic>
        <p:nvPicPr>
          <p:cNvPr id="8" name="图片 7"/>
          <p:cNvPicPr>
            <a:picLocks noChangeAspect="1"/>
          </p:cNvPicPr>
          <p:nvPr/>
        </p:nvPicPr>
        <p:blipFill>
          <a:blip r:embed="rId1"/>
          <a:stretch>
            <a:fillRect/>
          </a:stretch>
        </p:blipFill>
        <p:spPr>
          <a:xfrm>
            <a:off x="1043354" y="3444363"/>
            <a:ext cx="6847619" cy="2485714"/>
          </a:xfrm>
          <a:prstGeom prst="rect">
            <a:avLst/>
          </a:prstGeom>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文本框 3"/>
          <p:cNvSpPr txBox="1"/>
          <p:nvPr/>
        </p:nvSpPr>
        <p:spPr>
          <a:xfrm>
            <a:off x="344805" y="302895"/>
            <a:ext cx="10500995" cy="460375"/>
          </a:xfrm>
          <a:prstGeom prst="rect">
            <a:avLst/>
          </a:prstGeom>
          <a:noFill/>
        </p:spPr>
        <p:txBody>
          <a:bodyPr wrap="square" rtlCol="0">
            <a:spAutoFit/>
          </a:bodyPr>
          <a:lstStyle/>
          <a:p>
            <a:pPr algn="l"/>
            <a:r>
              <a:rPr lang="zh-CN" altLang="en-US" sz="2400" dirty="0">
                <a:solidFill>
                  <a:schemeClr val="tx1"/>
                </a:solidFill>
              </a:rPr>
              <a:t>进展三：评估集相关工作分享</a:t>
            </a:r>
            <a:endParaRPr lang="en-US" altLang="zh-CN" sz="2400" dirty="0">
              <a:solidFill>
                <a:schemeClr val="tx1"/>
              </a:solidFill>
              <a:sym typeface="+mn-ea"/>
            </a:endParaRPr>
          </a:p>
        </p:txBody>
      </p:sp>
      <p:sp>
        <p:nvSpPr>
          <p:cNvPr id="2" name="文本框 1"/>
          <p:cNvSpPr txBox="1"/>
          <p:nvPr/>
        </p:nvSpPr>
        <p:spPr>
          <a:xfrm>
            <a:off x="344805" y="927923"/>
            <a:ext cx="11655907" cy="369332"/>
          </a:xfrm>
          <a:prstGeom prst="rect">
            <a:avLst/>
          </a:prstGeom>
          <a:noFill/>
        </p:spPr>
        <p:txBody>
          <a:bodyPr wrap="square" rtlCol="0">
            <a:spAutoFit/>
          </a:bodyPr>
          <a:lstStyle/>
          <a:p>
            <a:r>
              <a:rPr lang="en-US" altLang="zh-CN" dirty="0">
                <a:latin typeface="Times New Roman" panose="02020503050405090304" pitchFamily="18" charset="0"/>
                <a:cs typeface="Times New Roman" panose="02020503050405090304" pitchFamily="18" charset="0"/>
              </a:rPr>
              <a:t>3. </a:t>
            </a:r>
            <a:r>
              <a:rPr lang="en-US" altLang="zh-CN" i="1" dirty="0">
                <a:latin typeface="Times New Roman" panose="02020503050405090304" pitchFamily="18" charset="0"/>
                <a:cs typeface="Times New Roman" panose="02020503050405090304" pitchFamily="18" charset="0"/>
              </a:rPr>
              <a:t>SWE-bench: Can Language Models Resolve Real-world </a:t>
            </a:r>
            <a:r>
              <a:rPr lang="en-US" altLang="zh-CN" i="1" dirty="0" err="1">
                <a:latin typeface="Times New Roman" panose="02020503050405090304" pitchFamily="18" charset="0"/>
                <a:cs typeface="Times New Roman" panose="02020503050405090304" pitchFamily="18" charset="0"/>
              </a:rPr>
              <a:t>Github</a:t>
            </a:r>
            <a:r>
              <a:rPr lang="en-US" altLang="zh-CN" i="1" dirty="0">
                <a:latin typeface="Times New Roman" panose="02020503050405090304" pitchFamily="18" charset="0"/>
                <a:cs typeface="Times New Roman" panose="02020503050405090304" pitchFamily="18" charset="0"/>
              </a:rPr>
              <a:t> Issues? </a:t>
            </a:r>
            <a:r>
              <a:rPr lang="en-US" altLang="zh-CN" dirty="0">
                <a:latin typeface="Times New Roman" panose="02020503050405090304" pitchFamily="18" charset="0"/>
                <a:cs typeface="Times New Roman" panose="02020503050405090304" pitchFamily="18" charset="0"/>
              </a:rPr>
              <a:t>ICLR 2024 oral</a:t>
            </a:r>
            <a:endParaRPr lang="en-US" altLang="zh-CN" dirty="0">
              <a:latin typeface="Times New Roman" panose="02020503050405090304" pitchFamily="18" charset="0"/>
              <a:cs typeface="Times New Roman" panose="02020503050405090304" pitchFamily="18" charset="0"/>
            </a:endParaRPr>
          </a:p>
        </p:txBody>
      </p:sp>
      <p:sp>
        <p:nvSpPr>
          <p:cNvPr id="7" name="文本框 6"/>
          <p:cNvSpPr txBox="1"/>
          <p:nvPr/>
        </p:nvSpPr>
        <p:spPr>
          <a:xfrm>
            <a:off x="344805" y="1347052"/>
            <a:ext cx="11655907" cy="1550617"/>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20000"/>
              </a:lnSpc>
            </a:pPr>
            <a:r>
              <a:rPr lang="zh-CN" altLang="en-US" sz="1600" dirty="0">
                <a:solidFill>
                  <a:srgbClr val="000000"/>
                </a:solidFill>
                <a:latin typeface="+mn-ea"/>
              </a:rPr>
              <a:t>实验评估重点结果与分析：</a:t>
            </a:r>
            <a:endParaRPr lang="en-US" altLang="zh-CN" sz="1600" dirty="0">
              <a:solidFill>
                <a:srgbClr val="000000"/>
              </a:solidFill>
              <a:latin typeface="+mn-ea"/>
            </a:endParaRPr>
          </a:p>
          <a:p>
            <a:pPr marL="342900" indent="-342900">
              <a:lnSpc>
                <a:spcPct val="120000"/>
              </a:lnSpc>
              <a:buAutoNum type="arabicPeriod"/>
            </a:pPr>
            <a:r>
              <a:rPr lang="zh-CN" altLang="en-US" sz="1600" dirty="0">
                <a:solidFill>
                  <a:srgbClr val="000000"/>
                </a:solidFill>
                <a:latin typeface="+mn-ea"/>
              </a:rPr>
              <a:t>实验结果如下，模拟真实情况下，表现最好的模型为</a:t>
            </a:r>
            <a:r>
              <a:rPr lang="en-US" altLang="zh-CN" sz="1600" dirty="0">
                <a:solidFill>
                  <a:srgbClr val="000000"/>
                </a:solidFill>
                <a:latin typeface="+mn-ea"/>
              </a:rPr>
              <a:t>claude2</a:t>
            </a:r>
            <a:r>
              <a:rPr lang="zh-CN" altLang="en-US" sz="1600" dirty="0">
                <a:solidFill>
                  <a:srgbClr val="000000"/>
                </a:solidFill>
                <a:latin typeface="+mn-ea"/>
              </a:rPr>
              <a:t>，仅仅解决了</a:t>
            </a:r>
            <a:r>
              <a:rPr lang="en-US" altLang="zh-CN" sz="1600" dirty="0">
                <a:solidFill>
                  <a:srgbClr val="000000"/>
                </a:solidFill>
                <a:latin typeface="+mn-ea"/>
              </a:rPr>
              <a:t>1.96%</a:t>
            </a:r>
            <a:endParaRPr lang="en-US" altLang="zh-CN" sz="1600" dirty="0">
              <a:solidFill>
                <a:srgbClr val="000000"/>
              </a:solidFill>
              <a:latin typeface="+mn-ea"/>
            </a:endParaRPr>
          </a:p>
          <a:p>
            <a:pPr marL="342900" indent="-342900">
              <a:lnSpc>
                <a:spcPct val="120000"/>
              </a:lnSpc>
              <a:buAutoNum type="arabicPeriod"/>
            </a:pPr>
            <a:r>
              <a:rPr lang="zh-CN" altLang="en-US" sz="1600" dirty="0">
                <a:solidFill>
                  <a:srgbClr val="000000"/>
                </a:solidFill>
                <a:latin typeface="+mn-ea"/>
              </a:rPr>
              <a:t>开上帝视角</a:t>
            </a:r>
            <a:r>
              <a:rPr lang="en-US" altLang="zh-CN" sz="1600" dirty="0">
                <a:solidFill>
                  <a:srgbClr val="000000"/>
                </a:solidFill>
                <a:latin typeface="+mn-ea"/>
              </a:rPr>
              <a:t>Oracle</a:t>
            </a:r>
            <a:r>
              <a:rPr lang="zh-CN" altLang="en-US" sz="1600" dirty="0">
                <a:solidFill>
                  <a:srgbClr val="000000"/>
                </a:solidFill>
                <a:latin typeface="+mn-ea"/>
              </a:rPr>
              <a:t>后，所有模型均提升，说明</a:t>
            </a:r>
            <a:r>
              <a:rPr lang="zh-CN" altLang="en-US" sz="1600" b="1" dirty="0">
                <a:solidFill>
                  <a:srgbClr val="000000"/>
                </a:solidFill>
                <a:latin typeface="+mn-ea"/>
              </a:rPr>
              <a:t>上下文定位队大模型理解能力提升非常重要</a:t>
            </a:r>
            <a:endParaRPr lang="en-US" altLang="zh-CN" sz="1600" b="1" dirty="0">
              <a:solidFill>
                <a:srgbClr val="000000"/>
              </a:solidFill>
              <a:latin typeface="+mn-ea"/>
            </a:endParaRPr>
          </a:p>
          <a:p>
            <a:pPr marL="342900" indent="-342900">
              <a:lnSpc>
                <a:spcPct val="120000"/>
              </a:lnSpc>
              <a:buAutoNum type="arabicPeriod"/>
            </a:pPr>
            <a:r>
              <a:rPr lang="zh-CN" altLang="en-US" sz="1600" b="1" dirty="0"/>
              <a:t>随着输入上下文长度的增加，模型性能反而显著下降。模型容易被无关代码分散注意力，难以在长上下文中准确定位</a:t>
            </a:r>
            <a:endParaRPr lang="en-US" altLang="zh-CN" sz="1600" dirty="0">
              <a:solidFill>
                <a:srgbClr val="000000"/>
              </a:solidFill>
              <a:latin typeface="+mn-ea"/>
            </a:endParaRPr>
          </a:p>
          <a:p>
            <a:pPr>
              <a:lnSpc>
                <a:spcPct val="120000"/>
              </a:lnSpc>
            </a:pPr>
            <a:endParaRPr lang="en-US" altLang="zh-CN" sz="1600" dirty="0"/>
          </a:p>
        </p:txBody>
      </p:sp>
      <p:pic>
        <p:nvPicPr>
          <p:cNvPr id="5" name="图片 4"/>
          <p:cNvPicPr>
            <a:picLocks noChangeAspect="1"/>
          </p:cNvPicPr>
          <p:nvPr/>
        </p:nvPicPr>
        <p:blipFill>
          <a:blip r:embed="rId1"/>
          <a:stretch>
            <a:fillRect/>
          </a:stretch>
        </p:blipFill>
        <p:spPr>
          <a:xfrm>
            <a:off x="344805" y="3131475"/>
            <a:ext cx="4032276" cy="1657714"/>
          </a:xfrm>
          <a:prstGeom prst="rect">
            <a:avLst/>
          </a:prstGeom>
        </p:spPr>
      </p:pic>
      <p:pic>
        <p:nvPicPr>
          <p:cNvPr id="9" name="图片 8"/>
          <p:cNvPicPr>
            <a:picLocks noChangeAspect="1"/>
          </p:cNvPicPr>
          <p:nvPr/>
        </p:nvPicPr>
        <p:blipFill>
          <a:blip r:embed="rId2"/>
          <a:stretch>
            <a:fillRect/>
          </a:stretch>
        </p:blipFill>
        <p:spPr>
          <a:xfrm>
            <a:off x="4774273" y="3960331"/>
            <a:ext cx="6967837" cy="1550617"/>
          </a:xfrm>
          <a:prstGeom prst="rect">
            <a:avLst/>
          </a:prstGeom>
        </p:spPr>
      </p:pic>
      <p:pic>
        <p:nvPicPr>
          <p:cNvPr id="13" name="图片 12"/>
          <p:cNvPicPr>
            <a:picLocks noChangeAspect="1"/>
          </p:cNvPicPr>
          <p:nvPr/>
        </p:nvPicPr>
        <p:blipFill>
          <a:blip r:embed="rId3"/>
          <a:stretch>
            <a:fillRect/>
          </a:stretch>
        </p:blipFill>
        <p:spPr>
          <a:xfrm>
            <a:off x="449890" y="4833286"/>
            <a:ext cx="3512510" cy="1721819"/>
          </a:xfrm>
          <a:prstGeom prst="rect">
            <a:avLst/>
          </a:prstGeom>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文本框 3"/>
          <p:cNvSpPr txBox="1"/>
          <p:nvPr/>
        </p:nvSpPr>
        <p:spPr>
          <a:xfrm>
            <a:off x="344805" y="302895"/>
            <a:ext cx="10500995" cy="460375"/>
          </a:xfrm>
          <a:prstGeom prst="rect">
            <a:avLst/>
          </a:prstGeom>
          <a:noFill/>
        </p:spPr>
        <p:txBody>
          <a:bodyPr wrap="square" rtlCol="0">
            <a:spAutoFit/>
          </a:bodyPr>
          <a:lstStyle/>
          <a:p>
            <a:pPr algn="l"/>
            <a:r>
              <a:rPr lang="zh-CN" altLang="en-US" sz="2400" dirty="0">
                <a:solidFill>
                  <a:schemeClr val="tx1"/>
                </a:solidFill>
              </a:rPr>
              <a:t>进展三：评估集相关工作分享</a:t>
            </a:r>
            <a:endParaRPr lang="en-US" altLang="zh-CN" sz="2400" dirty="0">
              <a:solidFill>
                <a:schemeClr val="tx1"/>
              </a:solidFill>
              <a:sym typeface="+mn-ea"/>
            </a:endParaRPr>
          </a:p>
        </p:txBody>
      </p:sp>
      <p:sp>
        <p:nvSpPr>
          <p:cNvPr id="2" name="文本框 1"/>
          <p:cNvSpPr txBox="1"/>
          <p:nvPr/>
        </p:nvSpPr>
        <p:spPr>
          <a:xfrm>
            <a:off x="344805" y="927923"/>
            <a:ext cx="11655907" cy="369332"/>
          </a:xfrm>
          <a:prstGeom prst="rect">
            <a:avLst/>
          </a:prstGeom>
          <a:noFill/>
        </p:spPr>
        <p:txBody>
          <a:bodyPr wrap="square" rtlCol="0">
            <a:spAutoFit/>
          </a:bodyPr>
          <a:lstStyle/>
          <a:p>
            <a:r>
              <a:rPr lang="en-US" altLang="zh-CN" dirty="0">
                <a:latin typeface="Times New Roman" panose="02020503050405090304" pitchFamily="18" charset="0"/>
                <a:cs typeface="Times New Roman" panose="02020503050405090304" pitchFamily="18" charset="0"/>
              </a:rPr>
              <a:t>4. </a:t>
            </a:r>
            <a:r>
              <a:rPr lang="en-US" altLang="zh-CN" i="1" dirty="0">
                <a:latin typeface="Times New Roman" panose="02020503050405090304" pitchFamily="18" charset="0"/>
                <a:cs typeface="Times New Roman" panose="02020503050405090304" pitchFamily="18" charset="0"/>
              </a:rPr>
              <a:t>SWT-Bench: Testing and Validating Real-World Bug-Fixes with Code Agents</a:t>
            </a:r>
            <a:r>
              <a:rPr lang="en-US" altLang="zh-CN" dirty="0">
                <a:latin typeface="Times New Roman" panose="02020503050405090304" pitchFamily="18" charset="0"/>
                <a:cs typeface="Times New Roman" panose="02020503050405090304" pitchFamily="18" charset="0"/>
              </a:rPr>
              <a:t> NeurIPS 2024</a:t>
            </a:r>
            <a:endParaRPr lang="en-US" altLang="zh-CN" dirty="0">
              <a:latin typeface="Times New Roman" panose="02020503050405090304" pitchFamily="18" charset="0"/>
              <a:cs typeface="Times New Roman" panose="02020503050405090304" pitchFamily="18" charset="0"/>
            </a:endParaRPr>
          </a:p>
        </p:txBody>
      </p:sp>
      <p:sp>
        <p:nvSpPr>
          <p:cNvPr id="7" name="文本框 6"/>
          <p:cNvSpPr txBox="1"/>
          <p:nvPr/>
        </p:nvSpPr>
        <p:spPr>
          <a:xfrm>
            <a:off x="344805" y="1347052"/>
            <a:ext cx="11655907" cy="332341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20000"/>
              </a:lnSpc>
            </a:pPr>
            <a:r>
              <a:rPr lang="zh-CN" altLang="en-US" sz="1600" dirty="0">
                <a:solidFill>
                  <a:srgbClr val="000000"/>
                </a:solidFill>
                <a:latin typeface="+mn-ea"/>
              </a:rPr>
              <a:t>一句话总结：</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基于</a:t>
            </a:r>
            <a:r>
              <a:rPr lang="en-US" altLang="zh-CN" sz="1600" dirty="0" err="1">
                <a:solidFill>
                  <a:srgbClr val="000000"/>
                </a:solidFill>
                <a:latin typeface="+mn-ea"/>
              </a:rPr>
              <a:t>Github</a:t>
            </a:r>
            <a:r>
              <a:rPr lang="zh-CN" altLang="en-US" sz="1600" dirty="0">
                <a:solidFill>
                  <a:srgbClr val="000000"/>
                </a:solidFill>
                <a:latin typeface="+mn-ea"/>
              </a:rPr>
              <a:t>仓库，针对于</a:t>
            </a:r>
            <a:r>
              <a:rPr lang="en-US" altLang="zh-CN" sz="1600" dirty="0">
                <a:solidFill>
                  <a:srgbClr val="000000"/>
                </a:solidFill>
                <a:latin typeface="+mn-ea"/>
              </a:rPr>
              <a:t>LLM</a:t>
            </a:r>
            <a:r>
              <a:rPr lang="zh-CN" altLang="en-US" sz="1600" dirty="0">
                <a:solidFill>
                  <a:srgbClr val="000000"/>
                </a:solidFill>
                <a:latin typeface="+mn-ea"/>
              </a:rPr>
              <a:t>的测试生成评估。</a:t>
            </a:r>
            <a:endParaRPr lang="en-US" altLang="zh-CN" sz="1600" dirty="0">
              <a:solidFill>
                <a:srgbClr val="000000"/>
              </a:solidFill>
              <a:latin typeface="+mn-ea"/>
            </a:endParaRPr>
          </a:p>
          <a:p>
            <a:pPr>
              <a:lnSpc>
                <a:spcPct val="120000"/>
              </a:lnSpc>
            </a:pP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评价：</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这篇工作和代码推理关联并没有很高，但是其</a:t>
            </a:r>
            <a:r>
              <a:rPr lang="en-US" altLang="zh-CN" sz="1600" dirty="0">
                <a:solidFill>
                  <a:srgbClr val="000000"/>
                </a:solidFill>
                <a:latin typeface="+mn-ea"/>
              </a:rPr>
              <a:t>rebuttal</a:t>
            </a:r>
            <a:r>
              <a:rPr lang="zh-CN" altLang="en-US" sz="1600" dirty="0">
                <a:solidFill>
                  <a:srgbClr val="000000"/>
                </a:solidFill>
                <a:latin typeface="+mn-ea"/>
              </a:rPr>
              <a:t>很有意思有一定借鉴意义。</a:t>
            </a:r>
            <a:r>
              <a:rPr lang="en-US" altLang="zh-CN" sz="1600" dirty="0">
                <a:solidFill>
                  <a:srgbClr val="000000"/>
                </a:solidFill>
                <a:latin typeface="+mn-ea"/>
              </a:rPr>
              <a:t>3</a:t>
            </a:r>
            <a:r>
              <a:rPr lang="zh-CN" altLang="en-US" sz="1600" dirty="0">
                <a:solidFill>
                  <a:srgbClr val="000000"/>
                </a:solidFill>
                <a:latin typeface="+mn-ea"/>
              </a:rPr>
              <a:t>分</a:t>
            </a:r>
            <a:r>
              <a:rPr lang="en-US" altLang="zh-CN" sz="1600" dirty="0">
                <a:solidFill>
                  <a:srgbClr val="000000"/>
                </a:solidFill>
                <a:latin typeface="+mn-ea"/>
              </a:rPr>
              <a:t>8</a:t>
            </a:r>
            <a:r>
              <a:rPr lang="zh-CN" altLang="en-US" sz="1600" dirty="0">
                <a:solidFill>
                  <a:srgbClr val="000000"/>
                </a:solidFill>
                <a:latin typeface="+mn-ea"/>
              </a:rPr>
              <a:t>分都有，但是最终</a:t>
            </a:r>
            <a:r>
              <a:rPr lang="en-US" altLang="zh-CN" sz="1600" dirty="0">
                <a:solidFill>
                  <a:srgbClr val="000000"/>
                </a:solidFill>
                <a:latin typeface="+mn-ea"/>
              </a:rPr>
              <a:t>chair accept</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优点是：新的</a:t>
            </a:r>
            <a:r>
              <a:rPr lang="en-US" altLang="zh-CN" sz="1600" dirty="0">
                <a:solidFill>
                  <a:srgbClr val="000000"/>
                </a:solidFill>
                <a:latin typeface="+mn-ea"/>
              </a:rPr>
              <a:t>bench</a:t>
            </a:r>
            <a:r>
              <a:rPr lang="zh-CN" altLang="en-US" sz="1600" dirty="0">
                <a:solidFill>
                  <a:srgbClr val="000000"/>
                </a:solidFill>
                <a:latin typeface="+mn-ea"/>
              </a:rPr>
              <a:t>评估自动测试生成，弥补空白；评估全面</a:t>
            </a:r>
            <a:endParaRPr lang="en-US" altLang="zh-CN" sz="1600" dirty="0">
              <a:solidFill>
                <a:srgbClr val="000000"/>
              </a:solidFill>
              <a:latin typeface="+mn-ea"/>
            </a:endParaRPr>
          </a:p>
          <a:p>
            <a:pPr>
              <a:lnSpc>
                <a:spcPct val="120000"/>
              </a:lnSpc>
            </a:pPr>
            <a:r>
              <a:rPr lang="en-US" altLang="zh-CN" sz="1600" dirty="0">
                <a:solidFill>
                  <a:srgbClr val="000000"/>
                </a:solidFill>
                <a:latin typeface="+mn-ea"/>
              </a:rPr>
              <a:t>Rebuttal</a:t>
            </a:r>
            <a:r>
              <a:rPr lang="zh-CN" altLang="en-US" sz="1600" dirty="0">
                <a:solidFill>
                  <a:srgbClr val="000000"/>
                </a:solidFill>
                <a:latin typeface="+mn-ea"/>
              </a:rPr>
              <a:t>后仍然很大的缺点：来自</a:t>
            </a:r>
            <a:r>
              <a:rPr lang="en-US" altLang="zh-CN" sz="1600" dirty="0">
                <a:solidFill>
                  <a:srgbClr val="000000"/>
                </a:solidFill>
                <a:latin typeface="+mn-ea"/>
              </a:rPr>
              <a:t>GitHub</a:t>
            </a:r>
            <a:r>
              <a:rPr lang="zh-CN" altLang="en-US" sz="1600" dirty="0">
                <a:solidFill>
                  <a:srgbClr val="000000"/>
                </a:solidFill>
                <a:latin typeface="+mn-ea"/>
              </a:rPr>
              <a:t>，数据污染问题非常严重。</a:t>
            </a:r>
            <a:endParaRPr lang="en-US" altLang="zh-CN" sz="1600" dirty="0">
              <a:solidFill>
                <a:srgbClr val="000000"/>
              </a:solidFill>
              <a:latin typeface="+mn-ea"/>
            </a:endParaRPr>
          </a:p>
          <a:p>
            <a:pPr>
              <a:lnSpc>
                <a:spcPct val="120000"/>
              </a:lnSpc>
            </a:pP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启发：</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认为评估集的创新点可以是聚焦于“未被关注的评估领域”。</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但是生成构建来自</a:t>
            </a:r>
            <a:r>
              <a:rPr lang="en-US" altLang="zh-CN" sz="1600" dirty="0">
                <a:solidFill>
                  <a:srgbClr val="000000"/>
                </a:solidFill>
                <a:latin typeface="+mn-ea"/>
              </a:rPr>
              <a:t>GitHub</a:t>
            </a:r>
            <a:r>
              <a:rPr lang="zh-CN" altLang="en-US" sz="1600" dirty="0">
                <a:solidFill>
                  <a:srgbClr val="000000"/>
                </a:solidFill>
                <a:latin typeface="+mn-ea"/>
              </a:rPr>
              <a:t>项目说法会被严重</a:t>
            </a:r>
            <a:r>
              <a:rPr lang="en-US" altLang="zh-CN" sz="1600" dirty="0">
                <a:solidFill>
                  <a:srgbClr val="000000"/>
                </a:solidFill>
                <a:latin typeface="+mn-ea"/>
              </a:rPr>
              <a:t>challenge</a:t>
            </a:r>
            <a:r>
              <a:rPr lang="zh-CN" altLang="en-US" sz="1600" dirty="0">
                <a:solidFill>
                  <a:srgbClr val="000000"/>
                </a:solidFill>
                <a:latin typeface="+mn-ea"/>
              </a:rPr>
              <a:t>，后续如果写的话可以斟酌用词</a:t>
            </a:r>
            <a:endParaRPr lang="en-US" altLang="zh-CN" sz="1600" dirty="0"/>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文本框 3"/>
          <p:cNvSpPr txBox="1"/>
          <p:nvPr/>
        </p:nvSpPr>
        <p:spPr>
          <a:xfrm>
            <a:off x="344805" y="302895"/>
            <a:ext cx="10500995" cy="460375"/>
          </a:xfrm>
          <a:prstGeom prst="rect">
            <a:avLst/>
          </a:prstGeom>
          <a:noFill/>
        </p:spPr>
        <p:txBody>
          <a:bodyPr wrap="square" rtlCol="0">
            <a:spAutoFit/>
          </a:bodyPr>
          <a:lstStyle/>
          <a:p>
            <a:pPr algn="l"/>
            <a:r>
              <a:rPr lang="zh-CN" altLang="en-US" sz="2400" dirty="0">
                <a:solidFill>
                  <a:schemeClr val="tx1"/>
                </a:solidFill>
              </a:rPr>
              <a:t>进展三：评估集相关工作分享</a:t>
            </a:r>
            <a:endParaRPr lang="en-US" altLang="zh-CN" sz="2400" dirty="0">
              <a:solidFill>
                <a:schemeClr val="tx1"/>
              </a:solidFill>
              <a:sym typeface="+mn-ea"/>
            </a:endParaRPr>
          </a:p>
        </p:txBody>
      </p:sp>
      <p:sp>
        <p:nvSpPr>
          <p:cNvPr id="2" name="文本框 1"/>
          <p:cNvSpPr txBox="1"/>
          <p:nvPr/>
        </p:nvSpPr>
        <p:spPr>
          <a:xfrm>
            <a:off x="344805" y="927923"/>
            <a:ext cx="11655907" cy="369332"/>
          </a:xfrm>
          <a:prstGeom prst="rect">
            <a:avLst/>
          </a:prstGeom>
          <a:noFill/>
        </p:spPr>
        <p:txBody>
          <a:bodyPr wrap="square" rtlCol="0">
            <a:spAutoFit/>
          </a:bodyPr>
          <a:lstStyle/>
          <a:p>
            <a:r>
              <a:rPr lang="en-US" altLang="zh-CN" dirty="0">
                <a:latin typeface="Times New Roman" panose="02020503050405090304" pitchFamily="18" charset="0"/>
                <a:cs typeface="Times New Roman" panose="02020503050405090304" pitchFamily="18" charset="0"/>
              </a:rPr>
              <a:t>5. </a:t>
            </a:r>
            <a:r>
              <a:rPr lang="en-US" altLang="zh-CN" i="1" dirty="0">
                <a:latin typeface="Times New Roman" panose="02020503050405090304" pitchFamily="18" charset="0"/>
                <a:cs typeface="Times New Roman" panose="02020503050405090304" pitchFamily="18" charset="0"/>
              </a:rPr>
              <a:t>DL-Bench: Deep learning specific code generation benchmark </a:t>
            </a:r>
            <a:r>
              <a:rPr lang="en-US" altLang="zh-CN" dirty="0">
                <a:latin typeface="Times New Roman" panose="02020503050405090304" pitchFamily="18" charset="0"/>
                <a:cs typeface="Times New Roman" panose="02020503050405090304" pitchFamily="18" charset="0"/>
              </a:rPr>
              <a:t>ICLR 2026</a:t>
            </a:r>
            <a:endParaRPr lang="en-US" altLang="zh-CN" dirty="0">
              <a:latin typeface="Times New Roman" panose="02020503050405090304" pitchFamily="18" charset="0"/>
              <a:cs typeface="Times New Roman" panose="02020503050405090304" pitchFamily="18" charset="0"/>
            </a:endParaRPr>
          </a:p>
        </p:txBody>
      </p:sp>
      <p:sp>
        <p:nvSpPr>
          <p:cNvPr id="7" name="文本框 6"/>
          <p:cNvSpPr txBox="1"/>
          <p:nvPr/>
        </p:nvSpPr>
        <p:spPr>
          <a:xfrm>
            <a:off x="344805" y="1347052"/>
            <a:ext cx="11655907" cy="1846083"/>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20000"/>
              </a:lnSpc>
            </a:pPr>
            <a:r>
              <a:rPr lang="zh-CN" altLang="en-US" sz="1600" dirty="0">
                <a:solidFill>
                  <a:srgbClr val="000000"/>
                </a:solidFill>
                <a:latin typeface="+mn-ea"/>
              </a:rPr>
              <a:t>一句话总结：</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函数级深度学习代码生成任务数据集。对标另一个同类工作</a:t>
            </a:r>
            <a:r>
              <a:rPr lang="en-US" altLang="zh-CN" sz="1600" dirty="0">
                <a:solidFill>
                  <a:srgbClr val="000000"/>
                </a:solidFill>
                <a:latin typeface="+mn-ea"/>
              </a:rPr>
              <a:t>DS-1000</a:t>
            </a:r>
            <a:endParaRPr lang="en-US" altLang="zh-CN" sz="1600" dirty="0">
              <a:solidFill>
                <a:srgbClr val="000000"/>
              </a:solidFill>
              <a:latin typeface="+mn-ea"/>
            </a:endParaRPr>
          </a:p>
          <a:p>
            <a:pPr>
              <a:lnSpc>
                <a:spcPct val="120000"/>
              </a:lnSpc>
            </a:pP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启发：</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这篇工作的写法反复提及和对比同类工作</a:t>
            </a:r>
            <a:r>
              <a:rPr lang="en-US" altLang="zh-CN" sz="1600" dirty="0">
                <a:solidFill>
                  <a:srgbClr val="000000"/>
                </a:solidFill>
                <a:latin typeface="+mn-ea"/>
              </a:rPr>
              <a:t>DS-1000</a:t>
            </a:r>
            <a:r>
              <a:rPr lang="zh-CN" altLang="en-US" sz="1600" dirty="0">
                <a:solidFill>
                  <a:srgbClr val="000000"/>
                </a:solidFill>
                <a:latin typeface="+mn-ea"/>
              </a:rPr>
              <a:t>，重点在它比</a:t>
            </a:r>
            <a:r>
              <a:rPr lang="en-US" altLang="zh-CN" sz="1600" dirty="0">
                <a:solidFill>
                  <a:srgbClr val="000000"/>
                </a:solidFill>
                <a:latin typeface="+mn-ea"/>
              </a:rPr>
              <a:t>DS-1000</a:t>
            </a:r>
            <a:r>
              <a:rPr lang="zh-CN" altLang="en-US" sz="1600" dirty="0">
                <a:solidFill>
                  <a:srgbClr val="000000"/>
                </a:solidFill>
                <a:latin typeface="+mn-ea"/>
              </a:rPr>
              <a:t>难很多。对应提出了很多它的创新点。对比而言，认为我们能指出我们比现有代码推理评估集的</a:t>
            </a:r>
            <a:r>
              <a:rPr lang="zh-CN" altLang="en-US" sz="1600" dirty="0">
                <a:solidFill>
                  <a:srgbClr val="FF0000"/>
                </a:solidFill>
                <a:latin typeface="+mn-ea"/>
              </a:rPr>
              <a:t>独特优势与难度提升以及评估验证噪声实验</a:t>
            </a:r>
            <a:r>
              <a:rPr lang="zh-CN" altLang="en-US" sz="1600" dirty="0">
                <a:solidFill>
                  <a:srgbClr val="000000"/>
                </a:solidFill>
                <a:latin typeface="+mn-ea"/>
              </a:rPr>
              <a:t>感觉就好</a:t>
            </a:r>
            <a:endParaRPr lang="en-US" altLang="zh-CN" sz="1600" dirty="0"/>
          </a:p>
        </p:txBody>
      </p:sp>
      <p:pic>
        <p:nvPicPr>
          <p:cNvPr id="5" name="图片 4"/>
          <p:cNvPicPr>
            <a:picLocks noChangeAspect="1"/>
          </p:cNvPicPr>
          <p:nvPr/>
        </p:nvPicPr>
        <p:blipFill>
          <a:blip r:embed="rId1"/>
          <a:stretch>
            <a:fillRect/>
          </a:stretch>
        </p:blipFill>
        <p:spPr>
          <a:xfrm>
            <a:off x="344805" y="3535912"/>
            <a:ext cx="10068977" cy="1218723"/>
          </a:xfrm>
          <a:prstGeom prst="rect">
            <a:avLst/>
          </a:prstGeom>
        </p:spPr>
      </p:pic>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文本框 3"/>
          <p:cNvSpPr txBox="1"/>
          <p:nvPr/>
        </p:nvSpPr>
        <p:spPr>
          <a:xfrm>
            <a:off x="344805" y="302895"/>
            <a:ext cx="10500995" cy="460375"/>
          </a:xfrm>
          <a:prstGeom prst="rect">
            <a:avLst/>
          </a:prstGeom>
          <a:noFill/>
        </p:spPr>
        <p:txBody>
          <a:bodyPr wrap="square" rtlCol="0">
            <a:spAutoFit/>
          </a:bodyPr>
          <a:lstStyle/>
          <a:p>
            <a:pPr algn="l"/>
            <a:r>
              <a:rPr lang="zh-CN" altLang="en-US" sz="2400" dirty="0">
                <a:solidFill>
                  <a:schemeClr val="tx1"/>
                </a:solidFill>
              </a:rPr>
              <a:t>进展三：评估集相关工作分享</a:t>
            </a:r>
            <a:endParaRPr lang="en-US" altLang="zh-CN" sz="2400" dirty="0">
              <a:solidFill>
                <a:schemeClr val="tx1"/>
              </a:solidFill>
              <a:sym typeface="+mn-ea"/>
            </a:endParaRPr>
          </a:p>
        </p:txBody>
      </p:sp>
      <p:sp>
        <p:nvSpPr>
          <p:cNvPr id="2" name="文本框 1"/>
          <p:cNvSpPr txBox="1"/>
          <p:nvPr/>
        </p:nvSpPr>
        <p:spPr>
          <a:xfrm>
            <a:off x="268046" y="763270"/>
            <a:ext cx="11655907" cy="369332"/>
          </a:xfrm>
          <a:prstGeom prst="rect">
            <a:avLst/>
          </a:prstGeom>
          <a:noFill/>
        </p:spPr>
        <p:txBody>
          <a:bodyPr wrap="square" rtlCol="0">
            <a:spAutoFit/>
          </a:bodyPr>
          <a:lstStyle/>
          <a:p>
            <a:r>
              <a:rPr lang="en-US" altLang="zh-CN" dirty="0">
                <a:latin typeface="Times New Roman" panose="02020503050405090304" pitchFamily="18" charset="0"/>
                <a:cs typeface="Times New Roman" panose="02020503050405090304" pitchFamily="18" charset="0"/>
              </a:rPr>
              <a:t>6. </a:t>
            </a:r>
            <a:r>
              <a:rPr lang="en-US" altLang="zh-CN" i="1" dirty="0">
                <a:latin typeface="Times New Roman" panose="02020503050405090304" pitchFamily="18" charset="0"/>
                <a:cs typeface="Times New Roman" panose="02020503050405090304" pitchFamily="18" charset="0"/>
              </a:rPr>
              <a:t>Can LLMs Reason Structurally? An Evaluation via the Lens of Data Structures </a:t>
            </a:r>
            <a:r>
              <a:rPr lang="en-US" altLang="zh-CN" dirty="0">
                <a:latin typeface="Times New Roman" panose="02020503050405090304" pitchFamily="18" charset="0"/>
                <a:cs typeface="Times New Roman" panose="02020503050405090304" pitchFamily="18" charset="0"/>
              </a:rPr>
              <a:t>ICLR 2026</a:t>
            </a:r>
            <a:endParaRPr lang="en-US" altLang="zh-CN" dirty="0">
              <a:latin typeface="Times New Roman" panose="02020503050405090304" pitchFamily="18" charset="0"/>
              <a:cs typeface="Times New Roman" panose="02020503050405090304" pitchFamily="18" charset="0"/>
            </a:endParaRPr>
          </a:p>
        </p:txBody>
      </p:sp>
      <p:sp>
        <p:nvSpPr>
          <p:cNvPr id="7" name="文本框 6"/>
          <p:cNvSpPr txBox="1"/>
          <p:nvPr/>
        </p:nvSpPr>
        <p:spPr>
          <a:xfrm>
            <a:off x="192406" y="1091327"/>
            <a:ext cx="11999594" cy="5695315"/>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20000"/>
              </a:lnSpc>
            </a:pPr>
            <a:r>
              <a:rPr lang="zh-CN" altLang="en-US" sz="1600" dirty="0">
                <a:solidFill>
                  <a:srgbClr val="000000"/>
                </a:solidFill>
                <a:latin typeface="+mn-ea"/>
              </a:rPr>
              <a:t>一句话总结：</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针对代码推理，聚焦于数据结构任务的评估集</a:t>
            </a:r>
            <a:r>
              <a:rPr lang="en-US" altLang="zh-CN" sz="1600" dirty="0">
                <a:solidFill>
                  <a:srgbClr val="000000"/>
                </a:solidFill>
                <a:latin typeface="+mn-ea"/>
              </a:rPr>
              <a:t>DSR-Bench</a:t>
            </a:r>
            <a:r>
              <a:rPr lang="zh-CN" altLang="en-US" sz="1600" dirty="0">
                <a:solidFill>
                  <a:srgbClr val="000000"/>
                </a:solidFill>
                <a:latin typeface="+mn-ea"/>
              </a:rPr>
              <a:t>。</a:t>
            </a:r>
            <a:endParaRPr lang="en-US" altLang="zh-CN" sz="1600" dirty="0">
              <a:solidFill>
                <a:srgbClr val="000000"/>
              </a:solidFill>
              <a:latin typeface="+mn-ea"/>
            </a:endParaRPr>
          </a:p>
          <a:p>
            <a:pPr>
              <a:lnSpc>
                <a:spcPct val="120000"/>
              </a:lnSpc>
            </a:pPr>
            <a:r>
              <a:rPr lang="zh-CN" altLang="en-US" sz="1600" b="0" i="0" dirty="0">
                <a:solidFill>
                  <a:srgbClr val="333333"/>
                </a:solidFill>
                <a:effectLst/>
                <a:latin typeface="Noto Sans" panose="020B0502040504020204" pitchFamily="34" charset="0"/>
              </a:rPr>
              <a:t>涵盖了广泛的数据结构，包括序列、时间顺序、键值映射、树状层级结构、连通性和组成员关系，以及复合结构</a:t>
            </a:r>
            <a:r>
              <a:rPr lang="zh-CN" altLang="en-US" sz="1600" b="0" i="0" dirty="0">
                <a:solidFill>
                  <a:srgbClr val="000000"/>
                </a:solidFill>
                <a:effectLst/>
                <a:latin typeface="+mn-ea"/>
              </a:rPr>
              <a:t>。</a:t>
            </a:r>
            <a:r>
              <a:rPr lang="zh-CN" altLang="en-US" sz="1600" b="0" i="0" dirty="0">
                <a:solidFill>
                  <a:srgbClr val="333333"/>
                </a:solidFill>
                <a:effectLst/>
                <a:latin typeface="Noto Sans" panose="020B0502040504020204" pitchFamily="34" charset="0"/>
              </a:rPr>
              <a:t>推理操作包括构造、检查、操作及其组合。精心设计了五个测试套件，包括主测试、挑战测试、自然语言测试、代码测试和空间测试，评估真实场景下的结构推理能力</a:t>
            </a:r>
            <a:endParaRPr lang="en-US" altLang="zh-CN" sz="1600" dirty="0">
              <a:solidFill>
                <a:srgbClr val="000000"/>
              </a:solidFill>
              <a:latin typeface="+mn-ea"/>
            </a:endParaRPr>
          </a:p>
          <a:p>
            <a:pPr>
              <a:lnSpc>
                <a:spcPct val="120000"/>
              </a:lnSpc>
            </a:pP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评价：</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这篇工作的出发点可以说和我们很相似了。针对代码推理，提出新角度。我们讨论跨函数、文件级别；他讨论数据结构角度。这篇工作针对数据结构</a:t>
            </a:r>
            <a:r>
              <a:rPr lang="en-US" altLang="zh-CN" sz="1600" dirty="0">
                <a:solidFill>
                  <a:srgbClr val="000000"/>
                </a:solidFill>
                <a:latin typeface="+mn-ea"/>
              </a:rPr>
              <a:t>+</a:t>
            </a:r>
            <a:r>
              <a:rPr lang="zh-CN" altLang="en-US" sz="1600" dirty="0">
                <a:solidFill>
                  <a:srgbClr val="000000"/>
                </a:solidFill>
                <a:latin typeface="+mn-ea"/>
              </a:rPr>
              <a:t>推理做了很精细的设计与实验评估。但所有审稿人都给了</a:t>
            </a:r>
            <a:r>
              <a:rPr lang="en-US" altLang="zh-CN" sz="1600" dirty="0">
                <a:solidFill>
                  <a:srgbClr val="000000"/>
                </a:solidFill>
                <a:latin typeface="+mn-ea"/>
              </a:rPr>
              <a:t>4</a:t>
            </a:r>
            <a:r>
              <a:rPr lang="zh-CN" altLang="en-US" sz="1600" dirty="0">
                <a:solidFill>
                  <a:srgbClr val="000000"/>
                </a:solidFill>
                <a:latin typeface="+mn-ea"/>
              </a:rPr>
              <a:t>（</a:t>
            </a:r>
            <a:r>
              <a:rPr lang="en-US" altLang="zh-CN" sz="1600" dirty="0">
                <a:solidFill>
                  <a:srgbClr val="000000"/>
                </a:solidFill>
                <a:latin typeface="+mn-ea"/>
              </a:rPr>
              <a:t>weak reject</a:t>
            </a:r>
            <a:r>
              <a:rPr lang="zh-CN" altLang="en-US" sz="1600" dirty="0">
                <a:solidFill>
                  <a:srgbClr val="000000"/>
                </a:solidFill>
                <a:latin typeface="+mn-ea"/>
              </a:rPr>
              <a:t>）总结有以下原因：</a:t>
            </a:r>
            <a:endParaRPr lang="en-US" altLang="zh-CN" sz="1600" dirty="0">
              <a:solidFill>
                <a:srgbClr val="000000"/>
              </a:solidFill>
              <a:latin typeface="+mn-ea"/>
            </a:endParaRPr>
          </a:p>
          <a:p>
            <a:pPr>
              <a:lnSpc>
                <a:spcPct val="120000"/>
              </a:lnSpc>
            </a:pPr>
            <a:r>
              <a:rPr lang="en-US" altLang="zh-CN" sz="1600" dirty="0"/>
              <a:t>1. </a:t>
            </a:r>
            <a:r>
              <a:rPr lang="zh-CN" altLang="en-US" sz="1600" b="0" i="0" dirty="0">
                <a:solidFill>
                  <a:srgbClr val="333333"/>
                </a:solidFill>
                <a:effectLst/>
                <a:latin typeface="Noto Sans" panose="020B0502040504020204" pitchFamily="34" charset="0"/>
              </a:rPr>
              <a:t>缺乏对数据集的统计分析</a:t>
            </a:r>
            <a:endParaRPr lang="en-US" altLang="zh-CN" sz="1600" b="0" i="0" dirty="0">
              <a:solidFill>
                <a:srgbClr val="333333"/>
              </a:solidFill>
              <a:effectLst/>
              <a:latin typeface="Noto Sans" panose="020B0502040504020204" pitchFamily="34" charset="0"/>
            </a:endParaRPr>
          </a:p>
          <a:p>
            <a:pPr>
              <a:lnSpc>
                <a:spcPct val="120000"/>
              </a:lnSpc>
            </a:pPr>
            <a:r>
              <a:rPr lang="en-US" altLang="zh-CN" sz="1600" dirty="0">
                <a:solidFill>
                  <a:srgbClr val="333333"/>
                </a:solidFill>
                <a:latin typeface="Noto Sans" panose="020B0502040504020204" pitchFamily="34" charset="0"/>
              </a:rPr>
              <a:t>2. </a:t>
            </a:r>
            <a:r>
              <a:rPr lang="zh-CN" altLang="en-US" sz="1600" dirty="0">
                <a:solidFill>
                  <a:srgbClr val="333333"/>
                </a:solidFill>
                <a:latin typeface="Noto Sans" panose="020B0502040504020204" pitchFamily="34" charset="0"/>
              </a:rPr>
              <a:t>“</a:t>
            </a:r>
            <a:r>
              <a:rPr lang="zh-CN" altLang="en-US" sz="1600" b="0" i="0" dirty="0">
                <a:solidFill>
                  <a:srgbClr val="333333"/>
                </a:solidFill>
                <a:effectLst/>
                <a:latin typeface="Noto Sans" panose="020B0502040504020204" pitchFamily="34" charset="0"/>
              </a:rPr>
              <a:t>缺少 </a:t>
            </a:r>
            <a:r>
              <a:rPr lang="en-US" altLang="zh-CN" sz="1600" b="0" i="0" dirty="0">
                <a:solidFill>
                  <a:srgbClr val="333333"/>
                </a:solidFill>
                <a:effectLst/>
                <a:latin typeface="Noto Sans" panose="020B0502040504020204" pitchFamily="34" charset="0"/>
              </a:rPr>
              <a:t>SFT </a:t>
            </a:r>
            <a:r>
              <a:rPr lang="zh-CN" altLang="en-US" sz="1600" b="0" i="0" dirty="0">
                <a:solidFill>
                  <a:srgbClr val="333333"/>
                </a:solidFill>
                <a:effectLst/>
                <a:latin typeface="Noto Sans" panose="020B0502040504020204" pitchFamily="34" charset="0"/>
              </a:rPr>
              <a:t>和 </a:t>
            </a:r>
            <a:r>
              <a:rPr lang="en-US" altLang="zh-CN" sz="1600" b="0" i="0" dirty="0">
                <a:solidFill>
                  <a:srgbClr val="333333"/>
                </a:solidFill>
                <a:effectLst/>
                <a:latin typeface="Noto Sans" panose="020B0502040504020204" pitchFamily="34" charset="0"/>
              </a:rPr>
              <a:t>RL</a:t>
            </a:r>
            <a:r>
              <a:rPr lang="zh-CN" altLang="en-US" sz="1600" b="0" i="0" dirty="0">
                <a:solidFill>
                  <a:srgbClr val="333333"/>
                </a:solidFill>
                <a:effectLst/>
                <a:latin typeface="Noto Sans" panose="020B0502040504020204" pitchFamily="34" charset="0"/>
              </a:rPr>
              <a:t>（例如 </a:t>
            </a:r>
            <a:r>
              <a:rPr lang="en-US" altLang="zh-CN" sz="1600" b="0" i="0" dirty="0">
                <a:solidFill>
                  <a:srgbClr val="333333"/>
                </a:solidFill>
                <a:effectLst/>
                <a:latin typeface="Noto Sans" panose="020B0502040504020204" pitchFamily="34" charset="0"/>
              </a:rPr>
              <a:t>GRPO</a:t>
            </a:r>
            <a:r>
              <a:rPr lang="zh-CN" altLang="en-US" sz="1600" b="0" i="0" dirty="0">
                <a:solidFill>
                  <a:srgbClr val="333333"/>
                </a:solidFill>
                <a:effectLst/>
                <a:latin typeface="Noto Sans" panose="020B0502040504020204" pitchFamily="34" charset="0"/>
              </a:rPr>
              <a:t>）实验。如果模型在这些任务上进行训练，性能能提高多少？</a:t>
            </a:r>
            <a:r>
              <a:rPr lang="zh-CN" altLang="en-US" sz="1600" dirty="0">
                <a:solidFill>
                  <a:srgbClr val="333333"/>
                </a:solidFill>
                <a:latin typeface="Noto Sans" panose="020B0502040504020204" pitchFamily="34" charset="0"/>
              </a:rPr>
              <a:t>”</a:t>
            </a:r>
            <a:endParaRPr lang="en-US" altLang="zh-CN" sz="1600" dirty="0">
              <a:solidFill>
                <a:srgbClr val="333333"/>
              </a:solidFill>
              <a:latin typeface="Noto Sans" panose="020B0502040504020204" pitchFamily="34" charset="0"/>
            </a:endParaRPr>
          </a:p>
          <a:p>
            <a:pPr>
              <a:lnSpc>
                <a:spcPct val="120000"/>
              </a:lnSpc>
            </a:pPr>
            <a:r>
              <a:rPr lang="en-US" altLang="zh-CN" sz="1600" dirty="0">
                <a:solidFill>
                  <a:srgbClr val="333333"/>
                </a:solidFill>
                <a:latin typeface="Noto Sans" panose="020B0502040504020204" pitchFamily="34" charset="0"/>
              </a:rPr>
              <a:t>3. </a:t>
            </a:r>
            <a:r>
              <a:rPr lang="zh-CN" altLang="en-US" sz="1600" dirty="0">
                <a:solidFill>
                  <a:srgbClr val="333333"/>
                </a:solidFill>
                <a:latin typeface="Noto Sans" panose="020B0502040504020204" pitchFamily="34" charset="0"/>
              </a:rPr>
              <a:t>创新性似乎略显不足。</a:t>
            </a:r>
            <a:r>
              <a:rPr lang="zh-CN" altLang="en-US" sz="1600" b="0" i="0" dirty="0">
                <a:solidFill>
                  <a:srgbClr val="333333"/>
                </a:solidFill>
                <a:effectLst/>
                <a:latin typeface="Noto Sans" panose="020B0502040504020204" pitchFamily="34" charset="0"/>
              </a:rPr>
              <a:t>当前的基准测试似乎是对先前研究过的问题的集合，这意味着其创新性略显不足</a:t>
            </a:r>
            <a:endParaRPr lang="en-US" altLang="zh-CN" sz="1600" dirty="0">
              <a:solidFill>
                <a:srgbClr val="333333"/>
              </a:solidFill>
              <a:latin typeface="Noto Sans" panose="020B0502040504020204" pitchFamily="34" charset="0"/>
            </a:endParaRPr>
          </a:p>
          <a:p>
            <a:pPr>
              <a:lnSpc>
                <a:spcPct val="120000"/>
              </a:lnSpc>
            </a:pPr>
            <a:r>
              <a:rPr lang="en-US" altLang="zh-CN" sz="1600" b="0" i="0" dirty="0">
                <a:solidFill>
                  <a:srgbClr val="333333"/>
                </a:solidFill>
                <a:effectLst/>
                <a:latin typeface="Noto Sans" panose="020B0502040504020204" pitchFamily="34" charset="0"/>
              </a:rPr>
              <a:t>4.</a:t>
            </a:r>
            <a:r>
              <a:rPr lang="zh-CN" altLang="en-US" sz="1600" b="0" i="0" dirty="0">
                <a:solidFill>
                  <a:srgbClr val="333333"/>
                </a:solidFill>
                <a:effectLst/>
                <a:latin typeface="Noto Sans" panose="020B0502040504020204" pitchFamily="34" charset="0"/>
              </a:rPr>
              <a:t>但该基准测试的模型覆盖范围仍然有限</a:t>
            </a:r>
            <a:r>
              <a:rPr lang="en-US" altLang="zh-CN" sz="1600" b="0" i="0" dirty="0">
                <a:solidFill>
                  <a:srgbClr val="333333"/>
                </a:solidFill>
                <a:effectLst/>
                <a:latin typeface="Noto Sans" panose="020B0502040504020204" pitchFamily="34" charset="0"/>
              </a:rPr>
              <a:t>——</a:t>
            </a:r>
            <a:r>
              <a:rPr lang="zh-CN" altLang="en-US" sz="1600" b="0" i="0" dirty="0">
                <a:solidFill>
                  <a:srgbClr val="333333"/>
                </a:solidFill>
                <a:effectLst/>
                <a:latin typeface="Noto Sans" panose="020B0502040504020204" pitchFamily="34" charset="0"/>
              </a:rPr>
              <a:t>仅测试了十个模型，缺乏更多样化的模型规模和主要的闭源推理系统</a:t>
            </a:r>
            <a:endParaRPr lang="en-US" altLang="zh-CN" sz="1600" b="0" i="0" dirty="0">
              <a:solidFill>
                <a:srgbClr val="333333"/>
              </a:solidFill>
              <a:effectLst/>
              <a:latin typeface="Noto Sans" panose="020B0502040504020204" pitchFamily="34" charset="0"/>
            </a:endParaRPr>
          </a:p>
          <a:p>
            <a:pPr>
              <a:lnSpc>
                <a:spcPct val="120000"/>
              </a:lnSpc>
            </a:pPr>
            <a:endParaRPr lang="en-US" altLang="zh-CN" sz="1600" dirty="0">
              <a:solidFill>
                <a:srgbClr val="333333"/>
              </a:solidFill>
              <a:latin typeface="Noto Sans" panose="020B0502040504020204" pitchFamily="34" charset="0"/>
            </a:endParaRPr>
          </a:p>
          <a:p>
            <a:pPr>
              <a:lnSpc>
                <a:spcPct val="120000"/>
              </a:lnSpc>
            </a:pPr>
            <a:r>
              <a:rPr lang="zh-CN" altLang="en-US" sz="1600" dirty="0">
                <a:solidFill>
                  <a:srgbClr val="333333"/>
                </a:solidFill>
                <a:latin typeface="Noto Sans" panose="020B0502040504020204" pitchFamily="34" charset="0"/>
              </a:rPr>
              <a:t>启发：</a:t>
            </a:r>
            <a:endParaRPr lang="en-US" altLang="zh-CN" sz="1600" dirty="0">
              <a:solidFill>
                <a:srgbClr val="333333"/>
              </a:solidFill>
              <a:latin typeface="Noto Sans" panose="020B0502040504020204" pitchFamily="34" charset="0"/>
            </a:endParaRPr>
          </a:p>
          <a:p>
            <a:pPr marL="342900" indent="-342900">
              <a:lnSpc>
                <a:spcPct val="120000"/>
              </a:lnSpc>
              <a:buAutoNum type="arabicPeriod"/>
            </a:pPr>
            <a:r>
              <a:rPr lang="zh-CN" altLang="en-US" sz="1600" dirty="0">
                <a:solidFill>
                  <a:srgbClr val="333333"/>
                </a:solidFill>
                <a:latin typeface="Noto Sans" panose="020B0502040504020204" pitchFamily="34" charset="0"/>
              </a:rPr>
              <a:t>拿测试集进行微调实验还是有一定“论文审稿”作用（这几篇有</a:t>
            </a:r>
            <a:r>
              <a:rPr lang="en-US" altLang="zh-CN" sz="1600" dirty="0">
                <a:solidFill>
                  <a:srgbClr val="333333"/>
                </a:solidFill>
                <a:latin typeface="Noto Sans" panose="020B0502040504020204" pitchFamily="34" charset="0"/>
              </a:rPr>
              <a:t>1-2</a:t>
            </a:r>
            <a:r>
              <a:rPr lang="zh-CN" altLang="en-US" sz="1600" dirty="0">
                <a:solidFill>
                  <a:srgbClr val="333333"/>
                </a:solidFill>
                <a:latin typeface="Noto Sans" panose="020B0502040504020204" pitchFamily="34" charset="0"/>
              </a:rPr>
              <a:t>篇做了）感觉看审稿人</a:t>
            </a:r>
            <a:r>
              <a:rPr lang="en-US" altLang="zh-CN" sz="1600" dirty="0">
                <a:solidFill>
                  <a:srgbClr val="333333"/>
                </a:solidFill>
                <a:latin typeface="Noto Sans" panose="020B0502040504020204" pitchFamily="34" charset="0"/>
              </a:rPr>
              <a:t>taste</a:t>
            </a:r>
            <a:endParaRPr lang="en-US" altLang="zh-CN" sz="1600" dirty="0">
              <a:solidFill>
                <a:srgbClr val="333333"/>
              </a:solidFill>
              <a:latin typeface="Noto Sans" panose="020B0502040504020204" pitchFamily="34" charset="0"/>
            </a:endParaRPr>
          </a:p>
          <a:p>
            <a:pPr marL="342900" indent="-342900">
              <a:lnSpc>
                <a:spcPct val="120000"/>
              </a:lnSpc>
              <a:buAutoNum type="arabicPeriod"/>
            </a:pPr>
            <a:r>
              <a:rPr lang="zh-CN" altLang="en-US" sz="1600" dirty="0">
                <a:solidFill>
                  <a:srgbClr val="333333"/>
                </a:solidFill>
                <a:latin typeface="Noto Sans" panose="020B0502040504020204" pitchFamily="34" charset="0"/>
              </a:rPr>
              <a:t>评估集的论文结构品味主要以下几步：介绍</a:t>
            </a:r>
            <a:r>
              <a:rPr lang="en-US" altLang="zh-CN" sz="1600" dirty="0">
                <a:solidFill>
                  <a:srgbClr val="333333"/>
                </a:solidFill>
                <a:latin typeface="Noto Sans" panose="020B0502040504020204" pitchFamily="34" charset="0"/>
              </a:rPr>
              <a:t>-</a:t>
            </a:r>
            <a:r>
              <a:rPr lang="zh-CN" altLang="en-US" sz="1600" dirty="0">
                <a:solidFill>
                  <a:srgbClr val="333333"/>
                </a:solidFill>
                <a:latin typeface="Noto Sans" panose="020B0502040504020204" pitchFamily="34" charset="0"/>
              </a:rPr>
              <a:t>数据集构建</a:t>
            </a:r>
            <a:r>
              <a:rPr lang="en-US" altLang="zh-CN" sz="1600" dirty="0">
                <a:solidFill>
                  <a:srgbClr val="333333"/>
                </a:solidFill>
                <a:latin typeface="Noto Sans" panose="020B0502040504020204" pitchFamily="34" charset="0"/>
              </a:rPr>
              <a:t>-</a:t>
            </a:r>
            <a:r>
              <a:rPr lang="zh-CN" altLang="en-US" sz="1600" dirty="0">
                <a:solidFill>
                  <a:srgbClr val="333333"/>
                </a:solidFill>
                <a:latin typeface="Noto Sans" panose="020B0502040504020204" pitchFamily="34" charset="0"/>
              </a:rPr>
              <a:t>实验设置</a:t>
            </a:r>
            <a:r>
              <a:rPr lang="en-US" altLang="zh-CN" sz="1600" dirty="0">
                <a:solidFill>
                  <a:srgbClr val="333333"/>
                </a:solidFill>
                <a:latin typeface="Noto Sans" panose="020B0502040504020204" pitchFamily="34" charset="0"/>
              </a:rPr>
              <a:t>-</a:t>
            </a:r>
            <a:r>
              <a:rPr lang="zh-CN" altLang="en-US" sz="1600" dirty="0">
                <a:solidFill>
                  <a:srgbClr val="333333"/>
                </a:solidFill>
                <a:latin typeface="Noto Sans" panose="020B0502040504020204" pitchFamily="34" charset="0"/>
              </a:rPr>
              <a:t>实验评估与分析（如果有微调需要实验前讲）</a:t>
            </a:r>
            <a:r>
              <a:rPr lang="en-US" altLang="zh-CN" sz="1600" dirty="0">
                <a:solidFill>
                  <a:srgbClr val="333333"/>
                </a:solidFill>
                <a:latin typeface="Noto Sans" panose="020B0502040504020204" pitchFamily="34" charset="0"/>
              </a:rPr>
              <a:t>-</a:t>
            </a:r>
            <a:r>
              <a:rPr lang="zh-CN" altLang="en-US" sz="1600" dirty="0">
                <a:solidFill>
                  <a:srgbClr val="333333"/>
                </a:solidFill>
                <a:latin typeface="Noto Sans" panose="020B0502040504020204" pitchFamily="34" charset="0"/>
              </a:rPr>
              <a:t>数据集分析</a:t>
            </a:r>
            <a:r>
              <a:rPr lang="en-US" altLang="zh-CN" sz="1600" dirty="0">
                <a:solidFill>
                  <a:srgbClr val="333333"/>
                </a:solidFill>
                <a:latin typeface="Noto Sans" panose="020B0502040504020204" pitchFamily="34" charset="0"/>
              </a:rPr>
              <a:t>-</a:t>
            </a:r>
            <a:r>
              <a:rPr lang="zh-CN" altLang="en-US" sz="1600" dirty="0">
                <a:solidFill>
                  <a:srgbClr val="333333"/>
                </a:solidFill>
                <a:latin typeface="Noto Sans" panose="020B0502040504020204" pitchFamily="34" charset="0"/>
              </a:rPr>
              <a:t>总结与相关工作</a:t>
            </a:r>
            <a:endParaRPr lang="en-US" altLang="zh-CN" sz="1600" dirty="0">
              <a:solidFill>
                <a:srgbClr val="333333"/>
              </a:solidFill>
              <a:latin typeface="Noto Sans" panose="020B0502040504020204" pitchFamily="34" charset="0"/>
            </a:endParaRPr>
          </a:p>
          <a:p>
            <a:pPr marL="342900" indent="-342900">
              <a:lnSpc>
                <a:spcPct val="120000"/>
              </a:lnSpc>
              <a:buAutoNum type="arabicPeriod"/>
            </a:pPr>
            <a:r>
              <a:rPr lang="zh-CN" altLang="en-US" sz="1600" dirty="0"/>
              <a:t>调研好相关工作，确认好创新与亮点。做尽量完善评估（闭源模型</a:t>
            </a:r>
            <a:r>
              <a:rPr lang="en-US" altLang="zh-CN" sz="1600" dirty="0"/>
              <a:t>+</a:t>
            </a:r>
            <a:r>
              <a:rPr lang="zh-CN" altLang="en-US" sz="1600" dirty="0"/>
              <a:t>微调模型）</a:t>
            </a:r>
            <a:endParaRPr lang="en-US" altLang="zh-CN" sz="1600" dirty="0"/>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文本框 3"/>
          <p:cNvSpPr txBox="1"/>
          <p:nvPr/>
        </p:nvSpPr>
        <p:spPr>
          <a:xfrm>
            <a:off x="344805" y="302895"/>
            <a:ext cx="10500995" cy="460375"/>
          </a:xfrm>
          <a:prstGeom prst="rect">
            <a:avLst/>
          </a:prstGeom>
          <a:noFill/>
        </p:spPr>
        <p:txBody>
          <a:bodyPr wrap="square" rtlCol="0">
            <a:spAutoFit/>
          </a:bodyPr>
          <a:lstStyle/>
          <a:p>
            <a:pPr algn="l"/>
            <a:r>
              <a:rPr lang="zh-CN" altLang="en-US" sz="2400" dirty="0">
                <a:solidFill>
                  <a:schemeClr val="tx1"/>
                </a:solidFill>
              </a:rPr>
              <a:t>进展三：评估集相关工作分享</a:t>
            </a:r>
            <a:endParaRPr lang="en-US" altLang="zh-CN" sz="2400" dirty="0">
              <a:solidFill>
                <a:schemeClr val="tx1"/>
              </a:solidFill>
              <a:sym typeface="+mn-ea"/>
            </a:endParaRPr>
          </a:p>
        </p:txBody>
      </p:sp>
      <p:sp>
        <p:nvSpPr>
          <p:cNvPr id="2" name="文本框 1"/>
          <p:cNvSpPr txBox="1"/>
          <p:nvPr/>
        </p:nvSpPr>
        <p:spPr>
          <a:xfrm>
            <a:off x="344805" y="870495"/>
            <a:ext cx="11655907" cy="369332"/>
          </a:xfrm>
          <a:prstGeom prst="rect">
            <a:avLst/>
          </a:prstGeom>
          <a:noFill/>
        </p:spPr>
        <p:txBody>
          <a:bodyPr wrap="square" rtlCol="0">
            <a:spAutoFit/>
          </a:bodyPr>
          <a:lstStyle/>
          <a:p>
            <a:r>
              <a:rPr lang="en-US" altLang="zh-CN" dirty="0">
                <a:latin typeface="Times New Roman" panose="02020503050405090304" pitchFamily="18" charset="0"/>
                <a:cs typeface="Times New Roman" panose="02020503050405090304" pitchFamily="18" charset="0"/>
              </a:rPr>
              <a:t>7. </a:t>
            </a:r>
            <a:r>
              <a:rPr lang="en-US" altLang="zh-CN" i="1" dirty="0" err="1">
                <a:latin typeface="Times New Roman" panose="02020503050405090304" pitchFamily="18" charset="0"/>
                <a:cs typeface="Times New Roman" panose="02020503050405090304" pitchFamily="18" charset="0"/>
              </a:rPr>
              <a:t>CodeMind</a:t>
            </a:r>
            <a:r>
              <a:rPr lang="en-US" altLang="zh-CN" i="1" dirty="0">
                <a:latin typeface="Times New Roman" panose="02020503050405090304" pitchFamily="18" charset="0"/>
                <a:cs typeface="Times New Roman" panose="02020503050405090304" pitchFamily="18" charset="0"/>
              </a:rPr>
              <a:t>: Evaluating Large Language Models for Code Reasoning </a:t>
            </a:r>
            <a:r>
              <a:rPr lang="en-US" altLang="zh-CN" dirty="0" err="1">
                <a:latin typeface="Times New Roman" panose="02020503050405090304" pitchFamily="18" charset="0"/>
                <a:cs typeface="Times New Roman" panose="02020503050405090304" pitchFamily="18" charset="0"/>
              </a:rPr>
              <a:t>Arxiv</a:t>
            </a:r>
            <a:r>
              <a:rPr lang="en-US" altLang="zh-CN" dirty="0">
                <a:latin typeface="Times New Roman" panose="02020503050405090304" pitchFamily="18" charset="0"/>
                <a:cs typeface="Times New Roman" panose="02020503050405090304" pitchFamily="18" charset="0"/>
              </a:rPr>
              <a:t> 2024</a:t>
            </a:r>
            <a:endParaRPr lang="en-US" altLang="zh-CN" dirty="0">
              <a:latin typeface="Times New Roman" panose="02020503050405090304" pitchFamily="18" charset="0"/>
              <a:cs typeface="Times New Roman" panose="02020503050405090304" pitchFamily="18" charset="0"/>
            </a:endParaRPr>
          </a:p>
        </p:txBody>
      </p:sp>
      <p:sp>
        <p:nvSpPr>
          <p:cNvPr id="7" name="文本框 6"/>
          <p:cNvSpPr txBox="1"/>
          <p:nvPr/>
        </p:nvSpPr>
        <p:spPr>
          <a:xfrm>
            <a:off x="192405" y="1239520"/>
            <a:ext cx="11808460" cy="3041015"/>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20000"/>
              </a:lnSpc>
            </a:pPr>
            <a:r>
              <a:rPr lang="zh-CN" altLang="en-US" sz="1600" dirty="0">
                <a:solidFill>
                  <a:srgbClr val="000000"/>
                </a:solidFill>
                <a:latin typeface="+mn-ea"/>
              </a:rPr>
              <a:t>一句话总结：</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针对代码推理，设计了新的评估代码推理任务（</a:t>
            </a:r>
            <a:r>
              <a:rPr lang="en-US" altLang="zh-CN" sz="1600" dirty="0">
                <a:solidFill>
                  <a:srgbClr val="000000"/>
                </a:solidFill>
                <a:latin typeface="+mn-ea"/>
              </a:rPr>
              <a:t>IER </a:t>
            </a:r>
            <a:r>
              <a:rPr lang="zh-CN" altLang="en-US" sz="1600" dirty="0">
                <a:solidFill>
                  <a:srgbClr val="000000"/>
                </a:solidFill>
                <a:latin typeface="+mn-ea"/>
              </a:rPr>
              <a:t>函数级输入输出、</a:t>
            </a:r>
            <a:r>
              <a:rPr lang="en-US" altLang="zh-CN" sz="1600" dirty="0">
                <a:solidFill>
                  <a:srgbClr val="000000"/>
                </a:solidFill>
                <a:latin typeface="+mn-ea"/>
              </a:rPr>
              <a:t>SR </a:t>
            </a:r>
            <a:r>
              <a:rPr lang="zh-CN" altLang="en-US" sz="1600" dirty="0">
                <a:solidFill>
                  <a:srgbClr val="000000"/>
                </a:solidFill>
                <a:latin typeface="+mn-ea"/>
              </a:rPr>
              <a:t>自然语言问题的代码生成、</a:t>
            </a:r>
            <a:r>
              <a:rPr lang="en-US" altLang="zh-CN" sz="1600" dirty="0">
                <a:solidFill>
                  <a:srgbClr val="000000"/>
                </a:solidFill>
                <a:latin typeface="+mn-ea"/>
              </a:rPr>
              <a:t>DSR </a:t>
            </a:r>
            <a:r>
              <a:rPr lang="zh-CN" altLang="en-US" sz="1600" dirty="0">
                <a:solidFill>
                  <a:srgbClr val="000000"/>
                </a:solidFill>
                <a:latin typeface="+mn-ea"/>
              </a:rPr>
              <a:t>代码简化去噪声的代码生成）。整体来说：代码生成</a:t>
            </a:r>
            <a:r>
              <a:rPr lang="en-US" altLang="zh-CN" sz="1600" dirty="0">
                <a:solidFill>
                  <a:srgbClr val="000000"/>
                </a:solidFill>
                <a:latin typeface="+mn-ea"/>
              </a:rPr>
              <a:t>+</a:t>
            </a:r>
            <a:r>
              <a:rPr lang="zh-CN" altLang="en-US" sz="1600" dirty="0">
                <a:solidFill>
                  <a:srgbClr val="000000"/>
                </a:solidFill>
                <a:latin typeface="+mn-ea"/>
              </a:rPr>
              <a:t>预测输出函数级代码推理。但是代码生成任务构建的更带一点思考性。</a:t>
            </a:r>
            <a:endParaRPr lang="en-US" altLang="zh-CN" sz="1600" dirty="0">
              <a:solidFill>
                <a:srgbClr val="000000"/>
              </a:solidFill>
              <a:latin typeface="+mn-ea"/>
            </a:endParaRPr>
          </a:p>
          <a:p>
            <a:pPr>
              <a:lnSpc>
                <a:spcPct val="120000"/>
              </a:lnSpc>
            </a:pP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评价：</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这篇工作是老朋友了之前就分享过。它的独特性就是重点关注评估任务，通篇讲评估设计，对数据集构建并没有太提。但是认为</a:t>
            </a:r>
            <a:r>
              <a:rPr lang="en-US" altLang="zh-CN" sz="1600" dirty="0">
                <a:solidFill>
                  <a:srgbClr val="000000"/>
                </a:solidFill>
                <a:latin typeface="+mn-ea"/>
              </a:rPr>
              <a:t>IER</a:t>
            </a:r>
            <a:r>
              <a:rPr lang="zh-CN" altLang="en-US" sz="1600" dirty="0">
                <a:solidFill>
                  <a:srgbClr val="000000"/>
                </a:solidFill>
                <a:latin typeface="+mn-ea"/>
              </a:rPr>
              <a:t>、</a:t>
            </a:r>
            <a:r>
              <a:rPr lang="en-US" altLang="zh-CN" sz="1600" dirty="0">
                <a:solidFill>
                  <a:srgbClr val="000000"/>
                </a:solidFill>
                <a:latin typeface="+mn-ea"/>
              </a:rPr>
              <a:t>SR</a:t>
            </a:r>
            <a:r>
              <a:rPr lang="zh-CN" altLang="en-US" sz="1600" dirty="0">
                <a:solidFill>
                  <a:srgbClr val="000000"/>
                </a:solidFill>
                <a:latin typeface="+mn-ea"/>
              </a:rPr>
              <a:t>、</a:t>
            </a:r>
            <a:r>
              <a:rPr lang="en-US" altLang="zh-CN" sz="1600" dirty="0">
                <a:solidFill>
                  <a:srgbClr val="000000"/>
                </a:solidFill>
                <a:latin typeface="+mn-ea"/>
              </a:rPr>
              <a:t>DSR</a:t>
            </a:r>
            <a:r>
              <a:rPr lang="zh-CN" altLang="en-US" sz="1600" dirty="0">
                <a:solidFill>
                  <a:srgbClr val="000000"/>
                </a:solidFill>
                <a:latin typeface="+mn-ea"/>
              </a:rPr>
              <a:t>的分类和设计也没讲的太清楚和分类明晰，名字取得太绕了；以及后续的实验评估分析写的太细了在论证为什么在循环表现差这种。</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感觉不是一个好的论文书写参考，但是需要关注它的创新点防撞</a:t>
            </a:r>
            <a:endParaRPr lang="en-US" altLang="zh-CN" sz="1600" dirty="0">
              <a:solidFill>
                <a:srgbClr val="000000"/>
              </a:solidFill>
              <a:latin typeface="+mn-ea"/>
            </a:endParaRPr>
          </a:p>
          <a:p>
            <a:pPr>
              <a:lnSpc>
                <a:spcPct val="120000"/>
              </a:lnSpc>
            </a:pPr>
            <a:r>
              <a:rPr lang="zh-CN" altLang="en-US" sz="1600" dirty="0">
                <a:solidFill>
                  <a:srgbClr val="000000"/>
                </a:solidFill>
                <a:latin typeface="+mn-ea"/>
              </a:rPr>
              <a:t>还有一个启发是，不要取绕口缩写名字，直接写清楚更好</a:t>
            </a:r>
            <a:endParaRPr lang="en-US" altLang="zh-CN" sz="1600" dirty="0">
              <a:solidFill>
                <a:srgbClr val="000000"/>
              </a:solidFill>
              <a:latin typeface="+mn-ea"/>
            </a:endParaRPr>
          </a:p>
        </p:txBody>
      </p:sp>
      <p:pic>
        <p:nvPicPr>
          <p:cNvPr id="5" name="图片 4"/>
          <p:cNvPicPr>
            <a:picLocks noChangeAspect="1"/>
          </p:cNvPicPr>
          <p:nvPr/>
        </p:nvPicPr>
        <p:blipFill>
          <a:blip r:embed="rId1"/>
          <a:stretch>
            <a:fillRect/>
          </a:stretch>
        </p:blipFill>
        <p:spPr>
          <a:xfrm>
            <a:off x="936199" y="4353802"/>
            <a:ext cx="8819048" cy="2323809"/>
          </a:xfrm>
          <a:prstGeom prst="rect">
            <a:avLst/>
          </a:prstGeom>
        </p:spPr>
      </p:pic>
    </p:spTree>
  </p:cSld>
  <p:clrMapOvr>
    <a:masterClrMapping/>
  </p:clrMapOvr>
  <p:transition/>
</p:sld>
</file>

<file path=ppt/tags/tag1.xml><?xml version="1.0" encoding="utf-8"?>
<p:tagLst xmlns:p="http://schemas.openxmlformats.org/presentationml/2006/main">
  <p:tag name="TABLE_ENDDRAG_ORIGIN_RECT" val="552*201"/>
  <p:tag name="TABLE_ENDDRAG_RECT" val="339*338*552*201"/>
</p:tagLst>
</file>

<file path=ppt/tags/tag2.xml><?xml version="1.0" encoding="utf-8"?>
<p:tagLst xmlns:p="http://schemas.openxmlformats.org/presentationml/2006/main">
  <p:tag name="TABLE_ENDDRAG_ORIGIN_RECT" val="929*465"/>
  <p:tag name="TABLE_ENDDRAG_RECT" val="15*52*929*465"/>
</p:tagLst>
</file>

<file path=ppt/tags/tag3.xml><?xml version="1.0" encoding="utf-8"?>
<p:tagLst xmlns:p="http://schemas.openxmlformats.org/presentationml/2006/main">
  <p:tag name="TABLE_ENDDRAG_ORIGIN_RECT" val="813*313"/>
  <p:tag name="TABLE_ENDDRAG_RECT" val="40*166*813*313"/>
</p:tagLst>
</file>

<file path=ppt/tags/tag4.xml><?xml version="1.0" encoding="utf-8"?>
<p:tagLst xmlns:p="http://schemas.openxmlformats.org/presentationml/2006/main">
  <p:tag name="TABLE_ENDDRAG_ORIGIN_RECT" val="541*296"/>
  <p:tag name="TABLE_ENDDRAG_RECT" val="40*218*541*296"/>
</p:tagLst>
</file>

<file path=ppt/tags/tag5.xml><?xml version="1.0" encoding="utf-8"?>
<p:tagLst xmlns:p="http://schemas.openxmlformats.org/presentationml/2006/main">
  <p:tag name="TABLE_ENDDRAG_ORIGIN_RECT" val="826*336"/>
  <p:tag name="TABLE_ENDDRAG_RECT" val="32*183*826*336"/>
</p:tagLst>
</file>

<file path=ppt/tags/tag6.xml><?xml version="1.0" encoding="utf-8"?>
<p:tagLst xmlns:p="http://schemas.openxmlformats.org/presentationml/2006/main">
  <p:tag name="RESOURCE_RECORD_KEY" val="{&quot;10&quot;:[20179637,20211662,50039266,21564682]}"/>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11236</Words>
  <Application>WPS 演示</Application>
  <PresentationFormat>宽屏</PresentationFormat>
  <Paragraphs>504</Paragraphs>
  <Slides>29</Slides>
  <Notes>1</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29</vt:i4>
      </vt:variant>
    </vt:vector>
  </HeadingPairs>
  <TitlesOfParts>
    <vt:vector size="47" baseType="lpstr">
      <vt:lpstr>Arial</vt:lpstr>
      <vt:lpstr>宋体</vt:lpstr>
      <vt:lpstr>Wingdings</vt:lpstr>
      <vt:lpstr>Times New Roman</vt:lpstr>
      <vt:lpstr>等线</vt:lpstr>
      <vt:lpstr>汉仪中等线KW</vt:lpstr>
      <vt:lpstr>微软雅黑</vt:lpstr>
      <vt:lpstr>汉仪旗黑</vt:lpstr>
      <vt:lpstr>宋体</vt:lpstr>
      <vt:lpstr>Arial Unicode MS</vt:lpstr>
      <vt:lpstr>等线 Light</vt:lpstr>
      <vt:lpstr>Calibri</vt:lpstr>
      <vt:lpstr>Helvetica Neue</vt:lpstr>
      <vt:lpstr>汉仪书宋二KW</vt:lpstr>
      <vt:lpstr>Noto Sans</vt:lpstr>
      <vt:lpstr>苹方-简</vt:lpstr>
      <vt:lpstr>Apple Color Emoji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caoye541@gmail.com</dc:creator>
  <cp:lastModifiedBy>曹烨(2021012167)</cp:lastModifiedBy>
  <cp:revision>147</cp:revision>
  <dcterms:created xsi:type="dcterms:W3CDTF">2026-01-29T14:03:22Z</dcterms:created>
  <dcterms:modified xsi:type="dcterms:W3CDTF">2026-01-29T14:03:22Z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A9D8EE090709422594ECCEF0F366ED29_13</vt:lpwstr>
  </property>
  <property fmtid="{D5CDD505-2E9C-101B-9397-08002B2CF9AE}" pid="3" name="KSOProductBuildVer">
    <vt:lpwstr>2052-12.1.24703.24703</vt:lpwstr>
  </property>
</Properties>
</file>