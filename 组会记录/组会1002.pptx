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60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hub.com/joernio/joern?tab=readme-ov-file" TargetMode="Externa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48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上周回顾：</a:t>
            </a:r>
            <a:r>
              <a:rPr lang="zh-CN" altLang="en-US" sz="1800" dirty="0"/>
              <a:t>20250925 会议纪要 1</a:t>
            </a:r>
            <a:endParaRPr lang="en-US" altLang="zh-CN" sz="18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70887"/>
            <a:ext cx="10310649" cy="3942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1. 共同研讨meta最新的工作CWM 代码世界模型，认为其关键的创新点是：在中训练阶段，用“逐行标注变量变化”的超大世界建模数据集，让模型成功理解了程序运行逻辑，提升了大模型的代码能力。其对我们有帮助的点是：给了中间步骤的checkpoints，可以尝试在此基础上使用和尝试；其数据集构造规范格式思路很值得借鉴和参考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2. 共同研讨目前数据集增广的muti-agent框架，指出其中问题和解决方案，后续会尝试用内嵌循环agent去保证数据集的code可运行性和质量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3. 展示了目前5条数据集微调结果，大概提升性能1%左右还是很可观的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4. 分享了RL+SFT的混合后训练方法，通过每一步评估和选择，将一次走一大步变成了一次走一小步，不断地调整训练方法选择，训练效果有明显提升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5. 讨论了后续框架思路：代码推理、代码分析、误报消除三步走，逐步提升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6. 约定了简要的代码分析数据集构造思路，会期待大模型有学到从语句在代码中逆向思考的代码分析能力，后续需要尝试这类数据集构造和可行性分析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CWM论文链接：https://scontent-lax3-2.xx.fbcdn.net/v/t39.2365-6/553592426_661450129912484_4072750821656455102_n.pdf?_nc_cat=103&amp;ccb=1-7&amp;_nc_sid=3c67a6&amp;_nc_ohc=iRs3sgpeI1MQ7kNvwG-XlTY&amp;_nc_oc=AdmdoNTgig7bKYucXzywWpMnSV3SnZWQblsMA09mQM6FCYGVwH1gSDhKgk-91S21haw&amp;_nc_zt=14&amp;_nc_ht=scontent-lax3-2.xx&amp;_nc_gid=7Od2pIO4KYotwdKJ5AbsKw&amp;oh=00_AfYCre7w45yOzIjsLpcbDaqOeisLfgxmYK0ZIv8ZNEiu_A&amp;oe=68DAF635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RL+SFT的论文链接：https://arxiv.org/pdf/2509.04419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9065" y="-60325"/>
          <a:ext cx="11933555" cy="6710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7335"/>
                <a:gridCol w="10396220"/>
              </a:tblGrid>
              <a:tr h="20053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进展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优化针对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MIX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级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的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multi-agent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框架结构，有可靠性和可扩展性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利用内嵌循环迭代的方法完善了执行能力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优化了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生成和新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生成的能力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针对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SL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场景问题，生产了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，并为每个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进行了执行结果记录、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生成、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评估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讨论代码分析数据集的构建思路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Java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还是很难自动化执行验证，目前数据集只保留了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和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 ++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和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目前的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里，绝大多数的难度评估都是满分，估计能给微调带来可观的帮助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为了保证速度，目前每次执行一小步动作都会调用一次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，整体速度比较慢（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跑了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个小时），但是还是可以自动化生产，应该可以满足需求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Todo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扩充数据集，基于目前数据集构建思路扩展到其他三个场景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继续探索代码分析这一领域的训练数据集构建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279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会议纪要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2025</a:t>
                      </a:r>
                      <a:r>
                        <a:rPr lang="en-US" altLang="zh-CN" sz="1600" dirty="0"/>
                        <a:t>1002</a:t>
                      </a:r>
                      <a:r>
                        <a:rPr lang="zh-CN" altLang="en-US" sz="1600" dirty="0"/>
                        <a:t> 会议纪要 </a:t>
                      </a:r>
                      <a:r>
                        <a:rPr lang="en-US" altLang="zh-CN" sz="1600" dirty="0"/>
                        <a:t>2</a:t>
                      </a:r>
                      <a:endParaRPr lang="en-US" altLang="zh-CN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1. </a:t>
                      </a:r>
                      <a:r>
                        <a:rPr lang="zh-CN" altLang="en-US" sz="1600" dirty="0"/>
                        <a:t>分享了目前针对代码推理的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MIX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级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case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的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multi-agent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框架结构，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4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大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agent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，有可靠性和可扩展性</a:t>
                      </a:r>
                      <a:endParaRPr lang="en-US" altLang="zh-CN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2. </a:t>
                      </a:r>
                      <a:r>
                        <a:rPr lang="zh-CN" altLang="en-US" sz="1600" dirty="0"/>
                        <a:t>讨论了代码推理数据集后续优化方向：优化</a:t>
                      </a:r>
                      <a:r>
                        <a:rPr lang="en-US" altLang="zh-CN" sz="1600" dirty="0"/>
                        <a:t>cot</a:t>
                      </a:r>
                      <a:r>
                        <a:rPr lang="zh-CN" altLang="en-US" sz="1600" dirty="0"/>
                        <a:t>生成逻辑，利用</a:t>
                      </a:r>
                      <a:r>
                        <a:rPr lang="en-US" altLang="zh-CN" sz="1600" dirty="0"/>
                        <a:t>GDB</a:t>
                      </a:r>
                      <a:r>
                        <a:rPr lang="zh-CN" altLang="en-US" sz="1600" dirty="0"/>
                        <a:t>记录额外中间信息来丰富</a:t>
                      </a:r>
                      <a:r>
                        <a:rPr lang="en-US" altLang="zh-CN" sz="1600" dirty="0"/>
                        <a:t>cot</a:t>
                      </a:r>
                      <a:r>
                        <a:rPr lang="zh-CN" altLang="en-US" sz="1600" dirty="0"/>
                        <a:t>；新</a:t>
                      </a:r>
                      <a:r>
                        <a:rPr lang="en-US" altLang="zh-CN" sz="1600" dirty="0"/>
                        <a:t>case</a:t>
                      </a:r>
                      <a:r>
                        <a:rPr lang="zh-CN" altLang="en-US" sz="1600" dirty="0"/>
                        <a:t>扩展生成逻辑调整，均衡难度和提升多样性</a:t>
                      </a:r>
                      <a:endParaRPr lang="zh-CN" altLang="en-US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3. </a:t>
                      </a:r>
                      <a:r>
                        <a:rPr lang="zh-CN" altLang="en-US" sz="1600" dirty="0"/>
                        <a:t>未来构想：利</a:t>
                      </a:r>
                      <a:r>
                        <a:rPr lang="zh-CN" altLang="en-US" sz="1600" b="0" dirty="0"/>
                        <a:t>用</a:t>
                      </a:r>
                      <a:r>
                        <a:rPr lang="en-US" altLang="zh-CN" sz="1600" b="0" dirty="0"/>
                        <a:t>GDB</a:t>
                      </a:r>
                      <a:r>
                        <a:rPr lang="zh-CN" altLang="en-US" sz="1600" b="0" dirty="0"/>
                        <a:t>，未来可以去掉无关语句来提升代码分析能力</a:t>
                      </a:r>
                      <a:endParaRPr lang="en-US" altLang="zh-CN" sz="1600" b="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dirty="0"/>
                        <a:t>4. </a:t>
                      </a:r>
                      <a:r>
                        <a:rPr lang="zh-CN" altLang="en-US" sz="1600" dirty="0"/>
                        <a:t>分享了目前复现</a:t>
                      </a:r>
                      <a:r>
                        <a:rPr lang="en-US" altLang="zh-CN" sz="1600" dirty="0"/>
                        <a:t>rl+sft</a:t>
                      </a:r>
                      <a:r>
                        <a:rPr lang="zh-CN" altLang="en-US" sz="1600" dirty="0"/>
                        <a:t>的工作进展，尝试了几种方式都不太行，后续会联系作者推进</a:t>
                      </a:r>
                      <a:endParaRPr lang="zh-CN" altLang="en-US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之后会调研代码分析相关的评估集和论文并下周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分享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91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一、</a:t>
            </a:r>
            <a:r>
              <a:rPr lang="en-US" altLang="zh-CN" sz="1800" dirty="0"/>
              <a:t>MIX</a:t>
            </a:r>
            <a:r>
              <a:rPr lang="en-US" altLang="zh-CN" dirty="0"/>
              <a:t>-</a:t>
            </a:r>
            <a:r>
              <a:rPr lang="en-US" altLang="zh-CN" sz="1800" dirty="0"/>
              <a:t>case</a:t>
            </a:r>
            <a:r>
              <a:rPr lang="zh-CN" altLang="en-US" sz="1800" dirty="0"/>
              <a:t>的</a:t>
            </a:r>
            <a:r>
              <a:rPr lang="en-US" altLang="zh-CN" sz="1800" dirty="0"/>
              <a:t>multi-agent</a:t>
            </a:r>
            <a:r>
              <a:rPr lang="zh-CN" altLang="en-US" sz="1800" dirty="0"/>
              <a:t>生成框架（以语句级推理任务为例 </a:t>
            </a:r>
            <a:r>
              <a:rPr lang="en-US" altLang="zh-CN" sz="1800" dirty="0"/>
              <a:t>SL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3" name="流程图: 多文档 2"/>
          <p:cNvSpPr/>
          <p:nvPr/>
        </p:nvSpPr>
        <p:spPr>
          <a:xfrm>
            <a:off x="170266" y="2973849"/>
            <a:ext cx="1683759" cy="910302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  <a:endParaRPr lang="zh-CN" altLang="en-US" sz="1400" dirty="0"/>
          </a:p>
        </p:txBody>
      </p:sp>
      <p:cxnSp>
        <p:nvCxnSpPr>
          <p:cNvPr id="6" name="直接箭头连接符 5"/>
          <p:cNvCxnSpPr>
            <a:stCxn id="3" idx="3"/>
          </p:cNvCxnSpPr>
          <p:nvPr/>
        </p:nvCxnSpPr>
        <p:spPr>
          <a:xfrm>
            <a:off x="1854025" y="3429000"/>
            <a:ext cx="4666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320684" y="2446808"/>
            <a:ext cx="1576552" cy="206843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Treec-Eva</a:t>
            </a:r>
            <a:r>
              <a:rPr lang="zh-CN" altLang="en-US" sz="1600" dirty="0"/>
              <a:t>结构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算数运算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布尔运算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函数调用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变量赋值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大混合</a:t>
            </a:r>
            <a:endParaRPr lang="zh-CN" altLang="en-US" sz="1600" dirty="0"/>
          </a:p>
        </p:txBody>
      </p:sp>
      <p:cxnSp>
        <p:nvCxnSpPr>
          <p:cNvPr id="12" name="直接箭头连接符 11"/>
          <p:cNvCxnSpPr>
            <a:stCxn id="7" idx="3"/>
          </p:cNvCxnSpPr>
          <p:nvPr/>
        </p:nvCxnSpPr>
        <p:spPr>
          <a:xfrm flipV="1">
            <a:off x="3897236" y="3474720"/>
            <a:ext cx="1820812" cy="6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897236" y="2782669"/>
            <a:ext cx="1820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之前的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insight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是这个过于简单，希望能再生成一批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mix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难度级别的任务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18048" y="2122448"/>
            <a:ext cx="5632704" cy="283359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笑脸 14"/>
          <p:cNvSpPr/>
          <p:nvPr>
            <p:custDataLst>
              <p:tags r:id="rId1"/>
            </p:custDataLst>
          </p:nvPr>
        </p:nvSpPr>
        <p:spPr>
          <a:xfrm>
            <a:off x="7294600" y="2341772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7721320" y="2284765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Agent1</a:t>
            </a:r>
            <a:r>
              <a:rPr lang="zh-CN" altLang="en-US" sz="1400" dirty="0"/>
              <a:t>：根据目前数据集，转换成可运行的代码并记录问题对应位置的运行结果</a:t>
            </a:r>
            <a:endParaRPr lang="zh-CN" altLang="en-US" sz="1400" dirty="0"/>
          </a:p>
        </p:txBody>
      </p:sp>
      <p:sp>
        <p:nvSpPr>
          <p:cNvPr id="17" name="笑脸 16"/>
          <p:cNvSpPr/>
          <p:nvPr>
            <p:custDataLst>
              <p:tags r:id="rId3"/>
            </p:custDataLst>
          </p:nvPr>
        </p:nvSpPr>
        <p:spPr>
          <a:xfrm>
            <a:off x="7294600" y="2921999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7721320" y="2864992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Agent2</a:t>
            </a:r>
            <a:r>
              <a:rPr lang="zh-CN" altLang="en-US" sz="1400" dirty="0"/>
              <a:t>：根据单个</a:t>
            </a:r>
            <a:r>
              <a:rPr lang="en-US" altLang="zh-CN" sz="1400" dirty="0"/>
              <a:t>case</a:t>
            </a:r>
            <a:r>
              <a:rPr lang="zh-CN" altLang="en-US" sz="1400" dirty="0"/>
              <a:t>生成精简的三句话以内的</a:t>
            </a:r>
            <a:r>
              <a:rPr lang="en-US" altLang="zh-CN" sz="1400" dirty="0"/>
              <a:t>cot</a:t>
            </a:r>
            <a:endParaRPr lang="zh-CN" altLang="en-US" sz="1400" dirty="0"/>
          </a:p>
        </p:txBody>
      </p:sp>
      <p:sp>
        <p:nvSpPr>
          <p:cNvPr id="19" name="笑脸 18"/>
          <p:cNvSpPr/>
          <p:nvPr>
            <p:custDataLst>
              <p:tags r:id="rId5"/>
            </p:custDataLst>
          </p:nvPr>
        </p:nvSpPr>
        <p:spPr>
          <a:xfrm>
            <a:off x="7294600" y="3496187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7721320" y="3439180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Agent3</a:t>
            </a:r>
            <a:r>
              <a:rPr lang="zh-CN" altLang="en-US" sz="1400" dirty="0"/>
              <a:t>：调用五个</a:t>
            </a:r>
            <a:r>
              <a:rPr lang="en-US" altLang="zh-CN" sz="1400" dirty="0"/>
              <a:t>ai</a:t>
            </a:r>
            <a:r>
              <a:rPr lang="zh-CN" altLang="en-US" sz="1400" dirty="0"/>
              <a:t>的</a:t>
            </a:r>
            <a:r>
              <a:rPr lang="en-US" altLang="zh-CN" sz="1400" dirty="0"/>
              <a:t>API</a:t>
            </a:r>
            <a:r>
              <a:rPr lang="zh-CN" altLang="en-US" sz="1400" dirty="0"/>
              <a:t>，预测对应</a:t>
            </a:r>
            <a:r>
              <a:rPr lang="en-US" altLang="zh-CN" sz="1400" dirty="0"/>
              <a:t>case</a:t>
            </a:r>
            <a:r>
              <a:rPr lang="zh-CN" altLang="en-US" sz="1400" dirty="0"/>
              <a:t>的答案，记录并根据错误</a:t>
            </a:r>
            <a:r>
              <a:rPr lang="en-US" altLang="zh-CN" sz="1400" dirty="0"/>
              <a:t>ai</a:t>
            </a:r>
            <a:r>
              <a:rPr lang="zh-CN" altLang="en-US" sz="1400" dirty="0"/>
              <a:t>数目更新难度</a:t>
            </a:r>
            <a:endParaRPr lang="zh-CN" altLang="en-US" sz="1400" dirty="0"/>
          </a:p>
        </p:txBody>
      </p:sp>
      <p:sp>
        <p:nvSpPr>
          <p:cNvPr id="21" name="笑脸 20"/>
          <p:cNvSpPr/>
          <p:nvPr>
            <p:custDataLst>
              <p:tags r:id="rId7"/>
            </p:custDataLst>
          </p:nvPr>
        </p:nvSpPr>
        <p:spPr>
          <a:xfrm>
            <a:off x="7294600" y="4107389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7721320" y="4050382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Agent4</a:t>
            </a:r>
            <a:r>
              <a:rPr lang="zh-CN" altLang="en-US" sz="1400" dirty="0"/>
              <a:t>：根据给出的背景和需求和已有数据集，扩展数据集</a:t>
            </a:r>
            <a:endParaRPr lang="zh-CN" altLang="en-US" sz="1400" dirty="0"/>
          </a:p>
        </p:txBody>
      </p:sp>
      <p:sp>
        <p:nvSpPr>
          <p:cNvPr id="23" name="笑脸 22"/>
          <p:cNvSpPr/>
          <p:nvPr/>
        </p:nvSpPr>
        <p:spPr>
          <a:xfrm>
            <a:off x="6172516" y="3253143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5803559" y="3727215"/>
            <a:ext cx="12250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Master Agent</a:t>
            </a:r>
            <a:r>
              <a:rPr lang="zh-CN" altLang="en-US" sz="1400" dirty="0"/>
              <a:t>：负责多场景需求对不同</a:t>
            </a:r>
            <a:r>
              <a:rPr lang="en-US" altLang="zh-CN" sz="1400" dirty="0"/>
              <a:t>agent</a:t>
            </a:r>
            <a:r>
              <a:rPr lang="zh-CN" altLang="en-US" sz="1400" dirty="0"/>
              <a:t>的调用和流程把控</a:t>
            </a:r>
            <a:endParaRPr lang="zh-CN" altLang="en-US" sz="1400" dirty="0"/>
          </a:p>
        </p:txBody>
      </p:sp>
      <p:cxnSp>
        <p:nvCxnSpPr>
          <p:cNvPr id="27" name="连接符: 肘形 26"/>
          <p:cNvCxnSpPr>
            <a:endCxn id="21" idx="2"/>
          </p:cNvCxnSpPr>
          <p:nvPr/>
        </p:nvCxnSpPr>
        <p:spPr>
          <a:xfrm rot="5400000">
            <a:off x="6434004" y="3451396"/>
            <a:ext cx="1721192" cy="12700"/>
          </a:xfrm>
          <a:prstGeom prst="bentConnector4">
            <a:avLst>
              <a:gd name="adj1" fmla="val 493"/>
              <a:gd name="adj2" fmla="val 2140000"/>
            </a:avLst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597554" y="3457746"/>
            <a:ext cx="43109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91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一、</a:t>
            </a:r>
            <a:r>
              <a:rPr lang="en-US" altLang="zh-CN" sz="1800" dirty="0"/>
              <a:t>MIX</a:t>
            </a:r>
            <a:r>
              <a:rPr lang="en-US" altLang="zh-CN" dirty="0"/>
              <a:t>-</a:t>
            </a:r>
            <a:r>
              <a:rPr lang="en-US" altLang="zh-CN" sz="1800" dirty="0"/>
              <a:t>case</a:t>
            </a:r>
            <a:r>
              <a:rPr lang="zh-CN" altLang="en-US" sz="1800" dirty="0"/>
              <a:t>的</a:t>
            </a:r>
            <a:r>
              <a:rPr lang="en-US" altLang="zh-CN" sz="1800" dirty="0"/>
              <a:t>multi-agent</a:t>
            </a:r>
            <a:r>
              <a:rPr lang="zh-CN" altLang="en-US" sz="1800" dirty="0"/>
              <a:t>生成框架（以语句级推理任务为例 </a:t>
            </a:r>
            <a:r>
              <a:rPr lang="en-US" altLang="zh-CN" sz="1800" dirty="0"/>
              <a:t>SL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14" name="矩形 13"/>
          <p:cNvSpPr/>
          <p:nvPr/>
        </p:nvSpPr>
        <p:spPr>
          <a:xfrm>
            <a:off x="262128" y="939824"/>
            <a:ext cx="5632704" cy="283359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笑脸 14"/>
          <p:cNvSpPr/>
          <p:nvPr/>
        </p:nvSpPr>
        <p:spPr>
          <a:xfrm>
            <a:off x="1838680" y="1159148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265400" y="1102141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Agent1</a:t>
            </a:r>
            <a:r>
              <a:rPr lang="zh-CN" altLang="en-US" sz="1400" dirty="0"/>
              <a:t>：根据目前数据集，转换成可运行的代码并记录问题对应位置的运行结果</a:t>
            </a:r>
            <a:endParaRPr lang="zh-CN" altLang="en-US" sz="1400" dirty="0"/>
          </a:p>
        </p:txBody>
      </p:sp>
      <p:sp>
        <p:nvSpPr>
          <p:cNvPr id="17" name="笑脸 16"/>
          <p:cNvSpPr/>
          <p:nvPr/>
        </p:nvSpPr>
        <p:spPr>
          <a:xfrm>
            <a:off x="1838680" y="1739375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65400" y="1682368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Agent2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：根据单个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生成精简的三句话以内的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cot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笑脸 18"/>
          <p:cNvSpPr/>
          <p:nvPr/>
        </p:nvSpPr>
        <p:spPr>
          <a:xfrm>
            <a:off x="1838680" y="2313563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5400" y="2256556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Agent3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：调用五个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ai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API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，预测对应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的答案，记录并根据错误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ai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数目更新难度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笑脸 20"/>
          <p:cNvSpPr/>
          <p:nvPr/>
        </p:nvSpPr>
        <p:spPr>
          <a:xfrm>
            <a:off x="1838680" y="2924765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65400" y="2867758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Agent4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：根据给出的背景和需求和已有数据集，扩展数据集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笑脸 22"/>
          <p:cNvSpPr/>
          <p:nvPr/>
        </p:nvSpPr>
        <p:spPr>
          <a:xfrm>
            <a:off x="716596" y="2070519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7639" y="2544591"/>
            <a:ext cx="12250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Master Agent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：负责多场景需求对不同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的调用和流程把控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7" name="连接符: 肘形 26"/>
          <p:cNvCxnSpPr>
            <a:endCxn id="21" idx="2"/>
          </p:cNvCxnSpPr>
          <p:nvPr/>
        </p:nvCxnSpPr>
        <p:spPr>
          <a:xfrm rot="5400000">
            <a:off x="978084" y="2268772"/>
            <a:ext cx="1721192" cy="12700"/>
          </a:xfrm>
          <a:prstGeom prst="bentConnector4">
            <a:avLst>
              <a:gd name="adj1" fmla="val 493"/>
              <a:gd name="adj2" fmla="val 2140000"/>
            </a:avLst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141634" y="2275122"/>
            <a:ext cx="43109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62128" y="3935740"/>
            <a:ext cx="5632704" cy="2644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Agent1</a:t>
            </a:r>
            <a:r>
              <a:rPr lang="zh-CN" altLang="en-US" sz="1400" dirty="0"/>
              <a:t>：</a:t>
            </a:r>
            <a:r>
              <a:rPr lang="en-US" altLang="zh-CN" sz="1400" dirty="0"/>
              <a:t>execute_tasks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/>
              <a:t>拿到</a:t>
            </a:r>
            <a:r>
              <a:rPr lang="en-US" altLang="zh-CN" sz="1400" dirty="0"/>
              <a:t>case</a:t>
            </a:r>
            <a:r>
              <a:rPr lang="zh-CN" altLang="en-US" sz="1400" dirty="0"/>
              <a:t>，转换成临时代码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/>
              <a:t>执行临时代码，并记录输出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/>
              <a:t>如果有输出结果，根据正则匹配特定格式获取正确结果，否则提取最后一个数字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/>
              <a:t>如果无输出结果报错，调用</a:t>
            </a:r>
            <a:r>
              <a:rPr lang="en-US" altLang="zh-CN" sz="1400" dirty="0"/>
              <a:t>API</a:t>
            </a:r>
            <a:r>
              <a:rPr lang="zh-CN" altLang="en-US" sz="1400" dirty="0"/>
              <a:t>，给报错信息和</a:t>
            </a:r>
            <a:r>
              <a:rPr lang="en-US" altLang="zh-CN" sz="1400" dirty="0"/>
              <a:t>case</a:t>
            </a:r>
            <a:r>
              <a:rPr lang="zh-CN" altLang="en-US" sz="1400" dirty="0"/>
              <a:t>，让</a:t>
            </a:r>
            <a:r>
              <a:rPr lang="en-US" altLang="zh-CN" sz="1400" dirty="0"/>
              <a:t>ai</a:t>
            </a:r>
            <a:r>
              <a:rPr lang="zh-CN" altLang="en-US" sz="1400" dirty="0"/>
              <a:t>改</a:t>
            </a:r>
            <a:r>
              <a:rPr lang="en-US" altLang="zh-CN" sz="1400" dirty="0"/>
              <a:t>code</a:t>
            </a:r>
            <a:r>
              <a:rPr lang="zh-CN" altLang="en-US" sz="1400" dirty="0"/>
              <a:t>，在循环上述操作直到有输出为止，最多循环三次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/>
              <a:t>用</a:t>
            </a:r>
            <a:r>
              <a:rPr lang="en-US" altLang="zh-CN" sz="1400" dirty="0"/>
              <a:t>answer.json</a:t>
            </a:r>
            <a:r>
              <a:rPr lang="zh-CN" altLang="en-US" sz="1400" dirty="0"/>
              <a:t>记录过程，并在数据集中更新</a:t>
            </a:r>
            <a:r>
              <a:rPr lang="en-US" altLang="zh-CN" sz="1400" dirty="0"/>
              <a:t>answer</a:t>
            </a:r>
            <a:endParaRPr lang="en-US" altLang="zh-CN" sz="1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846" y="770007"/>
            <a:ext cx="1264697" cy="455632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724" y="766285"/>
            <a:ext cx="2435395" cy="451330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583846" y="5632704"/>
            <a:ext cx="497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最终效果：绝大多数都有正确执行结果，少部分</a:t>
            </a:r>
            <a:r>
              <a:rPr lang="en-US" altLang="zh-CN" sz="1400" dirty="0"/>
              <a:t>ai</a:t>
            </a:r>
            <a:r>
              <a:rPr lang="zh-CN" altLang="en-US" sz="1400" dirty="0"/>
              <a:t>循环三次仍然无法执行成功标记</a:t>
            </a:r>
            <a:r>
              <a:rPr lang="en-US" altLang="zh-CN" sz="1400" dirty="0"/>
              <a:t>false</a:t>
            </a:r>
            <a:r>
              <a:rPr lang="zh-CN" altLang="en-US" sz="1400" dirty="0"/>
              <a:t>，之后会剔除这一部分</a:t>
            </a:r>
            <a:r>
              <a:rPr lang="en-US" altLang="zh-CN" sz="1400" dirty="0"/>
              <a:t>case</a:t>
            </a:r>
            <a:endParaRPr lang="zh-CN" altLang="en-US" sz="14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253" y="766285"/>
            <a:ext cx="2653534" cy="183670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253" y="2779776"/>
            <a:ext cx="2677747" cy="11476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91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一、</a:t>
            </a:r>
            <a:r>
              <a:rPr lang="en-US" altLang="zh-CN" sz="1800" dirty="0"/>
              <a:t>MIX</a:t>
            </a:r>
            <a:r>
              <a:rPr lang="en-US" altLang="zh-CN" dirty="0"/>
              <a:t>-</a:t>
            </a:r>
            <a:r>
              <a:rPr lang="en-US" altLang="zh-CN" sz="1800" dirty="0"/>
              <a:t>case</a:t>
            </a:r>
            <a:r>
              <a:rPr lang="zh-CN" altLang="en-US" sz="1800" dirty="0"/>
              <a:t>的</a:t>
            </a:r>
            <a:r>
              <a:rPr lang="en-US" altLang="zh-CN" sz="1800" dirty="0"/>
              <a:t>multi-agent</a:t>
            </a:r>
            <a:r>
              <a:rPr lang="zh-CN" altLang="en-US" sz="1800" dirty="0"/>
              <a:t>生成框架（以语句级推理任务为例 </a:t>
            </a:r>
            <a:r>
              <a:rPr lang="en-US" altLang="zh-CN" sz="1800" dirty="0"/>
              <a:t>SL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14" name="矩形 13"/>
          <p:cNvSpPr/>
          <p:nvPr/>
        </p:nvSpPr>
        <p:spPr>
          <a:xfrm>
            <a:off x="262128" y="939824"/>
            <a:ext cx="5632704" cy="283359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笑脸 14"/>
          <p:cNvSpPr/>
          <p:nvPr/>
        </p:nvSpPr>
        <p:spPr>
          <a:xfrm>
            <a:off x="1838680" y="1159148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265400" y="1102141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Agent1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：根据目前数据集，转换成可运行的代码并记录问题对应位置的运行结果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笑脸 16"/>
          <p:cNvSpPr/>
          <p:nvPr/>
        </p:nvSpPr>
        <p:spPr>
          <a:xfrm>
            <a:off x="1838680" y="1739375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65400" y="1682368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Agent2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：根据单个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生成精简的三句话以内的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cot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笑脸 18"/>
          <p:cNvSpPr/>
          <p:nvPr/>
        </p:nvSpPr>
        <p:spPr>
          <a:xfrm>
            <a:off x="1838680" y="2313563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5400" y="2256556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Agent3</a:t>
            </a:r>
            <a:r>
              <a:rPr lang="zh-CN" altLang="en-US" sz="1400" dirty="0"/>
              <a:t>：调用五个</a:t>
            </a:r>
            <a:r>
              <a:rPr lang="en-US" altLang="zh-CN" sz="1400" dirty="0"/>
              <a:t>ai</a:t>
            </a:r>
            <a:r>
              <a:rPr lang="zh-CN" altLang="en-US" sz="1400" dirty="0"/>
              <a:t>的</a:t>
            </a:r>
            <a:r>
              <a:rPr lang="en-US" altLang="zh-CN" sz="1400" dirty="0"/>
              <a:t>API</a:t>
            </a:r>
            <a:r>
              <a:rPr lang="zh-CN" altLang="en-US" sz="1400" dirty="0"/>
              <a:t>，预测对应</a:t>
            </a:r>
            <a:r>
              <a:rPr lang="en-US" altLang="zh-CN" sz="1400" dirty="0"/>
              <a:t>case</a:t>
            </a:r>
            <a:r>
              <a:rPr lang="zh-CN" altLang="en-US" sz="1400" dirty="0"/>
              <a:t>的答案，记录并根据错误</a:t>
            </a:r>
            <a:r>
              <a:rPr lang="en-US" altLang="zh-CN" sz="1400" dirty="0"/>
              <a:t>ai</a:t>
            </a:r>
            <a:r>
              <a:rPr lang="zh-CN" altLang="en-US" sz="1400" dirty="0"/>
              <a:t>数目更新难度</a:t>
            </a:r>
            <a:endParaRPr lang="zh-CN" altLang="en-US" sz="1400" dirty="0"/>
          </a:p>
        </p:txBody>
      </p:sp>
      <p:sp>
        <p:nvSpPr>
          <p:cNvPr id="21" name="笑脸 20"/>
          <p:cNvSpPr/>
          <p:nvPr/>
        </p:nvSpPr>
        <p:spPr>
          <a:xfrm>
            <a:off x="1838680" y="2924765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65400" y="2867758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Agent4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：根据给出的背景和需求和已有数据集，扩展数据集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笑脸 22"/>
          <p:cNvSpPr/>
          <p:nvPr/>
        </p:nvSpPr>
        <p:spPr>
          <a:xfrm>
            <a:off x="716596" y="2070519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7639" y="2544591"/>
            <a:ext cx="12250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Master Agent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：负责多场景需求对不同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的调用和流程把控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7" name="连接符: 肘形 26"/>
          <p:cNvCxnSpPr>
            <a:endCxn id="21" idx="2"/>
          </p:cNvCxnSpPr>
          <p:nvPr/>
        </p:nvCxnSpPr>
        <p:spPr>
          <a:xfrm rot="5400000">
            <a:off x="978084" y="2268772"/>
            <a:ext cx="1721192" cy="12700"/>
          </a:xfrm>
          <a:prstGeom prst="bentConnector4">
            <a:avLst>
              <a:gd name="adj1" fmla="val 493"/>
              <a:gd name="adj2" fmla="val 2140000"/>
            </a:avLst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141634" y="2275122"/>
            <a:ext cx="43109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62128" y="3935740"/>
            <a:ext cx="5632704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调用</a:t>
            </a:r>
            <a:r>
              <a:rPr lang="en-US" altLang="zh-CN" sz="1400" dirty="0"/>
              <a:t>API</a:t>
            </a:r>
            <a:r>
              <a:rPr lang="zh-CN" altLang="en-US" sz="1400" dirty="0"/>
              <a:t>：</a:t>
            </a:r>
            <a:br>
              <a:rPr lang="en-US" altLang="zh-CN" sz="1400" dirty="0"/>
            </a:br>
            <a:r>
              <a:rPr lang="en-US" altLang="zh-CN" sz="14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1. Qwen3-235B-A22B-Instruct-2507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2. Qwen3-Coder-480B-A35B-Instruct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en-US" altLang="zh-CN" sz="14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MiniMax-Text-01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en-US" altLang="zh-CN" sz="14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GLM-4-Plus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5. </a:t>
            </a:r>
            <a:r>
              <a:rPr lang="en-US" altLang="zh-CN" sz="14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DeepSeek-V3-250324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83846" y="5632704"/>
            <a:ext cx="497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232" y="678515"/>
            <a:ext cx="2334922" cy="4576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298" y="678514"/>
            <a:ext cx="3426043" cy="245720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298" y="3237833"/>
            <a:ext cx="3426043" cy="159660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153130" y="5524982"/>
            <a:ext cx="497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最终效果：整体数据集对于</a:t>
            </a:r>
            <a:r>
              <a:rPr lang="en-US" altLang="zh-CN" sz="1400" dirty="0"/>
              <a:t>ai</a:t>
            </a:r>
            <a:r>
              <a:rPr lang="zh-CN" altLang="en-US" sz="1400" dirty="0"/>
              <a:t>还是高难度的，每个</a:t>
            </a:r>
            <a:r>
              <a:rPr lang="en-US" altLang="zh-CN" sz="1400" dirty="0"/>
              <a:t>ai</a:t>
            </a:r>
            <a:r>
              <a:rPr lang="zh-CN" altLang="en-US" sz="1400" dirty="0"/>
              <a:t>的</a:t>
            </a:r>
            <a:r>
              <a:rPr lang="en-US" altLang="zh-CN" sz="1400" dirty="0"/>
              <a:t>pass@1</a:t>
            </a:r>
            <a:r>
              <a:rPr lang="zh-CN" altLang="en-US" sz="1400" dirty="0"/>
              <a:t>的概率都很低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91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一、</a:t>
            </a:r>
            <a:r>
              <a:rPr lang="en-US" altLang="zh-CN" sz="1800" dirty="0"/>
              <a:t>MIX</a:t>
            </a:r>
            <a:r>
              <a:rPr lang="en-US" altLang="zh-CN" dirty="0"/>
              <a:t>-</a:t>
            </a:r>
            <a:r>
              <a:rPr lang="en-US" altLang="zh-CN" sz="1800" dirty="0"/>
              <a:t>case</a:t>
            </a:r>
            <a:r>
              <a:rPr lang="zh-CN" altLang="en-US" sz="1800" dirty="0"/>
              <a:t>的</a:t>
            </a:r>
            <a:r>
              <a:rPr lang="en-US" altLang="zh-CN" sz="1800" dirty="0"/>
              <a:t>multi-agent</a:t>
            </a:r>
            <a:r>
              <a:rPr lang="zh-CN" altLang="en-US" sz="1800" dirty="0"/>
              <a:t>生成框架（以语句级推理任务为例 </a:t>
            </a:r>
            <a:r>
              <a:rPr lang="en-US" altLang="zh-CN" sz="1800" dirty="0"/>
              <a:t>SL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14" name="矩形 13"/>
          <p:cNvSpPr/>
          <p:nvPr/>
        </p:nvSpPr>
        <p:spPr>
          <a:xfrm>
            <a:off x="262128" y="939824"/>
            <a:ext cx="5632704" cy="283359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笑脸 14"/>
          <p:cNvSpPr/>
          <p:nvPr/>
        </p:nvSpPr>
        <p:spPr>
          <a:xfrm>
            <a:off x="1838680" y="1159148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265400" y="1102141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Agent1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：根据目前数据集，转换成可运行的代码并记录问题对应位置的运行结果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笑脸 16"/>
          <p:cNvSpPr/>
          <p:nvPr/>
        </p:nvSpPr>
        <p:spPr>
          <a:xfrm>
            <a:off x="1838680" y="1739375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65400" y="1682368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Agent2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：根据单个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生成精简的三句话以内的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cot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笑脸 18"/>
          <p:cNvSpPr/>
          <p:nvPr/>
        </p:nvSpPr>
        <p:spPr>
          <a:xfrm>
            <a:off x="1838680" y="2313563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5400" y="2256556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Agent3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：调用五个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ai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API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，预测对应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的答案，记录并根据错误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ai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数目更新难度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笑脸 20"/>
          <p:cNvSpPr/>
          <p:nvPr/>
        </p:nvSpPr>
        <p:spPr>
          <a:xfrm>
            <a:off x="1838680" y="2924765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65400" y="2867758"/>
            <a:ext cx="343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Agent4</a:t>
            </a:r>
            <a:r>
              <a:rPr lang="zh-CN" altLang="en-US" sz="1400" dirty="0"/>
              <a:t>：根据给出的背景和需求和已有数据集，扩展数据集</a:t>
            </a:r>
            <a:endParaRPr lang="zh-CN" altLang="en-US" sz="1400" dirty="0"/>
          </a:p>
        </p:txBody>
      </p:sp>
      <p:sp>
        <p:nvSpPr>
          <p:cNvPr id="23" name="笑脸 22"/>
          <p:cNvSpPr/>
          <p:nvPr/>
        </p:nvSpPr>
        <p:spPr>
          <a:xfrm>
            <a:off x="716596" y="2070519"/>
            <a:ext cx="426720" cy="409205"/>
          </a:xfrm>
          <a:prstGeom prst="smileyF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7639" y="2544591"/>
            <a:ext cx="12250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Master Agent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：负责多场景需求对不同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agent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的调用和流程把控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7" name="连接符: 肘形 26"/>
          <p:cNvCxnSpPr>
            <a:endCxn id="21" idx="2"/>
          </p:cNvCxnSpPr>
          <p:nvPr/>
        </p:nvCxnSpPr>
        <p:spPr>
          <a:xfrm rot="5400000">
            <a:off x="978084" y="2268772"/>
            <a:ext cx="1721192" cy="12700"/>
          </a:xfrm>
          <a:prstGeom prst="bentConnector4">
            <a:avLst>
              <a:gd name="adj1" fmla="val 493"/>
              <a:gd name="adj2" fmla="val 2140000"/>
            </a:avLst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141634" y="2275122"/>
            <a:ext cx="43109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62128" y="3792468"/>
            <a:ext cx="5632704" cy="382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背景</a:t>
            </a:r>
            <a:r>
              <a:rPr lang="zh-CN" alt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、需求以数据集最开始的形式存储其中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998" y="4132275"/>
            <a:ext cx="4139184" cy="262239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36208" y="775797"/>
            <a:ext cx="2115312" cy="38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举例：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case412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52" y="1255743"/>
            <a:ext cx="5017262" cy="5457667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976" y="593963"/>
            <a:ext cx="4334784" cy="691721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422" y="1363749"/>
            <a:ext cx="3381522" cy="1025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</a:t>
            </a:r>
            <a:r>
              <a:rPr lang="zh-CN" altLang="en-US" sz="1800" dirty="0"/>
              <a:t>、代码分析数据集构造思路构想</a:t>
            </a:r>
            <a:endParaRPr lang="en-US" altLang="zh-CN" sz="18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781607"/>
            <a:ext cx="98487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思路：</a:t>
            </a:r>
            <a:r>
              <a:rPr lang="zh-CN" altLang="en-US" dirty="0">
                <a:latin typeface="+mn-ea"/>
              </a:rPr>
              <a:t>给定代码，分析第</a:t>
            </a:r>
            <a:r>
              <a:rPr lang="en-US" altLang="zh-CN" dirty="0">
                <a:latin typeface="+mn-ea"/>
              </a:rPr>
              <a:t>X</a:t>
            </a:r>
            <a:r>
              <a:rPr lang="zh-CN" altLang="en-US" dirty="0">
                <a:latin typeface="+mn-ea"/>
              </a:rPr>
              <a:t>行语句中变量</a:t>
            </a:r>
            <a:r>
              <a:rPr lang="en-US" altLang="zh-CN" dirty="0">
                <a:latin typeface="+mn-ea"/>
              </a:rPr>
              <a:t>Y</a:t>
            </a:r>
            <a:r>
              <a:rPr lang="zh-CN" altLang="en-US" dirty="0">
                <a:latin typeface="+mn-ea"/>
              </a:rPr>
              <a:t>的定义</a:t>
            </a:r>
            <a:r>
              <a:rPr lang="en-US" altLang="zh-CN" dirty="0">
                <a:latin typeface="+mn-ea"/>
              </a:rPr>
              <a:t>-</a:t>
            </a:r>
            <a:r>
              <a:rPr lang="zh-CN" altLang="en-US" dirty="0">
                <a:latin typeface="+mn-ea"/>
              </a:rPr>
              <a:t>使用关系，返回</a:t>
            </a:r>
            <a:endParaRPr lang="zh-CN" altLang="en-US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+mn-ea"/>
              </a:rPr>
              <a:t>该变量的所有可能定义位置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+mn-ea"/>
              </a:rPr>
              <a:t>影响该定义到达此使用点的控制流语句</a:t>
            </a:r>
            <a:endParaRPr lang="zh-CN" altLang="en-US" dirty="0">
              <a:latin typeface="+mn-ea"/>
            </a:endParaRPr>
          </a:p>
          <a:p>
            <a:endParaRPr lang="en-US" altLang="zh-CN" dirty="0">
              <a:solidFill>
                <a:srgbClr val="032F62"/>
              </a:solidFill>
              <a:latin typeface="+mn-ea"/>
              <a:cs typeface="Mongolian Baiti" panose="03000500000000000000" pitchFamily="66" charset="0"/>
            </a:endParaRPr>
          </a:p>
          <a:p>
            <a:r>
              <a:rPr lang="en-US" altLang="zh-CN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Description</a:t>
            </a:r>
            <a:r>
              <a:rPr lang="zh-CN" altLang="en-US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：</a:t>
            </a:r>
            <a:endParaRPr lang="en-US" altLang="zh-CN" b="0" dirty="0">
              <a:solidFill>
                <a:srgbClr val="032F62"/>
              </a:solidFill>
              <a:effectLst/>
              <a:latin typeface="+mn-ea"/>
              <a:cs typeface="Mongolian Baiti" panose="03000500000000000000" pitchFamily="66" charset="0"/>
            </a:endParaRPr>
          </a:p>
          <a:p>
            <a:r>
              <a:rPr lang="en-US" altLang="zh-CN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Given the code below, analyze the variable 'adjusted_score' used in line 14: `total = adjusted_score * multiplier + 10`. Find all possible definition locations for this variable and the control flow statements that affect which definition reaches this usage point. Return two sorted lists: definitions and control_dependencies.</a:t>
            </a:r>
            <a:endParaRPr lang="en-US" altLang="zh-CN" b="0" dirty="0">
              <a:solidFill>
                <a:srgbClr val="032F62"/>
              </a:solidFill>
              <a:effectLst/>
              <a:latin typeface="+mn-ea"/>
              <a:cs typeface="Mongolian Baiti" panose="03000500000000000000" pitchFamily="66" charset="0"/>
            </a:endParaRPr>
          </a:p>
          <a:p>
            <a:endParaRPr lang="en-US" altLang="zh-CN" dirty="0">
              <a:solidFill>
                <a:srgbClr val="032F62"/>
              </a:solidFill>
              <a:latin typeface="+mn-ea"/>
              <a:cs typeface="Mongolian Baiti" panose="03000500000000000000" pitchFamily="66" charset="0"/>
            </a:endParaRPr>
          </a:p>
          <a:p>
            <a:r>
              <a:rPr lang="en-US" altLang="zh-CN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Answer</a:t>
            </a:r>
            <a:r>
              <a:rPr lang="zh-CN" altLang="en-US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：</a:t>
            </a:r>
            <a:endParaRPr lang="en-US" altLang="zh-CN" b="0" dirty="0">
              <a:solidFill>
                <a:srgbClr val="032F62"/>
              </a:solidFill>
              <a:effectLst/>
              <a:latin typeface="+mn-ea"/>
              <a:cs typeface="Mongolian Baiti" panose="03000500000000000000" pitchFamily="66" charset="0"/>
            </a:endParaRPr>
          </a:p>
          <a:p>
            <a:r>
              <a:rPr lang="en-US" altLang="zh-CN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"definitions": [3, 6, 9, 11],</a:t>
            </a:r>
            <a:endParaRPr lang="en-US" altLang="zh-CN" b="0" dirty="0">
              <a:solidFill>
                <a:srgbClr val="032F62"/>
              </a:solidFill>
              <a:effectLst/>
              <a:latin typeface="+mn-ea"/>
              <a:cs typeface="Mongolian Baiti" panose="03000500000000000000" pitchFamily="66" charset="0"/>
            </a:endParaRPr>
          </a:p>
          <a:p>
            <a:r>
              <a:rPr lang="en-US" altLang="zh-CN" b="0" dirty="0">
                <a:solidFill>
                  <a:srgbClr val="032F62"/>
                </a:solidFill>
                <a:effectLst/>
                <a:latin typeface="+mn-ea"/>
                <a:cs typeface="Mongolian Baiti" panose="03000500000000000000" pitchFamily="66" charset="0"/>
              </a:rPr>
              <a:t>"control_dependencies": [5, 8, 10, 13]</a:t>
            </a:r>
            <a:endParaRPr lang="en-US" altLang="zh-CN" b="0" dirty="0">
              <a:solidFill>
                <a:srgbClr val="032F62"/>
              </a:solidFill>
              <a:effectLst/>
              <a:latin typeface="+mn-ea"/>
              <a:cs typeface="Mongolian Baiti" panose="03000500000000000000" pitchFamily="66" charset="0"/>
            </a:endParaRPr>
          </a:p>
        </p:txBody>
      </p:sp>
      <p:pic>
        <p:nvPicPr>
          <p:cNvPr id="6" name="图片 5" descr="图形用户界面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618" y="3054383"/>
            <a:ext cx="4965912" cy="38036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</a:t>
            </a:r>
            <a:r>
              <a:rPr lang="zh-CN" altLang="en-US" sz="1800" dirty="0"/>
              <a:t>、代码分析数据集构造思路构想</a:t>
            </a:r>
            <a:endParaRPr lang="en-US" altLang="zh-CN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090" y="944358"/>
            <a:ext cx="8118190" cy="294147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9090" y="40430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https://github.com/joernio/joern?tab=readme-ov-file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99090" y="4569567"/>
            <a:ext cx="5632704" cy="167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静态分析工具</a:t>
            </a: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可以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ui-sans-serif"/>
              </a:rPr>
              <a:t>提供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ui-sans-serif"/>
              </a:rPr>
              <a:t>REST API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ui-sans-serif"/>
              </a:rPr>
              <a:t>服务，可通过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ui-sans-serif"/>
              </a:rPr>
              <a:t>Python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ui-sans-serif"/>
              </a:rPr>
              <a:t>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ui-sans-serif"/>
              </a:rPr>
              <a:t>requests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ui-sans-serif"/>
              </a:rPr>
              <a:t>库调用，方便与其他工具和平台进行集成，实现自动化的代码分析流程。</a:t>
            </a:r>
            <a:endParaRPr lang="en-US" altLang="zh-CN" sz="1400" b="0" i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ui-sans-serif"/>
              </a:rPr>
              <a:t>试了下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ui-sans-serif"/>
              </a:rPr>
              <a:t>python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ui-sans-serif"/>
              </a:rPr>
              <a:t>里调用不好调用，还在继续摸索</a:t>
            </a:r>
            <a:endParaRPr lang="en-US" altLang="zh-CN" sz="1400" b="0" i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zh-CN" sz="14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39*519"/>
  <p:tag name="TABLE_ENDDRAG_RECT" val="0*-2*939*519"/>
</p:tagLst>
</file>

<file path=ppt/tags/tag2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ags/tag3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ags/tag4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ags/tag5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ags/tag6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ags/tag7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ags/tag8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ags/tag9.xml><?xml version="1.0" encoding="utf-8"?>
<p:tagLst xmlns:p="http://schemas.openxmlformats.org/presentationml/2006/main">
  <p:tag name="KSO_WM_DIAGRAM_VIRTUALLY_FRAME" val="{&quot;height&quot;:180.22338582677168,&quot;left&quot;:574.3779527559055,&quot;top&quot;:179.9027559055118,&quot;width&quot;:304.3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3506</Words>
  <Application>WPS 演示</Application>
  <PresentationFormat>宽屏</PresentationFormat>
  <Paragraphs>142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Mongolian Baiti</vt:lpstr>
      <vt:lpstr>ui-sans-serif</vt:lpstr>
      <vt:lpstr>Segoe Print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5</cp:revision>
  <dcterms:created xsi:type="dcterms:W3CDTF">2025-10-01T20:32:00Z</dcterms:created>
  <dcterms:modified xsi:type="dcterms:W3CDTF">2025-10-16T05:12:48Z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4CD902BC4E6E40948A07D3B56F80A508_13</vt:lpwstr>
  </property>
  <property fmtid="{D5CDD505-2E9C-101B-9397-08002B2CF9AE}" pid="3" name="KSOProductBuildVer">
    <vt:lpwstr>2052-12.1.0.19302</vt:lpwstr>
  </property>
</Properties>
</file>