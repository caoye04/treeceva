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65" r:id="rId5"/>
    <p:sldId id="259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上周回顾：2025</a:t>
            </a:r>
            <a:r>
              <a:rPr lang="en-US" altLang="zh-CN" sz="3200" dirty="0"/>
              <a:t>1016</a:t>
            </a:r>
            <a:r>
              <a:rPr lang="zh-CN" altLang="en-US" sz="3200" dirty="0"/>
              <a:t> 会议纪要 </a:t>
            </a:r>
            <a:r>
              <a:rPr lang="en-US" altLang="zh-CN" sz="3200" dirty="0"/>
              <a:t>2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分享了目前针对代码推理的</a:t>
            </a:r>
            <a:r>
              <a:rPr lang="en-US" altLang="zh-CN" sz="2000" dirty="0"/>
              <a:t>MIX</a:t>
            </a:r>
            <a:r>
              <a:rPr lang="zh-CN" altLang="en-US" sz="2000" dirty="0"/>
              <a:t>级</a:t>
            </a:r>
            <a:r>
              <a:rPr lang="en-US" altLang="zh-CN" sz="2000" dirty="0"/>
              <a:t>case</a:t>
            </a:r>
            <a:r>
              <a:rPr lang="zh-CN" altLang="en-US" sz="2000" dirty="0"/>
              <a:t>的</a:t>
            </a:r>
            <a:r>
              <a:rPr lang="en-US" altLang="zh-CN" sz="2000" dirty="0"/>
              <a:t>multi-agent</a:t>
            </a:r>
            <a:r>
              <a:rPr lang="zh-CN" altLang="en-US" sz="2000" dirty="0"/>
              <a:t>框架结构，</a:t>
            </a:r>
            <a:r>
              <a:rPr lang="en-US" altLang="zh-CN" sz="2000" dirty="0"/>
              <a:t>4</a:t>
            </a:r>
            <a:r>
              <a:rPr lang="zh-CN" altLang="en-US" sz="2000" dirty="0"/>
              <a:t>大</a:t>
            </a:r>
            <a:r>
              <a:rPr lang="en-US" altLang="zh-CN" sz="2000" dirty="0"/>
              <a:t>agent</a:t>
            </a:r>
            <a:r>
              <a:rPr lang="zh-CN" altLang="en-US" sz="2000" dirty="0"/>
              <a:t>，有可靠性和可扩展性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 </a:t>
            </a:r>
            <a:r>
              <a:rPr lang="zh-CN" altLang="en-US" sz="2000" dirty="0"/>
              <a:t>讨论了代码推理数据集后续优化方向：优化</a:t>
            </a:r>
            <a:r>
              <a:rPr lang="en-US" altLang="zh-CN" sz="2000" dirty="0"/>
              <a:t>cot</a:t>
            </a:r>
            <a:r>
              <a:rPr lang="zh-CN" altLang="en-US" sz="2000" dirty="0"/>
              <a:t>生成逻辑，利用</a:t>
            </a:r>
            <a:r>
              <a:rPr lang="en-US" altLang="zh-CN" sz="2000" dirty="0"/>
              <a:t>GDB</a:t>
            </a:r>
            <a:r>
              <a:rPr lang="zh-CN" altLang="en-US" sz="2000" dirty="0"/>
              <a:t>记录额外中间信息来丰富</a:t>
            </a:r>
            <a:r>
              <a:rPr lang="en-US" altLang="zh-CN" sz="2000" dirty="0"/>
              <a:t>cot</a:t>
            </a:r>
            <a:r>
              <a:rPr lang="zh-CN" altLang="en-US" sz="2000" dirty="0"/>
              <a:t>；新</a:t>
            </a:r>
            <a:r>
              <a:rPr lang="en-US" altLang="zh-CN" sz="2000" dirty="0"/>
              <a:t>case</a:t>
            </a:r>
            <a:r>
              <a:rPr lang="zh-CN" altLang="en-US" sz="2000" dirty="0"/>
              <a:t>扩展生成逻辑调整，均衡难度和提升多样性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未来构想：利用</a:t>
            </a:r>
            <a:r>
              <a:rPr lang="en-US" altLang="zh-CN" sz="2000" dirty="0"/>
              <a:t>GDB</a:t>
            </a:r>
            <a:r>
              <a:rPr lang="zh-CN" altLang="en-US" sz="2000" dirty="0"/>
              <a:t>的记录能力，未来自动化可以去掉无关语句来提升代码分析能力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 </a:t>
            </a:r>
            <a:r>
              <a:rPr lang="zh-CN" altLang="en-US" sz="2000" dirty="0"/>
              <a:t>分享了目前复现</a:t>
            </a:r>
            <a:r>
              <a:rPr lang="en-US" altLang="zh-CN" sz="2000" dirty="0"/>
              <a:t>rl+sft</a:t>
            </a:r>
            <a:r>
              <a:rPr lang="zh-CN" altLang="en-US" sz="2000" dirty="0"/>
              <a:t>的工作进展，尝试了几种方式都不太行，后续会联系作者推进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5. </a:t>
            </a:r>
            <a:r>
              <a:rPr lang="zh-CN" altLang="en-US" sz="2000" dirty="0"/>
              <a:t>讨论了后续工作调研任务：调研代码分析相关的评估集和论文并下周分享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todo</a:t>
            </a:r>
            <a:r>
              <a:rPr lang="zh-CN" altLang="en-US" sz="2000" dirty="0"/>
              <a:t>（佳）：仔细详细了解研究这些数据集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抓出核心</a:t>
            </a:r>
            <a:r>
              <a:rPr lang="en-US" altLang="zh-CN" sz="2000" dirty="0">
                <a:sym typeface="+mn-ea"/>
              </a:rPr>
              <a:t>]</a:t>
            </a:r>
            <a:r>
              <a:rPr lang="zh-CN" altLang="en-US" sz="2000" dirty="0"/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secvuleval</a:t>
            </a:r>
            <a:r>
              <a:rPr lang="en-US" altLang="zh-CN" sz="2000" dirty="0">
                <a:sym typeface="+mn-ea"/>
              </a:rPr>
              <a:t>/codexGlue/livecodebench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），哪些可以直接用</a:t>
            </a:r>
            <a:r>
              <a:rPr lang="en-US" altLang="zh-CN" sz="2000" dirty="0"/>
              <a:t> or </a:t>
            </a:r>
            <a:r>
              <a:rPr lang="zh-CN" altLang="en-US" sz="2000" dirty="0"/>
              <a:t>尝试修改后构建一些任务</a:t>
            </a:r>
            <a:r>
              <a:rPr lang="en-US" altLang="zh-CN" sz="2000" dirty="0"/>
              <a:t>case</a:t>
            </a:r>
            <a:r>
              <a:rPr lang="zh-CN" altLang="en-US" sz="2000" dirty="0"/>
              <a:t>分享</a:t>
            </a:r>
            <a:r>
              <a:rPr lang="en-US" altLang="zh-CN" sz="2000" dirty="0"/>
              <a:t> </a:t>
            </a:r>
            <a:r>
              <a:rPr lang="zh-CN" altLang="en-US" sz="2000" dirty="0"/>
              <a:t>，再研究一下未央同学发的代码推理</a:t>
            </a:r>
            <a:r>
              <a:rPr lang="zh-CN" altLang="en-US" sz="2000" dirty="0"/>
              <a:t>数据集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todo</a:t>
            </a:r>
            <a:r>
              <a:rPr lang="zh-CN" altLang="en-US" sz="2000" dirty="0"/>
              <a:t>（佳）：微调跟进，换个环境试试</a:t>
            </a:r>
            <a:r>
              <a:rPr lang="en-US" altLang="zh-CN" sz="2000" dirty="0"/>
              <a:t>+</a:t>
            </a:r>
            <a:r>
              <a:rPr lang="zh-CN" altLang="en-US" sz="2000" dirty="0"/>
              <a:t>换个其他微调方法</a:t>
            </a:r>
            <a:r>
              <a:rPr lang="zh-CN" altLang="en-US" sz="2000" dirty="0"/>
              <a:t>试试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todo</a:t>
            </a:r>
            <a:r>
              <a:rPr lang="zh-CN" altLang="en-US" sz="2000" dirty="0"/>
              <a:t>（</a:t>
            </a:r>
            <a:r>
              <a:rPr lang="zh-CN" altLang="en-US" sz="2000" dirty="0"/>
              <a:t>烨）：</a:t>
            </a:r>
            <a:r>
              <a:rPr lang="en-US" altLang="zh-CN" sz="2000" dirty="0"/>
              <a:t>gdb</a:t>
            </a:r>
            <a:r>
              <a:rPr lang="zh-CN" altLang="en-US" sz="2000" dirty="0"/>
              <a:t>和</a:t>
            </a:r>
            <a:r>
              <a:rPr lang="en-US" altLang="zh-CN" sz="2000" dirty="0"/>
              <a:t>py</a:t>
            </a:r>
            <a:r>
              <a:rPr lang="zh-CN" altLang="en-US" sz="2000" dirty="0"/>
              <a:t>调试工具的细节。尽快给出完整的</a:t>
            </a:r>
            <a:r>
              <a:rPr lang="en-US" altLang="zh-CN" sz="2000" dirty="0"/>
              <a:t>[</a:t>
            </a:r>
            <a:r>
              <a:rPr lang="zh-CN" altLang="en-US" sz="2000" dirty="0"/>
              <a:t>代码推理</a:t>
            </a:r>
            <a:r>
              <a:rPr lang="en-US" altLang="zh-CN" sz="2000" dirty="0"/>
              <a:t>]</a:t>
            </a:r>
            <a:r>
              <a:rPr lang="zh-CN" altLang="en-US" sz="2000" dirty="0"/>
              <a:t>训练数据集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推进（整体）：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41802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一、回顾：旧</a:t>
            </a:r>
            <a:r>
              <a:rPr lang="en-US" altLang="zh-CN" sz="2400" dirty="0"/>
              <a:t>multi-agent</a:t>
            </a:r>
            <a:r>
              <a:rPr lang="zh-CN" altLang="en-US" sz="2400" dirty="0"/>
              <a:t>框架</a:t>
            </a:r>
            <a:endParaRPr lang="zh-CN" altLang="en-US" sz="2400" dirty="0"/>
          </a:p>
        </p:txBody>
      </p:sp>
      <p:sp>
        <p:nvSpPr>
          <p:cNvPr id="3" name="流程图: 多文档 2"/>
          <p:cNvSpPr/>
          <p:nvPr/>
        </p:nvSpPr>
        <p:spPr>
          <a:xfrm>
            <a:off x="502371" y="1117109"/>
            <a:ext cx="1683759" cy="910302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来自</a:t>
            </a:r>
            <a:r>
              <a:rPr lang="en-US" altLang="zh-CN" sz="1600" dirty="0"/>
              <a:t>code-sense</a:t>
            </a:r>
            <a:r>
              <a:rPr lang="zh-CN" altLang="en-US" sz="1600" dirty="0"/>
              <a:t>的真实代码</a:t>
            </a:r>
            <a:endParaRPr lang="zh-CN" altLang="en-US" sz="1600" dirty="0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1223470" y="1993265"/>
            <a:ext cx="3810" cy="551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2044" y="2545233"/>
            <a:ext cx="1576552" cy="20684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Treec-Eva</a:t>
            </a:r>
            <a:r>
              <a:rPr lang="zh-CN" altLang="en-US" sz="1600" dirty="0"/>
              <a:t>结构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算数运算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布尔运算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函数调用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变量赋值</a:t>
            </a:r>
            <a:endParaRPr lang="en-US" altLang="zh-CN" sz="1600" dirty="0"/>
          </a:p>
          <a:p>
            <a:pPr marL="342900" indent="-342900" algn="ctr">
              <a:buAutoNum type="arabicPeriod"/>
            </a:pPr>
            <a:r>
              <a:rPr lang="zh-CN" altLang="en-US" sz="1600" dirty="0"/>
              <a:t>大混合</a:t>
            </a:r>
            <a:endParaRPr lang="zh-CN" altLang="en-US" sz="1600" dirty="0"/>
          </a:p>
        </p:txBody>
      </p:sp>
      <p:cxnSp>
        <p:nvCxnSpPr>
          <p:cNvPr id="12" name="直接箭头连接符 11"/>
          <p:cNvCxnSpPr>
            <a:stCxn id="7" idx="3"/>
          </p:cNvCxnSpPr>
          <p:nvPr/>
        </p:nvCxnSpPr>
        <p:spPr>
          <a:xfrm flipV="1">
            <a:off x="2079231" y="3573145"/>
            <a:ext cx="1820812" cy="6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079231" y="2813149"/>
            <a:ext cx="18208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0170" y="1297940"/>
            <a:ext cx="6192520" cy="4245610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28" name="组合 27"/>
          <p:cNvGrpSpPr/>
          <p:nvPr>
            <p:custDataLst>
              <p:tags r:id="rId1"/>
            </p:custDataLst>
          </p:nvPr>
        </p:nvGrpSpPr>
        <p:grpSpPr>
          <a:xfrm>
            <a:off x="5764885" y="1638935"/>
            <a:ext cx="3864610" cy="829310"/>
            <a:chOff x="9079" y="2581"/>
            <a:chExt cx="6086" cy="1306"/>
          </a:xfrm>
        </p:grpSpPr>
        <p:sp>
          <p:nvSpPr>
            <p:cNvPr id="15" name="笑脸 14"/>
            <p:cNvSpPr/>
            <p:nvPr>
              <p:custDataLst>
                <p:tags r:id="rId2"/>
              </p:custDataLst>
            </p:nvPr>
          </p:nvSpPr>
          <p:spPr>
            <a:xfrm>
              <a:off x="9079" y="2913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751" y="2581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Agent1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execute_tasks</a:t>
              </a:r>
              <a:endParaRPr lang="en-US" altLang="zh-CN" sz="1600" dirty="0"/>
            </a:p>
            <a:p>
              <a:r>
                <a:rPr lang="zh-CN" altLang="en-US" sz="1600" dirty="0"/>
                <a:t>根据目前数据集，转换成可运行的代码并记录问题对应位置的运行结果</a:t>
              </a:r>
              <a:endParaRPr lang="zh-CN" altLang="en-US" sz="1600" dirty="0"/>
            </a:p>
          </p:txBody>
        </p:sp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5764885" y="2613025"/>
            <a:ext cx="3864610" cy="829310"/>
            <a:chOff x="9089" y="4111"/>
            <a:chExt cx="6086" cy="1306"/>
          </a:xfrm>
        </p:grpSpPr>
        <p:sp>
          <p:nvSpPr>
            <p:cNvPr id="17" name="笑脸 16"/>
            <p:cNvSpPr/>
            <p:nvPr>
              <p:custDataLst>
                <p:tags r:id="rId5"/>
              </p:custDataLst>
            </p:nvPr>
          </p:nvSpPr>
          <p:spPr>
            <a:xfrm>
              <a:off x="9089" y="4442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9761" y="4111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Agent2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generate_cot</a:t>
              </a:r>
              <a:endParaRPr lang="en-US" altLang="zh-CN" sz="1600" dirty="0"/>
            </a:p>
            <a:p>
              <a:r>
                <a:rPr lang="zh-CN" altLang="en-US" sz="1600" dirty="0"/>
                <a:t>根据单个</a:t>
              </a:r>
              <a:r>
                <a:rPr lang="en-US" altLang="zh-CN" sz="1600" dirty="0"/>
                <a:t>case</a:t>
              </a:r>
              <a:r>
                <a:rPr lang="zh-CN" altLang="en-US" sz="1600" dirty="0"/>
                <a:t>生成精简的三句话以内的</a:t>
              </a:r>
              <a:r>
                <a:rPr lang="en-US" altLang="zh-CN" sz="1600" dirty="0"/>
                <a:t>cot</a:t>
              </a:r>
              <a:endParaRPr lang="en-US" altLang="zh-CN" sz="1600" dirty="0"/>
            </a:p>
          </p:txBody>
        </p:sp>
      </p:grpSp>
      <p:grpSp>
        <p:nvGrpSpPr>
          <p:cNvPr id="8" name="组合 7"/>
          <p:cNvGrpSpPr/>
          <p:nvPr>
            <p:custDataLst>
              <p:tags r:id="rId7"/>
            </p:custDataLst>
          </p:nvPr>
        </p:nvGrpSpPr>
        <p:grpSpPr>
          <a:xfrm>
            <a:off x="5764885" y="3587115"/>
            <a:ext cx="3871240" cy="829945"/>
            <a:chOff x="8625" y="5239"/>
            <a:chExt cx="6096" cy="1307"/>
          </a:xfrm>
        </p:grpSpPr>
        <p:sp>
          <p:nvSpPr>
            <p:cNvPr id="19" name="笑脸 18"/>
            <p:cNvSpPr/>
            <p:nvPr>
              <p:custDataLst>
                <p:tags r:id="rId8"/>
              </p:custDataLst>
            </p:nvPr>
          </p:nvSpPr>
          <p:spPr>
            <a:xfrm>
              <a:off x="8625" y="550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0" name="文本框 19"/>
            <p:cNvSpPr txBox="1"/>
            <p:nvPr>
              <p:custDataLst>
                <p:tags r:id="rId9"/>
              </p:custDataLst>
            </p:nvPr>
          </p:nvSpPr>
          <p:spPr>
            <a:xfrm>
              <a:off x="9307" y="5239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Agent3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ai_evaluation</a:t>
              </a:r>
              <a:endParaRPr lang="en-US" altLang="zh-CN" sz="1600" dirty="0"/>
            </a:p>
            <a:p>
              <a:r>
                <a:rPr lang="zh-CN" altLang="en-US" sz="1600" dirty="0"/>
                <a:t>调用五个</a:t>
              </a:r>
              <a:r>
                <a:rPr lang="en-US" altLang="zh-CN" sz="1600" dirty="0"/>
                <a:t>ai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API</a:t>
              </a:r>
              <a:r>
                <a:rPr lang="zh-CN" altLang="en-US" sz="1600" dirty="0"/>
                <a:t>，预测对应</a:t>
              </a:r>
              <a:r>
                <a:rPr lang="en-US" altLang="zh-CN" sz="1600" dirty="0"/>
                <a:t>case</a:t>
              </a:r>
              <a:r>
                <a:rPr lang="zh-CN" altLang="en-US" sz="1600" dirty="0"/>
                <a:t>的答案，根据错误</a:t>
              </a:r>
              <a:r>
                <a:rPr lang="en-US" altLang="zh-CN" sz="1600" dirty="0"/>
                <a:t>ai</a:t>
              </a:r>
              <a:r>
                <a:rPr lang="zh-CN" altLang="en-US" sz="1600" dirty="0"/>
                <a:t>数目更新难度</a:t>
              </a:r>
              <a:endParaRPr lang="zh-CN" altLang="en-US" sz="1600" dirty="0"/>
            </a:p>
          </p:txBody>
        </p:sp>
      </p:grpSp>
      <p:grpSp>
        <p:nvGrpSpPr>
          <p:cNvPr id="30" name="组合 29"/>
          <p:cNvGrpSpPr/>
          <p:nvPr>
            <p:custDataLst>
              <p:tags r:id="rId10"/>
            </p:custDataLst>
          </p:nvPr>
        </p:nvGrpSpPr>
        <p:grpSpPr>
          <a:xfrm>
            <a:off x="5764885" y="4561840"/>
            <a:ext cx="3870960" cy="829310"/>
            <a:chOff x="9079" y="7185"/>
            <a:chExt cx="6096" cy="1306"/>
          </a:xfrm>
        </p:grpSpPr>
        <p:sp>
          <p:nvSpPr>
            <p:cNvPr id="21" name="笑脸 20"/>
            <p:cNvSpPr/>
            <p:nvPr>
              <p:custDataLst>
                <p:tags r:id="rId11"/>
              </p:custDataLst>
            </p:nvPr>
          </p:nvSpPr>
          <p:spPr>
            <a:xfrm>
              <a:off x="9079" y="7516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2" name="文本框 21"/>
            <p:cNvSpPr txBox="1"/>
            <p:nvPr>
              <p:custDataLst>
                <p:tags r:id="rId12"/>
              </p:custDataLst>
            </p:nvPr>
          </p:nvSpPr>
          <p:spPr>
            <a:xfrm>
              <a:off x="9761" y="7185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Agent4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generate_new_task</a:t>
              </a:r>
              <a:endParaRPr lang="en-US" altLang="zh-CN" sz="1600" dirty="0"/>
            </a:p>
            <a:p>
              <a:r>
                <a:rPr lang="zh-CN" altLang="en-US" sz="1600" dirty="0"/>
                <a:t>根据给出的背景和需求和已有数据集，扩展数据集</a:t>
              </a:r>
              <a:endParaRPr lang="zh-CN" altLang="en-US" sz="1600" dirty="0"/>
            </a:p>
          </p:txBody>
        </p:sp>
      </p:grpSp>
      <p:sp>
        <p:nvSpPr>
          <p:cNvPr id="23" name="笑脸 22"/>
          <p:cNvSpPr/>
          <p:nvPr/>
        </p:nvSpPr>
        <p:spPr>
          <a:xfrm>
            <a:off x="4354511" y="3253778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985554" y="3727850"/>
            <a:ext cx="1225086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Master Agent</a:t>
            </a:r>
            <a:r>
              <a:rPr lang="zh-CN" altLang="en-US" sz="1600" dirty="0"/>
              <a:t>：负责多场景需求对不同</a:t>
            </a:r>
            <a:r>
              <a:rPr lang="en-US" altLang="zh-CN" sz="1600" dirty="0"/>
              <a:t>agent</a:t>
            </a:r>
            <a:r>
              <a:rPr lang="zh-CN" altLang="en-US" sz="1600" dirty="0"/>
              <a:t>的调用和流程把控</a:t>
            </a:r>
            <a:endParaRPr lang="zh-CN" altLang="en-US" sz="1600" dirty="0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779549" y="3453936"/>
            <a:ext cx="642620" cy="444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424170" y="2023745"/>
            <a:ext cx="10160" cy="29362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434455" y="2577465"/>
            <a:ext cx="179451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zh-CN" altLang="en-US"/>
              <a:t>太粗糙</a:t>
            </a:r>
            <a:r>
              <a:rPr lang="zh-CN" altLang="en-US"/>
              <a:t>简略</a:t>
            </a:r>
            <a:endParaRPr lang="zh-CN" altLang="en-US"/>
          </a:p>
          <a:p>
            <a:pPr algn="ctr">
              <a:lnSpc>
                <a:spcPct val="140000"/>
              </a:lnSpc>
            </a:pPr>
            <a:r>
              <a:rPr lang="zh-CN" altLang="en-US"/>
              <a:t>对大模型提升</a:t>
            </a:r>
            <a:r>
              <a:rPr lang="zh-CN" altLang="en-US"/>
              <a:t>弱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99090" y="302697"/>
            <a:ext cx="60090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一、回顾：旧</a:t>
            </a:r>
            <a:r>
              <a:rPr lang="en-US" altLang="zh-CN" sz="2400" dirty="0"/>
              <a:t>multi-agent</a:t>
            </a:r>
            <a:r>
              <a:rPr lang="zh-CN" altLang="en-US" sz="2400" dirty="0"/>
              <a:t>框架的问题</a:t>
            </a:r>
            <a:r>
              <a:rPr lang="zh-CN" altLang="en-US" sz="2400" dirty="0"/>
              <a:t>所在？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98805" y="1242695"/>
            <a:ext cx="5854700" cy="4527550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28" name="组合 27"/>
          <p:cNvGrpSpPr/>
          <p:nvPr>
            <p:custDataLst>
              <p:tags r:id="rId1"/>
            </p:custDataLst>
          </p:nvPr>
        </p:nvGrpSpPr>
        <p:grpSpPr>
          <a:xfrm>
            <a:off x="2463520" y="1583690"/>
            <a:ext cx="3864610" cy="829310"/>
            <a:chOff x="9079" y="2581"/>
            <a:chExt cx="6086" cy="1306"/>
          </a:xfrm>
        </p:grpSpPr>
        <p:sp>
          <p:nvSpPr>
            <p:cNvPr id="15" name="笑脸 14"/>
            <p:cNvSpPr/>
            <p:nvPr>
              <p:custDataLst>
                <p:tags r:id="rId2"/>
              </p:custDataLst>
            </p:nvPr>
          </p:nvSpPr>
          <p:spPr>
            <a:xfrm>
              <a:off x="9079" y="2913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751" y="2581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Agent1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execute_tasks</a:t>
              </a:r>
              <a:endParaRPr lang="en-US" altLang="zh-CN" sz="1600" dirty="0"/>
            </a:p>
            <a:p>
              <a:r>
                <a:rPr lang="zh-CN" altLang="en-US" sz="1600" dirty="0"/>
                <a:t>根据目前数据集，转换成可运行的代码并记录问题对应位置的运行结果</a:t>
              </a:r>
              <a:endParaRPr lang="zh-CN" altLang="en-US" sz="1600" dirty="0"/>
            </a:p>
          </p:txBody>
        </p:sp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2463520" y="2557780"/>
            <a:ext cx="3864610" cy="829945"/>
            <a:chOff x="9089" y="4111"/>
            <a:chExt cx="6086" cy="1307"/>
          </a:xfrm>
        </p:grpSpPr>
        <p:sp>
          <p:nvSpPr>
            <p:cNvPr id="17" name="笑脸 16"/>
            <p:cNvSpPr/>
            <p:nvPr>
              <p:custDataLst>
                <p:tags r:id="rId5"/>
              </p:custDataLst>
            </p:nvPr>
          </p:nvSpPr>
          <p:spPr>
            <a:xfrm>
              <a:off x="9089" y="4442"/>
              <a:ext cx="672" cy="644"/>
            </a:xfrm>
            <a:prstGeom prst="smileyF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9761" y="4111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Agent2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generate_cot</a:t>
              </a:r>
              <a:endParaRPr lang="en-US" altLang="zh-CN" sz="1600" dirty="0"/>
            </a:p>
            <a:p>
              <a:r>
                <a:rPr lang="zh-CN" altLang="en-US" sz="1600" b="1" strike="sngStrike" dirty="0">
                  <a:solidFill>
                    <a:srgbClr val="FF0000"/>
                  </a:solidFill>
                </a:rPr>
                <a:t>根据单个</a:t>
              </a:r>
              <a:r>
                <a:rPr lang="en-US" altLang="zh-CN" sz="1600" b="1" strike="sngStrike" dirty="0">
                  <a:solidFill>
                    <a:srgbClr val="FF0000"/>
                  </a:solidFill>
                </a:rPr>
                <a:t>case</a:t>
              </a:r>
              <a:r>
                <a:rPr lang="zh-CN" altLang="en-US" sz="1600" b="1" strike="sngStrike" dirty="0">
                  <a:solidFill>
                    <a:srgbClr val="FF0000"/>
                  </a:solidFill>
                </a:rPr>
                <a:t>生成精简的三句话以内的</a:t>
              </a:r>
              <a:r>
                <a:rPr lang="en-US" altLang="zh-CN" sz="1600" b="1" strike="sngStrike" dirty="0">
                  <a:solidFill>
                    <a:srgbClr val="FF0000"/>
                  </a:solidFill>
                </a:rPr>
                <a:t>cot</a:t>
              </a:r>
              <a:endParaRPr lang="en-US" altLang="zh-CN" sz="1600" b="1" strike="sngStrike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7"/>
            </p:custDataLst>
          </p:nvPr>
        </p:nvGrpSpPr>
        <p:grpSpPr>
          <a:xfrm>
            <a:off x="2463520" y="3531870"/>
            <a:ext cx="3871240" cy="829945"/>
            <a:chOff x="8625" y="5239"/>
            <a:chExt cx="6096" cy="1307"/>
          </a:xfrm>
        </p:grpSpPr>
        <p:sp>
          <p:nvSpPr>
            <p:cNvPr id="19" name="笑脸 18"/>
            <p:cNvSpPr/>
            <p:nvPr>
              <p:custDataLst>
                <p:tags r:id="rId8"/>
              </p:custDataLst>
            </p:nvPr>
          </p:nvSpPr>
          <p:spPr>
            <a:xfrm>
              <a:off x="8625" y="550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0" name="文本框 19"/>
            <p:cNvSpPr txBox="1"/>
            <p:nvPr>
              <p:custDataLst>
                <p:tags r:id="rId9"/>
              </p:custDataLst>
            </p:nvPr>
          </p:nvSpPr>
          <p:spPr>
            <a:xfrm>
              <a:off x="9307" y="5239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Agent3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ai_evaluation</a:t>
              </a:r>
              <a:endParaRPr lang="en-US" altLang="zh-CN" sz="1600" dirty="0"/>
            </a:p>
            <a:p>
              <a:r>
                <a:rPr lang="zh-CN" altLang="en-US" sz="1600" dirty="0"/>
                <a:t>调用五个</a:t>
              </a:r>
              <a:r>
                <a:rPr lang="en-US" altLang="zh-CN" sz="1600" dirty="0"/>
                <a:t>ai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API</a:t>
              </a:r>
              <a:r>
                <a:rPr lang="zh-CN" altLang="en-US" sz="1600" dirty="0"/>
                <a:t>，预测对应</a:t>
              </a:r>
              <a:r>
                <a:rPr lang="en-US" altLang="zh-CN" sz="1600" dirty="0"/>
                <a:t>case</a:t>
              </a:r>
              <a:r>
                <a:rPr lang="zh-CN" altLang="en-US" sz="1600" dirty="0"/>
                <a:t>的答案，根据错误</a:t>
              </a:r>
              <a:r>
                <a:rPr lang="en-US" altLang="zh-CN" sz="1600" dirty="0"/>
                <a:t>ai</a:t>
              </a:r>
              <a:r>
                <a:rPr lang="zh-CN" altLang="en-US" sz="1600" dirty="0"/>
                <a:t>数目更新难度</a:t>
              </a:r>
              <a:endParaRPr lang="zh-CN" altLang="en-US" sz="1600" dirty="0"/>
            </a:p>
          </p:txBody>
        </p:sp>
      </p:grpSp>
      <p:grpSp>
        <p:nvGrpSpPr>
          <p:cNvPr id="30" name="组合 29"/>
          <p:cNvGrpSpPr/>
          <p:nvPr>
            <p:custDataLst>
              <p:tags r:id="rId10"/>
            </p:custDataLst>
          </p:nvPr>
        </p:nvGrpSpPr>
        <p:grpSpPr>
          <a:xfrm>
            <a:off x="2463520" y="4506595"/>
            <a:ext cx="3870960" cy="829310"/>
            <a:chOff x="9079" y="7185"/>
            <a:chExt cx="6096" cy="1306"/>
          </a:xfrm>
        </p:grpSpPr>
        <p:sp>
          <p:nvSpPr>
            <p:cNvPr id="21" name="笑脸 20"/>
            <p:cNvSpPr/>
            <p:nvPr>
              <p:custDataLst>
                <p:tags r:id="rId11"/>
              </p:custDataLst>
            </p:nvPr>
          </p:nvSpPr>
          <p:spPr>
            <a:xfrm>
              <a:off x="9079" y="7516"/>
              <a:ext cx="672" cy="644"/>
            </a:xfrm>
            <a:prstGeom prst="smileyF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2" name="文本框 21"/>
            <p:cNvSpPr txBox="1"/>
            <p:nvPr>
              <p:custDataLst>
                <p:tags r:id="rId12"/>
              </p:custDataLst>
            </p:nvPr>
          </p:nvSpPr>
          <p:spPr>
            <a:xfrm>
              <a:off x="9761" y="7185"/>
              <a:ext cx="541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Agent4</a:t>
              </a:r>
              <a:r>
                <a:rPr lang="zh-CN" altLang="en-US" sz="1600" dirty="0"/>
                <a:t>：</a:t>
              </a:r>
              <a:r>
                <a:rPr lang="en-US" altLang="zh-CN" sz="1600" b="1" u="sng" dirty="0"/>
                <a:t>generate_new_task</a:t>
              </a:r>
              <a:endParaRPr lang="en-US" altLang="zh-CN" sz="1600" dirty="0"/>
            </a:p>
            <a:p>
              <a:r>
                <a:rPr lang="zh-CN" altLang="en-US" sz="1600" dirty="0"/>
                <a:t>根据给出的背景和需求和已有数据集，扩展数据集</a:t>
              </a:r>
              <a:endParaRPr lang="zh-CN" altLang="en-US" sz="1600" dirty="0"/>
            </a:p>
          </p:txBody>
        </p:sp>
      </p:grpSp>
      <p:sp>
        <p:nvSpPr>
          <p:cNvPr id="23" name="笑脸 22"/>
          <p:cNvSpPr/>
          <p:nvPr/>
        </p:nvSpPr>
        <p:spPr>
          <a:xfrm>
            <a:off x="1053146" y="3198533"/>
            <a:ext cx="426720" cy="409205"/>
          </a:xfrm>
          <a:prstGeom prst="smileyFac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84189" y="3672605"/>
            <a:ext cx="1225086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Master Agent</a:t>
            </a:r>
            <a:r>
              <a:rPr lang="zh-CN" altLang="en-US" sz="1600" dirty="0"/>
              <a:t>：负责多场景需求对不同</a:t>
            </a:r>
            <a:r>
              <a:rPr lang="en-US" altLang="zh-CN" sz="1600" dirty="0"/>
              <a:t>agent</a:t>
            </a:r>
            <a:r>
              <a:rPr lang="zh-CN" altLang="en-US" sz="1600" dirty="0"/>
              <a:t>的调用和流程把控</a:t>
            </a:r>
            <a:endParaRPr lang="zh-CN" altLang="en-US" sz="1600" dirty="0"/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478184" y="3398691"/>
            <a:ext cx="642620" cy="444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2805" y="1968500"/>
            <a:ext cx="10160" cy="29362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6335001" y="3020650"/>
            <a:ext cx="1913890" cy="1143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461760" y="4471035"/>
            <a:ext cx="179451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zh-CN" altLang="en-US"/>
              <a:t>生成逻辑</a:t>
            </a:r>
            <a:r>
              <a:rPr lang="zh-CN" altLang="en-US"/>
              <a:t>太简略</a:t>
            </a:r>
            <a:endParaRPr lang="zh-CN" altLang="en-US"/>
          </a:p>
          <a:p>
            <a:pPr algn="ctr">
              <a:lnSpc>
                <a:spcPct val="140000"/>
              </a:lnSpc>
            </a:pPr>
            <a:r>
              <a:rPr lang="zh-CN" altLang="en-US"/>
              <a:t>新</a:t>
            </a:r>
            <a:r>
              <a:rPr lang="en-US" altLang="zh-CN"/>
              <a:t>case</a:t>
            </a:r>
            <a:r>
              <a:rPr lang="zh-CN" altLang="en-US"/>
              <a:t>多样性</a:t>
            </a:r>
            <a:r>
              <a:rPr lang="zh-CN" altLang="en-US"/>
              <a:t>低</a:t>
            </a:r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6362306" y="4914220"/>
            <a:ext cx="1913890" cy="1143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335010" y="2557780"/>
            <a:ext cx="3250565" cy="92202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优化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生成逻辑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利用</a:t>
            </a:r>
            <a:r>
              <a:rPr lang="en-US" altLang="zh-CN" dirty="0">
                <a:sym typeface="+mn-ea"/>
              </a:rPr>
              <a:t>GDB</a:t>
            </a:r>
            <a:r>
              <a:rPr lang="zh-CN" altLang="en-US" dirty="0">
                <a:sym typeface="+mn-ea"/>
              </a:rPr>
              <a:t>记录额外中间信息来丰富</a:t>
            </a:r>
            <a:r>
              <a:rPr lang="en-US" altLang="zh-CN" dirty="0">
                <a:sym typeface="+mn-ea"/>
              </a:rPr>
              <a:t>cot</a:t>
            </a:r>
            <a:endParaRPr lang="en-US" altLang="zh-CN" dirty="0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5010" y="4597400"/>
            <a:ext cx="3250565" cy="6451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新</a:t>
            </a:r>
            <a:r>
              <a:rPr lang="en-US" altLang="zh-CN" dirty="0">
                <a:sym typeface="+mn-ea"/>
              </a:rPr>
              <a:t>case</a:t>
            </a:r>
            <a:r>
              <a:rPr lang="zh-CN" altLang="en-US" dirty="0">
                <a:sym typeface="+mn-ea"/>
              </a:rPr>
              <a:t>扩展生成逻辑调整，均衡难度和提升多样性</a:t>
            </a:r>
            <a:endParaRPr lang="zh-CN" altLang="en-US" dirty="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5010" y="1508760"/>
            <a:ext cx="3250565" cy="3683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可视化工具</a:t>
            </a:r>
            <a:r>
              <a:rPr lang="zh-CN" altLang="en-US" dirty="0">
                <a:sym typeface="+mn-ea"/>
              </a:rPr>
              <a:t>集成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二、新</a:t>
            </a:r>
            <a:r>
              <a:rPr lang="en-US" altLang="zh-CN" sz="2400" dirty="0">
                <a:sym typeface="+mn-ea"/>
              </a:rPr>
              <a:t>Case</a:t>
            </a:r>
            <a:r>
              <a:rPr lang="zh-CN" altLang="en-US" sz="2400" dirty="0">
                <a:sym typeface="+mn-ea"/>
              </a:rPr>
              <a:t>扩展生成逻辑的改进：难度均衡与多样性提升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1975" y="1539875"/>
            <a:ext cx="4692650" cy="343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旧框架生成逻辑：</a:t>
            </a:r>
            <a:endParaRPr lang="zh-CN" altLang="en-US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模</a:t>
            </a:r>
            <a:r>
              <a:rPr lang="en-US" altLang="zh-CN" sz="2000"/>
              <a:t>3</a:t>
            </a:r>
            <a:r>
              <a:rPr lang="zh-CN" altLang="en-US" sz="2000"/>
              <a:t>决定生成语言</a:t>
            </a:r>
            <a:r>
              <a:rPr lang="en-US" altLang="zh-CN" sz="2000"/>
              <a:t> c/c++/py</a:t>
            </a:r>
            <a:endParaRPr lang="en-US" altLang="zh-CN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固定为高难度</a:t>
            </a:r>
            <a:r>
              <a:rPr lang="zh-CN" altLang="en-US" sz="2000"/>
              <a:t>（</a:t>
            </a:r>
            <a:r>
              <a:rPr lang="en-US" altLang="zh-CN" sz="2000"/>
              <a:t>AI</a:t>
            </a:r>
            <a:r>
              <a:rPr lang="zh-CN" altLang="en-US" sz="2000"/>
              <a:t>自判断高难度）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读取数据集中的背景、问题</a:t>
            </a:r>
            <a:r>
              <a:rPr lang="en-US" altLang="zh-CN" sz="2000"/>
              <a:t>id</a:t>
            </a:r>
            <a:r>
              <a:rPr lang="zh-CN" altLang="en-US" sz="2000"/>
              <a:t>、问题难度，</a:t>
            </a:r>
            <a:r>
              <a:rPr lang="zh-CN" altLang="en-US" sz="2000" b="1">
                <a:solidFill>
                  <a:srgbClr val="FF0000"/>
                </a:solidFill>
              </a:rPr>
              <a:t>不读取问题具体信息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4. </a:t>
            </a:r>
            <a:r>
              <a:rPr lang="zh-CN" altLang="en-US" sz="2000"/>
              <a:t>提示词提供格式需求、固定案例、内容要求、特殊需求等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 </a:t>
            </a:r>
            <a:endParaRPr lang="zh-CN" altLang="en-US" sz="2000"/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5988050" y="1539875"/>
            <a:ext cx="5962015" cy="37846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暴露问题</a:t>
            </a:r>
            <a:endParaRPr lang="zh-CN" altLang="en-US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2000">
                <a:ln/>
                <a:solidFill>
                  <a:schemeClr val="tx1"/>
                </a:solidFill>
                <a:effectLst/>
              </a:rPr>
              <a:t>难度固定，导致数据集难度分布极不均衡，无法全面评估AI能力</a:t>
            </a:r>
            <a:endParaRPr lang="zh-CN" altLang="en-US" sz="2000">
              <a:ln/>
              <a:solidFill>
                <a:schemeClr val="tx1"/>
              </a:solidFill>
              <a:effectLst/>
            </a:endParaRPr>
          </a:p>
          <a:p>
            <a:pPr algn="l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2000">
                <a:ln/>
                <a:solidFill>
                  <a:schemeClr val="tx1"/>
                </a:solidFill>
                <a:effectLst/>
              </a:rPr>
              <a:t>语言选择机械轮询（模3），不考虑实际分布</a:t>
            </a:r>
            <a:endParaRPr lang="zh-CN" altLang="en-US" sz="2000">
              <a:ln/>
              <a:solidFill>
                <a:schemeClr val="tx1"/>
              </a:solidFill>
              <a:effectLst/>
            </a:endParaRPr>
          </a:p>
          <a:p>
            <a:pPr algn="l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2000">
                <a:ln/>
                <a:solidFill>
                  <a:schemeClr val="tx1"/>
                </a:solidFill>
                <a:effectLst/>
              </a:rPr>
              <a:t>读取了全部数据但利用率很低，很多任务信息（语言分布、主题、代码特征）被浪费</a:t>
            </a:r>
            <a:endParaRPr lang="zh-CN" altLang="en-US" sz="2000">
              <a:ln/>
              <a:solidFill>
                <a:schemeClr val="tx1"/>
              </a:solidFill>
              <a:effectLst/>
            </a:endParaRPr>
          </a:p>
          <a:p>
            <a:pPr algn="l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2000">
                <a:ln/>
                <a:solidFill>
                  <a:schemeClr val="tx1"/>
                </a:solidFill>
                <a:effectLst/>
              </a:rPr>
              <a:t>缺乏多样性控制，容易生成重复主题和相似代码模式，降低数据集质量</a:t>
            </a:r>
            <a:endParaRPr lang="zh-CN" altLang="en-US" sz="2000">
              <a:ln/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二、新</a:t>
            </a:r>
            <a:r>
              <a:rPr lang="en-US" altLang="zh-CN" sz="2400" dirty="0">
                <a:sym typeface="+mn-ea"/>
              </a:rPr>
              <a:t>Case</a:t>
            </a:r>
            <a:r>
              <a:rPr lang="zh-CN" altLang="en-US" sz="2400" dirty="0">
                <a:sym typeface="+mn-ea"/>
              </a:rPr>
              <a:t>扩展生成逻辑的改进：难度均衡与多样性提升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375" y="1117600"/>
            <a:ext cx="5784850" cy="4633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新框架生成逻辑：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智能分析当前数据集的难度、语言、主题分布，识别缺失维度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采用</a:t>
            </a:r>
            <a:r>
              <a:rPr lang="en-US" altLang="zh-CN" sz="2000"/>
              <a:t>70-30</a:t>
            </a:r>
            <a:r>
              <a:rPr lang="zh-CN" altLang="en-US" sz="2000"/>
              <a:t>策略：</a:t>
            </a:r>
            <a:r>
              <a:rPr lang="en-US" altLang="zh-CN" sz="2000"/>
              <a:t>70%</a:t>
            </a:r>
            <a:r>
              <a:rPr lang="zh-CN" altLang="en-US" sz="2000"/>
              <a:t>选择最缺失的难度范围</a:t>
            </a:r>
            <a:r>
              <a:rPr lang="en-US" altLang="zh-CN" sz="2000"/>
              <a:t>/</a:t>
            </a:r>
            <a:r>
              <a:rPr lang="zh-CN" altLang="en-US" sz="2000"/>
              <a:t>语言，</a:t>
            </a:r>
            <a:r>
              <a:rPr lang="en-US" altLang="zh-CN" sz="2000"/>
              <a:t>30%</a:t>
            </a:r>
            <a:r>
              <a:rPr lang="zh-CN" altLang="en-US" sz="2000"/>
              <a:t>随机选择保持探索性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提示词新增一些可参考的语言特定特征（如</a:t>
            </a:r>
            <a:r>
              <a:rPr lang="en-US" altLang="zh-CN" sz="2000"/>
              <a:t>Python</a:t>
            </a:r>
            <a:r>
              <a:rPr lang="zh-CN" altLang="en-US" sz="2000"/>
              <a:t>装饰器、</a:t>
            </a:r>
            <a:r>
              <a:rPr lang="en-US" altLang="zh-CN" sz="2000"/>
              <a:t>C++</a:t>
            </a:r>
            <a:r>
              <a:rPr lang="zh-CN" altLang="en-US" sz="2000"/>
              <a:t>模板）和计算范式（如哈希表、动态规划），增加多样性</a:t>
            </a:r>
            <a:endParaRPr lang="zh-CN" altLang="en-US" sz="2000"/>
          </a:p>
          <a:p>
            <a:pPr indent="0">
              <a:lnSpc>
                <a:spcPct val="150000"/>
              </a:lnSpc>
            </a:pPr>
            <a:r>
              <a:rPr lang="en-US" altLang="zh-CN" sz="2000"/>
              <a:t>4. </a:t>
            </a:r>
            <a:r>
              <a:rPr lang="zh-CN" altLang="en-US" sz="2000"/>
              <a:t>分析最近</a:t>
            </a:r>
            <a:r>
              <a:rPr lang="en-US" altLang="zh-CN" sz="2000"/>
              <a:t>5</a:t>
            </a:r>
            <a:r>
              <a:rPr lang="zh-CN" altLang="en-US" sz="2000"/>
              <a:t>个任务的主题和变量名，通过多样性约束避免重复，并提高生成温度至</a:t>
            </a:r>
            <a:r>
              <a:rPr lang="en-US" altLang="zh-CN" sz="2000"/>
              <a:t>0.8</a:t>
            </a:r>
            <a:r>
              <a:rPr lang="zh-CN" altLang="en-US" sz="2000"/>
              <a:t>增强创新性</a:t>
            </a:r>
            <a:endParaRPr lang="zh-CN" altLang="en-US" sz="2000"/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502400" y="1117600"/>
            <a:ext cx="5626100" cy="424624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新框架优势：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/>
              <a:t>1. </a:t>
            </a:r>
            <a:r>
              <a:rPr lang="zh-CN" altLang="en-US" sz="2000">
                <a:solidFill>
                  <a:srgbClr val="FF0000"/>
                </a:solidFill>
              </a:rPr>
              <a:t>难度均衡</a:t>
            </a:r>
            <a:r>
              <a:rPr lang="zh-CN" altLang="en-US" sz="2000"/>
              <a:t>：基于AI错误数（0-5）的两阶段策略，难度分布</a:t>
            </a:r>
            <a:r>
              <a:rPr lang="zh-CN" altLang="en-US" sz="2000"/>
              <a:t>调整</a:t>
            </a:r>
            <a:endParaRPr lang="zh-CN" altLang="en-US" sz="2000"/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语言均衡</a:t>
            </a:r>
            <a:r>
              <a:rPr lang="zh-CN" altLang="en-US" sz="2000"/>
              <a:t>：智能保持Python 40%、C++ 35%、C 25%的目标比例，避免机械轮询导致的失衡</a:t>
            </a:r>
            <a:endParaRPr lang="zh-CN" altLang="en-US" sz="2000"/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/>
              <a:t>3. </a:t>
            </a:r>
            <a:r>
              <a:rPr lang="zh-CN" altLang="en-US" sz="2000">
                <a:solidFill>
                  <a:srgbClr val="FF0000"/>
                </a:solidFill>
              </a:rPr>
              <a:t>多样性提升</a:t>
            </a:r>
            <a:r>
              <a:rPr lang="zh-CN" altLang="en-US" sz="2000"/>
              <a:t>：通过特征强制、范式组合、主题去重三重机制，降低</a:t>
            </a:r>
            <a:r>
              <a:rPr lang="zh-CN" altLang="en-US" sz="2000"/>
              <a:t>重复度</a:t>
            </a:r>
            <a:endParaRPr lang="zh-CN" altLang="en-US" sz="2000"/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/>
              <a:t>4. </a:t>
            </a:r>
            <a:r>
              <a:rPr lang="zh-CN" altLang="en-US" sz="2000">
                <a:solidFill>
                  <a:srgbClr val="FF0000"/>
                </a:solidFill>
              </a:rPr>
              <a:t>数据利用率提升</a:t>
            </a:r>
            <a:r>
              <a:rPr lang="zh-CN" altLang="en-US" sz="2000"/>
              <a:t>：每次给出新的案例提示数据，丰富</a:t>
            </a:r>
            <a:r>
              <a:rPr lang="zh-CN" altLang="en-US" sz="2000"/>
              <a:t>多样性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二、新</a:t>
            </a:r>
            <a:r>
              <a:rPr lang="en-US" altLang="zh-CN" sz="2400" dirty="0">
                <a:sym typeface="+mn-ea"/>
              </a:rPr>
              <a:t>Case</a:t>
            </a:r>
            <a:r>
              <a:rPr lang="zh-CN" altLang="en-US" sz="2400" dirty="0">
                <a:sym typeface="+mn-ea"/>
              </a:rPr>
              <a:t>扩展生成逻辑的改进：难度均衡与多样性提升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375" y="1117600"/>
            <a:ext cx="5784850" cy="4633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旧框架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评估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结果：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502400" y="1117600"/>
            <a:ext cx="5626100" cy="101473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新框架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评估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结果：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98" y="1770714"/>
            <a:ext cx="3426043" cy="245720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98" y="4330033"/>
            <a:ext cx="3426043" cy="159660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70" y="1818640"/>
            <a:ext cx="4290695" cy="4107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二、新</a:t>
            </a:r>
            <a:r>
              <a:rPr lang="en-US" altLang="zh-CN" sz="2400" dirty="0">
                <a:sym typeface="+mn-ea"/>
              </a:rPr>
              <a:t>Case</a:t>
            </a:r>
            <a:r>
              <a:rPr lang="zh-CN" altLang="en-US" sz="2400" dirty="0">
                <a:sym typeface="+mn-ea"/>
              </a:rPr>
              <a:t>扩展生成逻辑的改进：难度均衡与多样性提升</a:t>
            </a:r>
            <a:endParaRPr lang="zh-CN" altLang="en-US" sz="24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500" y="1409700"/>
            <a:ext cx="2795270" cy="37846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新框架</a:t>
            </a:r>
            <a:r>
              <a: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评估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结果：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/>
              <a:t>各个普通</a:t>
            </a:r>
            <a:r>
              <a:rPr lang="en-US" altLang="zh-CN" sz="2000"/>
              <a:t>ai</a:t>
            </a:r>
            <a:r>
              <a:rPr lang="zh-CN" altLang="en-US" sz="2000"/>
              <a:t>的成功率</a:t>
            </a:r>
            <a:r>
              <a:rPr lang="en-US" altLang="zh-CN" sz="2000"/>
              <a:t>pass@1</a:t>
            </a:r>
            <a:r>
              <a:rPr lang="zh-CN" altLang="en-US" sz="2000"/>
              <a:t>都到了</a:t>
            </a:r>
            <a:r>
              <a:rPr lang="en-US" altLang="zh-CN" sz="2000"/>
              <a:t>10%</a:t>
            </a:r>
            <a:r>
              <a:rPr lang="zh-CN" altLang="en-US" sz="2000"/>
              <a:t>左右，相比旧框架的难度更均衡了</a:t>
            </a:r>
            <a:r>
              <a:rPr lang="zh-CN" altLang="en-US" sz="2000"/>
              <a:t>很多。</a:t>
            </a:r>
            <a:endParaRPr lang="zh-CN" altLang="en-US" sz="2000"/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/>
              <a:t>并且认为如果换上最新的一系列</a:t>
            </a:r>
            <a:r>
              <a:rPr lang="en-US" altLang="zh-CN" sz="2000"/>
              <a:t>ai</a:t>
            </a:r>
            <a:r>
              <a:rPr lang="zh-CN" altLang="en-US" sz="2000"/>
              <a:t>进行评估，他们的正确率</a:t>
            </a:r>
            <a:r>
              <a:rPr lang="zh-CN" altLang="en-US" sz="2000"/>
              <a:t>会更高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770" y="1498600"/>
            <a:ext cx="8978265" cy="3980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三、数据集可视化网站</a:t>
            </a:r>
            <a:r>
              <a:rPr lang="zh-CN" altLang="en-US" sz="2400" dirty="0">
                <a:sym typeface="+mn-ea"/>
              </a:rPr>
              <a:t>辅助工具</a:t>
            </a:r>
            <a:endParaRPr lang="zh-CN" altLang="en-US" sz="24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807720"/>
            <a:ext cx="9130665" cy="5955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三、数据集可视化网站</a:t>
            </a:r>
            <a:r>
              <a:rPr lang="zh-CN" altLang="en-US" sz="2400" dirty="0">
                <a:sym typeface="+mn-ea"/>
              </a:rPr>
              <a:t>辅助工具</a:t>
            </a:r>
            <a:endParaRPr lang="zh-CN" altLang="en-US" sz="24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925" y="883920"/>
            <a:ext cx="7949565" cy="5594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三、数据集可视化网站</a:t>
            </a:r>
            <a:r>
              <a:rPr lang="zh-CN" altLang="en-US" sz="2400" dirty="0">
                <a:sym typeface="+mn-ea"/>
              </a:rPr>
              <a:t>辅助工具</a:t>
            </a:r>
            <a:endParaRPr lang="zh-CN" altLang="en-US" sz="24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941070"/>
            <a:ext cx="9740265" cy="5800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三、数据集可视化网站</a:t>
            </a:r>
            <a:r>
              <a:rPr lang="zh-CN" altLang="en-US" sz="2400" dirty="0">
                <a:sym typeface="+mn-ea"/>
              </a:rPr>
              <a:t>辅助工具</a:t>
            </a:r>
            <a:endParaRPr lang="zh-CN" altLang="en-US" sz="24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7400" y="1187450"/>
            <a:ext cx="88131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/>
                <a:sym typeface="+mn-ea"/>
              </a:rPr>
              <a:t>为了便于研发与展示，在等</a:t>
            </a:r>
            <a:r>
              <a:rPr lang="en-US" altLang="zh-CN" sz="2000">
                <a:effectLst/>
                <a:sym typeface="+mn-ea"/>
              </a:rPr>
              <a:t>ai</a:t>
            </a:r>
            <a:r>
              <a:rPr lang="zh-CN" altLang="en-US" sz="2000">
                <a:effectLst/>
                <a:sym typeface="+mn-ea"/>
              </a:rPr>
              <a:t>生成和评估的时候，同步写了一个可视化网页。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/>
                <a:sym typeface="+mn-ea"/>
              </a:rPr>
              <a:t>其适用于我们这次</a:t>
            </a:r>
            <a:r>
              <a:rPr lang="en-US" altLang="zh-CN" sz="2000">
                <a:effectLst/>
                <a:sym typeface="+mn-ea"/>
              </a:rPr>
              <a:t>treecEva</a:t>
            </a:r>
            <a:r>
              <a:rPr lang="zh-CN" altLang="en-US" sz="2000">
                <a:effectLst/>
                <a:sym typeface="+mn-ea"/>
              </a:rPr>
              <a:t>中各个数据集同结构的数据集解读与</a:t>
            </a:r>
            <a:r>
              <a:rPr lang="zh-CN" altLang="en-US" sz="2000">
                <a:effectLst/>
                <a:sym typeface="+mn-ea"/>
              </a:rPr>
              <a:t>增广操作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/>
                <a:sym typeface="+mn-ea"/>
              </a:rPr>
              <a:t>目前主要是可以可视化和展示，快捷按钮等逻辑似乎有些字符</a:t>
            </a:r>
            <a:r>
              <a:rPr lang="en-US" altLang="zh-CN" sz="2000">
                <a:effectLst/>
                <a:sym typeface="+mn-ea"/>
              </a:rPr>
              <a:t>bug</a:t>
            </a:r>
            <a:r>
              <a:rPr lang="zh-CN" altLang="en-US" sz="2000">
                <a:effectLst/>
                <a:sym typeface="+mn-ea"/>
              </a:rPr>
              <a:t>，后续可能会再开发一</a:t>
            </a:r>
            <a:r>
              <a:rPr lang="zh-CN" altLang="en-US" sz="2000">
                <a:effectLst/>
                <a:sym typeface="+mn-ea"/>
              </a:rPr>
              <a:t>下</a:t>
            </a:r>
            <a:endParaRPr lang="zh-CN" altLang="en-US" sz="2000">
              <a:effectLst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4467225" y="3994150"/>
            <a:ext cx="6824980" cy="2470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四、</a:t>
            </a:r>
            <a:r>
              <a:rPr lang="en-US" altLang="zh-CN" sz="2400" dirty="0">
                <a:sym typeface="+mn-ea"/>
              </a:rPr>
              <a:t>GDB+COT</a:t>
            </a:r>
            <a:r>
              <a:rPr lang="zh-CN" altLang="en-US" sz="2400" dirty="0">
                <a:sym typeface="+mn-ea"/>
              </a:rPr>
              <a:t>生成</a:t>
            </a:r>
            <a:r>
              <a:rPr lang="zh-CN" altLang="en-US" sz="2400" dirty="0">
                <a:sym typeface="+mn-ea"/>
              </a:rPr>
              <a:t>进展</a:t>
            </a:r>
            <a:endParaRPr lang="zh-CN" altLang="en-US" sz="24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765175"/>
            <a:ext cx="9726930" cy="6092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u="sng">
                <a:effectLst/>
                <a:sym typeface="+mn-ea"/>
              </a:rPr>
              <a:t>旧方案的问题：</a:t>
            </a:r>
            <a:endParaRPr lang="zh-CN" altLang="en-US" sz="2000" b="1" u="sng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   </a:t>
            </a:r>
            <a:r>
              <a:rPr lang="zh-CN" altLang="en-US" sz="2000">
                <a:effectLst/>
                <a:sym typeface="+mn-ea"/>
              </a:rPr>
              <a:t>×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zh-CN" altLang="en-US" sz="2000">
                <a:effectLst/>
                <a:sym typeface="+mn-ea"/>
              </a:rPr>
              <a:t>只看代码，</a:t>
            </a:r>
            <a:r>
              <a:rPr lang="en-US" altLang="zh-CN" sz="2000">
                <a:effectLst/>
                <a:sym typeface="+mn-ea"/>
              </a:rPr>
              <a:t>AI"</a:t>
            </a:r>
            <a:r>
              <a:rPr lang="zh-CN" altLang="en-US" sz="2000">
                <a:effectLst/>
                <a:sym typeface="+mn-ea"/>
              </a:rPr>
              <a:t>空想</a:t>
            </a:r>
            <a:r>
              <a:rPr lang="en-US" altLang="zh-CN" sz="2000">
                <a:effectLst/>
                <a:sym typeface="+mn-ea"/>
              </a:rPr>
              <a:t>"</a:t>
            </a:r>
            <a:r>
              <a:rPr lang="zh-CN" altLang="en-US" sz="2000">
                <a:effectLst/>
                <a:sym typeface="+mn-ea"/>
              </a:rPr>
              <a:t>推理过程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   </a:t>
            </a:r>
            <a:r>
              <a:rPr lang="zh-CN" altLang="en-US" sz="2000">
                <a:effectLst/>
                <a:sym typeface="+mn-ea"/>
              </a:rPr>
              <a:t>×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zh-CN" altLang="en-US" sz="2000">
                <a:effectLst/>
                <a:sym typeface="+mn-ea"/>
              </a:rPr>
              <a:t>缺少实际运行数据，</a:t>
            </a:r>
            <a:r>
              <a:rPr lang="en-US" altLang="zh-CN" sz="2000">
                <a:effectLst/>
                <a:sym typeface="+mn-ea"/>
              </a:rPr>
              <a:t>CoT</a:t>
            </a:r>
            <a:r>
              <a:rPr lang="zh-CN" altLang="en-US" sz="2000">
                <a:effectLst/>
                <a:sym typeface="+mn-ea"/>
              </a:rPr>
              <a:t>不准确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   </a:t>
            </a:r>
            <a:r>
              <a:rPr lang="zh-CN" altLang="en-US" sz="2000">
                <a:effectLst/>
                <a:sym typeface="+mn-ea"/>
              </a:rPr>
              <a:t>×</a:t>
            </a:r>
            <a:r>
              <a:rPr lang="en-US" altLang="zh-CN" sz="2000">
                <a:effectLst/>
                <a:sym typeface="+mn-ea"/>
              </a:rPr>
              <a:t> </a:t>
            </a:r>
            <a:r>
              <a:rPr lang="zh-CN" altLang="en-US" sz="2000">
                <a:effectLst/>
                <a:sym typeface="+mn-ea"/>
              </a:rPr>
              <a:t>无法捕获中间变量变化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u="sng">
                <a:effectLst/>
                <a:sym typeface="+mn-ea"/>
              </a:rPr>
              <a:t>新方案设计：</a:t>
            </a:r>
            <a:endParaRPr lang="zh-CN" altLang="en-US" sz="2000" b="1" u="sng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step1</a:t>
            </a:r>
            <a:r>
              <a:rPr lang="zh-CN" altLang="en-US" sz="2000">
                <a:effectLst/>
                <a:sym typeface="+mn-ea"/>
              </a:rPr>
              <a:t>：代码插桩</a:t>
            </a:r>
            <a:r>
              <a:rPr lang="en-US" altLang="zh-CN" sz="2000">
                <a:effectLst/>
                <a:sym typeface="+mn-ea"/>
              </a:rPr>
              <a:t>/</a:t>
            </a:r>
            <a:r>
              <a:rPr lang="zh-CN" altLang="en-US" sz="2000">
                <a:effectLst/>
                <a:sym typeface="+mn-ea"/>
              </a:rPr>
              <a:t>调试</a:t>
            </a:r>
            <a:endParaRPr lang="zh-CN" altLang="en-US" sz="2000">
              <a:effectLst/>
              <a:sym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- Python: </a:t>
            </a:r>
            <a:r>
              <a:rPr lang="zh-CN" altLang="en-US" sz="2000">
                <a:effectLst/>
                <a:sym typeface="+mn-ea"/>
              </a:rPr>
              <a:t>自动插入</a:t>
            </a:r>
            <a:r>
              <a:rPr lang="en-US" altLang="zh-CN" sz="2000">
                <a:effectLst/>
                <a:sym typeface="+mn-ea"/>
              </a:rPr>
              <a:t> print </a:t>
            </a:r>
            <a:r>
              <a:rPr lang="zh-CN" altLang="en-US" sz="2000">
                <a:effectLst/>
                <a:sym typeface="+mn-ea"/>
              </a:rPr>
              <a:t>语句追踪关键变量</a:t>
            </a:r>
            <a:endParaRPr lang="zh-CN" altLang="en-US" sz="2000">
              <a:effectLst/>
              <a:sym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- C/C++: </a:t>
            </a:r>
            <a:r>
              <a:rPr lang="zh-CN" altLang="en-US" sz="2000">
                <a:effectLst/>
                <a:sym typeface="+mn-ea"/>
              </a:rPr>
              <a:t>用</a:t>
            </a:r>
            <a:r>
              <a:rPr lang="en-US" altLang="zh-CN" sz="2000">
                <a:effectLst/>
                <a:sym typeface="+mn-ea"/>
              </a:rPr>
              <a:t>GDB</a:t>
            </a:r>
            <a:r>
              <a:rPr lang="zh-CN" altLang="en-US" sz="2000">
                <a:effectLst/>
                <a:sym typeface="+mn-ea"/>
              </a:rPr>
              <a:t>在循环、条件语句设断点</a:t>
            </a:r>
            <a:endParaRPr lang="zh-CN" altLang="en-US" sz="2000">
              <a:effectLst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step2</a:t>
            </a:r>
            <a:r>
              <a:rPr lang="zh-CN" altLang="en-US" sz="2000">
                <a:effectLst/>
                <a:sym typeface="+mn-ea"/>
              </a:rPr>
              <a:t>：执行并捕获</a:t>
            </a:r>
            <a:endParaRPr lang="zh-CN" altLang="en-US" sz="2000">
              <a:effectLst/>
              <a:sym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- </a:t>
            </a:r>
            <a:r>
              <a:rPr lang="zh-CN" altLang="en-US" sz="2000">
                <a:effectLst/>
                <a:sym typeface="+mn-ea"/>
              </a:rPr>
              <a:t>运行代码，收集中间变量快照，记录每个关键执行点的变量值</a:t>
            </a:r>
            <a:endParaRPr lang="zh-CN" altLang="en-US" sz="2000">
              <a:effectLst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step3</a:t>
            </a:r>
            <a:r>
              <a:rPr lang="zh-CN" altLang="en-US" sz="2000">
                <a:effectLst/>
                <a:sym typeface="+mn-ea"/>
              </a:rPr>
              <a:t>：</a:t>
            </a:r>
            <a:r>
              <a:rPr lang="en-US" altLang="zh-CN" sz="2000">
                <a:effectLst/>
                <a:sym typeface="+mn-ea"/>
              </a:rPr>
              <a:t>AI</a:t>
            </a:r>
            <a:r>
              <a:rPr lang="zh-CN" altLang="en-US" sz="2000">
                <a:effectLst/>
                <a:sym typeface="+mn-ea"/>
              </a:rPr>
              <a:t>生成增强</a:t>
            </a:r>
            <a:r>
              <a:rPr lang="en-US" altLang="zh-CN" sz="2000">
                <a:effectLst/>
                <a:sym typeface="+mn-ea"/>
              </a:rPr>
              <a:t>CoT</a:t>
            </a:r>
            <a:endParaRPr lang="en-US" altLang="zh-CN" sz="2000">
              <a:effectLst/>
              <a:sym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>
                <a:effectLst/>
                <a:sym typeface="+mn-ea"/>
              </a:rPr>
              <a:t>- </a:t>
            </a:r>
            <a:r>
              <a:rPr lang="zh-CN" altLang="en-US" sz="2000">
                <a:effectLst/>
                <a:sym typeface="+mn-ea"/>
              </a:rPr>
              <a:t>将代码</a:t>
            </a:r>
            <a:r>
              <a:rPr lang="en-US" altLang="zh-CN" sz="2000">
                <a:effectLst/>
                <a:sym typeface="+mn-ea"/>
              </a:rPr>
              <a:t> + </a:t>
            </a:r>
            <a:r>
              <a:rPr lang="zh-CN" altLang="en-US" sz="2000">
                <a:effectLst/>
                <a:sym typeface="+mn-ea"/>
              </a:rPr>
              <a:t>调试信息</a:t>
            </a:r>
            <a:r>
              <a:rPr lang="en-US" altLang="zh-CN" sz="2000">
                <a:effectLst/>
                <a:sym typeface="+mn-ea"/>
              </a:rPr>
              <a:t> + </a:t>
            </a:r>
            <a:r>
              <a:rPr lang="zh-CN" altLang="en-US" sz="2000">
                <a:effectLst/>
                <a:sym typeface="+mn-ea"/>
              </a:rPr>
              <a:t>最终答案发给</a:t>
            </a:r>
            <a:r>
              <a:rPr lang="en-US" altLang="zh-CN" sz="2000">
                <a:effectLst/>
                <a:sym typeface="+mn-ea"/>
              </a:rPr>
              <a:t>AI</a:t>
            </a:r>
            <a:r>
              <a:rPr lang="zh-CN" altLang="en-US" sz="2000">
                <a:effectLst/>
                <a:sym typeface="+mn-ea"/>
              </a:rPr>
              <a:t>，</a:t>
            </a:r>
            <a:r>
              <a:rPr lang="en-US" altLang="zh-CN" sz="2000">
                <a:effectLst/>
                <a:sym typeface="+mn-ea"/>
              </a:rPr>
              <a:t>AI</a:t>
            </a:r>
            <a:r>
              <a:rPr lang="zh-CN" altLang="en-US" sz="2000">
                <a:effectLst/>
                <a:sym typeface="+mn-ea"/>
              </a:rPr>
              <a:t>基于实际运行数据生成详细</a:t>
            </a:r>
            <a:r>
              <a:rPr lang="en-US" altLang="zh-CN" sz="2000">
                <a:effectLst/>
                <a:sym typeface="+mn-ea"/>
              </a:rPr>
              <a:t>CoT</a:t>
            </a:r>
            <a:r>
              <a:rPr lang="zh-CN" altLang="en-US" sz="2000">
                <a:effectLst/>
                <a:sym typeface="+mn-ea"/>
              </a:rPr>
              <a:t>，每句包含具体数值和计算步骤（对低难度限制句子</a:t>
            </a:r>
            <a:r>
              <a:rPr lang="zh-CN" altLang="en-US" sz="2000">
                <a:effectLst/>
                <a:sym typeface="+mn-ea"/>
              </a:rPr>
              <a:t>数目，高难度不限制）</a:t>
            </a:r>
            <a:endParaRPr lang="zh-CN" altLang="en-US" sz="2000">
              <a:effectLst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8020" y="971550"/>
            <a:ext cx="49485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调试信息</a:t>
            </a:r>
            <a:r>
              <a:rPr lang="zh-CN" altLang="en-US"/>
              <a:t>完整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生成</a:t>
            </a:r>
            <a:r>
              <a:rPr lang="en-US" altLang="zh-CN"/>
              <a:t>cot</a:t>
            </a:r>
            <a:r>
              <a:rPr lang="zh-CN" altLang="en-US"/>
              <a:t>去掉不相关的步骤和琐碎的</a:t>
            </a:r>
            <a:r>
              <a:rPr lang="zh-CN" altLang="en-US"/>
              <a:t>信息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如何去掉不相干信息？</a:t>
            </a:r>
            <a:endParaRPr lang="zh-CN" altLang="en-US"/>
          </a:p>
          <a:p>
            <a:r>
              <a:rPr lang="en-US" altLang="zh-CN"/>
              <a:t>-</a:t>
            </a:r>
            <a:r>
              <a:rPr lang="zh-CN" altLang="en-US"/>
              <a:t>做一些分析，分析方法，</a:t>
            </a:r>
            <a:r>
              <a:rPr lang="zh-CN" altLang="en-US"/>
              <a:t>从后往前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todo</a:t>
            </a:r>
            <a:r>
              <a:rPr lang="zh-CN" altLang="en-US"/>
              <a:t>：熟悉</a:t>
            </a:r>
            <a:r>
              <a:rPr lang="en-US" altLang="zh-CN"/>
              <a:t>gdb</a:t>
            </a:r>
            <a:r>
              <a:rPr lang="zh-CN" altLang="en-US"/>
              <a:t>，完成</a:t>
            </a:r>
            <a:r>
              <a:rPr lang="en-US" altLang="zh-CN"/>
              <a:t>backward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300" y="309245"/>
            <a:ext cx="86925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四、</a:t>
            </a:r>
            <a:r>
              <a:rPr lang="en-US" altLang="zh-CN" sz="2400" dirty="0">
                <a:sym typeface="+mn-ea"/>
              </a:rPr>
              <a:t>GDB+COT</a:t>
            </a:r>
            <a:r>
              <a:rPr lang="zh-CN" altLang="en-US" sz="2400" dirty="0">
                <a:sym typeface="+mn-ea"/>
              </a:rPr>
              <a:t>生成</a:t>
            </a:r>
            <a:r>
              <a:rPr lang="zh-CN" altLang="en-US" sz="2400" dirty="0">
                <a:sym typeface="+mn-ea"/>
              </a:rPr>
              <a:t>进展</a:t>
            </a:r>
            <a:endParaRPr lang="zh-CN" altLang="en-US" sz="24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765175"/>
            <a:ext cx="97269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/>
                <a:sym typeface="+mn-ea"/>
              </a:rPr>
              <a:t>感觉方案略粗糙，做了少量</a:t>
            </a:r>
            <a:r>
              <a:rPr lang="en-US" altLang="zh-CN" sz="2000">
                <a:effectLst/>
                <a:sym typeface="+mn-ea"/>
              </a:rPr>
              <a:t>case</a:t>
            </a:r>
            <a:r>
              <a:rPr lang="zh-CN" altLang="en-US" sz="2000">
                <a:effectLst/>
                <a:sym typeface="+mn-ea"/>
              </a:rPr>
              <a:t>例子，可以再讨论敲定一下。</a:t>
            </a:r>
            <a:endParaRPr lang="zh-CN" altLang="en-US" sz="2000">
              <a:effectLst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>
                <a:effectLst/>
                <a:sym typeface="+mn-ea"/>
              </a:rPr>
              <a:t>比如：</a:t>
            </a:r>
            <a:r>
              <a:rPr lang="en-US" altLang="zh-CN" sz="2000">
                <a:effectLst/>
                <a:sym typeface="+mn-ea"/>
              </a:rPr>
              <a:t>case35 </a:t>
            </a:r>
            <a:r>
              <a:rPr lang="zh-CN" altLang="en-US" sz="2000">
                <a:effectLst/>
                <a:sym typeface="+mn-ea"/>
              </a:rPr>
              <a:t>难度</a:t>
            </a:r>
            <a:r>
              <a:rPr lang="en-US" altLang="zh-CN" sz="2000">
                <a:effectLst/>
                <a:sym typeface="+mn-ea"/>
              </a:rPr>
              <a:t>5</a:t>
            </a:r>
            <a:r>
              <a:rPr lang="zh-CN" altLang="en-US" sz="2000">
                <a:effectLst/>
                <a:sym typeface="+mn-ea"/>
              </a:rPr>
              <a:t>，一共生成了</a:t>
            </a:r>
            <a:r>
              <a:rPr lang="en-US" altLang="zh-CN" sz="2000">
                <a:effectLst/>
                <a:sym typeface="+mn-ea"/>
              </a:rPr>
              <a:t>32</a:t>
            </a:r>
            <a:r>
              <a:rPr lang="zh-CN" altLang="en-US" sz="2000">
                <a:effectLst/>
                <a:sym typeface="+mn-ea"/>
              </a:rPr>
              <a:t>句。这里移步</a:t>
            </a:r>
            <a:r>
              <a:rPr lang="zh-CN" altLang="en-US" sz="2000">
                <a:effectLst/>
                <a:sym typeface="+mn-ea"/>
              </a:rPr>
              <a:t>临时可视化网页</a:t>
            </a:r>
            <a:r>
              <a:rPr lang="zh-CN" altLang="en-US" sz="2000">
                <a:effectLst/>
                <a:sym typeface="+mn-ea"/>
              </a:rPr>
              <a:t>查看</a:t>
            </a:r>
            <a:endParaRPr lang="zh-CN" altLang="en-US" sz="2000">
              <a:effectLst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1859915"/>
            <a:ext cx="7144385" cy="4853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2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3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4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5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6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7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8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9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10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11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12.xml><?xml version="1.0" encoding="utf-8"?>
<p:tagLst xmlns:p="http://schemas.openxmlformats.org/presentationml/2006/main">
  <p:tag name="KSO_WM_DIAGRAM_VIRTUALLY_FRAME" val="{&quot;height&quot;:295.45,&quot;left&quot;:453.92795275590544,&quot;top&quot;:129.05,&quot;width&quot;:304.8220472440945}"/>
</p:tagLst>
</file>

<file path=ppt/tags/tag1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WPS 演示</Application>
  <PresentationFormat>宽屏</PresentationFormat>
  <Paragraphs>159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Consolas</vt:lpstr>
      <vt:lpstr>Mongolian Baiti</vt:lpstr>
      <vt:lpstr>ui-sans-serif</vt:lpstr>
      <vt:lpstr>Segoe Print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23</cp:revision>
  <dcterms:created xsi:type="dcterms:W3CDTF">2025-10-01T20:32:00Z</dcterms:created>
  <dcterms:modified xsi:type="dcterms:W3CDTF">2025-10-16T12:14:15Z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9D6D429D80BB4FE8AF294342E28DCB66_13</vt:lpwstr>
  </property>
  <property fmtid="{D5CDD505-2E9C-101B-9397-08002B2CF9AE}" pid="3" name="KSOProductBuildVer">
    <vt:lpwstr>2052-12.1.0.19302</vt:lpwstr>
  </property>
</Properties>
</file>