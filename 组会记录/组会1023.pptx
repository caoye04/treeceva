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20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295" r:id="rId4"/>
    <p:sldId id="265" r:id="rId5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25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svg"/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886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上周回顾：2025</a:t>
            </a:r>
            <a:r>
              <a:rPr lang="en-US" altLang="zh-CN" sz="3200" dirty="0"/>
              <a:t>1016</a:t>
            </a:r>
            <a:r>
              <a:rPr lang="zh-CN" altLang="en-US" sz="3200" dirty="0"/>
              <a:t> 会议纪要 </a:t>
            </a:r>
            <a:r>
              <a:rPr lang="en-US" altLang="zh-CN" sz="3200" dirty="0"/>
              <a:t>3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605260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分享了目前优化后</a:t>
            </a:r>
            <a:r>
              <a:rPr lang="en-US" altLang="zh-CN" sz="2000" dirty="0"/>
              <a:t>muti-agent</a:t>
            </a:r>
            <a:r>
              <a:rPr lang="zh-CN" altLang="en-US" sz="2000" dirty="0"/>
              <a:t>框架，包含了新</a:t>
            </a:r>
            <a:r>
              <a:rPr lang="en-US" altLang="zh-CN" sz="2000" dirty="0"/>
              <a:t>case</a:t>
            </a:r>
            <a:r>
              <a:rPr lang="zh-CN" altLang="en-US" sz="2000" dirty="0"/>
              <a:t>扩展生成逻辑、</a:t>
            </a:r>
            <a:r>
              <a:rPr lang="en-US" altLang="zh-CN" sz="2000" dirty="0"/>
              <a:t>GDB+COT</a:t>
            </a:r>
            <a:r>
              <a:rPr lang="zh-CN" altLang="en-US" sz="2000" dirty="0"/>
              <a:t>生成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 </a:t>
            </a:r>
            <a:r>
              <a:rPr lang="zh-CN" altLang="en-US" sz="2000" dirty="0"/>
              <a:t>分享了个目前的数据集可视化网站辅助工具，后续会持续优化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3. </a:t>
            </a:r>
            <a:r>
              <a:rPr lang="zh-CN" altLang="en-US" sz="2000" dirty="0"/>
              <a:t>调研了代码相关评估集，分享</a:t>
            </a:r>
            <a:r>
              <a:rPr lang="en-US" altLang="zh-CN" sz="2000" dirty="0"/>
              <a:t>SecVulEval</a:t>
            </a:r>
            <a:r>
              <a:rPr lang="zh-CN" altLang="en-US" sz="2000" dirty="0"/>
              <a:t>、</a:t>
            </a:r>
            <a:r>
              <a:rPr lang="en-US" altLang="zh-CN" sz="2000" dirty="0"/>
              <a:t>CodeXGLUE</a:t>
            </a:r>
            <a:r>
              <a:rPr lang="zh-CN" altLang="en-US" sz="2000" dirty="0"/>
              <a:t>、</a:t>
            </a:r>
            <a:r>
              <a:rPr lang="en-US" altLang="zh-CN" sz="2000" dirty="0"/>
              <a:t>liveCodeBench</a:t>
            </a:r>
            <a:r>
              <a:rPr lang="zh-CN" altLang="en-US" sz="2000" dirty="0"/>
              <a:t>等相关工作，后续修改评估代码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4.</a:t>
            </a:r>
            <a:r>
              <a:rPr lang="zh-CN" altLang="en-US" sz="2000" dirty="0"/>
              <a:t>（烨）后续详细学习并分享</a:t>
            </a:r>
            <a:r>
              <a:rPr lang="en-US" altLang="zh-CN" sz="2000" dirty="0"/>
              <a:t>gdb</a:t>
            </a:r>
            <a:r>
              <a:rPr lang="zh-CN" altLang="en-US" sz="2000" dirty="0"/>
              <a:t>和</a:t>
            </a:r>
            <a:r>
              <a:rPr lang="en-US" altLang="zh-CN" sz="2000" dirty="0"/>
              <a:t>py</a:t>
            </a:r>
            <a:r>
              <a:rPr lang="zh-CN" altLang="en-US" sz="2000" dirty="0"/>
              <a:t>调试工具的细节。尽快给出完整的</a:t>
            </a:r>
            <a:r>
              <a:rPr lang="en-US" altLang="zh-CN" sz="2000" dirty="0"/>
              <a:t>[</a:t>
            </a:r>
            <a:r>
              <a:rPr lang="zh-CN" altLang="en-US" sz="2000" dirty="0"/>
              <a:t>代码推理</a:t>
            </a:r>
            <a:r>
              <a:rPr lang="en-US" altLang="zh-CN" sz="2000" dirty="0"/>
              <a:t>]</a:t>
            </a:r>
            <a:r>
              <a:rPr lang="zh-CN" altLang="en-US" sz="2000" dirty="0"/>
              <a:t>训练数据集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5.</a:t>
            </a:r>
            <a:r>
              <a:rPr lang="zh-CN" altLang="en-US" sz="2000" dirty="0"/>
              <a:t>（佳）仔细详细了解研究这些数据集</a:t>
            </a:r>
            <a:r>
              <a:rPr lang="en-US" altLang="zh-CN" sz="2000" dirty="0"/>
              <a:t>[</a:t>
            </a:r>
            <a:r>
              <a:rPr lang="zh-CN" altLang="en-US" sz="2000" dirty="0"/>
              <a:t>抓出核心</a:t>
            </a:r>
            <a:r>
              <a:rPr lang="en-US" altLang="zh-CN" sz="2000" dirty="0"/>
              <a:t>]</a:t>
            </a:r>
            <a:r>
              <a:rPr lang="zh-CN" altLang="en-US" sz="2000" dirty="0"/>
              <a:t>（</a:t>
            </a:r>
            <a:r>
              <a:rPr lang="en-US" altLang="zh-CN" sz="2000" dirty="0"/>
              <a:t>secvuleval/codexGlue/livecodebench</a:t>
            </a:r>
            <a:r>
              <a:rPr lang="zh-CN" altLang="en-US" sz="2000" dirty="0"/>
              <a:t>），哪些可以直接用</a:t>
            </a:r>
            <a:r>
              <a:rPr lang="en-US" altLang="zh-CN" sz="2000" dirty="0"/>
              <a:t> or </a:t>
            </a:r>
            <a:r>
              <a:rPr lang="zh-CN" altLang="en-US" sz="2000" dirty="0"/>
              <a:t>尝试修改后构建一些任务</a:t>
            </a:r>
            <a:r>
              <a:rPr lang="en-US" altLang="zh-CN" sz="2000" dirty="0"/>
              <a:t>case</a:t>
            </a:r>
            <a:r>
              <a:rPr lang="zh-CN" altLang="en-US" sz="2000" dirty="0"/>
              <a:t>分享</a:t>
            </a:r>
            <a:r>
              <a:rPr lang="en-US" altLang="zh-CN" sz="2000" dirty="0"/>
              <a:t> </a:t>
            </a:r>
            <a:r>
              <a:rPr lang="zh-CN" altLang="en-US" sz="2000" dirty="0"/>
              <a:t>，再研究一下未央同学发的代码推理数据集，整理进文档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6.</a:t>
            </a:r>
            <a:r>
              <a:rPr lang="zh-CN" altLang="en-US" sz="2000" dirty="0"/>
              <a:t>（佳）微调跟进，换个环境试试</a:t>
            </a:r>
            <a:r>
              <a:rPr lang="en-US" altLang="zh-CN" sz="2000" dirty="0"/>
              <a:t>+</a:t>
            </a:r>
            <a:r>
              <a:rPr lang="zh-CN" altLang="en-US" sz="2000" dirty="0"/>
              <a:t>换个其他微调方法试试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注意：</a:t>
            </a:r>
            <a:r>
              <a:rPr lang="zh-CN" altLang="en-US" sz="2000" dirty="0"/>
              <a:t>每一步列出结论、每人</a:t>
            </a:r>
            <a:r>
              <a:rPr lang="zh-CN" altLang="en-US" sz="2000" dirty="0"/>
              <a:t>半小时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代码推理评测集</a:t>
            </a:r>
            <a:r>
              <a:rPr lang="zh-CN" altLang="en-US" sz="2000" dirty="0"/>
              <a:t>列出来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切</a:t>
            </a:r>
            <a:r>
              <a:rPr lang="en-US" altLang="zh-CN" sz="2000" dirty="0"/>
              <a:t>python</a:t>
            </a:r>
            <a:r>
              <a:rPr lang="zh-CN" altLang="en-US" sz="2000" dirty="0"/>
              <a:t>执行流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本周回顾：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60526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ym typeface="+mn-ea"/>
              </a:rPr>
              <a:t>2025</a:t>
            </a:r>
            <a:r>
              <a:rPr lang="en-US" altLang="zh-CN" sz="2000" dirty="0">
                <a:sym typeface="+mn-ea"/>
              </a:rPr>
              <a:t>1023</a:t>
            </a:r>
            <a:r>
              <a:rPr lang="zh-CN" altLang="en-US" sz="2000" dirty="0">
                <a:sym typeface="+mn-ea"/>
              </a:rPr>
              <a:t> 会议纪要 </a:t>
            </a:r>
            <a:r>
              <a:rPr lang="en-US" altLang="zh-CN" sz="2000" dirty="0">
                <a:sym typeface="+mn-ea"/>
              </a:rPr>
              <a:t>4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分享了目前代码执行流</a:t>
            </a:r>
            <a:r>
              <a:rPr lang="zh-CN" altLang="en-US" sz="2000" dirty="0"/>
              <a:t>记录生成情况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 </a:t>
            </a:r>
            <a:r>
              <a:rPr lang="zh-CN" altLang="en-US" sz="2000" dirty="0"/>
              <a:t>分享了执行流生成</a:t>
            </a:r>
            <a:r>
              <a:rPr lang="en-US" altLang="zh-CN" sz="2000" dirty="0"/>
              <a:t>cot</a:t>
            </a:r>
            <a:r>
              <a:rPr lang="zh-CN" altLang="en-US" sz="2000" dirty="0"/>
              <a:t>的进展，目前这块仍有</a:t>
            </a:r>
            <a:r>
              <a:rPr lang="zh-CN" altLang="en-US" sz="2000" dirty="0">
                <a:solidFill>
                  <a:schemeClr val="tx1"/>
                </a:solidFill>
              </a:rPr>
              <a:t>缺陷，预期是需要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人工做一个倒过来的数据流分析（逆向逐句维护关心变量列表，依次去掉一些不相干定义语句，对留下来的每一句语句做阐释）针对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展开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sym typeface="+mn-ea"/>
              </a:rPr>
              <a:t>3.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规定后续会议形式，需要每一个事项都列出总结与结论；并且每人上限半小时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一、回顾：上周工作</a:t>
            </a:r>
            <a:r>
              <a:rPr lang="zh-CN" altLang="en-US" sz="2400" dirty="0"/>
              <a:t>速览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243776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  <a:endParaRPr lang="zh-CN" altLang="en-US" sz="16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4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  <a:endParaRPr lang="en-US" altLang="zh-CN" sz="1400" b="1" strike="sngStrike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10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  <a:endParaRPr lang="zh-CN" altLang="en-US" sz="1400" dirty="0"/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  <a:endParaRPr lang="zh-CN" altLang="en-US" sz="1400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  <a:endParaRPr lang="zh-CN" altLang="en-US" sz="16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  <a:endParaRPr lang="zh-CN" altLang="en-US" sz="1600" dirty="0">
                <a:sym typeface="+mn-ea"/>
              </a:endParaRP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  <a:endParaRPr lang="en-US" altLang="zh-CN" sz="1600" dirty="0"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可视化工具集成</a:t>
              </a:r>
              <a:endParaRPr lang="zh-CN" altLang="en-US" sz="1600" dirty="0">
                <a:sym typeface="+mn-ea"/>
              </a:endParaRP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12636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8740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636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15716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68338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一、回顾：上周工作</a:t>
            </a:r>
            <a:r>
              <a:rPr lang="zh-CN" altLang="en-US" sz="2400" dirty="0"/>
              <a:t>速览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-85788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  <a:endParaRPr lang="zh-CN" altLang="en-US" sz="16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4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  <a:endParaRPr lang="en-US" altLang="zh-CN" sz="1400" b="1" strike="sngStrike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10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  <a:endParaRPr lang="zh-CN" altLang="en-US" sz="1400" dirty="0"/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  <a:endParaRPr lang="zh-CN" altLang="en-US" sz="1400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  <a:endParaRPr lang="zh-CN" altLang="en-US" sz="16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  <a:endParaRPr lang="zh-CN" altLang="en-US" sz="1600" dirty="0">
                <a:sym typeface="+mn-ea"/>
              </a:endParaRP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  <a:endParaRPr lang="en-US" altLang="zh-CN" sz="1600" dirty="0"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可视化工具集成</a:t>
              </a:r>
              <a:endParaRPr lang="zh-CN" altLang="en-US" sz="1600" dirty="0">
                <a:sym typeface="+mn-ea"/>
              </a:endParaRP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-316928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-250825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-316928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-17240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-161226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图片 33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92695" y="1193800"/>
            <a:ext cx="914400" cy="9144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8961755" y="15068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体验不错，后续待优化</a:t>
            </a:r>
            <a:endParaRPr lang="zh-CN" altLang="en-US" sz="2000"/>
          </a:p>
        </p:txBody>
      </p:sp>
      <p:sp>
        <p:nvSpPr>
          <p:cNvPr id="36" name="文本框 35"/>
          <p:cNvSpPr txBox="1"/>
          <p:nvPr/>
        </p:nvSpPr>
        <p:spPr>
          <a:xfrm>
            <a:off x="8836025" y="2596515"/>
            <a:ext cx="33553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新逻辑：</a:t>
            </a:r>
            <a:br>
              <a:rPr lang="zh-CN" altLang="en-US" sz="2000"/>
            </a:br>
            <a:r>
              <a:rPr lang="zh-CN" altLang="en-US" sz="2000"/>
              <a:t>记录完整的类似</a:t>
            </a:r>
            <a:r>
              <a:rPr lang="en-US" altLang="zh-CN" sz="2000"/>
              <a:t>gdb</a:t>
            </a:r>
            <a:r>
              <a:rPr lang="zh-CN" altLang="en-US" sz="2000"/>
              <a:t>数据</a:t>
            </a:r>
            <a:endParaRPr lang="zh-CN" altLang="en-US" sz="2000"/>
          </a:p>
          <a:p>
            <a:r>
              <a:rPr lang="zh-CN" altLang="en-US" sz="2000"/>
              <a:t>由</a:t>
            </a:r>
            <a:r>
              <a:rPr lang="en-US" altLang="zh-CN" sz="2000"/>
              <a:t>ai</a:t>
            </a:r>
            <a:r>
              <a:rPr lang="zh-CN" altLang="en-US" sz="2000"/>
              <a:t>生成优化后倒叙思维</a:t>
            </a:r>
            <a:r>
              <a:rPr lang="en-US" altLang="zh-CN" sz="2000"/>
              <a:t>cot</a:t>
            </a:r>
            <a:endParaRPr lang="en-US" altLang="zh-CN" sz="2000"/>
          </a:p>
        </p:txBody>
      </p:sp>
      <p:sp>
        <p:nvSpPr>
          <p:cNvPr id="37" name="文本框 36"/>
          <p:cNvSpPr txBox="1"/>
          <p:nvPr/>
        </p:nvSpPr>
        <p:spPr>
          <a:xfrm>
            <a:off x="8961755" y="4710430"/>
            <a:ext cx="1515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已完善</a:t>
            </a:r>
            <a:endParaRPr lang="zh-CN" altLang="en-US" sz="2000"/>
          </a:p>
        </p:txBody>
      </p:sp>
      <p:pic>
        <p:nvPicPr>
          <p:cNvPr id="38" name="图片 37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55585" y="46050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069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二、分享：如何自动化</a:t>
            </a:r>
            <a:r>
              <a:rPr lang="zh-CN" altLang="en-US" sz="2400" dirty="0"/>
              <a:t>地得到</a:t>
            </a:r>
            <a:r>
              <a:rPr lang="en-US" altLang="zh-CN" sz="2400" dirty="0"/>
              <a:t>C/C++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</a:t>
            </a:r>
            <a:r>
              <a:rPr lang="en-US" altLang="zh-CN" sz="2400" dirty="0"/>
              <a:t>GDB</a:t>
            </a:r>
            <a:endParaRPr lang="en-US" altLang="zh-CN" sz="24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F8F9FA">
                  <a:alpha val="100000"/>
                </a:srgbClr>
              </a:clrFrom>
              <a:clrTo>
                <a:srgbClr val="F8F9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975" y="1231900"/>
            <a:ext cx="2660650" cy="190055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3015615" y="1231900"/>
            <a:ext cx="7120890" cy="43268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en-US" altLang="zh-CN"/>
              <a:t>GDB</a:t>
            </a:r>
            <a:r>
              <a:rPr lang="zh-CN" altLang="en-US"/>
              <a:t>（</a:t>
            </a:r>
            <a:r>
              <a:rPr lang="en-US" altLang="zh-CN"/>
              <a:t>GNU Debugger</a:t>
            </a:r>
            <a:r>
              <a:rPr lang="zh-CN" altLang="en-US"/>
              <a:t>）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主要用于调试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C++</a:t>
            </a:r>
            <a:r>
              <a:rPr lang="zh-CN" altLang="en-US"/>
              <a:t>等编译型语言程序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 1988</a:t>
            </a:r>
            <a:r>
              <a:rPr lang="zh-CN" altLang="en-US"/>
              <a:t>年由</a:t>
            </a:r>
            <a:r>
              <a:rPr lang="en-US" altLang="zh-CN"/>
              <a:t>Richard Stallman</a:t>
            </a:r>
            <a:r>
              <a:rPr lang="zh-CN" altLang="en-US"/>
              <a:t>开发提出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>
                <a:sym typeface="+mn-ea"/>
              </a:rPr>
              <a:t>&gt; </a:t>
            </a:r>
            <a:r>
              <a:rPr lang="zh-CN" altLang="en-US">
                <a:sym typeface="+mn-ea"/>
              </a:rPr>
              <a:t>特点：命令行界面、支持脚本自动化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 b="1" u="sng"/>
              <a:t>主要功能</a:t>
            </a:r>
            <a:r>
              <a:rPr lang="zh-CN" altLang="en-US"/>
              <a:t>：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断点调试</a:t>
            </a:r>
            <a:r>
              <a:rPr lang="zh-CN" altLang="en-US"/>
              <a:t>：在程序任意位置设置断点，执行到断点就会停止</a:t>
            </a:r>
            <a:r>
              <a:rPr lang="zh-CN" altLang="en-US"/>
              <a:t>执行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单步执行</a:t>
            </a:r>
            <a:r>
              <a:rPr lang="zh-CN" altLang="en-US"/>
              <a:t>：可以逐行执行代码，方便追踪程序执行流程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变量检查</a:t>
            </a:r>
            <a:r>
              <a:rPr lang="zh-CN" altLang="en-US"/>
              <a:t>：可以查看和修改变量的值，包括局部变量、全局变量、静态变量等。还可以监视变量的变化。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069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二、分享：如何自动化</a:t>
            </a:r>
            <a:r>
              <a:rPr lang="zh-CN" altLang="en-US" sz="2400" dirty="0"/>
              <a:t>地得到</a:t>
            </a:r>
            <a:r>
              <a:rPr lang="en-US" altLang="zh-CN" sz="2400" dirty="0"/>
              <a:t>C/C++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</a:t>
            </a:r>
            <a:r>
              <a:rPr lang="en-US" altLang="zh-CN" sz="2400" dirty="0"/>
              <a:t>GDB</a:t>
            </a:r>
            <a:endParaRPr lang="en-US" altLang="zh-CN" sz="24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F8F9FA">
                  <a:alpha val="100000"/>
                </a:srgbClr>
              </a:clrFrom>
              <a:clrTo>
                <a:srgbClr val="F8F9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975" y="1231900"/>
            <a:ext cx="2660650" cy="190055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3015615" y="1231900"/>
            <a:ext cx="7120890" cy="43268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关键指令与</a:t>
            </a:r>
            <a:r>
              <a:rPr lang="zh-CN" altLang="en-US"/>
              <a:t>注意事项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1. gcc -g -o program program.c 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zh-CN" altLang="en-US"/>
              <a:t>需要</a:t>
            </a:r>
            <a:r>
              <a:rPr lang="en-US" altLang="zh-CN"/>
              <a:t>-g</a:t>
            </a:r>
            <a:r>
              <a:rPr lang="zh-CN" altLang="en-US"/>
              <a:t>编译，这样编译器会在可执行文件中保留符号信息与行号</a:t>
            </a:r>
            <a:r>
              <a:rPr lang="zh-CN" altLang="en-US"/>
              <a:t>映射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2. gdb program</a:t>
            </a:r>
            <a:r>
              <a:rPr lang="zh-CN" altLang="en-US"/>
              <a:t>：启动</a:t>
            </a:r>
            <a:r>
              <a:rPr lang="en-US" altLang="zh-CN"/>
              <a:t>GDB</a:t>
            </a:r>
            <a:r>
              <a:rPr lang="zh-CN" altLang="en-US"/>
              <a:t>并加载程序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3. break</a:t>
            </a:r>
            <a:r>
              <a:rPr lang="zh-CN" altLang="en-US"/>
              <a:t>：设置断</a:t>
            </a:r>
            <a:r>
              <a:rPr lang="zh-CN" altLang="en-US"/>
              <a:t>点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4. next</a:t>
            </a:r>
            <a:r>
              <a:rPr lang="zh-CN" altLang="en-US"/>
              <a:t>：单步执行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5. print variable</a:t>
            </a:r>
            <a:r>
              <a:rPr lang="zh-CN" altLang="en-US"/>
              <a:t>：打印变量值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6. list</a:t>
            </a:r>
            <a:r>
              <a:rPr lang="zh-CN" altLang="en-US"/>
              <a:t>：显示源代码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7. set logging on</a:t>
            </a:r>
            <a:r>
              <a:rPr lang="zh-CN" altLang="en-US"/>
              <a:t>：保存</a:t>
            </a:r>
            <a:r>
              <a:rPr lang="en-US" altLang="zh-CN"/>
              <a:t>GDB</a:t>
            </a:r>
            <a:r>
              <a:rPr lang="zh-CN" altLang="en-US"/>
              <a:t>输出到</a:t>
            </a:r>
            <a:r>
              <a:rPr lang="zh-CN" altLang="en-US"/>
              <a:t>指定文件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069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二、分享：如何自动化</a:t>
            </a:r>
            <a:r>
              <a:rPr lang="zh-CN" altLang="en-US" sz="2400" dirty="0"/>
              <a:t>地得到</a:t>
            </a:r>
            <a:r>
              <a:rPr lang="en-US" altLang="zh-CN" sz="2400" dirty="0"/>
              <a:t>C/C++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</a:t>
            </a:r>
            <a:r>
              <a:rPr lang="en-US" altLang="zh-CN" sz="2400" dirty="0"/>
              <a:t>GDB</a:t>
            </a:r>
            <a:endParaRPr lang="en-US" altLang="zh-CN" sz="24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F8F9FA">
                  <a:alpha val="100000"/>
                </a:srgbClr>
              </a:clrFrom>
              <a:clrTo>
                <a:srgbClr val="F8F9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975" y="1231900"/>
            <a:ext cx="2660650" cy="190055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843530" y="977265"/>
            <a:ext cx="7900670" cy="57391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en-US" altLang="zh-CN"/>
              <a:t>Step1</a:t>
            </a:r>
            <a:r>
              <a:rPr lang="zh-CN" altLang="en-US"/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准备源代码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Step2</a:t>
            </a:r>
            <a:r>
              <a:rPr lang="zh-CN" altLang="en-US"/>
              <a:t>：带调试信息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编译</a:t>
            </a:r>
            <a:r>
              <a:rPr lang="en-US" altLang="zh-CN"/>
              <a:t>    gcc/g++ -g -O0 test.cpp -o test_program.exe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&gt; (-g: </a:t>
            </a:r>
            <a:r>
              <a:rPr lang="zh-CN" altLang="en-US"/>
              <a:t>保留调试符号和行号信息</a:t>
            </a:r>
            <a:r>
              <a:rPr lang="en-US" altLang="zh-CN"/>
              <a:t>)  (-O0: </a:t>
            </a:r>
            <a:r>
              <a:rPr lang="zh-CN" altLang="en-US"/>
              <a:t>禁用优化，保证变量可见</a:t>
            </a:r>
            <a:r>
              <a:rPr lang="en-US" altLang="zh-CN"/>
              <a:t>)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Step3</a:t>
            </a:r>
            <a:r>
              <a:rPr lang="zh-CN" altLang="en-US"/>
              <a:t>：</a:t>
            </a:r>
            <a:r>
              <a:rPr lang="en-US" altLang="zh-CN"/>
              <a:t>bat </a:t>
            </a:r>
            <a:r>
              <a:rPr lang="zh-CN" altLang="en-US"/>
              <a:t>脚本自动生成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GDB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命令</a:t>
            </a:r>
            <a:r>
              <a:rPr lang="zh-CN" altLang="en-US"/>
              <a:t>文件</a:t>
            </a:r>
            <a:r>
              <a:rPr lang="en-US" altLang="zh-CN"/>
              <a:t> .gdb_commands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&gt; set pagination off (</a:t>
            </a:r>
            <a:r>
              <a:rPr lang="zh-CN" altLang="en-US"/>
              <a:t>禁用分页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set confirm off (</a:t>
            </a:r>
            <a:r>
              <a:rPr lang="zh-CN" altLang="en-US"/>
              <a:t>禁用确认提示</a:t>
            </a:r>
            <a:r>
              <a:rPr lang="en-US" altLang="zh-CN"/>
              <a:t>)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&gt; source gdb_trace.py (</a:t>
            </a:r>
            <a:r>
              <a:rPr lang="zh-CN" altLang="en-US"/>
              <a:t>加载</a:t>
            </a:r>
            <a:r>
              <a:rPr lang="en-US" altLang="zh-CN"/>
              <a:t>Python</a:t>
            </a:r>
            <a:r>
              <a:rPr lang="zh-CN" altLang="en-US"/>
              <a:t>脚本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break main (</a:t>
            </a:r>
            <a:r>
              <a:rPr lang="zh-CN" altLang="en-US"/>
              <a:t>在</a:t>
            </a:r>
            <a:r>
              <a:rPr lang="en-US" altLang="zh-CN"/>
              <a:t>main</a:t>
            </a:r>
            <a:r>
              <a:rPr lang="zh-CN" altLang="en-US"/>
              <a:t>函数设置断点</a:t>
            </a:r>
            <a:r>
              <a:rPr lang="en-US" altLang="zh-CN"/>
              <a:t>)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&gt; run (</a:t>
            </a:r>
            <a:r>
              <a:rPr lang="zh-CN" altLang="en-US"/>
              <a:t>运行程序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trace-vars (</a:t>
            </a:r>
            <a:r>
              <a:rPr lang="zh-CN" altLang="en-US"/>
              <a:t>执行自定义追踪命令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quit (</a:t>
            </a:r>
            <a:r>
              <a:rPr lang="zh-CN" altLang="en-US"/>
              <a:t>退出</a:t>
            </a:r>
            <a:r>
              <a:rPr lang="en-US" altLang="zh-CN"/>
              <a:t>GDB)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Step4</a:t>
            </a:r>
            <a:r>
              <a:rPr lang="zh-CN" altLang="en-US"/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执行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GDB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追踪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 gdb -batch -x .gdb_commands test_program.exe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en-US" altLang="zh-CN"/>
              <a:t>&gt; GDB</a:t>
            </a:r>
            <a:r>
              <a:rPr lang="zh-CN" altLang="en-US"/>
              <a:t>加载</a:t>
            </a:r>
            <a:r>
              <a:rPr lang="en-US" altLang="zh-CN"/>
              <a:t>gdb_trace.py</a:t>
            </a:r>
            <a:r>
              <a:rPr lang="zh-CN" altLang="en-US"/>
              <a:t>脚本、注册</a:t>
            </a:r>
            <a:r>
              <a:rPr lang="en-US" altLang="zh-CN"/>
              <a:t>trace-vars</a:t>
            </a:r>
            <a:r>
              <a:rPr lang="zh-CN" altLang="en-US"/>
              <a:t>命令、逐行记录</a:t>
            </a:r>
            <a:r>
              <a:rPr lang="zh-CN" altLang="en-US"/>
              <a:t>信息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Step5</a:t>
            </a:r>
            <a:r>
              <a:rPr lang="zh-CN" altLang="en-US"/>
              <a:t>：过滤输出，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格式化输出</a:t>
            </a:r>
            <a:r>
              <a:rPr lang="zh-CN" altLang="en-US"/>
              <a:t>形式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最终得到运行流：行号</a:t>
            </a:r>
            <a:r>
              <a:rPr lang="en-US" altLang="zh-CN"/>
              <a:t> </a:t>
            </a:r>
            <a:r>
              <a:rPr lang="zh-CN" altLang="en-US"/>
              <a:t>该行语句</a:t>
            </a:r>
            <a:r>
              <a:rPr lang="en-US" altLang="zh-CN"/>
              <a:t> \n </a:t>
            </a:r>
            <a:r>
              <a:rPr lang="zh-CN" altLang="en-US"/>
              <a:t>行号</a:t>
            </a:r>
            <a:r>
              <a:rPr lang="en-US" altLang="zh-CN"/>
              <a:t> [</a:t>
            </a:r>
            <a:r>
              <a:rPr lang="zh-CN" altLang="en-US"/>
              <a:t>变量名列表</a:t>
            </a:r>
            <a:r>
              <a:rPr lang="en-US" altLang="zh-CN"/>
              <a:t>] [</a:t>
            </a:r>
            <a:r>
              <a:rPr lang="zh-CN" altLang="en-US"/>
              <a:t>变量值列表</a:t>
            </a:r>
            <a:r>
              <a:rPr lang="en-US" altLang="zh-CN"/>
              <a:t>]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069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二、分享：如何自动化</a:t>
            </a:r>
            <a:r>
              <a:rPr lang="zh-CN" altLang="en-US" sz="2400" dirty="0"/>
              <a:t>地得到</a:t>
            </a:r>
            <a:r>
              <a:rPr lang="en-US" altLang="zh-CN" sz="2400" dirty="0"/>
              <a:t>C/C++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</a:t>
            </a:r>
            <a:r>
              <a:rPr lang="en-US" altLang="zh-CN" sz="2400" dirty="0"/>
              <a:t>GDB</a:t>
            </a:r>
            <a:endParaRPr lang="en-US" alt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67335" y="101536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简单例子：赋值、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" y="2025650"/>
            <a:ext cx="5562600" cy="3998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05" y="1829435"/>
            <a:ext cx="6006465" cy="4272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305" y="1015365"/>
            <a:ext cx="4368165" cy="760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069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二、分享：如何自动化</a:t>
            </a:r>
            <a:r>
              <a:rPr lang="zh-CN" altLang="en-US" sz="2400" dirty="0"/>
              <a:t>地得到</a:t>
            </a:r>
            <a:r>
              <a:rPr lang="en-US" altLang="zh-CN" sz="2400" dirty="0"/>
              <a:t>C/C++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</a:t>
            </a:r>
            <a:r>
              <a:rPr lang="en-US" altLang="zh-CN" sz="2400" dirty="0"/>
              <a:t>GDB</a:t>
            </a:r>
            <a:endParaRPr lang="en-US" alt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67335" y="101536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简单例子：赋值、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" y="2104390"/>
            <a:ext cx="4735195" cy="3404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20" y="725805"/>
            <a:ext cx="4782820" cy="6070600"/>
          </a:xfrm>
          <a:prstGeom prst="rect">
            <a:avLst/>
          </a:prstGeom>
        </p:spPr>
      </p:pic>
      <p:pic>
        <p:nvPicPr>
          <p:cNvPr id="7" name="图片 6" descr="边框向右双箭头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750" y="2938780"/>
            <a:ext cx="1187450" cy="1186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0695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二、分享：如何自动化</a:t>
            </a:r>
            <a:r>
              <a:rPr lang="zh-CN" altLang="en-US" sz="2400" dirty="0"/>
              <a:t>地得到</a:t>
            </a:r>
            <a:r>
              <a:rPr lang="en-US" altLang="zh-CN" sz="2400" dirty="0"/>
              <a:t>C/C++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</a:t>
            </a:r>
            <a:r>
              <a:rPr lang="en-US" altLang="zh-CN" sz="2400" dirty="0"/>
              <a:t>GDB</a:t>
            </a:r>
            <a:endParaRPr lang="en-US" alt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51460" y="72580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复杂例子：</a:t>
            </a:r>
            <a:r>
              <a:rPr lang="en-US" altLang="zh-CN"/>
              <a:t>case 37</a:t>
            </a:r>
            <a:r>
              <a:rPr lang="zh-CN" altLang="en-US"/>
              <a:t>，难度</a:t>
            </a:r>
            <a:r>
              <a:rPr lang="en-US" altLang="zh-CN"/>
              <a:t>3 </a:t>
            </a:r>
            <a:endParaRPr lang="en-US" altLang="zh-CN"/>
          </a:p>
        </p:txBody>
      </p:sp>
      <p:pic>
        <p:nvPicPr>
          <p:cNvPr id="7" name="图片 6" descr="边框向右双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6310" y="3168015"/>
            <a:ext cx="777240" cy="11861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39743" t="28023" r="18514"/>
          <a:stretch>
            <a:fillRect/>
          </a:stretch>
        </p:blipFill>
        <p:spPr>
          <a:xfrm>
            <a:off x="121285" y="1326515"/>
            <a:ext cx="5832475" cy="5405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27368"/>
          <a:stretch>
            <a:fillRect/>
          </a:stretch>
        </p:blipFill>
        <p:spPr>
          <a:xfrm>
            <a:off x="7029450" y="1326515"/>
            <a:ext cx="4718050" cy="54267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9251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三、分享：如何自动化地得到</a:t>
            </a:r>
            <a:r>
              <a:rPr lang="en-US" altLang="zh-CN" sz="2400" dirty="0"/>
              <a:t>python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 sys.settrace()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382395" y="1239520"/>
            <a:ext cx="7120890" cy="43795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en-US" altLang="zh-CN" sz="2000"/>
              <a:t>sys.settrace()</a:t>
            </a:r>
            <a:endParaRPr lang="en-US" altLang="zh-CN" sz="2000"/>
          </a:p>
          <a:p>
            <a:pPr lvl="0">
              <a:lnSpc>
                <a:spcPct val="170000"/>
              </a:lnSpc>
            </a:pPr>
            <a:r>
              <a:rPr lang="en-US" altLang="zh-CN"/>
              <a:t>&gt; Python</a:t>
            </a:r>
            <a:r>
              <a:rPr lang="zh-CN" altLang="en-US"/>
              <a:t>内置的调试和追踪机制</a:t>
            </a:r>
            <a:endParaRPr lang="zh-CN" altLang="en-US"/>
          </a:p>
          <a:p>
            <a:pPr lvl="0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通过设置追踪函数来监控程序执行过程</a:t>
            </a:r>
            <a:endParaRPr lang="zh-CN" altLang="en-US"/>
          </a:p>
          <a:p>
            <a:pPr lvl="0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特点：纯</a:t>
            </a:r>
            <a:r>
              <a:rPr lang="en-US" altLang="zh-CN"/>
              <a:t>Python</a:t>
            </a:r>
            <a:r>
              <a:rPr lang="zh-CN" altLang="en-US"/>
              <a:t>实现、无需外部工具、可编程控制</a:t>
            </a:r>
            <a:endParaRPr lang="zh-CN" altLang="en-US"/>
          </a:p>
          <a:p>
            <a:pPr lvl="0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主要功能：</a:t>
            </a:r>
            <a:endParaRPr lang="zh-CN" altLang="en-US"/>
          </a:p>
          <a:p>
            <a:pPr lvl="1"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行级追踪</a:t>
            </a:r>
            <a:r>
              <a:rPr lang="zh-CN" altLang="en-US"/>
              <a:t>：监控每一行代码的执行</a:t>
            </a:r>
            <a:endParaRPr lang="zh-CN" altLang="en-US"/>
          </a:p>
          <a:p>
            <a:pPr lvl="1"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变量监控</a:t>
            </a:r>
            <a:r>
              <a:rPr lang="zh-CN" altLang="en-US"/>
              <a:t>：实时获取局部变量和全局变量的值</a:t>
            </a:r>
            <a:endParaRPr lang="zh-CN" altLang="en-US"/>
          </a:p>
          <a:p>
            <a:pPr lvl="1"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函数调用追踪</a:t>
            </a:r>
            <a:r>
              <a:rPr lang="zh-CN" altLang="en-US"/>
              <a:t>：监控函数的进入和返回</a:t>
            </a:r>
            <a:endParaRPr lang="zh-CN" altLang="en-US"/>
          </a:p>
          <a:p>
            <a:pPr lvl="1">
              <a:lnSpc>
                <a:spcPct val="170000"/>
              </a:lnSpc>
            </a:pPr>
            <a:r>
              <a:rPr lang="en-US" altLang="zh-CN"/>
              <a:t>&gt;&gt; 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自定义输出格式</a:t>
            </a:r>
            <a:r>
              <a:rPr lang="zh-CN" altLang="en-US"/>
              <a:t>：可以按需定制追踪信息的格式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0553700" y="5253355"/>
            <a:ext cx="1278890" cy="1389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9251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三、分享：如何自动化地得到</a:t>
            </a:r>
            <a:r>
              <a:rPr lang="en-US" altLang="zh-CN" sz="2400" dirty="0"/>
              <a:t>python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 sys.settrace()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989330" y="1200785"/>
            <a:ext cx="8582025" cy="452310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60000"/>
              </a:lnSpc>
            </a:pPr>
            <a:r>
              <a:rPr lang="zh-CN" altLang="en-US" sz="2000"/>
              <a:t>技术细节与</a:t>
            </a:r>
            <a:r>
              <a:rPr lang="zh-CN" altLang="en-US" sz="2000"/>
              <a:t>关键函数：</a:t>
            </a:r>
            <a:endParaRPr lang="zh-CN" altLang="en-US" sz="2000"/>
          </a:p>
          <a:p>
            <a:pPr lvl="1">
              <a:lnSpc>
                <a:spcPct val="160000"/>
              </a:lnSpc>
            </a:pPr>
            <a:r>
              <a:rPr lang="en-US" altLang="zh-CN" sz="2000"/>
              <a:t>1. sys.settrace(trace_function)</a:t>
            </a:r>
            <a:endParaRPr lang="en-US" altLang="zh-CN" sz="2000"/>
          </a:p>
          <a:p>
            <a:pPr lvl="1" indent="457200">
              <a:lnSpc>
                <a:spcPct val="160000"/>
              </a:lnSpc>
            </a:pPr>
            <a:r>
              <a:rPr lang="zh-CN" altLang="en-US" sz="2000"/>
              <a:t>设置追踪函数</a:t>
            </a:r>
            <a:r>
              <a:rPr lang="en-US" altLang="zh-CN" sz="2000"/>
              <a:t>,trace_function</a:t>
            </a:r>
            <a:r>
              <a:rPr lang="zh-CN" altLang="en-US" sz="2000"/>
              <a:t>会在每个事件发生时被调用</a:t>
            </a:r>
            <a:endParaRPr lang="zh-CN" altLang="en-US" sz="2000"/>
          </a:p>
          <a:p>
            <a:pPr lvl="1">
              <a:lnSpc>
                <a:spcPct val="16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追踪函数签名</a:t>
            </a:r>
            <a:r>
              <a:rPr lang="en-US" altLang="zh-CN" sz="2000"/>
              <a:t>: trace_function(frame, event, arg)</a:t>
            </a:r>
            <a:endParaRPr lang="en-US" altLang="zh-CN" sz="2000"/>
          </a:p>
          <a:p>
            <a:pPr lvl="2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en-US" altLang="zh-CN" sz="2000" b="1"/>
              <a:t>frame</a:t>
            </a:r>
            <a:r>
              <a:rPr lang="en-US" altLang="zh-CN" sz="2000"/>
              <a:t>: </a:t>
            </a:r>
            <a:r>
              <a:rPr lang="zh-CN" altLang="en-US" sz="2000"/>
              <a:t>当前执行帧</a:t>
            </a:r>
            <a:r>
              <a:rPr lang="en-US" altLang="zh-CN" sz="2000"/>
              <a:t>,</a:t>
            </a:r>
            <a:r>
              <a:rPr lang="zh-CN" altLang="en-US" sz="2000"/>
              <a:t>包含代码对象、局部变量等信息</a:t>
            </a:r>
            <a:endParaRPr lang="zh-CN" altLang="en-US" sz="2000"/>
          </a:p>
          <a:p>
            <a:pPr lvl="2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en-US" altLang="zh-CN" sz="2000" b="1"/>
              <a:t>event</a:t>
            </a:r>
            <a:r>
              <a:rPr lang="en-US" altLang="zh-CN" sz="2000"/>
              <a:t>: </a:t>
            </a:r>
            <a:r>
              <a:rPr lang="zh-CN" altLang="en-US" sz="2000"/>
              <a:t>事件类型</a:t>
            </a:r>
            <a:r>
              <a:rPr lang="en-US" altLang="zh-CN" sz="2000"/>
              <a:t> ('call', 'line', 'return', 'exception')</a:t>
            </a:r>
            <a:endParaRPr lang="en-US" altLang="zh-CN" sz="2000"/>
          </a:p>
          <a:p>
            <a:pPr lvl="2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en-US" altLang="zh-CN" sz="2000" b="1"/>
              <a:t>arg</a:t>
            </a:r>
            <a:r>
              <a:rPr lang="en-US" altLang="zh-CN" sz="2000"/>
              <a:t>: </a:t>
            </a:r>
            <a:r>
              <a:rPr lang="zh-CN" altLang="en-US" sz="2000"/>
              <a:t>事件相关参数</a:t>
            </a:r>
            <a:r>
              <a:rPr lang="en-US" altLang="zh-CN" sz="2000"/>
              <a:t>(</a:t>
            </a:r>
            <a:r>
              <a:rPr lang="zh-CN" altLang="en-US" sz="2000"/>
              <a:t>如</a:t>
            </a:r>
            <a:r>
              <a:rPr lang="en-US" altLang="zh-CN" sz="2000"/>
              <a:t>return</a:t>
            </a:r>
            <a:r>
              <a:rPr lang="zh-CN" altLang="en-US" sz="2000"/>
              <a:t>事件的返回值</a:t>
            </a:r>
            <a:r>
              <a:rPr lang="en-US" altLang="zh-CN" sz="2000"/>
              <a:t>)</a:t>
            </a:r>
            <a:endParaRPr lang="en-US" altLang="zh-CN" sz="2000"/>
          </a:p>
          <a:p>
            <a:pPr lvl="1">
              <a:lnSpc>
                <a:spcPct val="160000"/>
              </a:lnSpc>
            </a:pPr>
            <a:r>
              <a:rPr lang="en-US" altLang="zh-CN" sz="2000"/>
              <a:t>3. linecache.getline(filename, lineno)</a:t>
            </a:r>
            <a:endParaRPr lang="en-US" altLang="zh-CN" sz="2000"/>
          </a:p>
          <a:p>
            <a:pPr lvl="1" indent="457200">
              <a:lnSpc>
                <a:spcPct val="160000"/>
              </a:lnSpc>
            </a:pPr>
            <a:r>
              <a:rPr lang="zh-CN" altLang="en-US" sz="2000"/>
              <a:t>获取指定文件的指定行源代码</a:t>
            </a:r>
            <a:endParaRPr lang="zh-CN" altLang="en-US" sz="20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514330" y="5384800"/>
            <a:ext cx="1467485" cy="1332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9251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三、分享：如何自动化地得到</a:t>
            </a:r>
            <a:r>
              <a:rPr lang="en-US" altLang="zh-CN" sz="2400" dirty="0"/>
              <a:t>python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 sys.settrace()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729615" y="840740"/>
            <a:ext cx="9974580" cy="600075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60000"/>
              </a:lnSpc>
            </a:pPr>
            <a:r>
              <a:rPr lang="zh-CN" altLang="en-US" sz="2000"/>
              <a:t>工作流：</a:t>
            </a:r>
            <a:endParaRPr lang="zh-CN" altLang="en-US" sz="2000"/>
          </a:p>
          <a:p>
            <a:pPr lvl="1" indent="0">
              <a:lnSpc>
                <a:spcPct val="160000"/>
              </a:lnSpc>
            </a:pPr>
            <a:r>
              <a:rPr lang="en-US" altLang="zh-CN" sz="2000"/>
              <a:t>Step1:</a:t>
            </a:r>
            <a:r>
              <a:rPr lang="zh-CN" altLang="en-US" sz="2000"/>
              <a:t>准备</a:t>
            </a:r>
            <a:r>
              <a:rPr lang="zh-CN" altLang="en-US" sz="2000" b="1"/>
              <a:t>源代码</a:t>
            </a:r>
            <a:r>
              <a:rPr lang="en-US" altLang="zh-CN" sz="2000"/>
              <a:t>(test.py)</a:t>
            </a:r>
            <a:endParaRPr lang="en-US" altLang="zh-CN" sz="2000"/>
          </a:p>
          <a:p>
            <a:pPr lvl="1" indent="0">
              <a:lnSpc>
                <a:spcPct val="160000"/>
              </a:lnSpc>
            </a:pPr>
            <a:r>
              <a:rPr lang="en-US" altLang="zh-CN" sz="2000"/>
              <a:t>Step2:</a:t>
            </a:r>
            <a:r>
              <a:rPr lang="zh-CN" altLang="en-US" sz="2000"/>
              <a:t>编写</a:t>
            </a:r>
            <a:r>
              <a:rPr lang="zh-CN" altLang="en-US" sz="2000" b="1"/>
              <a:t>追踪脚本</a:t>
            </a:r>
            <a:r>
              <a:rPr lang="en-US" altLang="zh-CN" sz="2000"/>
              <a:t>(trace_python.py)</a:t>
            </a:r>
            <a:endParaRPr lang="en-US" altLang="zh-CN" sz="2000"/>
          </a:p>
          <a:p>
            <a:pPr lvl="2" indent="0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zh-CN" altLang="en-US" sz="2000"/>
              <a:t>定义</a:t>
            </a:r>
            <a:r>
              <a:rPr lang="en-US" altLang="zh-CN" sz="2000"/>
              <a:t>PythonTracer</a:t>
            </a:r>
            <a:r>
              <a:rPr lang="zh-CN" altLang="en-US" sz="2000"/>
              <a:t>类</a:t>
            </a:r>
            <a:r>
              <a:rPr lang="en-US" altLang="zh-CN" sz="2000"/>
              <a:t>,</a:t>
            </a:r>
            <a:r>
              <a:rPr lang="zh-CN" altLang="en-US" sz="2000"/>
              <a:t>实现追踪逻辑</a:t>
            </a:r>
            <a:endParaRPr lang="zh-CN" altLang="en-US" sz="2000"/>
          </a:p>
          <a:p>
            <a:pPr lvl="2" indent="0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zh-CN" altLang="en-US" sz="2000"/>
              <a:t>实现</a:t>
            </a:r>
            <a:r>
              <a:rPr lang="en-US" altLang="zh-CN" sz="2000"/>
              <a:t>trace_handler</a:t>
            </a:r>
            <a:r>
              <a:rPr lang="zh-CN" altLang="en-US" sz="2000"/>
              <a:t>处理</a:t>
            </a:r>
            <a:r>
              <a:rPr lang="en-US" altLang="zh-CN" sz="2000"/>
              <a:t>'line'</a:t>
            </a:r>
            <a:r>
              <a:rPr lang="zh-CN" altLang="en-US" sz="2000"/>
              <a:t>事件</a:t>
            </a:r>
            <a:r>
              <a:rPr lang="en-US" altLang="zh-CN" sz="2000"/>
              <a:t>,</a:t>
            </a:r>
            <a:r>
              <a:rPr lang="zh-CN" altLang="en-US" sz="2000"/>
              <a:t>记录每行执行前后的变量状态</a:t>
            </a:r>
            <a:endParaRPr lang="zh-CN" altLang="en-US" sz="2000"/>
          </a:p>
          <a:p>
            <a:pPr lvl="2" indent="0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zh-CN" altLang="en-US" sz="2000"/>
              <a:t>实现</a:t>
            </a:r>
            <a:r>
              <a:rPr lang="en-US" altLang="zh-CN" sz="2000"/>
              <a:t>trace_return_handler</a:t>
            </a:r>
            <a:r>
              <a:rPr lang="zh-CN" altLang="en-US" sz="2000"/>
              <a:t>处理</a:t>
            </a:r>
            <a:r>
              <a:rPr lang="en-US" altLang="zh-CN" sz="2000"/>
              <a:t>'return'</a:t>
            </a:r>
            <a:r>
              <a:rPr lang="zh-CN" altLang="en-US" sz="2000"/>
              <a:t>事件</a:t>
            </a:r>
            <a:r>
              <a:rPr lang="en-US" altLang="zh-CN" sz="2000"/>
              <a:t>,</a:t>
            </a:r>
            <a:r>
              <a:rPr lang="zh-CN" altLang="en-US" sz="2000"/>
              <a:t>确保函数返回前输出最后一行</a:t>
            </a:r>
            <a:endParaRPr lang="zh-CN" altLang="en-US" sz="2000"/>
          </a:p>
          <a:p>
            <a:pPr lvl="2" indent="0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zh-CN" altLang="en-US" sz="2000"/>
              <a:t>使用</a:t>
            </a:r>
            <a:r>
              <a:rPr lang="en-US" altLang="zh-CN" sz="2000"/>
              <a:t>pending_trace</a:t>
            </a:r>
            <a:r>
              <a:rPr lang="zh-CN" altLang="en-US" sz="2000"/>
              <a:t>机制</a:t>
            </a:r>
            <a:r>
              <a:rPr lang="en-US" altLang="zh-CN" sz="2000"/>
              <a:t>:</a:t>
            </a:r>
            <a:r>
              <a:rPr lang="zh-CN" altLang="en-US" sz="2000"/>
              <a:t>延迟输出</a:t>
            </a:r>
            <a:r>
              <a:rPr lang="en-US" altLang="zh-CN" sz="2000"/>
              <a:t>,</a:t>
            </a:r>
            <a:r>
              <a:rPr lang="zh-CN" altLang="en-US" sz="2000"/>
              <a:t>确保记录的是代码执行后的变量状态</a:t>
            </a:r>
            <a:endParaRPr lang="zh-CN" altLang="en-US" sz="2000"/>
          </a:p>
          <a:p>
            <a:pPr lvl="1" indent="0">
              <a:lnSpc>
                <a:spcPct val="160000"/>
              </a:lnSpc>
            </a:pPr>
            <a:r>
              <a:rPr lang="en-US" altLang="zh-CN" sz="2000"/>
              <a:t>Step3:bat</a:t>
            </a:r>
            <a:r>
              <a:rPr lang="zh-CN" altLang="en-US" sz="2000" b="1"/>
              <a:t>脚本自动化</a:t>
            </a:r>
            <a:r>
              <a:rPr lang="zh-CN" altLang="en-US" sz="2000"/>
              <a:t>执行</a:t>
            </a:r>
            <a:endParaRPr lang="zh-CN" altLang="en-US" sz="2000"/>
          </a:p>
          <a:p>
            <a:pPr lvl="2" indent="0">
              <a:lnSpc>
                <a:spcPct val="160000"/>
              </a:lnSpc>
            </a:pPr>
            <a:r>
              <a:rPr lang="en-US" altLang="zh-CN" sz="2000"/>
              <a:t>&gt; python trace_python.py test.py</a:t>
            </a:r>
            <a:endParaRPr lang="en-US" altLang="zh-CN" sz="2000"/>
          </a:p>
          <a:p>
            <a:pPr lvl="2" indent="0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zh-CN" altLang="en-US" sz="2000"/>
              <a:t>自动执行追踪并生成</a:t>
            </a:r>
            <a:r>
              <a:rPr lang="en-US" altLang="zh-CN" sz="2000"/>
              <a:t>output.txt</a:t>
            </a:r>
            <a:endParaRPr lang="en-US" altLang="zh-CN" sz="2000"/>
          </a:p>
          <a:p>
            <a:pPr lvl="1" indent="0">
              <a:lnSpc>
                <a:spcPct val="160000"/>
              </a:lnSpc>
            </a:pPr>
            <a:r>
              <a:rPr lang="en-US" altLang="zh-CN" sz="2000"/>
              <a:t>Step4:</a:t>
            </a:r>
            <a:r>
              <a:rPr lang="zh-CN" altLang="en-US" sz="2000" b="1"/>
              <a:t>输出格式化</a:t>
            </a:r>
            <a:r>
              <a:rPr lang="zh-CN" altLang="en-US" sz="2000"/>
              <a:t>结果</a:t>
            </a:r>
            <a:endParaRPr lang="zh-CN" altLang="en-US" sz="2000"/>
          </a:p>
          <a:p>
            <a:pPr lvl="1" indent="457200">
              <a:lnSpc>
                <a:spcPct val="160000"/>
              </a:lnSpc>
            </a:pPr>
            <a:r>
              <a:rPr lang="en-US" altLang="zh-CN" sz="2000"/>
              <a:t>&gt; </a:t>
            </a:r>
            <a:r>
              <a:rPr lang="zh-CN" altLang="en-US" sz="2000"/>
              <a:t>最终得到运行流</a:t>
            </a:r>
            <a:r>
              <a:rPr lang="en-US" altLang="zh-CN" sz="2000"/>
              <a:t>:</a:t>
            </a:r>
            <a:r>
              <a:rPr lang="zh-CN" altLang="en-US" sz="2000"/>
              <a:t>行号</a:t>
            </a:r>
            <a:r>
              <a:rPr lang="en-US" altLang="zh-CN" sz="2000"/>
              <a:t> </a:t>
            </a:r>
            <a:r>
              <a:rPr lang="zh-CN" altLang="en-US" sz="2000"/>
              <a:t>该行语句</a:t>
            </a:r>
            <a:r>
              <a:rPr lang="en-US" altLang="zh-CN" sz="2000"/>
              <a:t> \n </a:t>
            </a:r>
            <a:r>
              <a:rPr lang="zh-CN" altLang="en-US" sz="2000"/>
              <a:t>行号</a:t>
            </a:r>
            <a:r>
              <a:rPr lang="en-US" altLang="zh-CN" sz="2000"/>
              <a:t> [</a:t>
            </a:r>
            <a:r>
              <a:rPr lang="zh-CN" altLang="en-US" sz="2000"/>
              <a:t>变量名列表</a:t>
            </a:r>
            <a:r>
              <a:rPr lang="en-US" altLang="zh-CN" sz="2000"/>
              <a:t>] [</a:t>
            </a:r>
            <a:r>
              <a:rPr lang="zh-CN" altLang="en-US" sz="2000"/>
              <a:t>变量值列表</a:t>
            </a:r>
            <a:r>
              <a:rPr lang="en-US" altLang="zh-CN" sz="2000"/>
              <a:t>]</a:t>
            </a:r>
            <a:endParaRPr lang="en-US" altLang="zh-CN" sz="20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514330" y="5384800"/>
            <a:ext cx="1467485" cy="1332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9251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三、分享：如何自动化地得到</a:t>
            </a:r>
            <a:r>
              <a:rPr lang="en-US" altLang="zh-CN" sz="2400" dirty="0"/>
              <a:t>python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 sys.settrace()</a:t>
            </a:r>
            <a:endParaRPr lang="en-US" alt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67335" y="101536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简单例子：赋值、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35" y="1943100"/>
            <a:ext cx="5100955" cy="3286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05" y="1085850"/>
            <a:ext cx="3669030" cy="5918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305" y="1943100"/>
            <a:ext cx="5831840" cy="3669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9251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三、分享：如何自动化地得到</a:t>
            </a:r>
            <a:r>
              <a:rPr lang="en-US" altLang="zh-CN" sz="2400" dirty="0"/>
              <a:t>python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 sys.settrace()</a:t>
            </a:r>
            <a:endParaRPr lang="en-US" alt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67335" y="101536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简单例子：赋值、</a:t>
            </a:r>
            <a:r>
              <a:rPr lang="zh-CN" altLang="en-US"/>
              <a:t>循环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35" y="1943100"/>
            <a:ext cx="5100955" cy="32867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855" y="898525"/>
            <a:ext cx="5775325" cy="58648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92519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三、分享：如何自动化地得到</a:t>
            </a:r>
            <a:r>
              <a:rPr lang="en-US" altLang="zh-CN" sz="2400" dirty="0"/>
              <a:t>python</a:t>
            </a:r>
            <a:r>
              <a:rPr lang="zh-CN" altLang="en-US" sz="2400" dirty="0"/>
              <a:t>文件的运行流</a:t>
            </a:r>
            <a:r>
              <a:rPr lang="en-US" altLang="zh-CN" sz="2400" dirty="0"/>
              <a:t>—— sys.settrace()</a:t>
            </a:r>
            <a:endParaRPr lang="en-US" alt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45110" y="62801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复杂例子：</a:t>
            </a:r>
            <a:r>
              <a:rPr lang="en-US" altLang="zh-CN"/>
              <a:t>case121</a:t>
            </a:r>
            <a:r>
              <a:rPr lang="zh-CN" altLang="en-US"/>
              <a:t>，难度</a:t>
            </a:r>
            <a:r>
              <a:rPr lang="en-US" altLang="zh-CN"/>
              <a:t>3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1148080"/>
            <a:ext cx="4963160" cy="5656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180" y="1675765"/>
            <a:ext cx="5824855" cy="4747260"/>
          </a:xfrm>
          <a:prstGeom prst="rect">
            <a:avLst/>
          </a:prstGeom>
        </p:spPr>
      </p:pic>
      <p:pic>
        <p:nvPicPr>
          <p:cNvPr id="7" name="图片 6" descr="边框向右双箭头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750" y="2938780"/>
            <a:ext cx="1187450" cy="11861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四、分享：从程序执行轨迹自动生成逆向推理链</a:t>
            </a:r>
            <a:endParaRPr 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820420" y="1168400"/>
            <a:ext cx="9816465" cy="47974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en-US" altLang="zh-CN"/>
              <a:t>Step1</a:t>
            </a:r>
            <a:r>
              <a:rPr lang="zh-CN" altLang="en-US"/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准备输入数据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>
                <a:effectLst/>
              </a:rPr>
              <a:t>case.json+trace_var.txt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en-US" altLang="zh-CN"/>
              <a:t>Step2</a:t>
            </a:r>
            <a:r>
              <a:rPr lang="zh-CN" altLang="en-US"/>
              <a:t>：构造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提示词</a:t>
            </a:r>
            <a:endParaRPr lang="zh-CN" altLang="en-US"/>
          </a:p>
          <a:p>
            <a:pPr lvl="1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提供题目信息（代码、描述、目标答案）</a:t>
            </a:r>
            <a:r>
              <a:rPr lang="en-US" altLang="zh-CN"/>
              <a:t>+ </a:t>
            </a:r>
            <a:r>
              <a:rPr lang="zh-CN" altLang="en-US"/>
              <a:t>提供完整执行轨迹</a:t>
            </a:r>
            <a:endParaRPr lang="zh-CN" altLang="en-US"/>
          </a:p>
          <a:p>
            <a:pPr lvl="1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给出需求与预期</a:t>
            </a:r>
            <a:r>
              <a:rPr lang="zh-CN" altLang="en-US"/>
              <a:t>格式</a:t>
            </a:r>
            <a:endParaRPr lang="zh-CN" altLang="en-US"/>
          </a:p>
          <a:p>
            <a:pPr lvl="1" indent="457200">
              <a:lnSpc>
                <a:spcPct val="170000"/>
              </a:lnSpc>
            </a:pPr>
            <a:r>
              <a:rPr lang="en-US" altLang="zh-CN" b="1"/>
              <a:t>Target</a:t>
            </a:r>
            <a:r>
              <a:rPr lang="en-US" altLang="zh-CN"/>
              <a:t>: variable@LineNumber = value</a:t>
            </a:r>
            <a:r>
              <a:rPr lang="zh-CN" altLang="en-US"/>
              <a:t>（明确推理目标）</a:t>
            </a:r>
            <a:endParaRPr lang="zh-CN" altLang="en-US"/>
          </a:p>
          <a:p>
            <a:pPr lvl="1" indent="457200">
              <a:lnSpc>
                <a:spcPct val="170000"/>
              </a:lnSpc>
            </a:pPr>
            <a:r>
              <a:rPr lang="en-US" altLang="zh-CN" b="1"/>
              <a:t>Backward trace</a:t>
            </a:r>
            <a:r>
              <a:rPr lang="en-US" altLang="zh-CN"/>
              <a:t>:</a:t>
            </a:r>
            <a:r>
              <a:rPr lang="zh-CN" altLang="en-US"/>
              <a:t>逆向步骤列表（从目标行回溯到初始状态）</a:t>
            </a:r>
            <a:endParaRPr lang="zh-CN" altLang="en-US"/>
          </a:p>
          <a:p>
            <a:pPr lvl="1" indent="457200">
              <a:lnSpc>
                <a:spcPct val="170000"/>
              </a:lnSpc>
            </a:pPr>
            <a:r>
              <a:rPr lang="en-US" altLang="zh-CN" b="1"/>
              <a:t>Critical dependencies</a:t>
            </a:r>
            <a:r>
              <a:rPr lang="en-US" altLang="zh-CN"/>
              <a:t>:</a:t>
            </a:r>
            <a:r>
              <a:rPr lang="zh-CN" altLang="en-US"/>
              <a:t>关键依赖总结（控制流、数据依赖、状态转换）</a:t>
            </a:r>
            <a:endParaRPr lang="zh-CN" altLang="en-US"/>
          </a:p>
          <a:p>
            <a:pPr marL="0" lvl="0" indent="0">
              <a:lnSpc>
                <a:spcPct val="170000"/>
              </a:lnSpc>
            </a:pPr>
            <a:r>
              <a:rPr lang="en-US" altLang="zh-CN"/>
              <a:t>Step3</a:t>
            </a:r>
            <a:r>
              <a:rPr lang="zh-CN" altLang="en-US"/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CoT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457200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温度参数：</a:t>
            </a:r>
            <a:r>
              <a:rPr lang="en-US" altLang="zh-CN"/>
              <a:t>0.3</a:t>
            </a:r>
            <a:r>
              <a:rPr lang="zh-CN" altLang="en-US"/>
              <a:t>（确保稳定输出）</a:t>
            </a:r>
            <a:endParaRPr lang="zh-CN" altLang="en-US"/>
          </a:p>
          <a:p>
            <a:pPr marL="0" lvl="0" indent="457200">
              <a:lnSpc>
                <a:spcPct val="170000"/>
              </a:lnSpc>
            </a:pPr>
            <a:r>
              <a:rPr lang="en-US" altLang="zh-CN"/>
              <a:t>&gt; </a:t>
            </a:r>
            <a:r>
              <a:rPr lang="zh-CN" altLang="en-US"/>
              <a:t>提取响应中的</a:t>
            </a:r>
            <a:r>
              <a:rPr lang="en-US" altLang="zh-CN"/>
              <a:t>CoT</a:t>
            </a:r>
            <a:r>
              <a:rPr lang="zh-CN" altLang="en-US"/>
              <a:t>文本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4030" y="133350"/>
            <a:ext cx="3886835" cy="21990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12740" y="4850765"/>
            <a:ext cx="58750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人工做一个倒过来的数据流分析（更可靠）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每一行记用了哪些变量、定义了哪些变量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en-US" altLang="zh-CN">
                <a:solidFill>
                  <a:srgbClr val="C00000"/>
                </a:solidFill>
              </a:rPr>
              <a:t>1. </a:t>
            </a:r>
            <a:r>
              <a:rPr lang="zh-CN" altLang="en-US">
                <a:solidFill>
                  <a:srgbClr val="C00000"/>
                </a:solidFill>
              </a:rPr>
              <a:t>逆向</a:t>
            </a:r>
            <a:r>
              <a:rPr lang="zh-CN" altLang="en-US">
                <a:solidFill>
                  <a:srgbClr val="C00000"/>
                </a:solidFill>
              </a:rPr>
              <a:t>逐句维护关心变量列表，依次去掉一些不相干</a:t>
            </a:r>
            <a:r>
              <a:rPr lang="zh-CN" altLang="en-US">
                <a:solidFill>
                  <a:srgbClr val="C00000"/>
                </a:solidFill>
              </a:rPr>
              <a:t>定义语句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en-US" altLang="zh-CN">
                <a:solidFill>
                  <a:srgbClr val="C00000"/>
                </a:solidFill>
              </a:rPr>
              <a:t>2. </a:t>
            </a:r>
            <a:r>
              <a:rPr lang="zh-CN" altLang="en-US">
                <a:solidFill>
                  <a:srgbClr val="C00000"/>
                </a:solidFill>
              </a:rPr>
              <a:t>对留下来的每一句语句做</a:t>
            </a:r>
            <a:r>
              <a:rPr lang="zh-CN" altLang="en-US">
                <a:solidFill>
                  <a:srgbClr val="C00000"/>
                </a:solidFill>
              </a:rPr>
              <a:t>阐释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在</a:t>
            </a:r>
            <a:r>
              <a:rPr lang="en-US" altLang="zh-CN">
                <a:solidFill>
                  <a:srgbClr val="C00000"/>
                </a:solidFill>
              </a:rPr>
              <a:t>python</a:t>
            </a:r>
            <a:r>
              <a:rPr lang="zh-CN" altLang="en-US">
                <a:solidFill>
                  <a:srgbClr val="C00000"/>
                </a:solidFill>
              </a:rPr>
              <a:t>做一遍这个</a:t>
            </a:r>
            <a:r>
              <a:rPr lang="zh-CN" altLang="en-US">
                <a:solidFill>
                  <a:srgbClr val="C00000"/>
                </a:solidFill>
              </a:rPr>
              <a:t>流程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（</a:t>
            </a:r>
            <a:r>
              <a:rPr lang="en-US" altLang="zh-CN">
                <a:solidFill>
                  <a:srgbClr val="C00000"/>
                </a:solidFill>
              </a:rPr>
              <a:t>todo</a:t>
            </a:r>
            <a:r>
              <a:rPr lang="zh-CN" altLang="en-US">
                <a:solidFill>
                  <a:srgbClr val="C00000"/>
                </a:solidFill>
              </a:rPr>
              <a:t>）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225227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四、分享：从程序执行轨迹自动生成逆向推理链</a:t>
            </a:r>
            <a:endParaRPr 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45110" y="62801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复杂例子：</a:t>
            </a:r>
            <a:r>
              <a:rPr lang="en-US" altLang="zh-CN"/>
              <a:t>case121</a:t>
            </a:r>
            <a:r>
              <a:rPr lang="zh-CN" altLang="en-US"/>
              <a:t>，难度</a:t>
            </a:r>
            <a:r>
              <a:rPr lang="en-US" altLang="zh-CN"/>
              <a:t>3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1148080"/>
            <a:ext cx="4963160" cy="5656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25" y="824230"/>
            <a:ext cx="5751830" cy="5904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225227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四、分享：从程序执行轨迹自动生成逆向推理链</a:t>
            </a:r>
            <a:endParaRPr lang="zh-CN" sz="2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245110" y="62801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复杂例子：</a:t>
            </a:r>
            <a:r>
              <a:rPr lang="en-US" altLang="zh-CN"/>
              <a:t>case121</a:t>
            </a:r>
            <a:r>
              <a:rPr lang="zh-CN" altLang="en-US"/>
              <a:t>，难度</a:t>
            </a:r>
            <a:r>
              <a:rPr lang="en-US" altLang="zh-CN"/>
              <a:t>3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" y="1148080"/>
            <a:ext cx="4963160" cy="56565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685800"/>
            <a:ext cx="6121400" cy="6015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225227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四、分享：从程序执行轨迹自动生成逆向推理链</a:t>
            </a:r>
            <a:endParaRPr 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51460" y="72580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复杂例子：</a:t>
            </a:r>
            <a:r>
              <a:rPr lang="en-US" altLang="zh-CN"/>
              <a:t>case 37</a:t>
            </a:r>
            <a:r>
              <a:rPr lang="zh-CN" altLang="en-US"/>
              <a:t>，难度</a:t>
            </a:r>
            <a:r>
              <a:rPr lang="en-US" altLang="zh-CN"/>
              <a:t>3 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9743" t="28023" r="18514"/>
          <a:stretch>
            <a:fillRect/>
          </a:stretch>
        </p:blipFill>
        <p:spPr>
          <a:xfrm>
            <a:off x="121285" y="1326515"/>
            <a:ext cx="5832475" cy="54057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60" y="963930"/>
            <a:ext cx="5913755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225227"/>
            <a:ext cx="6583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四、分享：从程序执行轨迹自动生成逆向推理链</a:t>
            </a:r>
            <a:endParaRPr 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51460" y="725805"/>
            <a:ext cx="7900670" cy="5619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70000"/>
              </a:lnSpc>
            </a:pPr>
            <a:r>
              <a:rPr lang="zh-CN" altLang="en-US"/>
              <a:t>复杂例子：</a:t>
            </a:r>
            <a:r>
              <a:rPr lang="en-US" altLang="zh-CN"/>
              <a:t>case 37</a:t>
            </a:r>
            <a:r>
              <a:rPr lang="zh-CN" altLang="en-US"/>
              <a:t>，难度</a:t>
            </a:r>
            <a:r>
              <a:rPr lang="en-US" altLang="zh-CN"/>
              <a:t>3 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9743" t="28023" r="18514"/>
          <a:stretch>
            <a:fillRect/>
          </a:stretch>
        </p:blipFill>
        <p:spPr>
          <a:xfrm>
            <a:off x="121285" y="1326515"/>
            <a:ext cx="5832475" cy="54057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982345"/>
            <a:ext cx="5745480" cy="55848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5.xml><?xml version="1.0" encoding="utf-8"?>
<p:tagLst xmlns:p="http://schemas.openxmlformats.org/presentationml/2006/main">
  <p:tag name="resource_record_key" val="{&quot;10&quot;:[20179637,2021166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4034</Words>
  <Application>WPS 演示</Application>
  <PresentationFormat>宽屏</PresentationFormat>
  <Paragraphs>244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华文彩云</vt:lpstr>
      <vt:lpstr>方正舒体</vt:lpstr>
      <vt:lpstr>MingLiU-ExtB</vt:lpstr>
      <vt:lpstr>Microsoft YaHei UI</vt:lpstr>
      <vt:lpstr>Noto Sans SC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44</cp:revision>
  <dcterms:created xsi:type="dcterms:W3CDTF">2025-10-01T20:32:00Z</dcterms:created>
  <dcterms:modified xsi:type="dcterms:W3CDTF">2025-10-24T18:58:42Z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143F50542AF94886949BF5623D0CD644_13</vt:lpwstr>
  </property>
  <property fmtid="{D5CDD505-2E9C-101B-9397-08002B2CF9AE}" pid="3" name="KSOProductBuildVer">
    <vt:lpwstr>2052-12.1.0.19302</vt:lpwstr>
  </property>
</Properties>
</file>