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7" r:id="rId3"/>
    <p:sldId id="327" r:id="rId4"/>
    <p:sldId id="265" r:id="rId5"/>
    <p:sldId id="277" r:id="rId6"/>
    <p:sldId id="315" r:id="rId7"/>
    <p:sldId id="326" r:id="rId8"/>
    <p:sldId id="279" r:id="rId9"/>
    <p:sldId id="316" r:id="rId10"/>
    <p:sldId id="318" r:id="rId11"/>
    <p:sldId id="317" r:id="rId12"/>
    <p:sldId id="319" r:id="rId13"/>
    <p:sldId id="320" r:id="rId14"/>
    <p:sldId id="321" r:id="rId15"/>
    <p:sldId id="323" r:id="rId16"/>
    <p:sldId id="324" r:id="rId17"/>
    <p:sldId id="325" r:id="rId18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2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25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4.svg"/><Relationship Id="rId15" Type="http://schemas.openxmlformats.org/officeDocument/2006/relationships/image" Target="../media/image3.png"/><Relationship Id="rId14" Type="http://schemas.openxmlformats.org/officeDocument/2006/relationships/image" Target="../media/image2.svg"/><Relationship Id="rId13" Type="http://schemas.openxmlformats.org/officeDocument/2006/relationships/image" Target="../media/image1.png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98868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上周回顾：2025</a:t>
            </a:r>
            <a:r>
              <a:rPr lang="en-US" altLang="zh-CN" sz="3200" dirty="0"/>
              <a:t>1023</a:t>
            </a:r>
            <a:r>
              <a:rPr lang="zh-CN" altLang="en-US" sz="3200" dirty="0"/>
              <a:t> 会议纪要 </a:t>
            </a:r>
            <a:r>
              <a:rPr lang="en-US" altLang="zh-CN" sz="3200" dirty="0"/>
              <a:t>4</a:t>
            </a:r>
            <a:endParaRPr lang="en-US" altLang="zh-CN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373380" y="941070"/>
            <a:ext cx="11605260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1. </a:t>
            </a:r>
            <a:r>
              <a:rPr lang="zh-CN" altLang="en-US" sz="2000" dirty="0"/>
              <a:t>分享了目前代码执行流记录生成情况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2. </a:t>
            </a:r>
            <a:r>
              <a:rPr lang="zh-CN" altLang="en-US" sz="2000" dirty="0"/>
              <a:t>分享了执行流生成</a:t>
            </a:r>
            <a:r>
              <a:rPr lang="en-US" altLang="zh-CN" sz="2000" dirty="0"/>
              <a:t>cot</a:t>
            </a:r>
            <a:r>
              <a:rPr lang="zh-CN" altLang="en-US" sz="2000" dirty="0"/>
              <a:t>的进展，目前这块仍有缺陷，预期是需要人工做一个倒过来的数据流分析（逆向逐句维护关心变量列表，依次去掉一些不相干定义语句，对留下来的每一句语句做阐释）针对</a:t>
            </a:r>
            <a:r>
              <a:rPr lang="en-US" altLang="zh-CN" sz="2000" dirty="0"/>
              <a:t>python</a:t>
            </a:r>
            <a:r>
              <a:rPr lang="zh-CN" altLang="en-US" sz="2000" dirty="0"/>
              <a:t>展开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3. </a:t>
            </a:r>
            <a:r>
              <a:rPr lang="zh-CN" altLang="en-US" sz="2000" dirty="0"/>
              <a:t>分享并确定了</a:t>
            </a:r>
            <a:r>
              <a:rPr lang="en-US" altLang="zh-CN" sz="2000" dirty="0"/>
              <a:t>secvuleval</a:t>
            </a:r>
            <a:r>
              <a:rPr lang="zh-CN" altLang="en-US" sz="2000" dirty="0"/>
              <a:t>、</a:t>
            </a:r>
            <a:r>
              <a:rPr lang="en-US" altLang="zh-CN" sz="2000" dirty="0"/>
              <a:t>codexGlue</a:t>
            </a:r>
            <a:r>
              <a:rPr lang="zh-CN" altLang="en-US" sz="2000" dirty="0"/>
              <a:t>、</a:t>
            </a:r>
            <a:r>
              <a:rPr lang="en-US" altLang="zh-CN" sz="2000" dirty="0"/>
              <a:t>livecodebench</a:t>
            </a:r>
            <a:r>
              <a:rPr lang="zh-CN" altLang="en-US" sz="2000" dirty="0"/>
              <a:t>和</a:t>
            </a:r>
            <a:r>
              <a:rPr lang="en-US" altLang="zh-CN" sz="2000" dirty="0"/>
              <a:t>SURGE</a:t>
            </a:r>
            <a:r>
              <a:rPr lang="zh-CN" altLang="en-US" sz="2000" dirty="0"/>
              <a:t>中的可用数据，将所有可用代码推理数据集整理成文档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4. </a:t>
            </a:r>
            <a:r>
              <a:rPr lang="zh-CN" altLang="en-US" sz="2000" dirty="0"/>
              <a:t>跟进目前</a:t>
            </a:r>
            <a:r>
              <a:rPr lang="en-US" altLang="zh-CN" sz="2000" dirty="0"/>
              <a:t>hpt</a:t>
            </a:r>
            <a:r>
              <a:rPr lang="zh-CN" altLang="en-US" sz="2000" dirty="0"/>
              <a:t>运行进度，多用一些数据</a:t>
            </a:r>
            <a:r>
              <a:rPr lang="en-US" altLang="zh-CN" sz="2000" dirty="0"/>
              <a:t>(CodeSense+cy)</a:t>
            </a:r>
            <a:r>
              <a:rPr lang="zh-CN" altLang="en-US" sz="2000" dirty="0"/>
              <a:t>进行</a:t>
            </a:r>
            <a:r>
              <a:rPr lang="en-US" altLang="zh-CN" sz="2000" dirty="0"/>
              <a:t>lora</a:t>
            </a:r>
            <a:r>
              <a:rPr lang="zh-CN" altLang="en-US" sz="2000" dirty="0"/>
              <a:t>微调，并跑通所有评估流程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5. </a:t>
            </a:r>
            <a:r>
              <a:rPr lang="zh-CN" altLang="en-US" sz="2000" dirty="0"/>
              <a:t>规定后续会议形式，需要每一个事项都列出总结与结论；并且每人上限半小时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本周</a:t>
            </a:r>
            <a:r>
              <a:rPr lang="zh-CN" altLang="en-US" sz="3200" dirty="0"/>
              <a:t>会议纪要</a:t>
            </a:r>
            <a:endParaRPr lang="zh-CN" alt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373380" y="941070"/>
            <a:ext cx="11605260" cy="486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ym typeface="+mn-ea"/>
              </a:rPr>
              <a:t>2025</a:t>
            </a:r>
            <a:r>
              <a:rPr lang="en-US" altLang="zh-CN" sz="2000" dirty="0">
                <a:sym typeface="+mn-ea"/>
              </a:rPr>
              <a:t>1031</a:t>
            </a:r>
            <a:r>
              <a:rPr lang="zh-CN" altLang="en-US" sz="2000" dirty="0">
                <a:sym typeface="+mn-ea"/>
              </a:rPr>
              <a:t> 会议纪要 </a:t>
            </a:r>
            <a:r>
              <a:rPr lang="en-US" altLang="zh-CN" sz="2000" dirty="0">
                <a:sym typeface="+mn-ea"/>
              </a:rPr>
              <a:t>5</a:t>
            </a:r>
            <a:endParaRPr lang="en-US" sz="2000" dirty="0"/>
          </a:p>
          <a:p>
            <a:pPr>
              <a:lnSpc>
                <a:spcPct val="200000"/>
              </a:lnSpc>
            </a:pPr>
            <a:r>
              <a:rPr lang="en-US" sz="2000" dirty="0"/>
              <a:t>1. </a:t>
            </a:r>
            <a:r>
              <a:rPr lang="zh-CN" altLang="en-US" sz="2000" dirty="0"/>
              <a:t>分享了</a:t>
            </a:r>
            <a:r>
              <a:rPr lang="en-US" altLang="zh-CN" sz="2000" dirty="0"/>
              <a:t>cot</a:t>
            </a:r>
            <a:r>
              <a:rPr lang="zh-CN" altLang="en-US" sz="2000" dirty="0"/>
              <a:t>生成优化技术：</a:t>
            </a:r>
            <a:r>
              <a:rPr lang="zh-CN" altLang="en-US" sz="2000">
                <a:sym typeface="+mn-ea"/>
              </a:rPr>
              <a:t>完成了去</a:t>
            </a:r>
            <a:r>
              <a:rPr lang="en-US" altLang="zh-CN" sz="2000">
                <a:sym typeface="+mn-ea"/>
              </a:rPr>
              <a:t>ai</a:t>
            </a:r>
            <a:r>
              <a:rPr lang="zh-CN" altLang="en-US" sz="2000">
                <a:sym typeface="+mn-ea"/>
              </a:rPr>
              <a:t>依赖的剪枝与模板化</a:t>
            </a:r>
            <a:r>
              <a:rPr lang="en-US" altLang="zh-CN" sz="2000">
                <a:sym typeface="+mn-ea"/>
              </a:rPr>
              <a:t>cot</a:t>
            </a:r>
            <a:r>
              <a:rPr lang="zh-CN" altLang="en-US" sz="2000">
                <a:sym typeface="+mn-ea"/>
              </a:rPr>
              <a:t>生成框架，分享了它的三步走流程与核心算法</a:t>
            </a:r>
            <a:r>
              <a:rPr lang="en-US" altLang="zh-CN" sz="2000">
                <a:sym typeface="+mn-ea"/>
              </a:rPr>
              <a:t>——</a:t>
            </a:r>
            <a:r>
              <a:rPr lang="zh-CN" altLang="en-US" sz="2000">
                <a:solidFill>
                  <a:schemeClr val="accent5">
                    <a:lumMod val="75000"/>
                  </a:schemeClr>
                </a:solidFill>
                <a:sym typeface="+mn-ea"/>
              </a:rPr>
              <a:t>智能回溯剪枝算法</a:t>
            </a:r>
            <a:r>
              <a:rPr lang="zh-CN" altLang="en-US" sz="2000">
                <a:sym typeface="+mn-ea"/>
              </a:rPr>
              <a:t>与</a:t>
            </a:r>
            <a:r>
              <a:rPr lang="zh-CN" altLang="en-US" sz="2000">
                <a:solidFill>
                  <a:schemeClr val="accent5">
                    <a:lumMod val="75000"/>
                  </a:schemeClr>
                </a:solidFill>
                <a:sym typeface="+mn-ea"/>
              </a:rPr>
              <a:t>模板化</a:t>
            </a:r>
            <a:r>
              <a:rPr lang="en-US" altLang="zh-CN" sz="2000">
                <a:solidFill>
                  <a:schemeClr val="accent5">
                    <a:lumMod val="75000"/>
                  </a:schemeClr>
                </a:solidFill>
                <a:sym typeface="+mn-ea"/>
              </a:rPr>
              <a:t>COT</a:t>
            </a:r>
            <a:r>
              <a:rPr lang="zh-CN" altLang="en-US" sz="2000">
                <a:solidFill>
                  <a:schemeClr val="accent5">
                    <a:lumMod val="75000"/>
                  </a:schemeClr>
                </a:solidFill>
                <a:sym typeface="+mn-ea"/>
              </a:rPr>
              <a:t>生成算法，</a:t>
            </a:r>
            <a:r>
              <a:rPr lang="zh-CN" altLang="en-US" sz="2000">
                <a:sym typeface="+mn-ea"/>
              </a:rPr>
              <a:t>并且在</a:t>
            </a:r>
            <a:r>
              <a:rPr lang="en-US" altLang="zh-CN" sz="2000">
                <a:sym typeface="+mn-ea"/>
              </a:rPr>
              <a:t>10</a:t>
            </a:r>
            <a:r>
              <a:rPr lang="zh-CN" altLang="en-US" sz="2000">
                <a:sym typeface="+mn-ea"/>
              </a:rPr>
              <a:t>种情况的测试例中验证了正确性</a:t>
            </a:r>
            <a:endParaRPr lang="zh-CN" altLang="en-US" sz="20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000">
                <a:sym typeface="+mn-ea"/>
              </a:rPr>
              <a:t>2. </a:t>
            </a:r>
            <a:r>
              <a:rPr lang="zh-CN" altLang="en-US" sz="2000">
                <a:sym typeface="+mn-ea"/>
              </a:rPr>
              <a:t>尝试将正确答案连同代码一同丢进提示词中进行微调，并进行评估：在</a:t>
            </a:r>
            <a:r>
              <a:rPr lang="en-US" altLang="zh-CN" sz="2000">
                <a:sym typeface="+mn-ea"/>
              </a:rPr>
              <a:t>CRUXEval</a:t>
            </a:r>
            <a:r>
              <a:rPr lang="zh-CN" altLang="en-US" sz="2000">
                <a:sym typeface="+mn-ea"/>
              </a:rPr>
              <a:t>上的提升高达</a:t>
            </a:r>
            <a:r>
              <a:rPr lang="en-US" altLang="zh-CN" sz="2000">
                <a:sym typeface="+mn-ea"/>
              </a:rPr>
              <a:t>30%</a:t>
            </a:r>
            <a:endParaRPr lang="en-US" altLang="zh-CN" sz="20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000">
                <a:sym typeface="+mn-ea"/>
              </a:rPr>
              <a:t>3. </a:t>
            </a:r>
            <a:r>
              <a:rPr lang="zh-CN" altLang="en-US" sz="2000">
                <a:sym typeface="+mn-ea"/>
              </a:rPr>
              <a:t>后续规划简化优化最后一步</a:t>
            </a:r>
            <a:r>
              <a:rPr lang="en-US" altLang="zh-CN" sz="2000">
                <a:sym typeface="+mn-ea"/>
              </a:rPr>
              <a:t>cot</a:t>
            </a:r>
            <a:r>
              <a:rPr lang="zh-CN" altLang="en-US" sz="2000">
                <a:sym typeface="+mn-ea"/>
              </a:rPr>
              <a:t>组织细节，并优化一些边缘情况的处理如</a:t>
            </a:r>
            <a:r>
              <a:rPr lang="en-US" altLang="zh-CN" sz="2000">
                <a:sym typeface="+mn-ea"/>
              </a:rPr>
              <a:t>s.a.b</a:t>
            </a:r>
            <a:r>
              <a:rPr lang="zh-CN" altLang="en-US" sz="2000">
                <a:sym typeface="+mn-ea"/>
              </a:rPr>
              <a:t>等情况，以及增加</a:t>
            </a:r>
            <a:r>
              <a:rPr lang="en-US" altLang="zh-CN" sz="2000">
                <a:sym typeface="+mn-ea"/>
              </a:rPr>
              <a:t>forward / backward</a:t>
            </a:r>
            <a:r>
              <a:rPr lang="zh-CN" altLang="en-US" sz="2000">
                <a:sym typeface="+mn-ea"/>
              </a:rPr>
              <a:t>的</a:t>
            </a:r>
            <a:r>
              <a:rPr lang="en-US" altLang="zh-CN" sz="2000">
                <a:sym typeface="+mn-ea"/>
              </a:rPr>
              <a:t>cot</a:t>
            </a:r>
            <a:r>
              <a:rPr lang="zh-CN" altLang="en-US" sz="2000">
                <a:sym typeface="+mn-ea"/>
              </a:rPr>
              <a:t>形式</a:t>
            </a:r>
            <a:endParaRPr lang="en-US" altLang="zh-CN" sz="20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000">
                <a:sym typeface="+mn-ea"/>
              </a:rPr>
              <a:t>4. </a:t>
            </a:r>
            <a:r>
              <a:rPr lang="zh-CN" altLang="en-US" sz="2000">
                <a:sym typeface="+mn-ea"/>
              </a:rPr>
              <a:t>后续规划产出第一批带高质量</a:t>
            </a:r>
            <a:r>
              <a:rPr lang="en-US" altLang="zh-CN" sz="2000">
                <a:sym typeface="+mn-ea"/>
              </a:rPr>
              <a:t>cot</a:t>
            </a:r>
            <a:r>
              <a:rPr lang="zh-CN" altLang="en-US" sz="2000">
                <a:sym typeface="+mn-ea"/>
              </a:rPr>
              <a:t>的</a:t>
            </a:r>
            <a:r>
              <a:rPr lang="en-US" altLang="zh-CN" sz="2000">
                <a:sym typeface="+mn-ea"/>
              </a:rPr>
              <a:t>python</a:t>
            </a:r>
            <a:r>
              <a:rPr lang="zh-CN" altLang="en-US" sz="2000">
                <a:sym typeface="+mn-ea"/>
              </a:rPr>
              <a:t>数据集</a:t>
            </a:r>
            <a:endParaRPr lang="zh-CN" altLang="en-US" sz="20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/>
              <a:t>5. </a:t>
            </a:r>
            <a:r>
              <a:rPr lang="zh-CN" altLang="en-US" sz="2000" dirty="0"/>
              <a:t>后续生成较为系统的实验</a:t>
            </a:r>
            <a:r>
              <a:rPr lang="zh-CN" altLang="en-US" sz="2000" dirty="0"/>
              <a:t>方案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3535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一、回顾：</a:t>
            </a:r>
            <a:r>
              <a:rPr lang="zh-CN" altLang="en-US" sz="2400" dirty="0"/>
              <a:t>往期工作</a:t>
            </a:r>
            <a:r>
              <a:rPr lang="zh-CN" altLang="en-US" sz="2400" dirty="0"/>
              <a:t>速览</a:t>
            </a:r>
            <a:endParaRPr lang="zh-CN" altLang="en-US" sz="2400" dirty="0"/>
          </a:p>
        </p:txBody>
      </p:sp>
      <p:grpSp>
        <p:nvGrpSpPr>
          <p:cNvPr id="3" name="组合 2"/>
          <p:cNvGrpSpPr/>
          <p:nvPr/>
        </p:nvGrpSpPr>
        <p:grpSpPr>
          <a:xfrm>
            <a:off x="2437765" y="1303655"/>
            <a:ext cx="9531350" cy="4510405"/>
            <a:chOff x="943" y="1957"/>
            <a:chExt cx="17302" cy="7130"/>
          </a:xfrm>
        </p:grpSpPr>
        <p:sp>
          <p:nvSpPr>
            <p:cNvPr id="5" name="文本框 4"/>
            <p:cNvSpPr txBox="1"/>
            <p:nvPr/>
          </p:nvSpPr>
          <p:spPr>
            <a:xfrm>
              <a:off x="10133" y="4059"/>
              <a:ext cx="2826" cy="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40000"/>
                </a:lnSpc>
              </a:pPr>
              <a:r>
                <a:rPr lang="zh-CN" altLang="en-US" sz="1600"/>
                <a:t>太粗糙简略</a:t>
              </a:r>
              <a:endParaRPr lang="zh-CN" altLang="en-US" sz="1600"/>
            </a:p>
            <a:p>
              <a:pPr algn="ctr">
                <a:lnSpc>
                  <a:spcPct val="140000"/>
                </a:lnSpc>
              </a:pPr>
              <a:r>
                <a:rPr lang="zh-CN" altLang="en-US" sz="1600"/>
                <a:t>对大模型提升弱</a:t>
              </a:r>
              <a:endParaRPr lang="zh-CN" altLang="en-US" sz="1600"/>
            </a:p>
          </p:txBody>
        </p:sp>
        <p:sp>
          <p:nvSpPr>
            <p:cNvPr id="14" name="矩形 13"/>
            <p:cNvSpPr/>
            <p:nvPr/>
          </p:nvSpPr>
          <p:spPr>
            <a:xfrm>
              <a:off x="943" y="1957"/>
              <a:ext cx="9220" cy="7130"/>
            </a:xfrm>
            <a:prstGeom prst="rect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8" name="组合 27"/>
            <p:cNvGrpSpPr/>
            <p:nvPr>
              <p:custDataLst>
                <p:tags r:id="rId1"/>
              </p:custDataLst>
            </p:nvPr>
          </p:nvGrpSpPr>
          <p:grpSpPr>
            <a:xfrm>
              <a:off x="3880" y="2494"/>
              <a:ext cx="6086" cy="1507"/>
              <a:chOff x="9079" y="2581"/>
              <a:chExt cx="6086" cy="1507"/>
            </a:xfrm>
          </p:grpSpPr>
          <p:sp>
            <p:nvSpPr>
              <p:cNvPr id="15" name="笑脸 14"/>
              <p:cNvSpPr/>
              <p:nvPr>
                <p:custDataLst>
                  <p:tags r:id="rId2"/>
                </p:custDataLst>
              </p:nvPr>
            </p:nvSpPr>
            <p:spPr>
              <a:xfrm>
                <a:off x="9079" y="2913"/>
                <a:ext cx="672" cy="644"/>
              </a:xfrm>
              <a:prstGeom prst="smileyFac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" name="文本框 1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751" y="2581"/>
                <a:ext cx="5414" cy="1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Agent1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execute_tasks</a:t>
                </a:r>
                <a:endParaRPr lang="en-US" altLang="zh-CN" sz="1400" dirty="0"/>
              </a:p>
              <a:p>
                <a:r>
                  <a:rPr lang="zh-CN" altLang="en-US" sz="1400" dirty="0"/>
                  <a:t>根据目前数据集，转换成可运行的代码并记录问题对应位置的运行结果</a:t>
                </a:r>
                <a:endParaRPr lang="zh-CN" altLang="en-US" sz="1400" dirty="0"/>
              </a:p>
            </p:txBody>
          </p:sp>
        </p:grpSp>
        <p:grpSp>
          <p:nvGrpSpPr>
            <p:cNvPr id="29" name="组合 28"/>
            <p:cNvGrpSpPr/>
            <p:nvPr>
              <p:custDataLst>
                <p:tags r:id="rId4"/>
              </p:custDataLst>
            </p:nvPr>
          </p:nvGrpSpPr>
          <p:grpSpPr>
            <a:xfrm>
              <a:off x="3880" y="4028"/>
              <a:ext cx="6086" cy="1165"/>
              <a:chOff x="9089" y="4111"/>
              <a:chExt cx="6086" cy="1165"/>
            </a:xfrm>
          </p:grpSpPr>
          <p:sp>
            <p:nvSpPr>
              <p:cNvPr id="17" name="笑脸 16"/>
              <p:cNvSpPr/>
              <p:nvPr>
                <p:custDataLst>
                  <p:tags r:id="rId5"/>
                </p:custDataLst>
              </p:nvPr>
            </p:nvSpPr>
            <p:spPr>
              <a:xfrm>
                <a:off x="9089" y="4442"/>
                <a:ext cx="672" cy="644"/>
              </a:xfrm>
              <a:prstGeom prst="smileyF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9761" y="4111"/>
                <a:ext cx="5414" cy="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Agent2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generate_cot</a:t>
                </a:r>
                <a:endParaRPr lang="en-US" altLang="zh-CN" sz="1400" dirty="0"/>
              </a:p>
              <a:p>
                <a:r>
                  <a:rPr lang="zh-CN" altLang="en-US" sz="1400" b="1" strike="sngStrike" dirty="0">
                    <a:solidFill>
                      <a:srgbClr val="FF0000"/>
                    </a:solidFill>
                  </a:rPr>
                  <a:t>根据单个</a:t>
                </a:r>
                <a:r>
                  <a:rPr lang="en-US" altLang="zh-CN" sz="1400" b="1" strike="sngStrike" dirty="0">
                    <a:solidFill>
                      <a:srgbClr val="FF0000"/>
                    </a:solidFill>
                  </a:rPr>
                  <a:t>case</a:t>
                </a:r>
                <a:r>
                  <a:rPr lang="zh-CN" altLang="en-US" sz="1400" b="1" strike="sngStrike" dirty="0">
                    <a:solidFill>
                      <a:srgbClr val="FF0000"/>
                    </a:solidFill>
                  </a:rPr>
                  <a:t>生成精简的三句话以内的</a:t>
                </a:r>
                <a:r>
                  <a:rPr lang="en-US" altLang="zh-CN" sz="1400" b="1" strike="sngStrike" dirty="0">
                    <a:solidFill>
                      <a:srgbClr val="FF0000"/>
                    </a:solidFill>
                  </a:rPr>
                  <a:t>cot</a:t>
                </a:r>
                <a:endParaRPr lang="en-US" altLang="zh-CN" sz="1400" b="1" strike="sngStrike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8" name="组合 7"/>
            <p:cNvGrpSpPr/>
            <p:nvPr>
              <p:custDataLst>
                <p:tags r:id="rId7"/>
              </p:custDataLst>
            </p:nvPr>
          </p:nvGrpSpPr>
          <p:grpSpPr>
            <a:xfrm>
              <a:off x="3880" y="5562"/>
              <a:ext cx="6096" cy="1165"/>
              <a:chOff x="8625" y="5239"/>
              <a:chExt cx="6096" cy="1165"/>
            </a:xfrm>
          </p:grpSpPr>
          <p:sp>
            <p:nvSpPr>
              <p:cNvPr id="19" name="笑脸 18"/>
              <p:cNvSpPr/>
              <p:nvPr>
                <p:custDataLst>
                  <p:tags r:id="rId8"/>
                </p:custDataLst>
              </p:nvPr>
            </p:nvSpPr>
            <p:spPr>
              <a:xfrm>
                <a:off x="8625" y="5507"/>
                <a:ext cx="672" cy="644"/>
              </a:xfrm>
              <a:prstGeom prst="smileyFac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9307" y="5239"/>
                <a:ext cx="5414" cy="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Agent3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ai_evaluation</a:t>
                </a:r>
                <a:endParaRPr lang="en-US" altLang="zh-CN" sz="1400" dirty="0"/>
              </a:p>
              <a:p>
                <a:r>
                  <a:rPr lang="zh-CN" altLang="en-US" sz="1400" dirty="0"/>
                  <a:t>调用五个</a:t>
                </a:r>
                <a:r>
                  <a:rPr lang="en-US" altLang="zh-CN" sz="1400" dirty="0"/>
                  <a:t>ai</a:t>
                </a:r>
                <a:r>
                  <a:rPr lang="zh-CN" altLang="en-US" sz="1400" dirty="0"/>
                  <a:t>的</a:t>
                </a:r>
                <a:r>
                  <a:rPr lang="en-US" altLang="zh-CN" sz="1400" dirty="0"/>
                  <a:t>API</a:t>
                </a:r>
                <a:r>
                  <a:rPr lang="zh-CN" altLang="en-US" sz="1400" dirty="0"/>
                  <a:t>，预测对应</a:t>
                </a:r>
                <a:r>
                  <a:rPr lang="en-US" altLang="zh-CN" sz="1400" dirty="0"/>
                  <a:t>case</a:t>
                </a:r>
                <a:r>
                  <a:rPr lang="zh-CN" altLang="en-US" sz="1400" dirty="0"/>
                  <a:t>的答案，根据错误</a:t>
                </a:r>
                <a:r>
                  <a:rPr lang="en-US" altLang="zh-CN" sz="1400" dirty="0"/>
                  <a:t>ai</a:t>
                </a:r>
                <a:r>
                  <a:rPr lang="zh-CN" altLang="en-US" sz="1400" dirty="0"/>
                  <a:t>数目更新难度</a:t>
                </a:r>
                <a:endParaRPr lang="zh-CN" altLang="en-US" sz="1400" dirty="0"/>
              </a:p>
            </p:txBody>
          </p:sp>
        </p:grpSp>
        <p:grpSp>
          <p:nvGrpSpPr>
            <p:cNvPr id="30" name="组合 29"/>
            <p:cNvGrpSpPr/>
            <p:nvPr>
              <p:custDataLst>
                <p:tags r:id="rId10"/>
              </p:custDataLst>
            </p:nvPr>
          </p:nvGrpSpPr>
          <p:grpSpPr>
            <a:xfrm>
              <a:off x="3880" y="7097"/>
              <a:ext cx="6096" cy="1165"/>
              <a:chOff x="9079" y="7185"/>
              <a:chExt cx="6096" cy="1165"/>
            </a:xfrm>
          </p:grpSpPr>
          <p:sp>
            <p:nvSpPr>
              <p:cNvPr id="21" name="笑脸 20"/>
              <p:cNvSpPr/>
              <p:nvPr>
                <p:custDataLst>
                  <p:tags r:id="rId11"/>
                </p:custDataLst>
              </p:nvPr>
            </p:nvSpPr>
            <p:spPr>
              <a:xfrm>
                <a:off x="9079" y="7516"/>
                <a:ext cx="672" cy="644"/>
              </a:xfrm>
              <a:prstGeom prst="smileyF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" name="文本框 21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9761" y="7185"/>
                <a:ext cx="5414" cy="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Agent4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generate_new_task</a:t>
                </a:r>
                <a:endParaRPr lang="en-US" altLang="zh-CN" sz="1400" dirty="0"/>
              </a:p>
              <a:p>
                <a:r>
                  <a:rPr lang="zh-CN" altLang="en-US" sz="1400" dirty="0"/>
                  <a:t>根据给出的背景和需求和已有数据集，扩展数据集</a:t>
                </a:r>
                <a:endParaRPr lang="zh-CN" altLang="en-US" sz="1400" dirty="0"/>
              </a:p>
            </p:txBody>
          </p:sp>
        </p:grpSp>
        <p:sp>
          <p:nvSpPr>
            <p:cNvPr id="23" name="笑脸 22"/>
            <p:cNvSpPr/>
            <p:nvPr/>
          </p:nvSpPr>
          <p:spPr>
            <a:xfrm>
              <a:off x="1658" y="5037"/>
              <a:ext cx="672" cy="644"/>
            </a:xfrm>
            <a:prstGeom prst="smileyFac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77" y="5784"/>
              <a:ext cx="1929" cy="25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/>
                <a:t>Master Agent</a:t>
              </a:r>
              <a:r>
                <a:rPr lang="zh-CN" altLang="en-US" sz="1400" dirty="0"/>
                <a:t>：负责多场景需求对不同</a:t>
              </a:r>
              <a:r>
                <a:rPr lang="en-US" altLang="zh-CN" sz="1400" dirty="0"/>
                <a:t>agent</a:t>
              </a:r>
              <a:r>
                <a:rPr lang="zh-CN" altLang="en-US" sz="1400" dirty="0"/>
                <a:t>的调用和流程把控</a:t>
              </a:r>
              <a:endParaRPr lang="zh-CN" altLang="en-US" sz="1400" dirty="0"/>
            </a:p>
          </p:txBody>
        </p:sp>
        <p:cxnSp>
          <p:nvCxnSpPr>
            <p:cNvPr id="32" name="直接连接符 31"/>
            <p:cNvCxnSpPr/>
            <p:nvPr/>
          </p:nvCxnSpPr>
          <p:spPr>
            <a:xfrm flipV="1">
              <a:off x="2328" y="5352"/>
              <a:ext cx="1012" cy="7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3343" y="3100"/>
              <a:ext cx="16" cy="46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/>
            <p:cNvCxnSpPr/>
            <p:nvPr/>
          </p:nvCxnSpPr>
          <p:spPr>
            <a:xfrm>
              <a:off x="9976" y="4757"/>
              <a:ext cx="3014" cy="18"/>
            </a:xfrm>
            <a:prstGeom prst="straightConnector1">
              <a:avLst/>
            </a:prstGeom>
            <a:ln w="47625">
              <a:solidFill>
                <a:srgbClr val="FF0000"/>
              </a:solidFill>
              <a:tailEnd type="triangle" w="med" len="med"/>
            </a:ln>
          </p:spPr>
          <p:style>
            <a:lnRef idx="3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9965" y="7041"/>
              <a:ext cx="3037" cy="1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40000"/>
                </a:lnSpc>
              </a:pPr>
              <a:r>
                <a:rPr lang="zh-CN" altLang="en-US" sz="1600"/>
                <a:t>生成逻辑简略</a:t>
              </a:r>
              <a:endParaRPr lang="zh-CN" altLang="en-US" sz="1600"/>
            </a:p>
            <a:p>
              <a:pPr algn="ctr">
                <a:lnSpc>
                  <a:spcPct val="140000"/>
                </a:lnSpc>
              </a:pPr>
              <a:r>
                <a:rPr lang="zh-CN" altLang="en-US" sz="1600"/>
                <a:t>新</a:t>
              </a:r>
              <a:r>
                <a:rPr lang="en-US" altLang="zh-CN" sz="1600"/>
                <a:t>case</a:t>
              </a:r>
              <a:r>
                <a:rPr lang="zh-CN" altLang="en-US" sz="1600"/>
                <a:t>多样性低</a:t>
              </a:r>
              <a:endParaRPr lang="zh-CN" altLang="en-US" sz="1600"/>
            </a:p>
          </p:txBody>
        </p:sp>
        <p:cxnSp>
          <p:nvCxnSpPr>
            <p:cNvPr id="10" name="直接箭头连接符 9"/>
            <p:cNvCxnSpPr/>
            <p:nvPr/>
          </p:nvCxnSpPr>
          <p:spPr>
            <a:xfrm>
              <a:off x="10019" y="7739"/>
              <a:ext cx="3014" cy="18"/>
            </a:xfrm>
            <a:prstGeom prst="straightConnector1">
              <a:avLst/>
            </a:prstGeom>
            <a:ln w="47625">
              <a:solidFill>
                <a:srgbClr val="FF0000"/>
              </a:solidFill>
              <a:tailEnd type="triangle" w="med" len="med"/>
            </a:ln>
          </p:spPr>
          <p:style>
            <a:lnRef idx="3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13126" y="4028"/>
              <a:ext cx="5119" cy="131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p>
              <a:r>
                <a:rPr lang="zh-CN" altLang="en-US" sz="1600" dirty="0">
                  <a:sym typeface="+mn-ea"/>
                </a:rPr>
                <a:t>优化</a:t>
              </a:r>
              <a:r>
                <a:rPr lang="en-US" altLang="zh-CN" sz="1600" dirty="0">
                  <a:sym typeface="+mn-ea"/>
                </a:rPr>
                <a:t>cot</a:t>
              </a:r>
              <a:r>
                <a:rPr lang="zh-CN" altLang="en-US" sz="1600" dirty="0">
                  <a:sym typeface="+mn-ea"/>
                </a:rPr>
                <a:t>生成逻辑</a:t>
              </a:r>
              <a:endParaRPr lang="zh-CN" altLang="en-US" sz="1600" dirty="0">
                <a:sym typeface="+mn-ea"/>
              </a:endParaRPr>
            </a:p>
            <a:p>
              <a:r>
                <a:rPr lang="zh-CN" altLang="en-US" sz="1600" dirty="0">
                  <a:sym typeface="+mn-ea"/>
                </a:rPr>
                <a:t>利用</a:t>
              </a:r>
              <a:r>
                <a:rPr lang="en-US" altLang="zh-CN" sz="1600" dirty="0">
                  <a:sym typeface="+mn-ea"/>
                </a:rPr>
                <a:t>GDB</a:t>
              </a:r>
              <a:r>
                <a:rPr lang="zh-CN" altLang="en-US" sz="1600" dirty="0">
                  <a:sym typeface="+mn-ea"/>
                </a:rPr>
                <a:t>记录额外中间信息来丰富</a:t>
              </a:r>
              <a:r>
                <a:rPr lang="en-US" altLang="zh-CN" sz="1600" dirty="0">
                  <a:sym typeface="+mn-ea"/>
                </a:rPr>
                <a:t>cot</a:t>
              </a:r>
              <a:endParaRPr lang="en-US" altLang="zh-CN" sz="1600" dirty="0">
                <a:sym typeface="+mn-ea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3126" y="7240"/>
              <a:ext cx="5119" cy="92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p>
              <a:r>
                <a:rPr lang="zh-CN" altLang="en-US" sz="1600" dirty="0">
                  <a:sym typeface="+mn-ea"/>
                </a:rPr>
                <a:t>新</a:t>
              </a:r>
              <a:r>
                <a:rPr lang="en-US" altLang="zh-CN" sz="1600" dirty="0">
                  <a:sym typeface="+mn-ea"/>
                </a:rPr>
                <a:t>case</a:t>
              </a:r>
              <a:r>
                <a:rPr lang="zh-CN" altLang="en-US" sz="1600" dirty="0">
                  <a:sym typeface="+mn-ea"/>
                </a:rPr>
                <a:t>扩展生成逻辑调整，均衡难度和提升多样性</a:t>
              </a:r>
              <a:endParaRPr lang="zh-CN" altLang="en-US" sz="1600" dirty="0">
                <a:sym typeface="+mn-ea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3126" y="2376"/>
              <a:ext cx="5119" cy="533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p>
              <a:r>
                <a:rPr lang="zh-CN" altLang="en-US" sz="1600" dirty="0">
                  <a:sym typeface="+mn-ea"/>
                </a:rPr>
                <a:t>可视化工具集成</a:t>
              </a:r>
              <a:endParaRPr lang="zh-CN" altLang="en-US" sz="1600" dirty="0">
                <a:sym typeface="+mn-ea"/>
              </a:endParaRPr>
            </a:p>
          </p:txBody>
        </p:sp>
      </p:grpSp>
      <p:sp>
        <p:nvSpPr>
          <p:cNvPr id="7" name="流程图: 多文档 6"/>
          <p:cNvSpPr/>
          <p:nvPr/>
        </p:nvSpPr>
        <p:spPr>
          <a:xfrm>
            <a:off x="126365" y="1568450"/>
            <a:ext cx="1543050" cy="850900"/>
          </a:xfrm>
          <a:prstGeom prst="flowChartMultidocumen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zh-CN" altLang="en-US" sz="1400" dirty="0"/>
              <a:t>来自</a:t>
            </a:r>
            <a:r>
              <a:rPr lang="en-US" altLang="zh-CN" sz="1400" dirty="0"/>
              <a:t>code-sense</a:t>
            </a:r>
            <a:r>
              <a:rPr lang="zh-CN" altLang="en-US" sz="1400" dirty="0"/>
              <a:t>的真实代码</a:t>
            </a:r>
            <a:endParaRPr lang="zh-CN" altLang="en-US" sz="1400" dirty="0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787400" y="2387600"/>
            <a:ext cx="3175" cy="515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26365" y="2903220"/>
            <a:ext cx="1445260" cy="19323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en-US" altLang="zh-CN" sz="1400" dirty="0"/>
              <a:t>Treec-Eva</a:t>
            </a:r>
            <a:r>
              <a:rPr lang="zh-CN" altLang="en-US" sz="1400" dirty="0"/>
              <a:t>结构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算数运算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布尔运算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函数调用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变量赋值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大混合</a:t>
            </a:r>
            <a:endParaRPr lang="zh-CN" altLang="en-US" sz="1400" dirty="0"/>
          </a:p>
        </p:txBody>
      </p:sp>
      <p:cxnSp>
        <p:nvCxnSpPr>
          <p:cNvPr id="31" name="直接箭头连接符 30"/>
          <p:cNvCxnSpPr>
            <a:stCxn id="13" idx="3"/>
            <a:endCxn id="33" idx="3"/>
          </p:cNvCxnSpPr>
          <p:nvPr/>
        </p:nvCxnSpPr>
        <p:spPr>
          <a:xfrm>
            <a:off x="1571625" y="3869690"/>
            <a:ext cx="866140" cy="6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683385" y="3086100"/>
            <a:ext cx="75438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之前太简单了希望更难一点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3535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一、回顾：</a:t>
            </a:r>
            <a:r>
              <a:rPr lang="zh-CN" altLang="en-US" sz="2400" dirty="0"/>
              <a:t>往期工作</a:t>
            </a:r>
            <a:r>
              <a:rPr lang="zh-CN" altLang="en-US" sz="2400" dirty="0"/>
              <a:t>速览</a:t>
            </a:r>
            <a:endParaRPr lang="zh-CN" altLang="en-US" sz="2400" dirty="0"/>
          </a:p>
        </p:txBody>
      </p:sp>
      <p:grpSp>
        <p:nvGrpSpPr>
          <p:cNvPr id="3" name="组合 2"/>
          <p:cNvGrpSpPr/>
          <p:nvPr/>
        </p:nvGrpSpPr>
        <p:grpSpPr>
          <a:xfrm>
            <a:off x="-857885" y="1303655"/>
            <a:ext cx="9531350" cy="4510405"/>
            <a:chOff x="943" y="1957"/>
            <a:chExt cx="17302" cy="7130"/>
          </a:xfrm>
        </p:grpSpPr>
        <p:sp>
          <p:nvSpPr>
            <p:cNvPr id="5" name="文本框 4"/>
            <p:cNvSpPr txBox="1"/>
            <p:nvPr/>
          </p:nvSpPr>
          <p:spPr>
            <a:xfrm>
              <a:off x="10133" y="4059"/>
              <a:ext cx="2826" cy="1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40000"/>
                </a:lnSpc>
              </a:pPr>
              <a:r>
                <a:rPr lang="zh-CN" altLang="en-US" sz="1600"/>
                <a:t>太粗糙简略</a:t>
              </a:r>
              <a:endParaRPr lang="zh-CN" altLang="en-US" sz="1600"/>
            </a:p>
            <a:p>
              <a:pPr algn="ctr">
                <a:lnSpc>
                  <a:spcPct val="140000"/>
                </a:lnSpc>
              </a:pPr>
              <a:r>
                <a:rPr lang="zh-CN" altLang="en-US" sz="1600"/>
                <a:t>对大模型提升弱</a:t>
              </a:r>
              <a:endParaRPr lang="zh-CN" altLang="en-US" sz="1600"/>
            </a:p>
          </p:txBody>
        </p:sp>
        <p:sp>
          <p:nvSpPr>
            <p:cNvPr id="14" name="矩形 13"/>
            <p:cNvSpPr/>
            <p:nvPr/>
          </p:nvSpPr>
          <p:spPr>
            <a:xfrm>
              <a:off x="943" y="1957"/>
              <a:ext cx="9220" cy="7130"/>
            </a:xfrm>
            <a:prstGeom prst="rect">
              <a:avLst/>
            </a:prstGeom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8" name="组合 27"/>
            <p:cNvGrpSpPr/>
            <p:nvPr>
              <p:custDataLst>
                <p:tags r:id="rId1"/>
              </p:custDataLst>
            </p:nvPr>
          </p:nvGrpSpPr>
          <p:grpSpPr>
            <a:xfrm>
              <a:off x="3880" y="2494"/>
              <a:ext cx="6086" cy="1507"/>
              <a:chOff x="9079" y="2581"/>
              <a:chExt cx="6086" cy="1507"/>
            </a:xfrm>
          </p:grpSpPr>
          <p:sp>
            <p:nvSpPr>
              <p:cNvPr id="15" name="笑脸 14"/>
              <p:cNvSpPr/>
              <p:nvPr>
                <p:custDataLst>
                  <p:tags r:id="rId2"/>
                </p:custDataLst>
              </p:nvPr>
            </p:nvSpPr>
            <p:spPr>
              <a:xfrm>
                <a:off x="9079" y="2913"/>
                <a:ext cx="672" cy="644"/>
              </a:xfrm>
              <a:prstGeom prst="smileyFac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" name="文本框 1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751" y="2581"/>
                <a:ext cx="5414" cy="1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Agent1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execute_tasks</a:t>
                </a:r>
                <a:endParaRPr lang="en-US" altLang="zh-CN" sz="1400" dirty="0"/>
              </a:p>
              <a:p>
                <a:r>
                  <a:rPr lang="zh-CN" altLang="en-US" sz="1400" dirty="0"/>
                  <a:t>根据目前数据集，转换成可运行的代码并记录问题对应位置的运行结果</a:t>
                </a:r>
                <a:endParaRPr lang="zh-CN" altLang="en-US" sz="1400" dirty="0"/>
              </a:p>
            </p:txBody>
          </p:sp>
        </p:grpSp>
        <p:grpSp>
          <p:nvGrpSpPr>
            <p:cNvPr id="29" name="组合 28"/>
            <p:cNvGrpSpPr/>
            <p:nvPr>
              <p:custDataLst>
                <p:tags r:id="rId4"/>
              </p:custDataLst>
            </p:nvPr>
          </p:nvGrpSpPr>
          <p:grpSpPr>
            <a:xfrm>
              <a:off x="3880" y="4028"/>
              <a:ext cx="6086" cy="1165"/>
              <a:chOff x="9089" y="4111"/>
              <a:chExt cx="6086" cy="1165"/>
            </a:xfrm>
          </p:grpSpPr>
          <p:sp>
            <p:nvSpPr>
              <p:cNvPr id="17" name="笑脸 16"/>
              <p:cNvSpPr/>
              <p:nvPr>
                <p:custDataLst>
                  <p:tags r:id="rId5"/>
                </p:custDataLst>
              </p:nvPr>
            </p:nvSpPr>
            <p:spPr>
              <a:xfrm>
                <a:off x="9089" y="4442"/>
                <a:ext cx="672" cy="644"/>
              </a:xfrm>
              <a:prstGeom prst="smileyF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9761" y="4111"/>
                <a:ext cx="5414" cy="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Agent2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generate_cot</a:t>
                </a:r>
                <a:endParaRPr lang="en-US" altLang="zh-CN" sz="1400" dirty="0"/>
              </a:p>
              <a:p>
                <a:r>
                  <a:rPr lang="zh-CN" altLang="en-US" sz="1400" b="1" strike="sngStrike" dirty="0">
                    <a:solidFill>
                      <a:srgbClr val="FF0000"/>
                    </a:solidFill>
                  </a:rPr>
                  <a:t>根据单个</a:t>
                </a:r>
                <a:r>
                  <a:rPr lang="en-US" altLang="zh-CN" sz="1400" b="1" strike="sngStrike" dirty="0">
                    <a:solidFill>
                      <a:srgbClr val="FF0000"/>
                    </a:solidFill>
                  </a:rPr>
                  <a:t>case</a:t>
                </a:r>
                <a:r>
                  <a:rPr lang="zh-CN" altLang="en-US" sz="1400" b="1" strike="sngStrike" dirty="0">
                    <a:solidFill>
                      <a:srgbClr val="FF0000"/>
                    </a:solidFill>
                  </a:rPr>
                  <a:t>生成精简的三句话以内的</a:t>
                </a:r>
                <a:r>
                  <a:rPr lang="en-US" altLang="zh-CN" sz="1400" b="1" strike="sngStrike" dirty="0">
                    <a:solidFill>
                      <a:srgbClr val="FF0000"/>
                    </a:solidFill>
                  </a:rPr>
                  <a:t>cot</a:t>
                </a:r>
                <a:endParaRPr lang="en-US" altLang="zh-CN" sz="1400" b="1" strike="sngStrike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8" name="组合 7"/>
            <p:cNvGrpSpPr/>
            <p:nvPr>
              <p:custDataLst>
                <p:tags r:id="rId7"/>
              </p:custDataLst>
            </p:nvPr>
          </p:nvGrpSpPr>
          <p:grpSpPr>
            <a:xfrm>
              <a:off x="3880" y="5562"/>
              <a:ext cx="6096" cy="1165"/>
              <a:chOff x="8625" y="5239"/>
              <a:chExt cx="6096" cy="1165"/>
            </a:xfrm>
          </p:grpSpPr>
          <p:sp>
            <p:nvSpPr>
              <p:cNvPr id="19" name="笑脸 18"/>
              <p:cNvSpPr/>
              <p:nvPr>
                <p:custDataLst>
                  <p:tags r:id="rId8"/>
                </p:custDataLst>
              </p:nvPr>
            </p:nvSpPr>
            <p:spPr>
              <a:xfrm>
                <a:off x="8625" y="5507"/>
                <a:ext cx="672" cy="644"/>
              </a:xfrm>
              <a:prstGeom prst="smileyFac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9307" y="5239"/>
                <a:ext cx="5414" cy="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Agent3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ai_evaluation</a:t>
                </a:r>
                <a:endParaRPr lang="en-US" altLang="zh-CN" sz="1400" dirty="0"/>
              </a:p>
              <a:p>
                <a:r>
                  <a:rPr lang="zh-CN" altLang="en-US" sz="1400" dirty="0"/>
                  <a:t>调用五个</a:t>
                </a:r>
                <a:r>
                  <a:rPr lang="en-US" altLang="zh-CN" sz="1400" dirty="0"/>
                  <a:t>ai</a:t>
                </a:r>
                <a:r>
                  <a:rPr lang="zh-CN" altLang="en-US" sz="1400" dirty="0"/>
                  <a:t>的</a:t>
                </a:r>
                <a:r>
                  <a:rPr lang="en-US" altLang="zh-CN" sz="1400" dirty="0"/>
                  <a:t>API</a:t>
                </a:r>
                <a:r>
                  <a:rPr lang="zh-CN" altLang="en-US" sz="1400" dirty="0"/>
                  <a:t>，预测对应</a:t>
                </a:r>
                <a:r>
                  <a:rPr lang="en-US" altLang="zh-CN" sz="1400" dirty="0"/>
                  <a:t>case</a:t>
                </a:r>
                <a:r>
                  <a:rPr lang="zh-CN" altLang="en-US" sz="1400" dirty="0"/>
                  <a:t>的答案，根据错误</a:t>
                </a:r>
                <a:r>
                  <a:rPr lang="en-US" altLang="zh-CN" sz="1400" dirty="0"/>
                  <a:t>ai</a:t>
                </a:r>
                <a:r>
                  <a:rPr lang="zh-CN" altLang="en-US" sz="1400" dirty="0"/>
                  <a:t>数目更新难度</a:t>
                </a:r>
                <a:endParaRPr lang="zh-CN" altLang="en-US" sz="1400" dirty="0"/>
              </a:p>
            </p:txBody>
          </p:sp>
        </p:grpSp>
        <p:grpSp>
          <p:nvGrpSpPr>
            <p:cNvPr id="30" name="组合 29"/>
            <p:cNvGrpSpPr/>
            <p:nvPr>
              <p:custDataLst>
                <p:tags r:id="rId10"/>
              </p:custDataLst>
            </p:nvPr>
          </p:nvGrpSpPr>
          <p:grpSpPr>
            <a:xfrm>
              <a:off x="3880" y="7097"/>
              <a:ext cx="6096" cy="1165"/>
              <a:chOff x="9079" y="7185"/>
              <a:chExt cx="6096" cy="1165"/>
            </a:xfrm>
          </p:grpSpPr>
          <p:sp>
            <p:nvSpPr>
              <p:cNvPr id="21" name="笑脸 20"/>
              <p:cNvSpPr/>
              <p:nvPr>
                <p:custDataLst>
                  <p:tags r:id="rId11"/>
                </p:custDataLst>
              </p:nvPr>
            </p:nvSpPr>
            <p:spPr>
              <a:xfrm>
                <a:off x="9079" y="7516"/>
                <a:ext cx="672" cy="644"/>
              </a:xfrm>
              <a:prstGeom prst="smileyF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" name="文本框 21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9761" y="7185"/>
                <a:ext cx="5414" cy="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Agent4</a:t>
                </a:r>
                <a:r>
                  <a:rPr lang="zh-CN" altLang="en-US" sz="1400" dirty="0"/>
                  <a:t>：</a:t>
                </a:r>
                <a:r>
                  <a:rPr lang="en-US" altLang="zh-CN" sz="1400" b="1" u="sng" dirty="0"/>
                  <a:t>generate_new_task</a:t>
                </a:r>
                <a:endParaRPr lang="en-US" altLang="zh-CN" sz="1400" dirty="0"/>
              </a:p>
              <a:p>
                <a:r>
                  <a:rPr lang="zh-CN" altLang="en-US" sz="1400" dirty="0"/>
                  <a:t>根据给出的背景和需求和已有数据集，扩展数据集</a:t>
                </a:r>
                <a:endParaRPr lang="zh-CN" altLang="en-US" sz="1400" dirty="0"/>
              </a:p>
            </p:txBody>
          </p:sp>
        </p:grpSp>
        <p:sp>
          <p:nvSpPr>
            <p:cNvPr id="23" name="笑脸 22"/>
            <p:cNvSpPr/>
            <p:nvPr/>
          </p:nvSpPr>
          <p:spPr>
            <a:xfrm>
              <a:off x="1658" y="5037"/>
              <a:ext cx="672" cy="644"/>
            </a:xfrm>
            <a:prstGeom prst="smileyFac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77" y="5784"/>
              <a:ext cx="1929" cy="25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/>
                <a:t>Master Agent</a:t>
              </a:r>
              <a:r>
                <a:rPr lang="zh-CN" altLang="en-US" sz="1400" dirty="0"/>
                <a:t>：负责多场景需求对不同</a:t>
              </a:r>
              <a:r>
                <a:rPr lang="en-US" altLang="zh-CN" sz="1400" dirty="0"/>
                <a:t>agent</a:t>
              </a:r>
              <a:r>
                <a:rPr lang="zh-CN" altLang="en-US" sz="1400" dirty="0"/>
                <a:t>的调用和流程把控</a:t>
              </a:r>
              <a:endParaRPr lang="zh-CN" altLang="en-US" sz="1400" dirty="0"/>
            </a:p>
          </p:txBody>
        </p:sp>
        <p:cxnSp>
          <p:nvCxnSpPr>
            <p:cNvPr id="32" name="直接连接符 31"/>
            <p:cNvCxnSpPr/>
            <p:nvPr/>
          </p:nvCxnSpPr>
          <p:spPr>
            <a:xfrm flipV="1">
              <a:off x="2328" y="5352"/>
              <a:ext cx="1012" cy="7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3343" y="3100"/>
              <a:ext cx="16" cy="46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/>
            <p:cNvCxnSpPr/>
            <p:nvPr/>
          </p:nvCxnSpPr>
          <p:spPr>
            <a:xfrm>
              <a:off x="9976" y="4757"/>
              <a:ext cx="3014" cy="18"/>
            </a:xfrm>
            <a:prstGeom prst="straightConnector1">
              <a:avLst/>
            </a:prstGeom>
            <a:ln w="47625">
              <a:solidFill>
                <a:srgbClr val="FF0000"/>
              </a:solidFill>
              <a:tailEnd type="triangle" w="med" len="med"/>
            </a:ln>
          </p:spPr>
          <p:style>
            <a:lnRef idx="3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9965" y="7041"/>
              <a:ext cx="3037" cy="1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40000"/>
                </a:lnSpc>
              </a:pPr>
              <a:r>
                <a:rPr lang="zh-CN" altLang="en-US" sz="1600"/>
                <a:t>生成逻辑简略</a:t>
              </a:r>
              <a:endParaRPr lang="zh-CN" altLang="en-US" sz="1600"/>
            </a:p>
            <a:p>
              <a:pPr algn="ctr">
                <a:lnSpc>
                  <a:spcPct val="140000"/>
                </a:lnSpc>
              </a:pPr>
              <a:r>
                <a:rPr lang="zh-CN" altLang="en-US" sz="1600"/>
                <a:t>新</a:t>
              </a:r>
              <a:r>
                <a:rPr lang="en-US" altLang="zh-CN" sz="1600"/>
                <a:t>case</a:t>
              </a:r>
              <a:r>
                <a:rPr lang="zh-CN" altLang="en-US" sz="1600"/>
                <a:t>多样性低</a:t>
              </a:r>
              <a:endParaRPr lang="zh-CN" altLang="en-US" sz="1600"/>
            </a:p>
          </p:txBody>
        </p:sp>
        <p:cxnSp>
          <p:nvCxnSpPr>
            <p:cNvPr id="10" name="直接箭头连接符 9"/>
            <p:cNvCxnSpPr/>
            <p:nvPr/>
          </p:nvCxnSpPr>
          <p:spPr>
            <a:xfrm>
              <a:off x="10019" y="7739"/>
              <a:ext cx="3014" cy="18"/>
            </a:xfrm>
            <a:prstGeom prst="straightConnector1">
              <a:avLst/>
            </a:prstGeom>
            <a:ln w="47625">
              <a:solidFill>
                <a:srgbClr val="FF0000"/>
              </a:solidFill>
              <a:tailEnd type="triangle" w="med" len="med"/>
            </a:ln>
          </p:spPr>
          <p:style>
            <a:lnRef idx="3">
              <a:schemeClr val="accent2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13126" y="4028"/>
              <a:ext cx="5119" cy="131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p>
              <a:r>
                <a:rPr lang="zh-CN" altLang="en-US" sz="1600" dirty="0">
                  <a:sym typeface="+mn-ea"/>
                </a:rPr>
                <a:t>优化</a:t>
              </a:r>
              <a:r>
                <a:rPr lang="en-US" altLang="zh-CN" sz="1600" dirty="0">
                  <a:sym typeface="+mn-ea"/>
                </a:rPr>
                <a:t>cot</a:t>
              </a:r>
              <a:r>
                <a:rPr lang="zh-CN" altLang="en-US" sz="1600" dirty="0">
                  <a:sym typeface="+mn-ea"/>
                </a:rPr>
                <a:t>生成逻辑</a:t>
              </a:r>
              <a:endParaRPr lang="zh-CN" altLang="en-US" sz="1600" dirty="0">
                <a:sym typeface="+mn-ea"/>
              </a:endParaRPr>
            </a:p>
            <a:p>
              <a:r>
                <a:rPr lang="zh-CN" altLang="en-US" sz="1600" dirty="0">
                  <a:sym typeface="+mn-ea"/>
                </a:rPr>
                <a:t>利用</a:t>
              </a:r>
              <a:r>
                <a:rPr lang="en-US" altLang="zh-CN" sz="1600" dirty="0">
                  <a:sym typeface="+mn-ea"/>
                </a:rPr>
                <a:t>GDB</a:t>
              </a:r>
              <a:r>
                <a:rPr lang="zh-CN" altLang="en-US" sz="1600" dirty="0">
                  <a:sym typeface="+mn-ea"/>
                </a:rPr>
                <a:t>记录额外中间信息来丰富</a:t>
              </a:r>
              <a:r>
                <a:rPr lang="en-US" altLang="zh-CN" sz="1600" dirty="0">
                  <a:sym typeface="+mn-ea"/>
                </a:rPr>
                <a:t>cot</a:t>
              </a:r>
              <a:endParaRPr lang="en-US" altLang="zh-CN" sz="1600" dirty="0">
                <a:sym typeface="+mn-ea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3126" y="7240"/>
              <a:ext cx="5119" cy="92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p>
              <a:r>
                <a:rPr lang="zh-CN" altLang="en-US" sz="1600" dirty="0">
                  <a:sym typeface="+mn-ea"/>
                </a:rPr>
                <a:t>新</a:t>
              </a:r>
              <a:r>
                <a:rPr lang="en-US" altLang="zh-CN" sz="1600" dirty="0">
                  <a:sym typeface="+mn-ea"/>
                </a:rPr>
                <a:t>case</a:t>
              </a:r>
              <a:r>
                <a:rPr lang="zh-CN" altLang="en-US" sz="1600" dirty="0">
                  <a:sym typeface="+mn-ea"/>
                </a:rPr>
                <a:t>扩展生成逻辑调整，均衡难度和提升多样性</a:t>
              </a:r>
              <a:endParaRPr lang="zh-CN" altLang="en-US" sz="1600" dirty="0">
                <a:sym typeface="+mn-ea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3126" y="2376"/>
              <a:ext cx="5119" cy="533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rtlCol="0" anchor="t">
              <a:spAutoFit/>
            </a:bodyPr>
            <a:p>
              <a:r>
                <a:rPr lang="zh-CN" altLang="en-US" sz="1600" dirty="0">
                  <a:sym typeface="+mn-ea"/>
                </a:rPr>
                <a:t>可视化工具集成</a:t>
              </a:r>
              <a:endParaRPr lang="zh-CN" altLang="en-US" sz="1600" dirty="0">
                <a:sym typeface="+mn-ea"/>
              </a:endParaRPr>
            </a:p>
          </p:txBody>
        </p:sp>
      </p:grpSp>
      <p:sp>
        <p:nvSpPr>
          <p:cNvPr id="7" name="流程图: 多文档 6"/>
          <p:cNvSpPr/>
          <p:nvPr/>
        </p:nvSpPr>
        <p:spPr>
          <a:xfrm>
            <a:off x="-3169285" y="1568450"/>
            <a:ext cx="1543050" cy="850900"/>
          </a:xfrm>
          <a:prstGeom prst="flowChartMultidocumen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zh-CN" altLang="en-US" sz="1400" dirty="0"/>
              <a:t>来自</a:t>
            </a:r>
            <a:r>
              <a:rPr lang="en-US" altLang="zh-CN" sz="1400" dirty="0"/>
              <a:t>code-sense</a:t>
            </a:r>
            <a:r>
              <a:rPr lang="zh-CN" altLang="en-US" sz="1400" dirty="0"/>
              <a:t>的真实代码</a:t>
            </a:r>
            <a:endParaRPr lang="zh-CN" altLang="en-US" sz="1400" dirty="0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-2508250" y="2387600"/>
            <a:ext cx="3175" cy="515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-3169285" y="2903220"/>
            <a:ext cx="1445260" cy="19323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en-US" altLang="zh-CN" sz="1400" dirty="0"/>
              <a:t>Treec-Eva</a:t>
            </a:r>
            <a:r>
              <a:rPr lang="zh-CN" altLang="en-US" sz="1400" dirty="0"/>
              <a:t>结构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算数运算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布尔运算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函数调用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变量赋值</a:t>
            </a:r>
            <a:endParaRPr lang="en-US" altLang="zh-CN" sz="1400" dirty="0"/>
          </a:p>
          <a:p>
            <a:pPr marL="342900" indent="-342900" algn="l">
              <a:buAutoNum type="arabicPeriod"/>
            </a:pPr>
            <a:r>
              <a:rPr lang="zh-CN" altLang="en-US" sz="1400" dirty="0"/>
              <a:t>大混合</a:t>
            </a:r>
            <a:endParaRPr lang="zh-CN" altLang="en-US" sz="1400" dirty="0"/>
          </a:p>
        </p:txBody>
      </p:sp>
      <p:cxnSp>
        <p:nvCxnSpPr>
          <p:cNvPr id="31" name="直接箭头连接符 30"/>
          <p:cNvCxnSpPr>
            <a:stCxn id="13" idx="3"/>
            <a:endCxn id="33" idx="3"/>
          </p:cNvCxnSpPr>
          <p:nvPr/>
        </p:nvCxnSpPr>
        <p:spPr>
          <a:xfrm>
            <a:off x="-1724025" y="3869690"/>
            <a:ext cx="866140" cy="6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-1612265" y="3086100"/>
            <a:ext cx="75438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之前太简单了希望更难一点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4" name="图片 33" descr="对勾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92695" y="1193800"/>
            <a:ext cx="914400" cy="91440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8961755" y="150685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体验不错，后续待优化</a:t>
            </a:r>
            <a:endParaRPr lang="zh-CN" altLang="en-US" sz="2000"/>
          </a:p>
        </p:txBody>
      </p:sp>
      <p:sp>
        <p:nvSpPr>
          <p:cNvPr id="36" name="文本框 35"/>
          <p:cNvSpPr txBox="1"/>
          <p:nvPr/>
        </p:nvSpPr>
        <p:spPr>
          <a:xfrm>
            <a:off x="8836025" y="2596515"/>
            <a:ext cx="33553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新逻辑：</a:t>
            </a:r>
            <a:br>
              <a:rPr lang="zh-CN" altLang="en-US" sz="2000"/>
            </a:br>
            <a:r>
              <a:rPr lang="zh-CN" altLang="en-US" sz="2000"/>
              <a:t>记录完整的类似</a:t>
            </a:r>
            <a:r>
              <a:rPr lang="en-US" altLang="zh-CN" sz="2000"/>
              <a:t>gdb</a:t>
            </a:r>
            <a:r>
              <a:rPr lang="zh-CN" altLang="en-US" sz="2000"/>
              <a:t>数据</a:t>
            </a:r>
            <a:endParaRPr lang="zh-CN" altLang="en-US" sz="2000"/>
          </a:p>
          <a:p>
            <a:r>
              <a:rPr lang="zh-CN" altLang="en-US" sz="2000"/>
              <a:t>由</a:t>
            </a:r>
            <a:r>
              <a:rPr lang="en-US" altLang="zh-CN" sz="2000"/>
              <a:t>ai</a:t>
            </a:r>
            <a:r>
              <a:rPr lang="zh-CN" altLang="en-US" sz="2000"/>
              <a:t>生成优化后倒叙思维</a:t>
            </a:r>
            <a:r>
              <a:rPr lang="en-US" altLang="zh-CN" sz="2000"/>
              <a:t>cot</a:t>
            </a:r>
            <a:endParaRPr lang="en-US" altLang="zh-CN" sz="2000"/>
          </a:p>
        </p:txBody>
      </p:sp>
      <p:sp>
        <p:nvSpPr>
          <p:cNvPr id="37" name="文本框 36"/>
          <p:cNvSpPr txBox="1"/>
          <p:nvPr/>
        </p:nvSpPr>
        <p:spPr>
          <a:xfrm>
            <a:off x="8961755" y="4710430"/>
            <a:ext cx="15157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已完善</a:t>
            </a:r>
            <a:endParaRPr lang="zh-CN" altLang="en-US" sz="2000"/>
          </a:p>
        </p:txBody>
      </p:sp>
      <p:pic>
        <p:nvPicPr>
          <p:cNvPr id="38" name="图片 37" descr="对勾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55585" y="4605020"/>
            <a:ext cx="914400" cy="914400"/>
          </a:xfrm>
          <a:prstGeom prst="rect">
            <a:avLst/>
          </a:prstGeom>
        </p:spPr>
      </p:pic>
      <p:pic>
        <p:nvPicPr>
          <p:cNvPr id="6" name="图片 5" descr="对勾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060305" y="2337435"/>
            <a:ext cx="914400" cy="914400"/>
          </a:xfrm>
          <a:prstGeom prst="rect">
            <a:avLst/>
          </a:prstGeom>
        </p:spPr>
      </p:pic>
      <p:pic>
        <p:nvPicPr>
          <p:cNvPr id="39" name="图片 38" descr="叉号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524365" y="3576320"/>
            <a:ext cx="535940" cy="535940"/>
          </a:xfrm>
          <a:prstGeom prst="rect">
            <a:avLst/>
          </a:prstGeom>
        </p:spPr>
      </p:pic>
      <p:sp>
        <p:nvSpPr>
          <p:cNvPr id="40" name="矩形 39"/>
          <p:cNvSpPr/>
          <p:nvPr/>
        </p:nvSpPr>
        <p:spPr>
          <a:xfrm>
            <a:off x="9109710" y="3260725"/>
            <a:ext cx="2863215" cy="288290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3535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一、回顾：</a:t>
            </a:r>
            <a:r>
              <a:rPr lang="zh-CN" altLang="en-US" sz="2400" dirty="0"/>
              <a:t>往期工作</a:t>
            </a:r>
            <a:r>
              <a:rPr lang="zh-CN" altLang="en-US" sz="2400" dirty="0"/>
              <a:t>速览</a:t>
            </a:r>
            <a:endParaRPr lang="zh-CN" altLang="en-US" sz="2400" dirty="0"/>
          </a:p>
        </p:txBody>
      </p:sp>
      <p:sp>
        <p:nvSpPr>
          <p:cNvPr id="41" name="文本框 40"/>
          <p:cNvSpPr txBox="1"/>
          <p:nvPr/>
        </p:nvSpPr>
        <p:spPr>
          <a:xfrm>
            <a:off x="666115" y="1141730"/>
            <a:ext cx="6096000" cy="3169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200000"/>
              </a:lnSpc>
            </a:pPr>
            <a:r>
              <a:rPr lang="zh-CN" altLang="en-US" sz="2000">
                <a:sym typeface="+mn-ea"/>
              </a:rPr>
              <a:t>上周讨论</a:t>
            </a:r>
            <a:r>
              <a:rPr lang="en-US" altLang="zh-CN" sz="2000">
                <a:sym typeface="+mn-ea"/>
              </a:rPr>
              <a:t>cot</a:t>
            </a:r>
            <a:r>
              <a:rPr lang="zh-CN" altLang="en-US" sz="2000">
                <a:sym typeface="+mn-ea"/>
              </a:rPr>
              <a:t>生成逻辑：</a:t>
            </a:r>
            <a:endParaRPr lang="zh-CN" altLang="en-US" sz="2000">
              <a:sym typeface="+mn-ea"/>
            </a:endParaRPr>
          </a:p>
          <a:p>
            <a:pPr indent="457200">
              <a:lnSpc>
                <a:spcPct val="200000"/>
              </a:lnSpc>
            </a:pPr>
            <a:r>
              <a:rPr lang="en-US" altLang="zh-CN" sz="2000">
                <a:sym typeface="+mn-ea"/>
              </a:rPr>
              <a:t>1. </a:t>
            </a:r>
            <a:r>
              <a:rPr lang="zh-CN" altLang="en-US" sz="2000">
                <a:sym typeface="+mn-ea"/>
              </a:rPr>
              <a:t>代码执行追踪</a:t>
            </a:r>
            <a:endParaRPr lang="zh-CN" altLang="en-US" sz="2000">
              <a:sym typeface="+mn-ea"/>
            </a:endParaRPr>
          </a:p>
          <a:p>
            <a:pPr indent="457200">
              <a:lnSpc>
                <a:spcPct val="200000"/>
              </a:lnSpc>
            </a:pPr>
            <a:r>
              <a:rPr lang="en-US" altLang="zh-CN" sz="2000">
                <a:sym typeface="+mn-ea"/>
              </a:rPr>
              <a:t>2. </a:t>
            </a:r>
            <a:r>
              <a:rPr lang="zh-CN" altLang="en-US" sz="2000">
                <a:sym typeface="+mn-ea"/>
              </a:rPr>
              <a:t>智能回溯与剪枝</a:t>
            </a:r>
            <a:endParaRPr lang="zh-CN" altLang="en-US" sz="2000">
              <a:sym typeface="+mn-ea"/>
            </a:endParaRPr>
          </a:p>
          <a:p>
            <a:pPr indent="457200">
              <a:lnSpc>
                <a:spcPct val="200000"/>
              </a:lnSpc>
            </a:pPr>
            <a:r>
              <a:rPr lang="en-US" altLang="zh-CN" sz="2000">
                <a:sym typeface="+mn-ea"/>
              </a:rPr>
              <a:t>3. </a:t>
            </a:r>
            <a:r>
              <a:rPr lang="zh-CN" altLang="en-US" sz="2000">
                <a:sym typeface="+mn-ea"/>
              </a:rPr>
              <a:t>模板化</a:t>
            </a:r>
            <a:r>
              <a:rPr lang="en-US" altLang="zh-CN" sz="2000">
                <a:sym typeface="+mn-ea"/>
              </a:rPr>
              <a:t>COT</a:t>
            </a:r>
            <a:r>
              <a:rPr lang="zh-CN" altLang="en-US" sz="2000">
                <a:sym typeface="+mn-ea"/>
              </a:rPr>
              <a:t>生成</a:t>
            </a:r>
            <a:endParaRPr lang="zh-CN" altLang="en-US" sz="20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sz="2000" b="1">
                <a:solidFill>
                  <a:srgbClr val="FF0000"/>
                </a:solidFill>
                <a:sym typeface="+mn-ea"/>
              </a:rPr>
              <a:t>去掉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ai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依赖，保证结果的可控性与高质量</a:t>
            </a:r>
            <a:endParaRPr lang="zh-CN" altLang="en-US" sz="2000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3535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一、回顾：</a:t>
            </a:r>
            <a:r>
              <a:rPr lang="zh-CN" altLang="en-US" sz="2400" dirty="0"/>
              <a:t>往期工作</a:t>
            </a:r>
            <a:r>
              <a:rPr lang="zh-CN" altLang="en-US" sz="2400" dirty="0"/>
              <a:t>速览</a:t>
            </a:r>
            <a:endParaRPr lang="zh-CN" altLang="en-US" sz="2400" dirty="0"/>
          </a:p>
        </p:txBody>
      </p:sp>
      <p:sp>
        <p:nvSpPr>
          <p:cNvPr id="41" name="文本框 40"/>
          <p:cNvSpPr txBox="1"/>
          <p:nvPr/>
        </p:nvSpPr>
        <p:spPr>
          <a:xfrm>
            <a:off x="666115" y="1141730"/>
            <a:ext cx="6096000" cy="3169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200000"/>
              </a:lnSpc>
            </a:pPr>
            <a:r>
              <a:rPr lang="zh-CN" altLang="en-US" sz="2000">
                <a:sym typeface="+mn-ea"/>
              </a:rPr>
              <a:t>上周讨论</a:t>
            </a:r>
            <a:r>
              <a:rPr lang="en-US" altLang="zh-CN" sz="2000">
                <a:sym typeface="+mn-ea"/>
              </a:rPr>
              <a:t>cot</a:t>
            </a:r>
            <a:r>
              <a:rPr lang="zh-CN" altLang="en-US" sz="2000">
                <a:sym typeface="+mn-ea"/>
              </a:rPr>
              <a:t>生成逻辑：</a:t>
            </a:r>
            <a:endParaRPr lang="zh-CN" altLang="en-US" sz="2000">
              <a:sym typeface="+mn-ea"/>
            </a:endParaRPr>
          </a:p>
          <a:p>
            <a:pPr indent="457200">
              <a:lnSpc>
                <a:spcPct val="200000"/>
              </a:lnSpc>
            </a:pPr>
            <a:r>
              <a:rPr lang="en-US" altLang="zh-CN" sz="2000">
                <a:sym typeface="+mn-ea"/>
              </a:rPr>
              <a:t>1. </a:t>
            </a:r>
            <a:r>
              <a:rPr lang="zh-CN" altLang="en-US" sz="2000">
                <a:sym typeface="+mn-ea"/>
              </a:rPr>
              <a:t>代码执行追踪</a:t>
            </a:r>
            <a:endParaRPr lang="zh-CN" altLang="en-US" sz="2000">
              <a:sym typeface="+mn-ea"/>
            </a:endParaRPr>
          </a:p>
          <a:p>
            <a:pPr indent="457200">
              <a:lnSpc>
                <a:spcPct val="200000"/>
              </a:lnSpc>
            </a:pPr>
            <a:r>
              <a:rPr lang="en-US" altLang="zh-CN" sz="2000">
                <a:sym typeface="+mn-ea"/>
              </a:rPr>
              <a:t>2. </a:t>
            </a:r>
            <a:r>
              <a:rPr lang="zh-CN" altLang="en-US" sz="2000">
                <a:sym typeface="+mn-ea"/>
              </a:rPr>
              <a:t>智能回溯与剪枝</a:t>
            </a:r>
            <a:endParaRPr lang="zh-CN" altLang="en-US" sz="2000">
              <a:sym typeface="+mn-ea"/>
            </a:endParaRPr>
          </a:p>
          <a:p>
            <a:pPr indent="457200">
              <a:lnSpc>
                <a:spcPct val="200000"/>
              </a:lnSpc>
            </a:pPr>
            <a:r>
              <a:rPr lang="en-US" altLang="zh-CN" sz="2000">
                <a:sym typeface="+mn-ea"/>
              </a:rPr>
              <a:t>3. </a:t>
            </a:r>
            <a:r>
              <a:rPr lang="zh-CN" altLang="en-US" sz="2000">
                <a:sym typeface="+mn-ea"/>
              </a:rPr>
              <a:t>模板化</a:t>
            </a:r>
            <a:r>
              <a:rPr lang="en-US" altLang="zh-CN" sz="2000">
                <a:sym typeface="+mn-ea"/>
              </a:rPr>
              <a:t>COT</a:t>
            </a:r>
            <a:r>
              <a:rPr lang="zh-CN" altLang="en-US" sz="2000">
                <a:sym typeface="+mn-ea"/>
              </a:rPr>
              <a:t>生成</a:t>
            </a:r>
            <a:endParaRPr lang="zh-CN" altLang="en-US" sz="20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sz="2000" b="1">
                <a:solidFill>
                  <a:srgbClr val="FF0000"/>
                </a:solidFill>
                <a:sym typeface="+mn-ea"/>
              </a:rPr>
              <a:t>去掉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ai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依赖，保证结果的可控性与高质量</a:t>
            </a:r>
            <a:endParaRPr lang="zh-CN" altLang="en-US" sz="2000" b="1">
              <a:solidFill>
                <a:srgbClr val="FF0000"/>
              </a:solidFill>
              <a:sym typeface="+mn-ea"/>
            </a:endParaRPr>
          </a:p>
        </p:txBody>
      </p:sp>
      <p:pic>
        <p:nvPicPr>
          <p:cNvPr id="8" name="图片 7" descr="向右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49925" y="2332355"/>
            <a:ext cx="691515" cy="6915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679565" y="1363980"/>
            <a:ext cx="5042535" cy="3169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200000"/>
              </a:lnSpc>
            </a:pPr>
            <a:r>
              <a:rPr lang="zh-CN" altLang="en-US" sz="2000">
                <a:sym typeface="+mn-ea"/>
              </a:rPr>
              <a:t>本周核心结论：</a:t>
            </a:r>
            <a:br>
              <a:rPr lang="zh-CN" altLang="en-US" sz="2000">
                <a:sym typeface="+mn-ea"/>
              </a:rPr>
            </a:br>
            <a:r>
              <a:rPr lang="zh-CN" altLang="en-US" sz="2000">
                <a:sym typeface="+mn-ea"/>
              </a:rPr>
              <a:t>完成了去</a:t>
            </a:r>
            <a:r>
              <a:rPr lang="en-US" altLang="zh-CN" sz="2000">
                <a:sym typeface="+mn-ea"/>
              </a:rPr>
              <a:t>ai</a:t>
            </a:r>
            <a:r>
              <a:rPr lang="zh-CN" altLang="en-US" sz="2000">
                <a:sym typeface="+mn-ea"/>
              </a:rPr>
              <a:t>依赖的剪枝与模板化</a:t>
            </a:r>
            <a:r>
              <a:rPr lang="en-US" altLang="zh-CN" sz="2000">
                <a:sym typeface="+mn-ea"/>
              </a:rPr>
              <a:t>cot</a:t>
            </a:r>
            <a:r>
              <a:rPr lang="zh-CN" altLang="en-US" sz="2000">
                <a:sym typeface="+mn-ea"/>
              </a:rPr>
              <a:t>生成</a:t>
            </a:r>
            <a:r>
              <a:rPr lang="zh-CN" altLang="en-US" sz="2000">
                <a:sym typeface="+mn-ea"/>
              </a:rPr>
              <a:t>技术</a:t>
            </a:r>
            <a:endParaRPr lang="zh-CN" altLang="en-US" sz="20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sz="2000">
                <a:sym typeface="+mn-ea"/>
              </a:rPr>
              <a:t>核心算法为</a:t>
            </a:r>
            <a:r>
              <a:rPr lang="en-US" altLang="zh-CN" sz="2000">
                <a:sym typeface="+mn-ea"/>
              </a:rPr>
              <a:t> 1. </a:t>
            </a:r>
            <a:r>
              <a:rPr lang="zh-CN" altLang="en-US" sz="2000">
                <a:solidFill>
                  <a:schemeClr val="accent5">
                    <a:lumMod val="75000"/>
                  </a:schemeClr>
                </a:solidFill>
                <a:sym typeface="+mn-ea"/>
              </a:rPr>
              <a:t>智能回溯剪枝算法</a:t>
            </a:r>
            <a:r>
              <a:rPr lang="en-US" altLang="zh-CN" sz="2000">
                <a:sym typeface="+mn-ea"/>
              </a:rPr>
              <a:t> </a:t>
            </a:r>
            <a:endParaRPr lang="en-US" altLang="zh-CN" sz="2000">
              <a:sym typeface="+mn-ea"/>
            </a:endParaRPr>
          </a:p>
          <a:p>
            <a:pPr marL="457200" lvl="1" indent="457200">
              <a:lnSpc>
                <a:spcPct val="200000"/>
              </a:lnSpc>
            </a:pPr>
            <a:r>
              <a:rPr lang="en-US" altLang="zh-CN" sz="2000">
                <a:sym typeface="+mn-ea"/>
              </a:rPr>
              <a:t>      2. </a:t>
            </a:r>
            <a:r>
              <a:rPr lang="zh-CN" altLang="en-US" sz="2000">
                <a:solidFill>
                  <a:schemeClr val="accent5">
                    <a:lumMod val="75000"/>
                  </a:schemeClr>
                </a:solidFill>
                <a:sym typeface="+mn-ea"/>
              </a:rPr>
              <a:t>模板化</a:t>
            </a:r>
            <a:r>
              <a:rPr lang="en-US" altLang="zh-CN" sz="2000">
                <a:solidFill>
                  <a:schemeClr val="accent5">
                    <a:lumMod val="75000"/>
                  </a:schemeClr>
                </a:solidFill>
                <a:sym typeface="+mn-ea"/>
              </a:rPr>
              <a:t>COT</a:t>
            </a:r>
            <a:r>
              <a:rPr lang="zh-CN" altLang="en-US" sz="2000">
                <a:solidFill>
                  <a:schemeClr val="accent5">
                    <a:lumMod val="75000"/>
                  </a:schemeClr>
                </a:solidFill>
                <a:sym typeface="+mn-ea"/>
              </a:rPr>
              <a:t>生成算法</a:t>
            </a:r>
            <a:endParaRPr lang="zh-CN" altLang="en-US" sz="20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sz="2000">
                <a:sym typeface="+mn-ea"/>
              </a:rPr>
              <a:t>并且在</a:t>
            </a:r>
            <a:r>
              <a:rPr lang="en-US" altLang="zh-CN" sz="2000">
                <a:sym typeface="+mn-ea"/>
              </a:rPr>
              <a:t>10</a:t>
            </a:r>
            <a:r>
              <a:rPr lang="zh-CN" altLang="en-US" sz="2000">
                <a:sym typeface="+mn-ea"/>
              </a:rPr>
              <a:t>种情况的测试例中验证了</a:t>
            </a:r>
            <a:r>
              <a:rPr lang="zh-CN" altLang="en-US" sz="2000">
                <a:sym typeface="+mn-ea"/>
              </a:rPr>
              <a:t>正确性</a:t>
            </a:r>
            <a:endParaRPr lang="zh-CN" altLang="en-US" sz="200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302697"/>
            <a:ext cx="72980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二、分享：智能回溯剪枝与</a:t>
            </a:r>
            <a:r>
              <a:rPr lang="en-US" altLang="zh-CN" sz="2400" dirty="0"/>
              <a:t>cot</a:t>
            </a:r>
            <a:r>
              <a:rPr lang="zh-CN" altLang="en-US" sz="2400" dirty="0"/>
              <a:t>生成框架</a:t>
            </a:r>
            <a:r>
              <a:rPr lang="en-US" altLang="zh-CN" sz="2400" dirty="0"/>
              <a:t>——</a:t>
            </a:r>
            <a:r>
              <a:rPr lang="zh-CN" altLang="en-US" sz="2400" dirty="0"/>
              <a:t>整体思路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394335" y="1087120"/>
            <a:ext cx="8115300" cy="49542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200000"/>
              </a:lnSpc>
            </a:pPr>
            <a:r>
              <a:rPr lang="en-US" altLang="zh-CN" sz="2000">
                <a:sym typeface="+mn-ea"/>
              </a:rPr>
              <a:t>1. </a:t>
            </a:r>
            <a:r>
              <a:rPr lang="zh-CN" altLang="en-US" sz="2000">
                <a:sym typeface="+mn-ea"/>
              </a:rPr>
              <a:t>代码执行追踪</a:t>
            </a:r>
            <a:endParaRPr lang="zh-CN" altLang="en-US" sz="20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 </a:t>
            </a:r>
            <a:r>
              <a:rPr lang="zh-CN" altLang="en-US" sz="1400">
                <a:sym typeface="+mn-ea"/>
              </a:rPr>
              <a:t>使用</a:t>
            </a:r>
            <a:r>
              <a:rPr lang="en-US" altLang="zh-CN" sz="1400">
                <a:sym typeface="+mn-ea"/>
              </a:rPr>
              <a:t> `auto_trace` </a:t>
            </a:r>
            <a:r>
              <a:rPr lang="zh-CN" altLang="en-US" sz="1400">
                <a:sym typeface="+mn-ea"/>
              </a:rPr>
              <a:t>工具对代码进行</a:t>
            </a:r>
            <a:r>
              <a:rPr lang="zh-CN" altLang="en-US" sz="1400">
                <a:sym typeface="+mn-ea"/>
              </a:rPr>
              <a:t>逐行插桩和执行追踪</a:t>
            </a:r>
            <a:endParaRPr lang="zh-CN" altLang="en-US" sz="14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 test.py </a:t>
            </a:r>
            <a:r>
              <a:rPr lang="en-US" altLang="zh-CN" sz="1400">
                <a:sym typeface="+mn-ea"/>
              </a:rPr>
              <a:t>→ trace_test.txt</a:t>
            </a:r>
            <a:endParaRPr lang="en-US" altLang="zh-CN" sz="14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000">
                <a:sym typeface="+mn-ea"/>
              </a:rPr>
              <a:t>2. </a:t>
            </a:r>
            <a:r>
              <a:rPr lang="zh-CN" altLang="en-US" sz="2000">
                <a:sym typeface="+mn-ea"/>
              </a:rPr>
              <a:t>智能回溯与剪枝</a:t>
            </a:r>
            <a:endParaRPr lang="zh-CN" altLang="en-US" sz="20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 </a:t>
            </a:r>
            <a:r>
              <a:rPr lang="zh-CN" altLang="en-US" sz="1400">
                <a:sym typeface="+mn-ea"/>
              </a:rPr>
              <a:t>从目标行号开始向上回溯</a:t>
            </a:r>
            <a:r>
              <a:rPr lang="en-US" altLang="zh-CN" sz="1400">
                <a:sym typeface="+mn-ea"/>
              </a:rPr>
              <a:t>,</a:t>
            </a:r>
            <a:r>
              <a:rPr lang="zh-CN" altLang="en-US" sz="1400">
                <a:sym typeface="+mn-ea"/>
              </a:rPr>
              <a:t>构建依赖图并剪除无关代码行与变量</a:t>
            </a:r>
            <a:endParaRPr lang="zh-CN" altLang="en-US" sz="14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 </a:t>
            </a:r>
            <a:r>
              <a:rPr lang="zh-CN" altLang="en-US" sz="1400">
                <a:sym typeface="+mn-ea"/>
              </a:rPr>
              <a:t>每一行的变量列表必须包含</a:t>
            </a:r>
            <a:r>
              <a:rPr lang="en-US" altLang="zh-CN" sz="1400">
                <a:sym typeface="+mn-ea"/>
              </a:rPr>
              <a:t>“</a:t>
            </a:r>
            <a:r>
              <a:rPr lang="zh-CN" altLang="en-US" sz="1400">
                <a:sym typeface="+mn-ea"/>
              </a:rPr>
              <a:t>下一行计算所需的所有变量</a:t>
            </a:r>
            <a:r>
              <a:rPr lang="en-US" altLang="zh-CN" sz="1400">
                <a:sym typeface="+mn-ea"/>
              </a:rPr>
              <a:t>”,</a:t>
            </a:r>
            <a:r>
              <a:rPr lang="zh-CN" altLang="en-US" sz="1400">
                <a:sym typeface="+mn-ea"/>
              </a:rPr>
              <a:t>确保推理链的连续性和可计算性。</a:t>
            </a:r>
            <a:endParaRPr lang="zh-CN" altLang="en-US" sz="14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 trace_test.txt → </a:t>
            </a:r>
            <a:r>
              <a:rPr lang="en-US" altLang="zh-CN" sz="1400">
                <a:sym typeface="+mn-ea"/>
              </a:rPr>
              <a:t>trimed_trace_test.txt</a:t>
            </a:r>
            <a:endParaRPr lang="zh-CN" altLang="en-US" sz="20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000">
                <a:sym typeface="+mn-ea"/>
              </a:rPr>
              <a:t>3. </a:t>
            </a:r>
            <a:r>
              <a:rPr lang="zh-CN" altLang="en-US" sz="2000">
                <a:sym typeface="+mn-ea"/>
              </a:rPr>
              <a:t>模板化</a:t>
            </a:r>
            <a:r>
              <a:rPr lang="en-US" altLang="zh-CN" sz="2000">
                <a:sym typeface="+mn-ea"/>
              </a:rPr>
              <a:t>COT</a:t>
            </a:r>
            <a:r>
              <a:rPr lang="zh-CN" altLang="en-US" sz="2000">
                <a:sym typeface="+mn-ea"/>
              </a:rPr>
              <a:t>生成</a:t>
            </a:r>
            <a:endParaRPr lang="zh-CN" altLang="en-US" sz="20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 </a:t>
            </a:r>
            <a:r>
              <a:rPr lang="zh-CN" altLang="en-US" sz="1400">
                <a:sym typeface="+mn-ea"/>
              </a:rPr>
              <a:t>基于代码</a:t>
            </a:r>
            <a:r>
              <a:rPr lang="en-US" altLang="zh-CN" sz="1400">
                <a:sym typeface="+mn-ea"/>
              </a:rPr>
              <a:t>AST</a:t>
            </a:r>
            <a:r>
              <a:rPr lang="zh-CN" altLang="en-US" sz="1400">
                <a:sym typeface="+mn-ea"/>
              </a:rPr>
              <a:t>类型和变量值</a:t>
            </a:r>
            <a:r>
              <a:rPr lang="en-US" altLang="zh-CN" sz="1400">
                <a:sym typeface="+mn-ea"/>
              </a:rPr>
              <a:t>,</a:t>
            </a:r>
            <a:r>
              <a:rPr lang="zh-CN" altLang="en-US" sz="1400">
                <a:sym typeface="+mn-ea"/>
              </a:rPr>
              <a:t>使用预定义模板生成</a:t>
            </a:r>
            <a:r>
              <a:rPr lang="en-US" altLang="zh-CN" sz="1400">
                <a:sym typeface="+mn-ea"/>
              </a:rPr>
              <a:t>COT</a:t>
            </a:r>
            <a:r>
              <a:rPr lang="zh-CN" altLang="en-US" sz="1400">
                <a:sym typeface="+mn-ea"/>
              </a:rPr>
              <a:t>注释（不调用</a:t>
            </a:r>
            <a:r>
              <a:rPr lang="en-US" altLang="zh-CN" sz="1400">
                <a:sym typeface="+mn-ea"/>
              </a:rPr>
              <a:t>ai</a:t>
            </a:r>
            <a:r>
              <a:rPr lang="zh-CN" altLang="en-US" sz="1400">
                <a:sym typeface="+mn-ea"/>
              </a:rPr>
              <a:t>的模板匹配与参数填充）</a:t>
            </a:r>
            <a:endParaRPr lang="zh-CN" altLang="en-US" sz="14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</a:t>
            </a:r>
            <a:r>
              <a:rPr lang="en-US" altLang="zh-CN" sz="1400">
                <a:sym typeface="+mn-ea"/>
              </a:rPr>
              <a:t> trimed_trace_test.txt → final_cot_test.txt</a:t>
            </a:r>
            <a:endParaRPr lang="en-US" altLang="zh-CN" sz="14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5275" y="1914525"/>
            <a:ext cx="4005580" cy="27419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302697"/>
            <a:ext cx="72980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二、分享：智能回溯剪枝与</a:t>
            </a:r>
            <a:r>
              <a:rPr lang="en-US" altLang="zh-CN" sz="2400" dirty="0"/>
              <a:t>cot</a:t>
            </a:r>
            <a:r>
              <a:rPr lang="zh-CN" altLang="en-US" sz="2400" dirty="0"/>
              <a:t>生成框架</a:t>
            </a:r>
            <a:r>
              <a:rPr lang="en-US" altLang="zh-CN" sz="2400" dirty="0"/>
              <a:t>——</a:t>
            </a:r>
            <a:r>
              <a:rPr lang="zh-CN" altLang="en-US" sz="2400" dirty="0"/>
              <a:t>整体思路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394335" y="1087120"/>
            <a:ext cx="8115300" cy="49542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200000"/>
              </a:lnSpc>
            </a:pPr>
            <a:r>
              <a:rPr lang="en-US" altLang="zh-CN" sz="2000">
                <a:sym typeface="+mn-ea"/>
              </a:rPr>
              <a:t>1. </a:t>
            </a:r>
            <a:r>
              <a:rPr lang="zh-CN" altLang="en-US" sz="2000">
                <a:sym typeface="+mn-ea"/>
              </a:rPr>
              <a:t>代码执行追踪</a:t>
            </a:r>
            <a:endParaRPr lang="zh-CN" altLang="en-US" sz="20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 </a:t>
            </a:r>
            <a:r>
              <a:rPr lang="zh-CN" altLang="en-US" sz="1400">
                <a:sym typeface="+mn-ea"/>
              </a:rPr>
              <a:t>使用</a:t>
            </a:r>
            <a:r>
              <a:rPr lang="en-US" altLang="zh-CN" sz="1400">
                <a:sym typeface="+mn-ea"/>
              </a:rPr>
              <a:t> `auto_trace` </a:t>
            </a:r>
            <a:r>
              <a:rPr lang="zh-CN" altLang="en-US" sz="1400">
                <a:sym typeface="+mn-ea"/>
              </a:rPr>
              <a:t>工具对代码进行</a:t>
            </a:r>
            <a:r>
              <a:rPr lang="zh-CN" altLang="en-US" sz="1400">
                <a:sym typeface="+mn-ea"/>
              </a:rPr>
              <a:t>逐行插桩和执行追踪</a:t>
            </a:r>
            <a:endParaRPr lang="zh-CN" altLang="en-US" sz="14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 test.py </a:t>
            </a:r>
            <a:r>
              <a:rPr lang="en-US" altLang="zh-CN" sz="1400">
                <a:sym typeface="+mn-ea"/>
              </a:rPr>
              <a:t>→ trace_test.txt</a:t>
            </a:r>
            <a:endParaRPr lang="en-US" altLang="zh-CN" sz="14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000">
                <a:sym typeface="+mn-ea"/>
              </a:rPr>
              <a:t>2. </a:t>
            </a:r>
            <a:r>
              <a:rPr lang="zh-CN" altLang="en-US" sz="2000">
                <a:sym typeface="+mn-ea"/>
              </a:rPr>
              <a:t>智能回溯与剪枝</a:t>
            </a:r>
            <a:endParaRPr lang="zh-CN" altLang="en-US" sz="20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 </a:t>
            </a:r>
            <a:r>
              <a:rPr lang="zh-CN" altLang="en-US" sz="1400">
                <a:sym typeface="+mn-ea"/>
              </a:rPr>
              <a:t>从目标行号开始向上回溯</a:t>
            </a:r>
            <a:r>
              <a:rPr lang="en-US" altLang="zh-CN" sz="1400">
                <a:sym typeface="+mn-ea"/>
              </a:rPr>
              <a:t>,</a:t>
            </a:r>
            <a:r>
              <a:rPr lang="zh-CN" altLang="en-US" sz="1400">
                <a:sym typeface="+mn-ea"/>
              </a:rPr>
              <a:t>构建依赖图并剪除无关代码行与变量</a:t>
            </a:r>
            <a:endParaRPr lang="zh-CN" altLang="en-US" sz="14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 </a:t>
            </a:r>
            <a:r>
              <a:rPr lang="zh-CN" altLang="en-US" sz="1400">
                <a:sym typeface="+mn-ea"/>
              </a:rPr>
              <a:t>每一行的变量列表必须包含</a:t>
            </a:r>
            <a:r>
              <a:rPr lang="en-US" altLang="zh-CN" sz="1400">
                <a:sym typeface="+mn-ea"/>
              </a:rPr>
              <a:t>“</a:t>
            </a:r>
            <a:r>
              <a:rPr lang="zh-CN" altLang="en-US" sz="1400">
                <a:sym typeface="+mn-ea"/>
              </a:rPr>
              <a:t>下一行计算所需的所有变量</a:t>
            </a:r>
            <a:r>
              <a:rPr lang="en-US" altLang="zh-CN" sz="1400">
                <a:sym typeface="+mn-ea"/>
              </a:rPr>
              <a:t>”,</a:t>
            </a:r>
            <a:r>
              <a:rPr lang="zh-CN" altLang="en-US" sz="1400">
                <a:sym typeface="+mn-ea"/>
              </a:rPr>
              <a:t>确保推理链的连续性和可计算性。</a:t>
            </a:r>
            <a:endParaRPr lang="zh-CN" altLang="en-US" sz="14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 trace_test.txt → </a:t>
            </a:r>
            <a:r>
              <a:rPr lang="en-US" altLang="zh-CN" sz="1400">
                <a:sym typeface="+mn-ea"/>
              </a:rPr>
              <a:t>trimed_trace_test.txt</a:t>
            </a:r>
            <a:endParaRPr lang="zh-CN" altLang="en-US" sz="20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000">
                <a:sym typeface="+mn-ea"/>
              </a:rPr>
              <a:t>3. </a:t>
            </a:r>
            <a:r>
              <a:rPr lang="zh-CN" altLang="en-US" sz="2000">
                <a:sym typeface="+mn-ea"/>
              </a:rPr>
              <a:t>模板化</a:t>
            </a:r>
            <a:r>
              <a:rPr lang="en-US" altLang="zh-CN" sz="2000">
                <a:sym typeface="+mn-ea"/>
              </a:rPr>
              <a:t>COT</a:t>
            </a:r>
            <a:r>
              <a:rPr lang="zh-CN" altLang="en-US" sz="2000">
                <a:sym typeface="+mn-ea"/>
              </a:rPr>
              <a:t>生成</a:t>
            </a:r>
            <a:endParaRPr lang="zh-CN" altLang="en-US" sz="20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 </a:t>
            </a:r>
            <a:r>
              <a:rPr lang="zh-CN" altLang="en-US" sz="1400">
                <a:sym typeface="+mn-ea"/>
              </a:rPr>
              <a:t>基于代码</a:t>
            </a:r>
            <a:r>
              <a:rPr lang="en-US" altLang="zh-CN" sz="1400">
                <a:sym typeface="+mn-ea"/>
              </a:rPr>
              <a:t>AST</a:t>
            </a:r>
            <a:r>
              <a:rPr lang="zh-CN" altLang="en-US" sz="1400">
                <a:sym typeface="+mn-ea"/>
              </a:rPr>
              <a:t>类型和变量值</a:t>
            </a:r>
            <a:r>
              <a:rPr lang="en-US" altLang="zh-CN" sz="1400">
                <a:sym typeface="+mn-ea"/>
              </a:rPr>
              <a:t>,</a:t>
            </a:r>
            <a:r>
              <a:rPr lang="zh-CN" altLang="en-US" sz="1400">
                <a:sym typeface="+mn-ea"/>
              </a:rPr>
              <a:t>使用预定义模板生成</a:t>
            </a:r>
            <a:r>
              <a:rPr lang="en-US" altLang="zh-CN" sz="1400">
                <a:sym typeface="+mn-ea"/>
              </a:rPr>
              <a:t>COT</a:t>
            </a:r>
            <a:r>
              <a:rPr lang="zh-CN" altLang="en-US" sz="1400">
                <a:sym typeface="+mn-ea"/>
              </a:rPr>
              <a:t>注释（不调用</a:t>
            </a:r>
            <a:r>
              <a:rPr lang="en-US" altLang="zh-CN" sz="1400">
                <a:sym typeface="+mn-ea"/>
              </a:rPr>
              <a:t>ai</a:t>
            </a:r>
            <a:r>
              <a:rPr lang="zh-CN" altLang="en-US" sz="1400">
                <a:sym typeface="+mn-ea"/>
              </a:rPr>
              <a:t>的模板匹配与参数填充）</a:t>
            </a:r>
            <a:endParaRPr lang="zh-CN" altLang="en-US" sz="14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</a:t>
            </a:r>
            <a:r>
              <a:rPr lang="en-US" altLang="zh-CN" sz="1400">
                <a:sym typeface="+mn-ea"/>
              </a:rPr>
              <a:t> trimed_trace_test.txt → final_cot_test.txt</a:t>
            </a:r>
            <a:endParaRPr lang="en-US" altLang="zh-CN" sz="140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0650" y="1752600"/>
            <a:ext cx="4832985" cy="3854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302697"/>
            <a:ext cx="72980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二、分享：智能回溯剪枝与</a:t>
            </a:r>
            <a:r>
              <a:rPr lang="en-US" altLang="zh-CN" sz="2400" dirty="0"/>
              <a:t>cot</a:t>
            </a:r>
            <a:r>
              <a:rPr lang="zh-CN" altLang="en-US" sz="2400" dirty="0"/>
              <a:t>生成框架</a:t>
            </a:r>
            <a:r>
              <a:rPr lang="en-US" altLang="zh-CN" sz="2400" dirty="0"/>
              <a:t>——</a:t>
            </a:r>
            <a:r>
              <a:rPr lang="zh-CN" altLang="en-US" sz="2400" dirty="0"/>
              <a:t>整体思路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394335" y="1087120"/>
            <a:ext cx="8115300" cy="49542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200000"/>
              </a:lnSpc>
            </a:pPr>
            <a:r>
              <a:rPr lang="en-US" altLang="zh-CN" sz="2000">
                <a:sym typeface="+mn-ea"/>
              </a:rPr>
              <a:t>1. </a:t>
            </a:r>
            <a:r>
              <a:rPr lang="zh-CN" altLang="en-US" sz="2000">
                <a:sym typeface="+mn-ea"/>
              </a:rPr>
              <a:t>代码执行追踪</a:t>
            </a:r>
            <a:endParaRPr lang="zh-CN" altLang="en-US" sz="20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 </a:t>
            </a:r>
            <a:r>
              <a:rPr lang="zh-CN" altLang="en-US" sz="1400">
                <a:sym typeface="+mn-ea"/>
              </a:rPr>
              <a:t>使用</a:t>
            </a:r>
            <a:r>
              <a:rPr lang="en-US" altLang="zh-CN" sz="1400">
                <a:sym typeface="+mn-ea"/>
              </a:rPr>
              <a:t> `auto_trace` </a:t>
            </a:r>
            <a:r>
              <a:rPr lang="zh-CN" altLang="en-US" sz="1400">
                <a:sym typeface="+mn-ea"/>
              </a:rPr>
              <a:t>工具对代码进行</a:t>
            </a:r>
            <a:r>
              <a:rPr lang="zh-CN" altLang="en-US" sz="1400">
                <a:sym typeface="+mn-ea"/>
              </a:rPr>
              <a:t>逐行插桩和执行追踪</a:t>
            </a:r>
            <a:endParaRPr lang="zh-CN" altLang="en-US" sz="14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 test.py </a:t>
            </a:r>
            <a:r>
              <a:rPr lang="en-US" altLang="zh-CN" sz="1400">
                <a:sym typeface="+mn-ea"/>
              </a:rPr>
              <a:t>→ trace_test.txt</a:t>
            </a:r>
            <a:endParaRPr lang="en-US" altLang="zh-CN" sz="14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000">
                <a:sym typeface="+mn-ea"/>
              </a:rPr>
              <a:t>2. </a:t>
            </a:r>
            <a:r>
              <a:rPr lang="zh-CN" altLang="en-US" sz="2000">
                <a:sym typeface="+mn-ea"/>
              </a:rPr>
              <a:t>智能回溯与剪枝</a:t>
            </a:r>
            <a:endParaRPr lang="zh-CN" altLang="en-US" sz="20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 </a:t>
            </a:r>
            <a:r>
              <a:rPr lang="zh-CN" altLang="en-US" sz="1400">
                <a:sym typeface="+mn-ea"/>
              </a:rPr>
              <a:t>从目标行号开始向上回溯</a:t>
            </a:r>
            <a:r>
              <a:rPr lang="en-US" altLang="zh-CN" sz="1400">
                <a:sym typeface="+mn-ea"/>
              </a:rPr>
              <a:t>,</a:t>
            </a:r>
            <a:r>
              <a:rPr lang="zh-CN" altLang="en-US" sz="1400">
                <a:sym typeface="+mn-ea"/>
              </a:rPr>
              <a:t>构建依赖图并剪除无关代码行与变量</a:t>
            </a:r>
            <a:endParaRPr lang="zh-CN" altLang="en-US" sz="14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 </a:t>
            </a:r>
            <a:r>
              <a:rPr lang="zh-CN" altLang="en-US" sz="1400">
                <a:sym typeface="+mn-ea"/>
              </a:rPr>
              <a:t>每一行的变量列表必须包含</a:t>
            </a:r>
            <a:r>
              <a:rPr lang="en-US" altLang="zh-CN" sz="1400">
                <a:sym typeface="+mn-ea"/>
              </a:rPr>
              <a:t>“</a:t>
            </a:r>
            <a:r>
              <a:rPr lang="zh-CN" altLang="en-US" sz="1400">
                <a:sym typeface="+mn-ea"/>
              </a:rPr>
              <a:t>下一行计算所需的所有变量</a:t>
            </a:r>
            <a:r>
              <a:rPr lang="en-US" altLang="zh-CN" sz="1400">
                <a:sym typeface="+mn-ea"/>
              </a:rPr>
              <a:t>”,</a:t>
            </a:r>
            <a:r>
              <a:rPr lang="zh-CN" altLang="en-US" sz="1400">
                <a:sym typeface="+mn-ea"/>
              </a:rPr>
              <a:t>确保推理链的连续性和可计算性。</a:t>
            </a:r>
            <a:endParaRPr lang="zh-CN" altLang="en-US" sz="14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 trace_test.txt → </a:t>
            </a:r>
            <a:r>
              <a:rPr lang="en-US" altLang="zh-CN" sz="1400">
                <a:sym typeface="+mn-ea"/>
              </a:rPr>
              <a:t>trimed_trace_test.txt</a:t>
            </a:r>
            <a:endParaRPr lang="zh-CN" altLang="en-US" sz="20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000">
                <a:sym typeface="+mn-ea"/>
              </a:rPr>
              <a:t>3. </a:t>
            </a:r>
            <a:r>
              <a:rPr lang="zh-CN" altLang="en-US" sz="2000">
                <a:sym typeface="+mn-ea"/>
              </a:rPr>
              <a:t>模板化</a:t>
            </a:r>
            <a:r>
              <a:rPr lang="en-US" altLang="zh-CN" sz="2000">
                <a:sym typeface="+mn-ea"/>
              </a:rPr>
              <a:t>COT</a:t>
            </a:r>
            <a:r>
              <a:rPr lang="zh-CN" altLang="en-US" sz="2000">
                <a:sym typeface="+mn-ea"/>
              </a:rPr>
              <a:t>生成</a:t>
            </a:r>
            <a:endParaRPr lang="zh-CN" altLang="en-US" sz="20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 </a:t>
            </a:r>
            <a:r>
              <a:rPr lang="zh-CN" altLang="en-US" sz="1400">
                <a:sym typeface="+mn-ea"/>
              </a:rPr>
              <a:t>基于代码</a:t>
            </a:r>
            <a:r>
              <a:rPr lang="en-US" altLang="zh-CN" sz="1400">
                <a:sym typeface="+mn-ea"/>
              </a:rPr>
              <a:t>AST</a:t>
            </a:r>
            <a:r>
              <a:rPr lang="zh-CN" altLang="en-US" sz="1400">
                <a:sym typeface="+mn-ea"/>
              </a:rPr>
              <a:t>类型和变量值</a:t>
            </a:r>
            <a:r>
              <a:rPr lang="en-US" altLang="zh-CN" sz="1400">
                <a:sym typeface="+mn-ea"/>
              </a:rPr>
              <a:t>,</a:t>
            </a:r>
            <a:r>
              <a:rPr lang="zh-CN" altLang="en-US" sz="1400">
                <a:sym typeface="+mn-ea"/>
              </a:rPr>
              <a:t>使用预定义模板生成</a:t>
            </a:r>
            <a:r>
              <a:rPr lang="en-US" altLang="zh-CN" sz="1400">
                <a:sym typeface="+mn-ea"/>
              </a:rPr>
              <a:t>COT</a:t>
            </a:r>
            <a:r>
              <a:rPr lang="zh-CN" altLang="en-US" sz="1400">
                <a:sym typeface="+mn-ea"/>
              </a:rPr>
              <a:t>注释（不调用</a:t>
            </a:r>
            <a:r>
              <a:rPr lang="en-US" altLang="zh-CN" sz="1400">
                <a:sym typeface="+mn-ea"/>
              </a:rPr>
              <a:t>ai</a:t>
            </a:r>
            <a:r>
              <a:rPr lang="zh-CN" altLang="en-US" sz="1400">
                <a:sym typeface="+mn-ea"/>
              </a:rPr>
              <a:t>的模板匹配与参数填充）</a:t>
            </a:r>
            <a:endParaRPr lang="zh-CN" altLang="en-US" sz="14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</a:t>
            </a:r>
            <a:r>
              <a:rPr lang="en-US" altLang="zh-CN" sz="1400">
                <a:sym typeface="+mn-ea"/>
              </a:rPr>
              <a:t> trimed_trace_test.txt → final_cot_test.txt</a:t>
            </a:r>
            <a:endParaRPr lang="en-US" altLang="zh-CN" sz="14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5420" y="911860"/>
            <a:ext cx="4484370" cy="52254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302697"/>
            <a:ext cx="72980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二、分享：智能回溯剪枝与</a:t>
            </a:r>
            <a:r>
              <a:rPr lang="en-US" altLang="zh-CN" sz="2400" dirty="0"/>
              <a:t>cot</a:t>
            </a:r>
            <a:r>
              <a:rPr lang="zh-CN" altLang="en-US" sz="2400" dirty="0"/>
              <a:t>生成框架</a:t>
            </a:r>
            <a:r>
              <a:rPr lang="en-US" altLang="zh-CN" sz="2400" dirty="0"/>
              <a:t>——</a:t>
            </a:r>
            <a:r>
              <a:rPr lang="zh-CN" altLang="en-US" sz="2400" dirty="0"/>
              <a:t>整体思路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394335" y="1087120"/>
            <a:ext cx="8115300" cy="49542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200000"/>
              </a:lnSpc>
            </a:pPr>
            <a:r>
              <a:rPr lang="en-US" altLang="zh-CN" sz="2000">
                <a:sym typeface="+mn-ea"/>
              </a:rPr>
              <a:t>1. </a:t>
            </a:r>
            <a:r>
              <a:rPr lang="zh-CN" altLang="en-US" sz="2000">
                <a:sym typeface="+mn-ea"/>
              </a:rPr>
              <a:t>代码执行追踪</a:t>
            </a:r>
            <a:endParaRPr lang="zh-CN" altLang="en-US" sz="20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 </a:t>
            </a:r>
            <a:r>
              <a:rPr lang="zh-CN" altLang="en-US" sz="1400">
                <a:sym typeface="+mn-ea"/>
              </a:rPr>
              <a:t>使用</a:t>
            </a:r>
            <a:r>
              <a:rPr lang="en-US" altLang="zh-CN" sz="1400">
                <a:sym typeface="+mn-ea"/>
              </a:rPr>
              <a:t> `auto_trace` </a:t>
            </a:r>
            <a:r>
              <a:rPr lang="zh-CN" altLang="en-US" sz="1400">
                <a:sym typeface="+mn-ea"/>
              </a:rPr>
              <a:t>工具对代码进行</a:t>
            </a:r>
            <a:r>
              <a:rPr lang="zh-CN" altLang="en-US" sz="1400">
                <a:sym typeface="+mn-ea"/>
              </a:rPr>
              <a:t>逐行插桩和执行追踪</a:t>
            </a:r>
            <a:endParaRPr lang="zh-CN" altLang="en-US" sz="14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 test.py </a:t>
            </a:r>
            <a:r>
              <a:rPr lang="en-US" altLang="zh-CN" sz="1400">
                <a:sym typeface="+mn-ea"/>
              </a:rPr>
              <a:t>→ trace_test.txt</a:t>
            </a:r>
            <a:endParaRPr lang="en-US" altLang="zh-CN" sz="14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000">
                <a:sym typeface="+mn-ea"/>
              </a:rPr>
              <a:t>2. </a:t>
            </a:r>
            <a:r>
              <a:rPr lang="zh-CN" altLang="en-US" sz="2000">
                <a:sym typeface="+mn-ea"/>
              </a:rPr>
              <a:t>智能回溯与剪枝</a:t>
            </a:r>
            <a:endParaRPr lang="zh-CN" altLang="en-US" sz="20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 </a:t>
            </a:r>
            <a:r>
              <a:rPr lang="zh-CN" altLang="en-US" sz="1400">
                <a:sym typeface="+mn-ea"/>
              </a:rPr>
              <a:t>从目标行号开始向上回溯</a:t>
            </a:r>
            <a:r>
              <a:rPr lang="en-US" altLang="zh-CN" sz="1400">
                <a:sym typeface="+mn-ea"/>
              </a:rPr>
              <a:t>,</a:t>
            </a:r>
            <a:r>
              <a:rPr lang="zh-CN" altLang="en-US" sz="1400">
                <a:sym typeface="+mn-ea"/>
              </a:rPr>
              <a:t>构建依赖图并剪除无关代码行与变量</a:t>
            </a:r>
            <a:endParaRPr lang="zh-CN" altLang="en-US" sz="14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 </a:t>
            </a:r>
            <a:r>
              <a:rPr lang="zh-CN" altLang="en-US" sz="1400">
                <a:sym typeface="+mn-ea"/>
              </a:rPr>
              <a:t>每一行的变量列表必须包含</a:t>
            </a:r>
            <a:r>
              <a:rPr lang="en-US" altLang="zh-CN" sz="1400">
                <a:sym typeface="+mn-ea"/>
              </a:rPr>
              <a:t>“</a:t>
            </a:r>
            <a:r>
              <a:rPr lang="zh-CN" altLang="en-US" sz="1400">
                <a:sym typeface="+mn-ea"/>
              </a:rPr>
              <a:t>下一行计算所需的所有变量</a:t>
            </a:r>
            <a:r>
              <a:rPr lang="en-US" altLang="zh-CN" sz="1400">
                <a:sym typeface="+mn-ea"/>
              </a:rPr>
              <a:t>”,</a:t>
            </a:r>
            <a:r>
              <a:rPr lang="zh-CN" altLang="en-US" sz="1400">
                <a:sym typeface="+mn-ea"/>
              </a:rPr>
              <a:t>确保推理链的连续性和可计算性。</a:t>
            </a:r>
            <a:endParaRPr lang="zh-CN" altLang="en-US" sz="14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 trace_test.txt → </a:t>
            </a:r>
            <a:r>
              <a:rPr lang="en-US" altLang="zh-CN" sz="1400">
                <a:sym typeface="+mn-ea"/>
              </a:rPr>
              <a:t>trimed_trace_test.txt</a:t>
            </a:r>
            <a:endParaRPr lang="zh-CN" altLang="en-US" sz="20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000">
                <a:sym typeface="+mn-ea"/>
              </a:rPr>
              <a:t>3. </a:t>
            </a:r>
            <a:r>
              <a:rPr lang="zh-CN" altLang="en-US" sz="2000">
                <a:sym typeface="+mn-ea"/>
              </a:rPr>
              <a:t>模板化</a:t>
            </a:r>
            <a:r>
              <a:rPr lang="en-US" altLang="zh-CN" sz="2000">
                <a:sym typeface="+mn-ea"/>
              </a:rPr>
              <a:t>COT</a:t>
            </a:r>
            <a:r>
              <a:rPr lang="zh-CN" altLang="en-US" sz="2000">
                <a:sym typeface="+mn-ea"/>
              </a:rPr>
              <a:t>生成</a:t>
            </a:r>
            <a:endParaRPr lang="zh-CN" altLang="en-US" sz="20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 </a:t>
            </a:r>
            <a:r>
              <a:rPr lang="zh-CN" altLang="en-US" sz="1400">
                <a:sym typeface="+mn-ea"/>
              </a:rPr>
              <a:t>基于代码</a:t>
            </a:r>
            <a:r>
              <a:rPr lang="en-US" altLang="zh-CN" sz="1400">
                <a:sym typeface="+mn-ea"/>
              </a:rPr>
              <a:t>AST</a:t>
            </a:r>
            <a:r>
              <a:rPr lang="zh-CN" altLang="en-US" sz="1400">
                <a:sym typeface="+mn-ea"/>
              </a:rPr>
              <a:t>类型和变量值</a:t>
            </a:r>
            <a:r>
              <a:rPr lang="en-US" altLang="zh-CN" sz="1400">
                <a:sym typeface="+mn-ea"/>
              </a:rPr>
              <a:t>,</a:t>
            </a:r>
            <a:r>
              <a:rPr lang="zh-CN" altLang="en-US" sz="1400">
                <a:sym typeface="+mn-ea"/>
              </a:rPr>
              <a:t>使用预定义模板生成</a:t>
            </a:r>
            <a:r>
              <a:rPr lang="en-US" altLang="zh-CN" sz="1400">
                <a:sym typeface="+mn-ea"/>
              </a:rPr>
              <a:t>COT</a:t>
            </a:r>
            <a:r>
              <a:rPr lang="zh-CN" altLang="en-US" sz="1400">
                <a:sym typeface="+mn-ea"/>
              </a:rPr>
              <a:t>注释（不调用</a:t>
            </a:r>
            <a:r>
              <a:rPr lang="en-US" altLang="zh-CN" sz="1400">
                <a:sym typeface="+mn-ea"/>
              </a:rPr>
              <a:t>ai</a:t>
            </a:r>
            <a:r>
              <a:rPr lang="zh-CN" altLang="en-US" sz="1400">
                <a:sym typeface="+mn-ea"/>
              </a:rPr>
              <a:t>的模板匹配与参数填充）</a:t>
            </a:r>
            <a:endParaRPr lang="zh-CN" altLang="en-US" sz="1400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1400">
                <a:sym typeface="+mn-ea"/>
              </a:rPr>
              <a:t>&gt;</a:t>
            </a:r>
            <a:r>
              <a:rPr lang="en-US" altLang="zh-CN" sz="1400">
                <a:sym typeface="+mn-ea"/>
              </a:rPr>
              <a:t> trimed_trace_test.txt → final_cot_test.txt</a:t>
            </a:r>
            <a:endParaRPr lang="en-US" altLang="zh-CN" sz="14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0225" y="76200"/>
            <a:ext cx="3482975" cy="67049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302697"/>
            <a:ext cx="88220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三、分享：智能回溯剪枝与</a:t>
            </a:r>
            <a:r>
              <a:rPr lang="en-US" altLang="zh-CN" sz="2400" dirty="0"/>
              <a:t>cot</a:t>
            </a:r>
            <a:r>
              <a:rPr lang="zh-CN" altLang="en-US" sz="2400" dirty="0"/>
              <a:t>生成框架</a:t>
            </a:r>
            <a:r>
              <a:rPr lang="en-US" altLang="zh-CN" sz="2400" dirty="0"/>
              <a:t>——</a:t>
            </a:r>
            <a:r>
              <a:rPr lang="zh-CN" altLang="en-US" sz="2400" dirty="0"/>
              <a:t>框架介绍与使用</a:t>
            </a:r>
            <a:r>
              <a:rPr lang="zh-CN" altLang="en-US" sz="2400" dirty="0"/>
              <a:t>方法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775970" y="1148715"/>
            <a:ext cx="9222740" cy="4661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/>
              <a:t>项目目录</a:t>
            </a:r>
            <a:r>
              <a:rPr lang="en-US" altLang="zh-CN"/>
              <a:t>/ 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en-US"/>
              <a:t>├──</a:t>
            </a:r>
            <a:r>
              <a:rPr lang="en-US" altLang="zh-CN"/>
              <a:t> config.py           	                   # </a:t>
            </a:r>
            <a:r>
              <a:rPr lang="zh-CN" altLang="en-US"/>
              <a:t>配置和模板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en-US"/>
              <a:t>├──</a:t>
            </a:r>
            <a:r>
              <a:rPr lang="en-US" altLang="zh-CN"/>
              <a:t> tracer.py          		    # </a:t>
            </a:r>
            <a:r>
              <a:rPr lang="zh-CN" altLang="en-US"/>
              <a:t>代码追踪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en-US"/>
              <a:t>├──</a:t>
            </a:r>
            <a:r>
              <a:rPr lang="en-US" altLang="zh-CN"/>
              <a:t> pruner.py                                   # </a:t>
            </a:r>
            <a:r>
              <a:rPr lang="zh-CN" altLang="en-US"/>
              <a:t>依赖分析和剪枝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en-US"/>
              <a:t>├──</a:t>
            </a:r>
            <a:r>
              <a:rPr lang="en-US" altLang="zh-CN"/>
              <a:t> cot_generator.py                        # COT</a:t>
            </a:r>
            <a:r>
              <a:rPr lang="zh-CN" altLang="en-US"/>
              <a:t>生成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en-US"/>
              <a:t>├──</a:t>
            </a:r>
            <a:r>
              <a:rPr lang="en-US" altLang="zh-CN"/>
              <a:t> main.py                                      # </a:t>
            </a:r>
            <a:r>
              <a:rPr lang="zh-CN" altLang="en-US"/>
              <a:t>主流程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en-US"/>
              <a:t>├──</a:t>
            </a:r>
            <a:r>
              <a:rPr lang="en-US" altLang="zh-CN"/>
              <a:t> test.py                                       # </a:t>
            </a:r>
            <a:r>
              <a:rPr lang="zh-CN" altLang="en-US"/>
              <a:t>测试代码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en-US"/>
              <a:t>└──</a:t>
            </a:r>
            <a:r>
              <a:rPr lang="en-US" altLang="zh-CN"/>
              <a:t> data_test/                                  # </a:t>
            </a:r>
            <a:r>
              <a:rPr lang="zh-CN" altLang="en-US"/>
              <a:t>测试代码对应数据目录（自动创建）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    </a:t>
            </a:r>
            <a:r>
              <a:rPr lang="en-US" altLang="en-US"/>
              <a:t>├──</a:t>
            </a:r>
            <a:r>
              <a:rPr lang="en-US" altLang="zh-CN"/>
              <a:t> trace_test.txt                         # </a:t>
            </a:r>
            <a:r>
              <a:rPr lang="zh-CN" altLang="en-US"/>
              <a:t>完整追踪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    </a:t>
            </a:r>
            <a:r>
              <a:rPr lang="en-US" altLang="en-US"/>
              <a:t>├──</a:t>
            </a:r>
            <a:r>
              <a:rPr lang="en-US" altLang="zh-CN"/>
              <a:t> trimmed_trace_test.txt           # </a:t>
            </a:r>
            <a:r>
              <a:rPr lang="zh-CN" altLang="en-US"/>
              <a:t>剪枝后的追踪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    </a:t>
            </a:r>
            <a:r>
              <a:rPr lang="en-US" altLang="en-US"/>
              <a:t>└──</a:t>
            </a:r>
            <a:r>
              <a:rPr lang="en-US" altLang="zh-CN"/>
              <a:t> final_cot_test.txt                    # </a:t>
            </a:r>
            <a:r>
              <a:rPr lang="zh-CN" altLang="en-US"/>
              <a:t>最终</a:t>
            </a:r>
            <a:r>
              <a:rPr lang="en-US" altLang="zh-CN"/>
              <a:t>COT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302697"/>
            <a:ext cx="88220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三、分享：智能回溯剪枝与</a:t>
            </a:r>
            <a:r>
              <a:rPr lang="en-US" altLang="zh-CN" sz="2400" dirty="0"/>
              <a:t>cot</a:t>
            </a:r>
            <a:r>
              <a:rPr lang="zh-CN" altLang="en-US" sz="2400" dirty="0"/>
              <a:t>生成框架</a:t>
            </a:r>
            <a:r>
              <a:rPr lang="en-US" altLang="zh-CN" sz="2400" dirty="0"/>
              <a:t>——</a:t>
            </a:r>
            <a:r>
              <a:rPr lang="zh-CN" altLang="en-US" sz="2400" dirty="0"/>
              <a:t>框架介绍与使用</a:t>
            </a:r>
            <a:r>
              <a:rPr lang="zh-CN" altLang="en-US" sz="2400" dirty="0"/>
              <a:t>方法</a:t>
            </a:r>
            <a:endParaRPr lang="zh-CN" altLang="en-US" sz="2400" dirty="0"/>
          </a:p>
        </p:txBody>
      </p:sp>
      <p:sp>
        <p:nvSpPr>
          <p:cNvPr id="3" name="动作按钮: 文档 2"/>
          <p:cNvSpPr/>
          <p:nvPr/>
        </p:nvSpPr>
        <p:spPr>
          <a:xfrm>
            <a:off x="1062355" y="1184275"/>
            <a:ext cx="1043940" cy="1043940"/>
          </a:xfrm>
          <a:prstGeom prst="actionButtonDocumen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70125" y="1522095"/>
            <a:ext cx="7131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data_test_10_while_noise.py </a:t>
            </a:r>
            <a:r>
              <a:rPr lang="zh-CN" altLang="en-US"/>
              <a:t>目标行为</a:t>
            </a:r>
            <a:r>
              <a:rPr lang="en-US" altLang="zh-CN"/>
              <a:t>10 </a:t>
            </a:r>
            <a:r>
              <a:rPr lang="zh-CN" altLang="en-US"/>
              <a:t>目标变量为</a:t>
            </a:r>
            <a:r>
              <a:rPr lang="en-US" altLang="zh-CN"/>
              <a:t>count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2270125" y="2855595"/>
            <a:ext cx="7767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命令行输入：</a:t>
            </a:r>
            <a:r>
              <a:rPr lang="en-US" altLang="zh-CN"/>
              <a:t>python main.py data_test_10_while_noise.py 10 count</a:t>
            </a:r>
            <a:endParaRPr lang="zh-CN" altLang="en-US"/>
          </a:p>
        </p:txBody>
      </p:sp>
      <p:pic>
        <p:nvPicPr>
          <p:cNvPr id="8" name="图片 7" descr="向右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3942715" y="2052320"/>
            <a:ext cx="691515" cy="691515"/>
          </a:xfrm>
          <a:prstGeom prst="rect">
            <a:avLst/>
          </a:prstGeom>
        </p:spPr>
      </p:pic>
      <p:pic>
        <p:nvPicPr>
          <p:cNvPr id="9" name="图片 8" descr="向右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3942715" y="3402965"/>
            <a:ext cx="691515" cy="6915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830" y="4189095"/>
            <a:ext cx="5765800" cy="17024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302697"/>
            <a:ext cx="72980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三、分享：智能回溯剪枝与</a:t>
            </a:r>
            <a:r>
              <a:rPr lang="en-US" altLang="zh-CN" sz="2400" dirty="0"/>
              <a:t>cot</a:t>
            </a:r>
            <a:r>
              <a:rPr lang="zh-CN" altLang="en-US" sz="2400" dirty="0"/>
              <a:t>生成框架</a:t>
            </a:r>
            <a:r>
              <a:rPr lang="en-US" altLang="zh-CN" sz="2400" dirty="0"/>
              <a:t>——</a:t>
            </a:r>
            <a:r>
              <a:rPr lang="zh-CN" altLang="en-US" sz="2400" dirty="0"/>
              <a:t>关键算法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454660" y="1109980"/>
            <a:ext cx="1062990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/>
              <a:t>&gt; </a:t>
            </a:r>
            <a:r>
              <a:rPr lang="zh-CN" altLang="en-US" sz="2400">
                <a:solidFill>
                  <a:schemeClr val="accent5">
                    <a:lumMod val="75000"/>
                  </a:schemeClr>
                </a:solidFill>
              </a:rPr>
              <a:t>智能回溯剪枝算法</a:t>
            </a:r>
            <a:r>
              <a:rPr lang="zh-CN" altLang="en-US"/>
              <a:t>：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双遍历策略</a:t>
            </a: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effectLst/>
              </a:rPr>
              <a:t>&gt; </a:t>
            </a:r>
            <a:r>
              <a:rPr lang="zh-CN" altLang="en-US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第一遍（逆向回溯）</a:t>
            </a:r>
            <a:r>
              <a:rPr lang="zh-CN" altLang="en-US">
                <a:effectLst/>
              </a:rPr>
              <a:t>：</a:t>
            </a:r>
            <a:r>
              <a:rPr lang="en-US" altLang="zh-CN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zh-CN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indent="457200">
              <a:lnSpc>
                <a:spcPct val="150000"/>
              </a:lnSpc>
            </a:pPr>
            <a:r>
              <a:rPr lang="en-US" altLang="zh-CN">
                <a:effectLst/>
              </a:rPr>
              <a:t>1. </a:t>
            </a:r>
            <a:r>
              <a:rPr lang="zh-CN" altLang="en-US">
                <a:effectLst/>
              </a:rPr>
              <a:t>从目标行开始向上扫描，构建</a:t>
            </a:r>
            <a:r>
              <a:rPr lang="en-US" altLang="zh-CN">
                <a:effectLst/>
              </a:rPr>
              <a:t>"</a:t>
            </a:r>
            <a:r>
              <a:rPr lang="zh-CN" altLang="en-US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关注变量集合</a:t>
            </a:r>
            <a:r>
              <a:rPr lang="en-US" altLang="zh-CN">
                <a:effectLst/>
              </a:rPr>
              <a:t>"</a:t>
            </a:r>
            <a:r>
              <a:rPr lang="zh-CN" altLang="en-US">
                <a:effectLst/>
              </a:rPr>
              <a:t>。</a:t>
            </a:r>
            <a:endParaRPr lang="zh-CN" altLang="en-US">
              <a:effectLst/>
            </a:endParaRPr>
          </a:p>
          <a:p>
            <a:pPr indent="457200">
              <a:lnSpc>
                <a:spcPct val="150000"/>
              </a:lnSpc>
            </a:pPr>
            <a:r>
              <a:rPr lang="en-US" altLang="zh-CN">
                <a:effectLst/>
              </a:rPr>
              <a:t>2. </a:t>
            </a:r>
            <a:r>
              <a:rPr lang="zh-CN" altLang="en-US">
                <a:effectLst/>
              </a:rPr>
              <a:t>当遇到赋值语句时，如果左值在关注集合中，则将该行标记为保留，并将右值依赖的所有变量加入关注集合；</a:t>
            </a:r>
            <a:endParaRPr lang="zh-CN" altLang="en-US">
              <a:effectLst/>
            </a:endParaRPr>
          </a:p>
          <a:p>
            <a:pPr indent="457200">
              <a:lnSpc>
                <a:spcPct val="150000"/>
              </a:lnSpc>
            </a:pPr>
            <a:r>
              <a:rPr lang="en-US" altLang="zh-CN">
                <a:effectLst/>
              </a:rPr>
              <a:t>3. </a:t>
            </a:r>
            <a:r>
              <a:rPr lang="zh-CN" altLang="en-US">
                <a:effectLst/>
              </a:rPr>
              <a:t>控制流语句（</a:t>
            </a:r>
            <a:r>
              <a:rPr lang="en-US" altLang="zh-CN">
                <a:effectLst/>
              </a:rPr>
              <a:t>if/for/while</a:t>
            </a:r>
            <a:r>
              <a:rPr lang="zh-CN" altLang="en-US">
                <a:effectLst/>
              </a:rPr>
              <a:t>等）无条件保留，并提取其中的变量依赖。</a:t>
            </a:r>
            <a:endParaRPr lang="zh-CN" altLang="en-US">
              <a:effectLst/>
            </a:endParaRPr>
          </a:p>
          <a:p>
            <a:pPr indent="457200">
              <a:lnSpc>
                <a:spcPct val="150000"/>
              </a:lnSpc>
            </a:pPr>
            <a:r>
              <a:rPr lang="en-US" altLang="zh-CN">
                <a:effectLst/>
              </a:rPr>
              <a:t>4. </a:t>
            </a:r>
            <a:r>
              <a:rPr lang="zh-CN" altLang="en-US">
                <a:effectLst/>
              </a:rPr>
              <a:t>这一过程确定了</a:t>
            </a:r>
            <a:r>
              <a:rPr lang="en-US" altLang="zh-CN">
                <a:effectLst/>
              </a:rPr>
              <a:t>"</a:t>
            </a:r>
            <a:r>
              <a:rPr lang="zh-CN" altLang="en-US">
                <a:effectLst/>
              </a:rPr>
              <a:t>哪些行必须保留</a:t>
            </a:r>
            <a:r>
              <a:rPr lang="en-US" altLang="zh-CN">
                <a:effectLst/>
              </a:rPr>
              <a:t>"</a:t>
            </a:r>
            <a:r>
              <a:rPr lang="zh-CN" altLang="en-US">
                <a:effectLst/>
              </a:rPr>
              <a:t>和</a:t>
            </a:r>
            <a:r>
              <a:rPr lang="en-US" altLang="zh-CN">
                <a:effectLst/>
              </a:rPr>
              <a:t>"</a:t>
            </a:r>
            <a:r>
              <a:rPr lang="zh-CN" altLang="en-US">
                <a:effectLst/>
              </a:rPr>
              <a:t>哪些变量需要追踪</a:t>
            </a:r>
            <a:r>
              <a:rPr lang="en-US" altLang="zh-CN">
                <a:effectLst/>
              </a:rPr>
              <a:t>"</a:t>
            </a:r>
            <a:r>
              <a:rPr lang="zh-CN" altLang="en-US">
                <a:effectLst/>
              </a:rPr>
              <a:t>。</a:t>
            </a:r>
            <a:endParaRPr lang="zh-CN" altLang="en-US">
              <a:effectLst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effectLst/>
              </a:rPr>
              <a:t>&gt; </a:t>
            </a:r>
            <a:r>
              <a:rPr lang="zh-CN" altLang="en-US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第二遍（正向精简）</a:t>
            </a:r>
            <a:r>
              <a:rPr lang="zh-CN" altLang="en-US">
                <a:effectLst/>
              </a:rPr>
              <a:t>：</a:t>
            </a:r>
            <a:r>
              <a:rPr lang="en-US" altLang="zh-CN">
                <a:effectLst/>
              </a:rPr>
              <a:t> </a:t>
            </a:r>
            <a:endParaRPr lang="en-US" altLang="zh-CN">
              <a:effectLst/>
            </a:endParaRPr>
          </a:p>
          <a:p>
            <a:pPr indent="457200">
              <a:lnSpc>
                <a:spcPct val="150000"/>
              </a:lnSpc>
            </a:pPr>
            <a:r>
              <a:rPr lang="en-US" altLang="zh-CN">
                <a:effectLst/>
              </a:rPr>
              <a:t>1. </a:t>
            </a:r>
            <a:r>
              <a:rPr lang="zh-CN" altLang="en-US">
                <a:effectLst/>
              </a:rPr>
              <a:t>对已保留的行进行正向遍历，为每一行计算其真正需要的变量列表。</a:t>
            </a:r>
            <a:endParaRPr lang="zh-CN" altLang="en-US">
              <a:effectLst/>
            </a:endParaRPr>
          </a:p>
          <a:p>
            <a:pPr indent="457200">
              <a:lnSpc>
                <a:spcPct val="150000"/>
              </a:lnSpc>
            </a:pPr>
            <a:r>
              <a:rPr lang="en-US" altLang="zh-CN">
                <a:effectLst/>
              </a:rPr>
              <a:t>2. </a:t>
            </a:r>
            <a:r>
              <a:rPr lang="zh-CN" altLang="en-US">
                <a:effectLst/>
              </a:rPr>
              <a:t>核心原则是：当前行的变量列表必须包含</a:t>
            </a:r>
            <a:r>
              <a:rPr lang="en-US" altLang="zh-CN">
                <a:effectLst/>
              </a:rPr>
              <a:t>"</a:t>
            </a:r>
            <a:r>
              <a:rPr lang="zh-CN" altLang="en-US">
                <a:effectLst/>
              </a:rPr>
              <a:t>当前行使用的变量</a:t>
            </a:r>
            <a:r>
              <a:rPr lang="en-US" altLang="zh-CN">
                <a:effectLst/>
              </a:rPr>
              <a:t> + </a:t>
            </a:r>
            <a:r>
              <a:rPr lang="zh-CN" altLang="en-US">
                <a:effectLst/>
              </a:rPr>
              <a:t>当前行定义的变量</a:t>
            </a:r>
            <a:r>
              <a:rPr lang="en-US" altLang="zh-CN">
                <a:effectLst/>
              </a:rPr>
              <a:t> + </a:t>
            </a:r>
            <a:r>
              <a:rPr lang="zh-CN" altLang="en-US">
                <a:effectLst/>
              </a:rPr>
              <a:t>后续行会用到的变量</a:t>
            </a:r>
            <a:r>
              <a:rPr lang="en-US" altLang="zh-CN">
                <a:effectLst/>
              </a:rPr>
              <a:t>"</a:t>
            </a:r>
            <a:r>
              <a:rPr lang="zh-CN" altLang="en-US">
                <a:effectLst/>
              </a:rPr>
              <a:t>，确保推理链的连续性和可计算性。</a:t>
            </a:r>
            <a:endParaRPr lang="zh-CN" altLang="en-US">
              <a:effectLst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302697"/>
            <a:ext cx="72980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三、分享：智能回溯剪枝与</a:t>
            </a:r>
            <a:r>
              <a:rPr lang="en-US" altLang="zh-CN" sz="2400" dirty="0"/>
              <a:t>cot</a:t>
            </a:r>
            <a:r>
              <a:rPr lang="zh-CN" altLang="en-US" sz="2400" dirty="0"/>
              <a:t>生成框架</a:t>
            </a:r>
            <a:r>
              <a:rPr lang="en-US" altLang="zh-CN" sz="2400" dirty="0"/>
              <a:t>——</a:t>
            </a:r>
            <a:r>
              <a:rPr lang="zh-CN" altLang="en-US" sz="2400" dirty="0"/>
              <a:t>关键算法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454660" y="982980"/>
            <a:ext cx="1062990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/>
              <a:t>&gt; </a:t>
            </a:r>
            <a:r>
              <a:rPr lang="zh-CN" altLang="en-US" sz="2400">
                <a:solidFill>
                  <a:schemeClr val="accent5">
                    <a:lumMod val="75000"/>
                  </a:schemeClr>
                </a:solidFill>
              </a:rPr>
              <a:t>模板化</a:t>
            </a:r>
            <a:r>
              <a:rPr lang="en-US" altLang="zh-CN" sz="2400">
                <a:solidFill>
                  <a:schemeClr val="accent5">
                    <a:lumMod val="75000"/>
                  </a:schemeClr>
                </a:solidFill>
              </a:rPr>
              <a:t>COT</a:t>
            </a:r>
            <a:r>
              <a:rPr lang="zh-CN" altLang="en-US" sz="2400">
                <a:solidFill>
                  <a:schemeClr val="accent5">
                    <a:lumMod val="75000"/>
                  </a:schemeClr>
                </a:solidFill>
              </a:rPr>
              <a:t>生成算法</a:t>
            </a:r>
            <a:r>
              <a:rPr lang="zh-CN" altLang="en-US"/>
              <a:t>：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模板匹配与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参数填充</a:t>
            </a: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effectLst/>
              </a:rPr>
              <a:t>&gt; </a:t>
            </a:r>
            <a:r>
              <a:rPr lang="zh-CN" altLang="en-US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代码分</a:t>
            </a:r>
            <a:r>
              <a:rPr lang="zh-CN" altLang="en-US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类</a:t>
            </a:r>
            <a:r>
              <a:rPr lang="zh-CN" altLang="en-US">
                <a:effectLst/>
              </a:rPr>
              <a:t>：</a:t>
            </a:r>
            <a:r>
              <a:rPr lang="en-US" altLang="zh-CN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zh-CN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indent="457200">
              <a:lnSpc>
                <a:spcPct val="150000"/>
              </a:lnSpc>
            </a:pPr>
            <a:r>
              <a:rPr lang="zh-CN" altLang="en-US">
                <a:effectLst/>
              </a:rPr>
              <a:t>通过</a:t>
            </a:r>
            <a:r>
              <a:rPr lang="zh-CN" altLang="en-US">
                <a:effectLst/>
              </a:rPr>
              <a:t>正则匹配，将剪枝后的每一行代码精确分类为预定义类型（如常量赋值、表达式计算、</a:t>
            </a:r>
            <a:r>
              <a:rPr lang="en-US" altLang="zh-CN">
                <a:effectLst/>
              </a:rPr>
              <a:t>for</a:t>
            </a:r>
            <a:r>
              <a:rPr lang="zh-CN" altLang="en-US">
                <a:effectLst/>
              </a:rPr>
              <a:t>循环开始</a:t>
            </a:r>
            <a:r>
              <a:rPr lang="en-US" altLang="zh-CN">
                <a:effectLst/>
              </a:rPr>
              <a:t>/</a:t>
            </a:r>
            <a:r>
              <a:rPr lang="zh-CN" altLang="en-US">
                <a:effectLst/>
              </a:rPr>
              <a:t>继续</a:t>
            </a:r>
            <a:r>
              <a:rPr lang="en-US" altLang="zh-CN">
                <a:effectLst/>
              </a:rPr>
              <a:t>/</a:t>
            </a:r>
            <a:r>
              <a:rPr lang="zh-CN" altLang="en-US">
                <a:effectLst/>
              </a:rPr>
              <a:t>结束等），同时维护循环计数器等上下文信息</a:t>
            </a:r>
            <a:endParaRPr lang="zh-CN" altLang="en-US">
              <a:effectLst/>
            </a:endParaRPr>
          </a:p>
          <a:p>
            <a:pPr indent="0">
              <a:lnSpc>
                <a:spcPct val="150000"/>
              </a:lnSpc>
            </a:pPr>
            <a:r>
              <a:rPr lang="en-US" altLang="zh-CN">
                <a:effectLst/>
              </a:rPr>
              <a:t>&gt; </a:t>
            </a:r>
            <a:r>
              <a:rPr lang="zh-CN" altLang="en-US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参数提取</a:t>
            </a:r>
            <a:r>
              <a:rPr lang="zh-CN" altLang="en-US">
                <a:effectLst/>
              </a:rPr>
              <a:t>：</a:t>
            </a:r>
            <a:r>
              <a:rPr lang="en-US" altLang="zh-CN">
                <a:effectLst/>
              </a:rPr>
              <a:t> </a:t>
            </a:r>
            <a:endParaRPr lang="en-US" altLang="zh-CN">
              <a:effectLst/>
            </a:endParaRPr>
          </a:p>
          <a:p>
            <a:pPr indent="457200">
              <a:lnSpc>
                <a:spcPct val="150000"/>
              </a:lnSpc>
            </a:pPr>
            <a:r>
              <a:rPr lang="zh-CN" altLang="en-US">
                <a:effectLst/>
              </a:rPr>
              <a:t>从追踪数据中机械式提取模板所需参数</a:t>
            </a:r>
            <a:r>
              <a:rPr lang="en-US" altLang="zh-CN">
                <a:effectLst/>
              </a:rPr>
              <a:t>——</a:t>
            </a:r>
            <a:r>
              <a:rPr lang="zh-CN" altLang="en-US">
                <a:effectLst/>
              </a:rPr>
              <a:t>行号直接读取，变量名通过</a:t>
            </a:r>
            <a:r>
              <a:rPr lang="en-US" altLang="zh-CN">
                <a:effectLst/>
              </a:rPr>
              <a:t>AST</a:t>
            </a:r>
            <a:r>
              <a:rPr lang="zh-CN" altLang="en-US">
                <a:effectLst/>
              </a:rPr>
              <a:t>解析，变量值从变量列表查找，表达式展开则用实际值替换变量名</a:t>
            </a:r>
            <a:endParaRPr lang="zh-CN" altLang="en-US">
              <a:effectLst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effectLst/>
                <a:sym typeface="+mn-ea"/>
              </a:rPr>
              <a:t>&gt; </a:t>
            </a:r>
            <a:r>
              <a:rPr lang="zh-CN" altLang="en-US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模板填充</a:t>
            </a:r>
            <a:r>
              <a:rPr lang="zh-CN" altLang="en-US">
                <a:effectLst/>
                <a:sym typeface="+mn-ea"/>
              </a:rPr>
              <a:t>：</a:t>
            </a:r>
            <a:r>
              <a:rPr lang="en-US" altLang="zh-CN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endParaRPr lang="en-US" altLang="zh-CN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indent="457200">
              <a:lnSpc>
                <a:spcPct val="150000"/>
              </a:lnSpc>
            </a:pPr>
            <a:r>
              <a:rPr lang="zh-CN" altLang="en-US">
                <a:effectLst/>
                <a:sym typeface="+mn-ea"/>
              </a:rPr>
              <a:t>根据代码类型从模板库中选择对应模板（如</a:t>
            </a:r>
            <a:r>
              <a:rPr lang="en-US" altLang="zh-CN">
                <a:effectLst/>
                <a:sym typeface="+mn-ea"/>
              </a:rPr>
              <a:t>"</a:t>
            </a:r>
            <a:r>
              <a:rPr lang="zh-CN" altLang="en-US">
                <a:effectLst/>
                <a:sym typeface="+mn-ea"/>
              </a:rPr>
              <a:t>第</a:t>
            </a:r>
            <a:r>
              <a:rPr lang="en-US" altLang="zh-CN">
                <a:effectLst/>
                <a:sym typeface="+mn-ea"/>
              </a:rPr>
              <a:t>{line}</a:t>
            </a:r>
            <a:r>
              <a:rPr lang="zh-CN" altLang="en-US">
                <a:effectLst/>
                <a:sym typeface="+mn-ea"/>
              </a:rPr>
              <a:t>行</a:t>
            </a:r>
            <a:r>
              <a:rPr lang="en-US" altLang="zh-CN">
                <a:effectLst/>
                <a:sym typeface="+mn-ea"/>
              </a:rPr>
              <a:t>: </a:t>
            </a:r>
            <a:r>
              <a:rPr lang="zh-CN" altLang="en-US">
                <a:effectLst/>
                <a:sym typeface="+mn-ea"/>
              </a:rPr>
              <a:t>计算</a:t>
            </a:r>
            <a:r>
              <a:rPr lang="en-US" altLang="zh-CN">
                <a:effectLst/>
                <a:sym typeface="+mn-ea"/>
              </a:rPr>
              <a:t> {var} = {old_val} {op} {operand} = {result}"</a:t>
            </a:r>
            <a:r>
              <a:rPr lang="zh-CN" altLang="en-US">
                <a:effectLst/>
                <a:sym typeface="+mn-ea"/>
              </a:rPr>
              <a:t>），将提取的参数填入占位符，生成自然语言描述。</a:t>
            </a:r>
            <a:endParaRPr lang="zh-CN" altLang="en-US">
              <a:effectLst/>
              <a:sym typeface="+mn-ea"/>
            </a:endParaRPr>
          </a:p>
          <a:p>
            <a:pPr indent="0">
              <a:lnSpc>
                <a:spcPct val="150000"/>
              </a:lnSpc>
            </a:pPr>
            <a:r>
              <a:rPr lang="en-US" altLang="zh-CN">
                <a:effectLst/>
                <a:sym typeface="+mn-ea"/>
              </a:rPr>
              <a:t>&gt; </a:t>
            </a:r>
            <a:r>
              <a:rPr lang="zh-CN" altLang="en-US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结构化输出</a:t>
            </a:r>
            <a:r>
              <a:rPr lang="zh-CN" altLang="en-US">
                <a:effectLst/>
                <a:sym typeface="+mn-ea"/>
              </a:rPr>
              <a:t>：</a:t>
            </a:r>
            <a:r>
              <a:rPr lang="en-US" altLang="zh-CN">
                <a:effectLst/>
                <a:sym typeface="+mn-ea"/>
              </a:rPr>
              <a:t> </a:t>
            </a:r>
            <a:endParaRPr lang="en-US" altLang="zh-CN">
              <a:effectLst/>
            </a:endParaRPr>
          </a:p>
          <a:p>
            <a:pPr indent="457200">
              <a:lnSpc>
                <a:spcPct val="150000"/>
              </a:lnSpc>
            </a:pPr>
            <a:r>
              <a:rPr lang="zh-CN" altLang="en-US">
                <a:effectLst/>
              </a:rPr>
              <a:t>按逻辑结构划分步骤，在关键节点添加</a:t>
            </a:r>
            <a:r>
              <a:rPr lang="en-US" altLang="zh-CN">
                <a:effectLst/>
              </a:rPr>
              <a:t>"</a:t>
            </a:r>
            <a:r>
              <a:rPr lang="zh-CN" altLang="en-US">
                <a:effectLst/>
              </a:rPr>
              <a:t>当前状态</a:t>
            </a:r>
            <a:r>
              <a:rPr lang="en-US" altLang="zh-CN">
                <a:effectLst/>
              </a:rPr>
              <a:t>"</a:t>
            </a:r>
            <a:r>
              <a:rPr lang="zh-CN" altLang="en-US">
                <a:effectLst/>
              </a:rPr>
              <a:t>汇总，最后输出目标变量的最终答案。整个过程确保相同输入产生相同输出，具有完全的确定性和可复现性。</a:t>
            </a:r>
            <a:endParaRPr lang="zh-CN" altLang="en-US">
              <a:effectLst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302697"/>
            <a:ext cx="72980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四、分享：智能回溯剪枝与</a:t>
            </a:r>
            <a:r>
              <a:rPr lang="en-US" altLang="zh-CN" sz="2400" dirty="0"/>
              <a:t>cot</a:t>
            </a:r>
            <a:r>
              <a:rPr lang="zh-CN" altLang="en-US" sz="2400" dirty="0"/>
              <a:t>生成框架</a:t>
            </a:r>
            <a:r>
              <a:rPr lang="en-US" altLang="zh-CN" sz="2400" dirty="0"/>
              <a:t>——</a:t>
            </a:r>
            <a:r>
              <a:rPr lang="zh-CN" altLang="en-US" sz="2400" dirty="0"/>
              <a:t>测试</a:t>
            </a:r>
            <a:r>
              <a:rPr lang="zh-CN" altLang="en-US" sz="2400" dirty="0"/>
              <a:t>情况</a:t>
            </a:r>
            <a:endParaRPr lang="zh-CN" altLang="en-US" sz="2400" dirty="0"/>
          </a:p>
        </p:txBody>
      </p:sp>
      <p:graphicFrame>
        <p:nvGraphicFramePr>
          <p:cNvPr id="3" name="表格 2"/>
          <p:cNvGraphicFramePr/>
          <p:nvPr/>
        </p:nvGraphicFramePr>
        <p:xfrm>
          <a:off x="466090" y="1261745"/>
          <a:ext cx="11355070" cy="4246880"/>
        </p:xfrm>
        <a:graphic>
          <a:graphicData uri="http://schemas.openxmlformats.org/drawingml/2006/table">
            <a:tbl>
              <a:tblPr/>
              <a:tblGrid>
                <a:gridCol w="737870"/>
                <a:gridCol w="3315970"/>
                <a:gridCol w="1188720"/>
                <a:gridCol w="1747520"/>
                <a:gridCol w="1747520"/>
                <a:gridCol w="2617470"/>
              </a:tblGrid>
              <a:tr h="0"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1" i="0">
                          <a:solidFill>
                            <a:schemeClr val="tx1"/>
                          </a:solidFill>
                          <a:latin typeface="+mn-ea"/>
                        </a:rPr>
                        <a:t>编号</a:t>
                      </a:r>
                      <a:endParaRPr lang="zh-CN" altLang="en-US" sz="1800" b="1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1" i="0">
                          <a:solidFill>
                            <a:schemeClr val="tx1"/>
                          </a:solidFill>
                          <a:latin typeface="+mn-ea"/>
                        </a:rPr>
                        <a:t>文件名</a:t>
                      </a:r>
                      <a:endParaRPr lang="zh-CN" altLang="en-US" sz="1800" b="1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1" i="0">
                          <a:solidFill>
                            <a:schemeClr val="tx1"/>
                          </a:solidFill>
                          <a:latin typeface="+mn-ea"/>
                        </a:rPr>
                        <a:t>目标行</a:t>
                      </a:r>
                      <a:endParaRPr lang="zh-CN" altLang="en-US" sz="1800" b="1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1" i="0">
                          <a:solidFill>
                            <a:schemeClr val="tx1"/>
                          </a:solidFill>
                          <a:latin typeface="+mn-ea"/>
                        </a:rPr>
                        <a:t>目标变量</a:t>
                      </a:r>
                      <a:endParaRPr lang="zh-CN" altLang="en-US" sz="1800" b="1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1" i="0">
                          <a:solidFill>
                            <a:schemeClr val="tx1"/>
                          </a:solidFill>
                          <a:latin typeface="+mn-ea"/>
                        </a:rPr>
                        <a:t>核心特点</a:t>
                      </a:r>
                      <a:endParaRPr lang="zh-CN" altLang="en-US" sz="1800" b="1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1" i="0">
                          <a:solidFill>
                            <a:schemeClr val="tx1"/>
                          </a:solidFill>
                          <a:latin typeface="+mn-ea"/>
                        </a:rPr>
                        <a:t>噪声类型</a:t>
                      </a:r>
                      <a:endParaRPr lang="zh-CN" altLang="en-US" sz="1800" b="1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6870"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1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test_01_basic_noise.py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9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result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tx1"/>
                          </a:solidFill>
                          <a:latin typeface="+mn-ea"/>
                        </a:rPr>
                        <a:t>基础噪声过滤</a:t>
                      </a:r>
                      <a:endParaRPr lang="zh-CN" altLang="en-US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无关变量</a:t>
                      </a: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+</a:t>
                      </a:r>
                      <a:r>
                        <a:rPr lang="zh-CN" altLang="en-US" sz="1800" b="0" i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计算</a:t>
                      </a:r>
                      <a:endParaRPr lang="zh-CN" altLang="en-US" sz="1800" b="0" i="0">
                        <a:solidFill>
                          <a:schemeClr val="tx1"/>
                        </a:solidFill>
                        <a:latin typeface="+mn-ea"/>
                        <a:cs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2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test_02_loop_noise.py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8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sum_val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tx1"/>
                          </a:solidFill>
                          <a:latin typeface="+mn-ea"/>
                        </a:rPr>
                        <a:t>循环噪声</a:t>
                      </a:r>
                      <a:endParaRPr lang="zh-CN" altLang="en-US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tx1"/>
                          </a:solidFill>
                          <a:latin typeface="+mn-ea"/>
                        </a:rPr>
                        <a:t>循环内无关累加</a:t>
                      </a:r>
                      <a:endParaRPr lang="zh-CN" altLang="en-US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3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test_03_branch_noise.py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10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result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tx1"/>
                          </a:solidFill>
                          <a:latin typeface="+mn-ea"/>
                        </a:rPr>
                        <a:t>分支噪声</a:t>
                      </a:r>
                      <a:endParaRPr lang="zh-CN" altLang="en-US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tx1"/>
                          </a:solidFill>
                          <a:latin typeface="+mn-ea"/>
                        </a:rPr>
                        <a:t>未执行分支</a:t>
                      </a:r>
                      <a:endParaRPr lang="zh-CN" altLang="en-US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4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test_04_nested_loop.py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8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total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tx1"/>
                          </a:solidFill>
                          <a:latin typeface="+mn-ea"/>
                        </a:rPr>
                        <a:t>嵌套循环</a:t>
                      </a:r>
                      <a:endParaRPr lang="zh-CN" altLang="en-US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tx1"/>
                          </a:solidFill>
                          <a:latin typeface="+mn-ea"/>
                        </a:rPr>
                        <a:t>双层噪声</a:t>
                      </a:r>
                      <a:endParaRPr lang="zh-CN" altLang="en-US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5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test_05_dependency_chain.py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10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e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tx1"/>
                          </a:solidFill>
                          <a:latin typeface="+mn-ea"/>
                        </a:rPr>
                        <a:t>长依赖链</a:t>
                      </a:r>
                      <a:endParaRPr lang="zh-CN" altLang="en-US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tx1"/>
                          </a:solidFill>
                          <a:latin typeface="+mn-ea"/>
                        </a:rPr>
                        <a:t>链中穿插噪声</a:t>
                      </a:r>
                      <a:endParaRPr lang="zh-CN" altLang="en-US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6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test_06_partial_list.py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6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result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tx1"/>
                          </a:solidFill>
                          <a:latin typeface="+mn-ea"/>
                        </a:rPr>
                        <a:t>部分列表使用</a:t>
                      </a:r>
                      <a:endParaRPr lang="zh-CN" altLang="en-US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tx1"/>
                          </a:solidFill>
                          <a:latin typeface="+mn-ea"/>
                        </a:rPr>
                        <a:t>整个列表噪声</a:t>
                      </a:r>
                      <a:endParaRPr lang="zh-CN" altLang="en-US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7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test_07_conditional_compute.py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9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result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tx1"/>
                          </a:solidFill>
                          <a:latin typeface="+mn-ea"/>
                        </a:rPr>
                        <a:t>条件计算</a:t>
                      </a:r>
                      <a:endParaRPr lang="zh-CN" altLang="en-US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tx1"/>
                          </a:solidFill>
                          <a:latin typeface="+mn-ea"/>
                        </a:rPr>
                        <a:t>分支内噪声</a:t>
                      </a:r>
                      <a:endParaRPr lang="zh-CN" altLang="en-US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8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test_08_dict_noise.py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6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result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tx1"/>
                          </a:solidFill>
                          <a:latin typeface="+mn-ea"/>
                        </a:rPr>
                        <a:t>字典噪声</a:t>
                      </a:r>
                      <a:endParaRPr lang="zh-CN" altLang="en-US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tx1"/>
                          </a:solidFill>
                          <a:latin typeface="+mn-ea"/>
                        </a:rPr>
                        <a:t>未使用的键</a:t>
                      </a:r>
                      <a:endParaRPr lang="zh-CN" altLang="en-US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9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test_9_function_call.py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6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result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tx1"/>
                          </a:solidFill>
                          <a:latin typeface="+mn-ea"/>
                        </a:rPr>
                        <a:t>函数调用</a:t>
                      </a:r>
                      <a:endParaRPr lang="zh-CN" altLang="en-US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无用参数</a:t>
                      </a: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+</a:t>
                      </a:r>
                      <a:r>
                        <a:rPr lang="zh-CN" altLang="en-US" sz="1800" b="0" i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函数内噪声</a:t>
                      </a:r>
                      <a:endParaRPr lang="zh-CN" altLang="en-US" sz="1800" b="0" i="0">
                        <a:solidFill>
                          <a:schemeClr val="tx1"/>
                        </a:solidFill>
                        <a:latin typeface="+mn-ea"/>
                        <a:cs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10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test_10_while_noise.py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7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</a:rPr>
                        <a:t>count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While</a:t>
                      </a:r>
                      <a:r>
                        <a:rPr lang="zh-CN" altLang="en-US" sz="1800" b="0" i="0">
                          <a:solidFill>
                            <a:schemeClr val="tx1"/>
                          </a:solidFill>
                          <a:latin typeface="+mn-ea"/>
                          <a:cs typeface="+mn-ea"/>
                        </a:rPr>
                        <a:t>循环</a:t>
                      </a:r>
                      <a:endParaRPr lang="zh-CN" altLang="en-US" sz="1800" b="0" i="0">
                        <a:solidFill>
                          <a:schemeClr val="tx1"/>
                        </a:solidFill>
                        <a:latin typeface="+mn-ea"/>
                        <a:cs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>
                          <a:solidFill>
                            <a:schemeClr val="tx1"/>
                          </a:solidFill>
                          <a:latin typeface="+mn-ea"/>
                        </a:rPr>
                        <a:t>循环内噪声</a:t>
                      </a:r>
                      <a:endParaRPr lang="zh-CN" altLang="en-US" sz="1800" b="0" i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620" y="302697"/>
            <a:ext cx="72980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四、分享：智能回溯剪枝与</a:t>
            </a:r>
            <a:r>
              <a:rPr lang="en-US" altLang="zh-CN" sz="2400" dirty="0"/>
              <a:t>cot</a:t>
            </a:r>
            <a:r>
              <a:rPr lang="zh-CN" altLang="en-US" sz="2400" dirty="0"/>
              <a:t>生成框架</a:t>
            </a:r>
            <a:r>
              <a:rPr lang="en-US" altLang="zh-CN" sz="2400" dirty="0"/>
              <a:t>——</a:t>
            </a:r>
            <a:r>
              <a:rPr lang="zh-CN" altLang="en-US" sz="2400" dirty="0"/>
              <a:t>测试</a:t>
            </a:r>
            <a:r>
              <a:rPr lang="zh-CN" altLang="en-US" sz="2400" dirty="0"/>
              <a:t>情况</a:t>
            </a:r>
            <a:endParaRPr lang="zh-CN" altLang="en-US" sz="2400" dirty="0"/>
          </a:p>
        </p:txBody>
      </p:sp>
      <p:pic>
        <p:nvPicPr>
          <p:cNvPr id="8" name="图片 7" descr="向右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4335" y="3023870"/>
            <a:ext cx="691515" cy="6915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51585" y="2150745"/>
            <a:ext cx="1032383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200000"/>
              </a:lnSpc>
            </a:pPr>
            <a:r>
              <a:rPr lang="zh-CN" altLang="en-US" sz="2400"/>
              <a:t>测试核心结论：</a:t>
            </a:r>
            <a:br>
              <a:rPr lang="zh-CN" altLang="en-US" sz="2400"/>
            </a:br>
            <a:r>
              <a:rPr lang="zh-CN" altLang="en-US" sz="2400"/>
              <a:t>测试了多种情况的带噪声的</a:t>
            </a:r>
            <a:r>
              <a:rPr lang="en-US" altLang="zh-CN" sz="2400"/>
              <a:t>python</a:t>
            </a:r>
            <a:r>
              <a:rPr lang="zh-CN" altLang="en-US" sz="2400"/>
              <a:t>代码，均能顺利的剪枝噪声行和噪声变量</a:t>
            </a:r>
            <a:endParaRPr lang="zh-CN" altLang="en-US" sz="2400"/>
          </a:p>
          <a:p>
            <a:pPr>
              <a:lnSpc>
                <a:spcPct val="200000"/>
              </a:lnSpc>
            </a:pPr>
            <a:r>
              <a:rPr lang="zh-CN" altLang="en-US" sz="2400"/>
              <a:t>最终的</a:t>
            </a:r>
            <a:r>
              <a:rPr lang="en-US" altLang="zh-CN" sz="2400"/>
              <a:t>cot</a:t>
            </a:r>
            <a:r>
              <a:rPr lang="zh-CN" altLang="en-US" sz="2400"/>
              <a:t>也符合规范与预期</a:t>
            </a:r>
            <a:endParaRPr lang="zh-CN" altLang="en-US" sz="2400"/>
          </a:p>
          <a:p>
            <a:pPr>
              <a:lnSpc>
                <a:spcPct val="200000"/>
              </a:lnSpc>
            </a:pPr>
            <a:r>
              <a:rPr lang="en-US" altLang="zh-CN" sz="2400"/>
              <a:t>s.a.b </a:t>
            </a:r>
            <a:r>
              <a:rPr lang="zh-CN" altLang="en-US" sz="2400"/>
              <a:t>嵌套结构</a:t>
            </a:r>
            <a:r>
              <a:rPr lang="en-US" altLang="zh-CN" sz="2400"/>
              <a:t> c</a:t>
            </a:r>
            <a:r>
              <a:rPr lang="zh-CN" altLang="en-US" sz="2400"/>
              <a:t>里面的指针解释；</a:t>
            </a:r>
            <a:r>
              <a:rPr lang="en-US" altLang="zh-CN" sz="2400"/>
              <a:t>cot</a:t>
            </a:r>
            <a:r>
              <a:rPr lang="zh-CN" altLang="en-US" sz="2400"/>
              <a:t>中保留改动的</a:t>
            </a:r>
            <a:r>
              <a:rPr lang="zh-CN" altLang="en-US" sz="2400"/>
              <a:t>部分</a:t>
            </a:r>
            <a:endParaRPr lang="zh-CN" altLang="en-US" sz="2400"/>
          </a:p>
        </p:txBody>
      </p:sp>
      <p:pic>
        <p:nvPicPr>
          <p:cNvPr id="5" name="图片 4" descr="向右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335" y="5284470"/>
            <a:ext cx="691515" cy="6915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09700" y="540004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ym typeface="+mn-ea"/>
              </a:rPr>
              <a:t>移步专用网站看具体测例</a:t>
            </a:r>
            <a:r>
              <a:rPr lang="zh-CN" altLang="en-US" sz="2400">
                <a:sym typeface="+mn-ea"/>
              </a:rPr>
              <a:t>细节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3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4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5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6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7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8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9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0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1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2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3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4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5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6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7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8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19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0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1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2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3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4.xml><?xml version="1.0" encoding="utf-8"?>
<p:tagLst xmlns:p="http://schemas.openxmlformats.org/presentationml/2006/main">
  <p:tag name="KSO_WM_DIAGRAM_VIRTUALLY_FRAME" val="{&quot;height&quot;:295.45,&quot;left&quot;:193.97795275590542,&quot;top&quot;:124.7,&quot;width&quot;:304.8220472440945}"/>
</p:tagLst>
</file>

<file path=ppt/tags/tag25.xml><?xml version="1.0" encoding="utf-8"?>
<p:tagLst xmlns:p="http://schemas.openxmlformats.org/presentationml/2006/main">
  <p:tag name="resource_record_key" val="{&quot;10&quot;:[20179637,20211662,50039266,21564682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4895</Words>
  <Application>WPS 演示</Application>
  <PresentationFormat>宽屏</PresentationFormat>
  <Paragraphs>363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Open Sans</vt:lpstr>
      <vt:lpstr>Segoe Print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caoye541@gmail.com</dc:creator>
  <cp:lastModifiedBy>曹烨(2021012167)</cp:lastModifiedBy>
  <cp:revision>56</cp:revision>
  <dcterms:created xsi:type="dcterms:W3CDTF">2025-10-01T20:32:00Z</dcterms:created>
  <dcterms:modified xsi:type="dcterms:W3CDTF">2025-10-31T05:15:28Z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0EF9495A275B44739829F704D14D350D_13</vt:lpwstr>
  </property>
  <property fmtid="{D5CDD505-2E9C-101B-9397-08002B2CF9AE}" pid="3" name="KSOProductBuildVer">
    <vt:lpwstr>2052-12.1.0.19302</vt:lpwstr>
  </property>
</Properties>
</file>