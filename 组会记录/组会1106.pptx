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+xml"/>
  <Override PartName="/ppt/media/image4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7" r:id="rId3"/>
    <p:sldId id="327" r:id="rId4"/>
    <p:sldId id="265" r:id="rId5"/>
    <p:sldId id="277" r:id="rId6"/>
    <p:sldId id="315" r:id="rId7"/>
    <p:sldId id="328" r:id="rId8"/>
    <p:sldId id="329" r:id="rId9"/>
    <p:sldId id="330" r:id="rId10"/>
    <p:sldId id="331" r:id="rId11"/>
    <p:sldId id="332" r:id="rId12"/>
    <p:sldId id="333" r:id="rId13"/>
    <p:sldId id="334" r:id="rId14"/>
    <p:sldId id="335" r:id="rId15"/>
    <p:sldId id="336" r:id="rId16"/>
    <p:sldId id="337" r:id="rId17"/>
    <p:sldId id="342" r:id="rId18"/>
    <p:sldId id="341" r:id="rId19"/>
    <p:sldId id="343" r:id="rId20"/>
    <p:sldId id="344" r:id="rId21"/>
  </p:sldIdLst>
  <p:sldSz cx="12192000" cy="6858000"/>
  <p:notesSz cx="6858000" cy="9144000"/>
  <p:custDataLst>
    <p:tags r:id="rId2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523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tags" Target="tags/tag26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notesMaster" Target="notesMasters/notesMaster1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7840E2-13A5-46A9-A265-C77FF1EECC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9686F9-7E47-4853-B8F4-FBCF71CB48D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10.xml"/><Relationship Id="rId8" Type="http://schemas.openxmlformats.org/officeDocument/2006/relationships/tags" Target="../tags/tag9.xml"/><Relationship Id="rId7" Type="http://schemas.openxmlformats.org/officeDocument/2006/relationships/tags" Target="../tags/tag8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13.xml"/><Relationship Id="rId11" Type="http://schemas.openxmlformats.org/officeDocument/2006/relationships/tags" Target="../tags/tag12.xml"/><Relationship Id="rId10" Type="http://schemas.openxmlformats.org/officeDocument/2006/relationships/tags" Target="../tags/tag11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2.xml"/><Relationship Id="rId8" Type="http://schemas.openxmlformats.org/officeDocument/2006/relationships/tags" Target="../tags/tag21.xml"/><Relationship Id="rId7" Type="http://schemas.openxmlformats.org/officeDocument/2006/relationships/tags" Target="../tags/tag20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7" Type="http://schemas.openxmlformats.org/officeDocument/2006/relationships/slideLayout" Target="../slideLayouts/slideLayout1.xml"/><Relationship Id="rId16" Type="http://schemas.openxmlformats.org/officeDocument/2006/relationships/image" Target="../media/image4.svg"/><Relationship Id="rId15" Type="http://schemas.openxmlformats.org/officeDocument/2006/relationships/image" Target="../media/image3.png"/><Relationship Id="rId14" Type="http://schemas.openxmlformats.org/officeDocument/2006/relationships/image" Target="../media/image2.svg"/><Relationship Id="rId13" Type="http://schemas.openxmlformats.org/officeDocument/2006/relationships/image" Target="../media/image1.png"/><Relationship Id="rId12" Type="http://schemas.openxmlformats.org/officeDocument/2006/relationships/tags" Target="../tags/tag25.xml"/><Relationship Id="rId11" Type="http://schemas.openxmlformats.org/officeDocument/2006/relationships/tags" Target="../tags/tag24.xml"/><Relationship Id="rId10" Type="http://schemas.openxmlformats.org/officeDocument/2006/relationships/tags" Target="../tags/tag23.xml"/><Relationship Id="rId1" Type="http://schemas.openxmlformats.org/officeDocument/2006/relationships/tags" Target="../tags/tag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sv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99090" y="302697"/>
            <a:ext cx="60500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/>
              <a:t>上周回顾：</a:t>
            </a:r>
            <a:r>
              <a:rPr lang="zh-CN" altLang="en-US" sz="3200" dirty="0">
                <a:sym typeface="+mn-ea"/>
              </a:rPr>
              <a:t>2025</a:t>
            </a:r>
            <a:r>
              <a:rPr lang="en-US" altLang="zh-CN" sz="3200" dirty="0">
                <a:sym typeface="+mn-ea"/>
              </a:rPr>
              <a:t>1031</a:t>
            </a:r>
            <a:r>
              <a:rPr lang="zh-CN" altLang="en-US" sz="3200" dirty="0">
                <a:sym typeface="+mn-ea"/>
              </a:rPr>
              <a:t> 会议纪要 </a:t>
            </a:r>
            <a:r>
              <a:rPr lang="en-US" altLang="zh-CN" sz="3200" dirty="0">
                <a:sym typeface="+mn-ea"/>
              </a:rPr>
              <a:t>5</a:t>
            </a:r>
            <a:endParaRPr lang="en-US" altLang="zh-CN" sz="3200" dirty="0"/>
          </a:p>
        </p:txBody>
      </p:sp>
      <p:sp>
        <p:nvSpPr>
          <p:cNvPr id="4" name="文本框 3"/>
          <p:cNvSpPr txBox="1"/>
          <p:nvPr/>
        </p:nvSpPr>
        <p:spPr>
          <a:xfrm>
            <a:off x="373380" y="941070"/>
            <a:ext cx="11605260" cy="42004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000" dirty="0"/>
              <a:t>1. </a:t>
            </a:r>
            <a:r>
              <a:rPr lang="zh-CN" altLang="en-US" sz="2000" dirty="0"/>
              <a:t>分享了</a:t>
            </a:r>
            <a:r>
              <a:rPr lang="en-US" altLang="zh-CN" sz="2000" dirty="0"/>
              <a:t>cot</a:t>
            </a:r>
            <a:r>
              <a:rPr lang="zh-CN" altLang="en-US" sz="2000" dirty="0"/>
              <a:t>生成优化技术：</a:t>
            </a:r>
            <a:r>
              <a:rPr lang="zh-CN" altLang="en-US" sz="2000" dirty="0">
                <a:sym typeface="+mn-ea"/>
              </a:rPr>
              <a:t>完成了去</a:t>
            </a:r>
            <a:r>
              <a:rPr lang="en-US" altLang="zh-CN" sz="2000" dirty="0">
                <a:sym typeface="+mn-ea"/>
              </a:rPr>
              <a:t>ai</a:t>
            </a:r>
            <a:r>
              <a:rPr lang="zh-CN" altLang="en-US" sz="2000" dirty="0">
                <a:sym typeface="+mn-ea"/>
              </a:rPr>
              <a:t>依赖的剪枝与模板化</a:t>
            </a:r>
            <a:r>
              <a:rPr lang="en-US" altLang="zh-CN" sz="2000" dirty="0">
                <a:sym typeface="+mn-ea"/>
              </a:rPr>
              <a:t>cot</a:t>
            </a:r>
            <a:r>
              <a:rPr lang="zh-CN" altLang="en-US" sz="2000" dirty="0">
                <a:sym typeface="+mn-ea"/>
              </a:rPr>
              <a:t>生成框架，分享了它的三步走流程与核心算法</a:t>
            </a:r>
            <a:r>
              <a:rPr lang="en-US" altLang="zh-CN" sz="2000" dirty="0">
                <a:sym typeface="+mn-ea"/>
              </a:rPr>
              <a:t>——</a:t>
            </a:r>
            <a:r>
              <a:rPr lang="zh-CN" altLang="en-US" sz="2000" dirty="0">
                <a:solidFill>
                  <a:schemeClr val="accent5">
                    <a:lumMod val="75000"/>
                  </a:schemeClr>
                </a:solidFill>
                <a:sym typeface="+mn-ea"/>
              </a:rPr>
              <a:t>智能回溯剪枝算法</a:t>
            </a:r>
            <a:r>
              <a:rPr lang="zh-CN" altLang="en-US" sz="2000" dirty="0">
                <a:sym typeface="+mn-ea"/>
              </a:rPr>
              <a:t>与</a:t>
            </a:r>
            <a:r>
              <a:rPr lang="zh-CN" altLang="en-US" sz="2000" dirty="0">
                <a:solidFill>
                  <a:schemeClr val="accent5">
                    <a:lumMod val="75000"/>
                  </a:schemeClr>
                </a:solidFill>
                <a:sym typeface="+mn-ea"/>
              </a:rPr>
              <a:t>模板化</a:t>
            </a:r>
            <a:r>
              <a:rPr lang="en-US" altLang="zh-CN" sz="2000" dirty="0">
                <a:solidFill>
                  <a:schemeClr val="accent5">
                    <a:lumMod val="75000"/>
                  </a:schemeClr>
                </a:solidFill>
                <a:sym typeface="+mn-ea"/>
              </a:rPr>
              <a:t>COT</a:t>
            </a:r>
            <a:r>
              <a:rPr lang="zh-CN" altLang="en-US" sz="2000" dirty="0">
                <a:solidFill>
                  <a:schemeClr val="accent5">
                    <a:lumMod val="75000"/>
                  </a:schemeClr>
                </a:solidFill>
                <a:sym typeface="+mn-ea"/>
              </a:rPr>
              <a:t>生成算法，</a:t>
            </a:r>
            <a:r>
              <a:rPr lang="zh-CN" altLang="en-US" sz="2000" dirty="0">
                <a:sym typeface="+mn-ea"/>
              </a:rPr>
              <a:t>并且在</a:t>
            </a:r>
            <a:r>
              <a:rPr lang="en-US" altLang="zh-CN" sz="2000" dirty="0">
                <a:sym typeface="+mn-ea"/>
              </a:rPr>
              <a:t>10</a:t>
            </a:r>
            <a:r>
              <a:rPr lang="zh-CN" altLang="en-US" sz="2000" dirty="0">
                <a:sym typeface="+mn-ea"/>
              </a:rPr>
              <a:t>种情况的测试例中验证了正确性</a:t>
            </a:r>
            <a:endParaRPr lang="zh-CN" altLang="en-US" sz="2000" dirty="0">
              <a:sym typeface="+mn-ea"/>
            </a:endParaRPr>
          </a:p>
          <a:p>
            <a:pPr>
              <a:lnSpc>
                <a:spcPct val="200000"/>
              </a:lnSpc>
            </a:pPr>
            <a:r>
              <a:rPr lang="en-US" altLang="zh-CN" sz="2000" dirty="0">
                <a:sym typeface="+mn-ea"/>
              </a:rPr>
              <a:t>2. </a:t>
            </a:r>
            <a:r>
              <a:rPr lang="zh-CN" altLang="en-US" sz="2000" dirty="0">
                <a:sym typeface="+mn-ea"/>
              </a:rPr>
              <a:t>尝试将正确答案连同代码一同丢进提示词中进行微调，并进行评估：在</a:t>
            </a:r>
            <a:r>
              <a:rPr lang="en-US" altLang="zh-CN" sz="2000" dirty="0" err="1">
                <a:sym typeface="+mn-ea"/>
              </a:rPr>
              <a:t>CRUXEval</a:t>
            </a:r>
            <a:r>
              <a:rPr lang="zh-CN" altLang="en-US" sz="2000" dirty="0">
                <a:sym typeface="+mn-ea"/>
              </a:rPr>
              <a:t>上的提升高达</a:t>
            </a:r>
            <a:r>
              <a:rPr lang="en-US" altLang="zh-CN" sz="2000" dirty="0">
                <a:sym typeface="+mn-ea"/>
              </a:rPr>
              <a:t>30%</a:t>
            </a:r>
            <a:endParaRPr lang="en-US" altLang="zh-CN" sz="2000" dirty="0">
              <a:sym typeface="+mn-ea"/>
            </a:endParaRPr>
          </a:p>
          <a:p>
            <a:pPr>
              <a:lnSpc>
                <a:spcPct val="200000"/>
              </a:lnSpc>
            </a:pPr>
            <a:r>
              <a:rPr lang="en-US" altLang="zh-CN" sz="2000" dirty="0">
                <a:sym typeface="+mn-ea"/>
              </a:rPr>
              <a:t>3. </a:t>
            </a:r>
            <a:r>
              <a:rPr lang="zh-CN" altLang="en-US" sz="2000" dirty="0">
                <a:sym typeface="+mn-ea"/>
              </a:rPr>
              <a:t>后续规划简化优化最后一步</a:t>
            </a:r>
            <a:r>
              <a:rPr lang="en-US" altLang="zh-CN" sz="2000" dirty="0">
                <a:sym typeface="+mn-ea"/>
              </a:rPr>
              <a:t>cot</a:t>
            </a:r>
            <a:r>
              <a:rPr lang="zh-CN" altLang="en-US" sz="2000" dirty="0">
                <a:sym typeface="+mn-ea"/>
              </a:rPr>
              <a:t>组织细节，并优化一些边缘情况的处理如</a:t>
            </a:r>
            <a:r>
              <a:rPr lang="en-US" altLang="zh-CN" sz="2000" dirty="0" err="1">
                <a:sym typeface="+mn-ea"/>
              </a:rPr>
              <a:t>s.a.b</a:t>
            </a:r>
            <a:r>
              <a:rPr lang="zh-CN" altLang="en-US" sz="2000" dirty="0">
                <a:sym typeface="+mn-ea"/>
              </a:rPr>
              <a:t>等情况，以及增加</a:t>
            </a:r>
            <a:r>
              <a:rPr lang="en-US" altLang="zh-CN" sz="2000" dirty="0">
                <a:sym typeface="+mn-ea"/>
              </a:rPr>
              <a:t>forward / backward</a:t>
            </a:r>
            <a:r>
              <a:rPr lang="zh-CN" altLang="en-US" sz="2000" dirty="0">
                <a:sym typeface="+mn-ea"/>
              </a:rPr>
              <a:t>的</a:t>
            </a:r>
            <a:r>
              <a:rPr lang="en-US" altLang="zh-CN" sz="2000" dirty="0">
                <a:sym typeface="+mn-ea"/>
              </a:rPr>
              <a:t>cot</a:t>
            </a:r>
            <a:r>
              <a:rPr lang="zh-CN" altLang="en-US" sz="2000" dirty="0">
                <a:sym typeface="+mn-ea"/>
              </a:rPr>
              <a:t>形式</a:t>
            </a:r>
            <a:endParaRPr lang="en-US" altLang="zh-CN" sz="2000" dirty="0">
              <a:sym typeface="+mn-ea"/>
            </a:endParaRPr>
          </a:p>
          <a:p>
            <a:pPr>
              <a:lnSpc>
                <a:spcPct val="200000"/>
              </a:lnSpc>
            </a:pPr>
            <a:r>
              <a:rPr lang="en-US" altLang="zh-CN" sz="2000" dirty="0">
                <a:sym typeface="+mn-ea"/>
              </a:rPr>
              <a:t>4. </a:t>
            </a:r>
            <a:r>
              <a:rPr lang="zh-CN" altLang="en-US" sz="2000" dirty="0">
                <a:sym typeface="+mn-ea"/>
              </a:rPr>
              <a:t>后续规划产出第一批带高质量</a:t>
            </a:r>
            <a:r>
              <a:rPr lang="en-US" altLang="zh-CN" sz="2000" dirty="0">
                <a:sym typeface="+mn-ea"/>
              </a:rPr>
              <a:t>cot</a:t>
            </a:r>
            <a:r>
              <a:rPr lang="zh-CN" altLang="en-US" sz="2000" dirty="0">
                <a:sym typeface="+mn-ea"/>
              </a:rPr>
              <a:t>的</a:t>
            </a:r>
            <a:r>
              <a:rPr lang="en-US" altLang="zh-CN" sz="2000" dirty="0">
                <a:sym typeface="+mn-ea"/>
              </a:rPr>
              <a:t>python</a:t>
            </a:r>
            <a:r>
              <a:rPr lang="zh-CN" altLang="en-US" sz="2000" dirty="0">
                <a:sym typeface="+mn-ea"/>
              </a:rPr>
              <a:t>数据集</a:t>
            </a:r>
            <a:endParaRPr lang="zh-CN" altLang="en-US" sz="2000" dirty="0"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/>
              <a:t>5. </a:t>
            </a:r>
            <a:r>
              <a:rPr lang="zh-CN" altLang="en-US" sz="2000" dirty="0"/>
              <a:t>后续生成较为系统的实验方案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99090" y="302697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/>
              <a:t>本周内容总结</a:t>
            </a:r>
            <a:endParaRPr lang="zh-CN" altLang="en-US" sz="3200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90500" y="1090295"/>
          <a:ext cx="11628755" cy="5537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497965"/>
                <a:gridCol w="10130790"/>
              </a:tblGrid>
              <a:tr h="160655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</a:rPr>
                        <a:t>进展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>
                        <a:lnSpc>
                          <a:spcPct val="150000"/>
                        </a:lnSpc>
                        <a:buAutoNum type="arabicPeriod"/>
                      </a:pPr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COT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</a:rPr>
                        <a:t>生成框架优化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——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</a:rPr>
                        <a:t>边缘信息精简规则实现（如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s.a.b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</a:rPr>
                        <a:t>这种情况）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  <a:p>
                      <a:pPr marL="228600" indent="-228600" algn="l">
                        <a:lnSpc>
                          <a:spcPct val="150000"/>
                        </a:lnSpc>
                        <a:buAutoNum type="arabicPeriod"/>
                      </a:pPr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sym typeface="+mn-ea"/>
                        </a:rPr>
                        <a:t>做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sym typeface="+mn-ea"/>
                        </a:rPr>
                        <a:t>cot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sym typeface="+mn-ea"/>
                        </a:rPr>
                        <a:t>的简化和梳理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  <a:p>
                      <a:pPr marL="228600" indent="-228600" algn="l">
                        <a:lnSpc>
                          <a:spcPct val="150000"/>
                        </a:lnSpc>
                        <a:buAutoNum type="arabicPeriod"/>
                      </a:pPr>
                      <a:r>
                        <a:rPr lang="zh-CN" altLang="en-US" sz="1600" b="0" dirty="0">
                          <a:solidFill>
                            <a:schemeClr val="tx1"/>
                          </a:solidFill>
                        </a:rPr>
                        <a:t>产出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</a:rPr>
                        <a:t>了正序和倒叙两种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cot</a:t>
                      </a:r>
                      <a:endParaRPr lang="en-US" altLang="zh-CN" sz="1600" b="0" dirty="0">
                        <a:solidFill>
                          <a:schemeClr val="tx1"/>
                        </a:solidFill>
                      </a:endParaRPr>
                    </a:p>
                    <a:p>
                      <a:pPr marL="228600" indent="-228600" algn="l">
                        <a:lnSpc>
                          <a:spcPct val="150000"/>
                        </a:lnSpc>
                        <a:buAutoNum type="arabicPeriod"/>
                      </a:pPr>
                      <a:r>
                        <a:rPr lang="zh-CN" altLang="en-US" sz="1600" b="0" dirty="0">
                          <a:solidFill>
                            <a:schemeClr val="tx1"/>
                          </a:solidFill>
                        </a:rPr>
                        <a:t>总结来说基本完成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cot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</a:rPr>
                        <a:t>生成框架细化，后续预期是边做数据集边发现问题进行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</a:rPr>
                        <a:t>调整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4065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Todo</a:t>
                      </a:r>
                      <a:endParaRPr lang="en-US" altLang="zh-CN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</a:rPr>
                        <a:t>讲目前地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cot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</a:rPr>
                        <a:t>生成框架接入之前的案例扩展框架，产生新的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</a:rPr>
                        <a:t>技术框架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  <a:p>
                      <a:pPr indent="0" algn="l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</a:rPr>
                        <a:t>产出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1000+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</a:rPr>
                        <a:t>合适质量的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python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</a:rPr>
                        <a:t>数据集，投入微调流水线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</a:rPr>
                        <a:t>使用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  <a:p>
                      <a:pPr indent="0" algn="l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3. 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</a:rPr>
                        <a:t>依据定好的大作业文档需求，完成对应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</a:rPr>
                        <a:t>网站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52412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</a:rPr>
                        <a:t>会议纪要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CN" altLang="en-US" sz="1600" dirty="0">
                          <a:sym typeface="+mn-ea"/>
                        </a:rPr>
                        <a:t>2025</a:t>
                      </a:r>
                      <a:r>
                        <a:rPr lang="en-US" altLang="zh-CN" sz="1600" dirty="0">
                          <a:sym typeface="+mn-ea"/>
                        </a:rPr>
                        <a:t>1105</a:t>
                      </a:r>
                      <a:r>
                        <a:rPr lang="zh-CN" altLang="en-US" sz="1600" dirty="0">
                          <a:sym typeface="+mn-ea"/>
                        </a:rPr>
                        <a:t> 会议纪要 </a:t>
                      </a:r>
                      <a:r>
                        <a:rPr lang="en-US" altLang="zh-CN" sz="1600" dirty="0">
                          <a:sym typeface="+mn-ea"/>
                        </a:rPr>
                        <a:t>6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99090" y="302697"/>
            <a:ext cx="37321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一、回顾：往期工作速览</a:t>
            </a:r>
            <a:r>
              <a:rPr lang="en-US" altLang="zh-CN" sz="2400" dirty="0"/>
              <a:t>1</a:t>
            </a:r>
            <a:endParaRPr lang="zh-CN" altLang="en-US" sz="2400" dirty="0"/>
          </a:p>
        </p:txBody>
      </p:sp>
      <p:grpSp>
        <p:nvGrpSpPr>
          <p:cNvPr id="3" name="组合 2"/>
          <p:cNvGrpSpPr/>
          <p:nvPr/>
        </p:nvGrpSpPr>
        <p:grpSpPr>
          <a:xfrm>
            <a:off x="2437765" y="1303655"/>
            <a:ext cx="9531350" cy="4510405"/>
            <a:chOff x="943" y="1957"/>
            <a:chExt cx="17302" cy="7130"/>
          </a:xfrm>
        </p:grpSpPr>
        <p:sp>
          <p:nvSpPr>
            <p:cNvPr id="5" name="文本框 4"/>
            <p:cNvSpPr txBox="1"/>
            <p:nvPr/>
          </p:nvSpPr>
          <p:spPr>
            <a:xfrm>
              <a:off x="10133" y="4059"/>
              <a:ext cx="2826" cy="1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40000"/>
                </a:lnSpc>
              </a:pPr>
              <a:r>
                <a:rPr lang="zh-CN" altLang="en-US" sz="1600"/>
                <a:t>太粗糙简略</a:t>
              </a:r>
              <a:endParaRPr lang="zh-CN" altLang="en-US" sz="1600"/>
            </a:p>
            <a:p>
              <a:pPr algn="ctr">
                <a:lnSpc>
                  <a:spcPct val="140000"/>
                </a:lnSpc>
              </a:pPr>
              <a:r>
                <a:rPr lang="zh-CN" altLang="en-US" sz="1600"/>
                <a:t>对大模型提升弱</a:t>
              </a:r>
              <a:endParaRPr lang="zh-CN" altLang="en-US" sz="1600"/>
            </a:p>
          </p:txBody>
        </p:sp>
        <p:sp>
          <p:nvSpPr>
            <p:cNvPr id="14" name="矩形 13"/>
            <p:cNvSpPr/>
            <p:nvPr/>
          </p:nvSpPr>
          <p:spPr>
            <a:xfrm>
              <a:off x="943" y="1957"/>
              <a:ext cx="9220" cy="7130"/>
            </a:xfrm>
            <a:prstGeom prst="rect">
              <a:avLst/>
            </a:prstGeom>
            <a:ln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28" name="组合 27"/>
            <p:cNvGrpSpPr/>
            <p:nvPr>
              <p:custDataLst>
                <p:tags r:id="rId1"/>
              </p:custDataLst>
            </p:nvPr>
          </p:nvGrpSpPr>
          <p:grpSpPr>
            <a:xfrm>
              <a:off x="3880" y="2494"/>
              <a:ext cx="6086" cy="1507"/>
              <a:chOff x="9079" y="2581"/>
              <a:chExt cx="6086" cy="1507"/>
            </a:xfrm>
          </p:grpSpPr>
          <p:sp>
            <p:nvSpPr>
              <p:cNvPr id="15" name="笑脸 14"/>
              <p:cNvSpPr/>
              <p:nvPr>
                <p:custDataLst>
                  <p:tags r:id="rId2"/>
                </p:custDataLst>
              </p:nvPr>
            </p:nvSpPr>
            <p:spPr>
              <a:xfrm>
                <a:off x="9079" y="2913"/>
                <a:ext cx="672" cy="644"/>
              </a:xfrm>
              <a:prstGeom prst="smileyFac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6" name="文本框 15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9751" y="2581"/>
                <a:ext cx="5414" cy="15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Agent1</a:t>
                </a:r>
                <a:r>
                  <a:rPr lang="zh-CN" altLang="en-US" sz="1400" dirty="0"/>
                  <a:t>：</a:t>
                </a:r>
                <a:r>
                  <a:rPr lang="en-US" altLang="zh-CN" sz="1400" b="1" u="sng" dirty="0"/>
                  <a:t>execute_tasks</a:t>
                </a:r>
                <a:endParaRPr lang="en-US" altLang="zh-CN" sz="1400" dirty="0"/>
              </a:p>
              <a:p>
                <a:r>
                  <a:rPr lang="zh-CN" altLang="en-US" sz="1400" dirty="0"/>
                  <a:t>根据目前数据集，转换成可运行的代码并记录问题对应位置的运行结果</a:t>
                </a:r>
                <a:endParaRPr lang="zh-CN" altLang="en-US" sz="1400" dirty="0"/>
              </a:p>
            </p:txBody>
          </p:sp>
        </p:grpSp>
        <p:grpSp>
          <p:nvGrpSpPr>
            <p:cNvPr id="29" name="组合 28"/>
            <p:cNvGrpSpPr/>
            <p:nvPr>
              <p:custDataLst>
                <p:tags r:id="rId4"/>
              </p:custDataLst>
            </p:nvPr>
          </p:nvGrpSpPr>
          <p:grpSpPr>
            <a:xfrm>
              <a:off x="3880" y="4028"/>
              <a:ext cx="6086" cy="1165"/>
              <a:chOff x="9089" y="4111"/>
              <a:chExt cx="6086" cy="1165"/>
            </a:xfrm>
          </p:grpSpPr>
          <p:sp>
            <p:nvSpPr>
              <p:cNvPr id="17" name="笑脸 16"/>
              <p:cNvSpPr/>
              <p:nvPr>
                <p:custDataLst>
                  <p:tags r:id="rId5"/>
                </p:custDataLst>
              </p:nvPr>
            </p:nvSpPr>
            <p:spPr>
              <a:xfrm>
                <a:off x="9089" y="4442"/>
                <a:ext cx="672" cy="644"/>
              </a:xfrm>
              <a:prstGeom prst="smileyFac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9761" y="4111"/>
                <a:ext cx="5414" cy="1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Agent2</a:t>
                </a:r>
                <a:r>
                  <a:rPr lang="zh-CN" altLang="en-US" sz="1400" dirty="0"/>
                  <a:t>：</a:t>
                </a:r>
                <a:r>
                  <a:rPr lang="en-US" altLang="zh-CN" sz="1400" b="1" u="sng" dirty="0"/>
                  <a:t>generate_cot</a:t>
                </a:r>
                <a:endParaRPr lang="en-US" altLang="zh-CN" sz="1400" dirty="0"/>
              </a:p>
              <a:p>
                <a:r>
                  <a:rPr lang="zh-CN" altLang="en-US" sz="1400" b="1" strike="sngStrike" dirty="0">
                    <a:solidFill>
                      <a:srgbClr val="FF0000"/>
                    </a:solidFill>
                  </a:rPr>
                  <a:t>根据单个</a:t>
                </a:r>
                <a:r>
                  <a:rPr lang="en-US" altLang="zh-CN" sz="1400" b="1" strike="sngStrike" dirty="0">
                    <a:solidFill>
                      <a:srgbClr val="FF0000"/>
                    </a:solidFill>
                  </a:rPr>
                  <a:t>case</a:t>
                </a:r>
                <a:r>
                  <a:rPr lang="zh-CN" altLang="en-US" sz="1400" b="1" strike="sngStrike" dirty="0">
                    <a:solidFill>
                      <a:srgbClr val="FF0000"/>
                    </a:solidFill>
                  </a:rPr>
                  <a:t>生成精简的三句话以内的</a:t>
                </a:r>
                <a:r>
                  <a:rPr lang="en-US" altLang="zh-CN" sz="1400" b="1" strike="sngStrike" dirty="0">
                    <a:solidFill>
                      <a:srgbClr val="FF0000"/>
                    </a:solidFill>
                  </a:rPr>
                  <a:t>cot</a:t>
                </a:r>
                <a:endParaRPr lang="en-US" altLang="zh-CN" sz="1400" b="1" strike="sngStrike" dirty="0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8" name="组合 7"/>
            <p:cNvGrpSpPr/>
            <p:nvPr>
              <p:custDataLst>
                <p:tags r:id="rId7"/>
              </p:custDataLst>
            </p:nvPr>
          </p:nvGrpSpPr>
          <p:grpSpPr>
            <a:xfrm>
              <a:off x="3880" y="5562"/>
              <a:ext cx="6096" cy="1165"/>
              <a:chOff x="8625" y="5239"/>
              <a:chExt cx="6096" cy="1165"/>
            </a:xfrm>
          </p:grpSpPr>
          <p:sp>
            <p:nvSpPr>
              <p:cNvPr id="19" name="笑脸 18"/>
              <p:cNvSpPr/>
              <p:nvPr>
                <p:custDataLst>
                  <p:tags r:id="rId8"/>
                </p:custDataLst>
              </p:nvPr>
            </p:nvSpPr>
            <p:spPr>
              <a:xfrm>
                <a:off x="8625" y="5507"/>
                <a:ext cx="672" cy="644"/>
              </a:xfrm>
              <a:prstGeom prst="smileyFac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0" name="文本框 19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9307" y="5239"/>
                <a:ext cx="5414" cy="1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Agent3</a:t>
                </a:r>
                <a:r>
                  <a:rPr lang="zh-CN" altLang="en-US" sz="1400" dirty="0"/>
                  <a:t>：</a:t>
                </a:r>
                <a:r>
                  <a:rPr lang="en-US" altLang="zh-CN" sz="1400" b="1" u="sng" dirty="0"/>
                  <a:t>ai_evaluation</a:t>
                </a:r>
                <a:endParaRPr lang="en-US" altLang="zh-CN" sz="1400" dirty="0"/>
              </a:p>
              <a:p>
                <a:r>
                  <a:rPr lang="zh-CN" altLang="en-US" sz="1400" dirty="0"/>
                  <a:t>调用五个</a:t>
                </a:r>
                <a:r>
                  <a:rPr lang="en-US" altLang="zh-CN" sz="1400" dirty="0"/>
                  <a:t>ai</a:t>
                </a:r>
                <a:r>
                  <a:rPr lang="zh-CN" altLang="en-US" sz="1400" dirty="0"/>
                  <a:t>的</a:t>
                </a:r>
                <a:r>
                  <a:rPr lang="en-US" altLang="zh-CN" sz="1400" dirty="0"/>
                  <a:t>API</a:t>
                </a:r>
                <a:r>
                  <a:rPr lang="zh-CN" altLang="en-US" sz="1400" dirty="0"/>
                  <a:t>，预测对应</a:t>
                </a:r>
                <a:r>
                  <a:rPr lang="en-US" altLang="zh-CN" sz="1400" dirty="0"/>
                  <a:t>case</a:t>
                </a:r>
                <a:r>
                  <a:rPr lang="zh-CN" altLang="en-US" sz="1400" dirty="0"/>
                  <a:t>的答案，根据错误</a:t>
                </a:r>
                <a:r>
                  <a:rPr lang="en-US" altLang="zh-CN" sz="1400" dirty="0"/>
                  <a:t>ai</a:t>
                </a:r>
                <a:r>
                  <a:rPr lang="zh-CN" altLang="en-US" sz="1400" dirty="0"/>
                  <a:t>数目更新难度</a:t>
                </a:r>
                <a:endParaRPr lang="zh-CN" altLang="en-US" sz="1400" dirty="0"/>
              </a:p>
            </p:txBody>
          </p:sp>
        </p:grpSp>
        <p:grpSp>
          <p:nvGrpSpPr>
            <p:cNvPr id="30" name="组合 29"/>
            <p:cNvGrpSpPr/>
            <p:nvPr>
              <p:custDataLst>
                <p:tags r:id="rId10"/>
              </p:custDataLst>
            </p:nvPr>
          </p:nvGrpSpPr>
          <p:grpSpPr>
            <a:xfrm>
              <a:off x="3880" y="7097"/>
              <a:ext cx="6096" cy="1165"/>
              <a:chOff x="9079" y="7185"/>
              <a:chExt cx="6096" cy="1165"/>
            </a:xfrm>
          </p:grpSpPr>
          <p:sp>
            <p:nvSpPr>
              <p:cNvPr id="21" name="笑脸 20"/>
              <p:cNvSpPr/>
              <p:nvPr>
                <p:custDataLst>
                  <p:tags r:id="rId11"/>
                </p:custDataLst>
              </p:nvPr>
            </p:nvSpPr>
            <p:spPr>
              <a:xfrm>
                <a:off x="9079" y="7516"/>
                <a:ext cx="672" cy="644"/>
              </a:xfrm>
              <a:prstGeom prst="smileyFac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2" name="文本框 21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9761" y="7185"/>
                <a:ext cx="5414" cy="1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Agent4</a:t>
                </a:r>
                <a:r>
                  <a:rPr lang="zh-CN" altLang="en-US" sz="1400" dirty="0"/>
                  <a:t>：</a:t>
                </a:r>
                <a:r>
                  <a:rPr lang="en-US" altLang="zh-CN" sz="1400" b="1" u="sng" dirty="0"/>
                  <a:t>generate_new_task</a:t>
                </a:r>
                <a:endParaRPr lang="en-US" altLang="zh-CN" sz="1400" dirty="0"/>
              </a:p>
              <a:p>
                <a:r>
                  <a:rPr lang="zh-CN" altLang="en-US" sz="1400" dirty="0"/>
                  <a:t>根据给出的背景和需求和已有数据集，扩展数据集</a:t>
                </a:r>
                <a:endParaRPr lang="zh-CN" altLang="en-US" sz="1400" dirty="0"/>
              </a:p>
            </p:txBody>
          </p:sp>
        </p:grpSp>
        <p:sp>
          <p:nvSpPr>
            <p:cNvPr id="23" name="笑脸 22"/>
            <p:cNvSpPr/>
            <p:nvPr/>
          </p:nvSpPr>
          <p:spPr>
            <a:xfrm>
              <a:off x="1658" y="5037"/>
              <a:ext cx="672" cy="644"/>
            </a:xfrm>
            <a:prstGeom prst="smileyFac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1077" y="5784"/>
              <a:ext cx="1929" cy="25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400" dirty="0"/>
                <a:t>Master Agent</a:t>
              </a:r>
              <a:r>
                <a:rPr lang="zh-CN" altLang="en-US" sz="1400" dirty="0"/>
                <a:t>：负责多场景需求对不同</a:t>
              </a:r>
              <a:r>
                <a:rPr lang="en-US" altLang="zh-CN" sz="1400" dirty="0"/>
                <a:t>agent</a:t>
              </a:r>
              <a:r>
                <a:rPr lang="zh-CN" altLang="en-US" sz="1400" dirty="0"/>
                <a:t>的调用和流程把控</a:t>
              </a:r>
              <a:endParaRPr lang="zh-CN" altLang="en-US" sz="1400" dirty="0"/>
            </a:p>
          </p:txBody>
        </p:sp>
        <p:cxnSp>
          <p:nvCxnSpPr>
            <p:cNvPr id="32" name="直接连接符 31"/>
            <p:cNvCxnSpPr/>
            <p:nvPr/>
          </p:nvCxnSpPr>
          <p:spPr>
            <a:xfrm flipV="1">
              <a:off x="2328" y="5352"/>
              <a:ext cx="1012" cy="7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>
              <a:off x="3343" y="3100"/>
              <a:ext cx="16" cy="4624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直接箭头连接符 3"/>
            <p:cNvCxnSpPr/>
            <p:nvPr/>
          </p:nvCxnSpPr>
          <p:spPr>
            <a:xfrm>
              <a:off x="9976" y="4757"/>
              <a:ext cx="3014" cy="18"/>
            </a:xfrm>
            <a:prstGeom prst="straightConnector1">
              <a:avLst/>
            </a:prstGeom>
            <a:ln w="47625">
              <a:solidFill>
                <a:srgbClr val="FF0000"/>
              </a:solidFill>
              <a:tailEnd type="triangle" w="med" len="med"/>
            </a:ln>
          </p:spPr>
          <p:style>
            <a:lnRef idx="3">
              <a:schemeClr val="accent2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9" name="文本框 8"/>
            <p:cNvSpPr txBox="1"/>
            <p:nvPr/>
          </p:nvSpPr>
          <p:spPr>
            <a:xfrm>
              <a:off x="9965" y="7041"/>
              <a:ext cx="3037" cy="12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40000"/>
                </a:lnSpc>
              </a:pPr>
              <a:r>
                <a:rPr lang="zh-CN" altLang="en-US" sz="1600"/>
                <a:t>生成逻辑简略</a:t>
              </a:r>
              <a:endParaRPr lang="zh-CN" altLang="en-US" sz="1600"/>
            </a:p>
            <a:p>
              <a:pPr algn="ctr">
                <a:lnSpc>
                  <a:spcPct val="140000"/>
                </a:lnSpc>
              </a:pPr>
              <a:r>
                <a:rPr lang="zh-CN" altLang="en-US" sz="1600"/>
                <a:t>新</a:t>
              </a:r>
              <a:r>
                <a:rPr lang="en-US" altLang="zh-CN" sz="1600"/>
                <a:t>case</a:t>
              </a:r>
              <a:r>
                <a:rPr lang="zh-CN" altLang="en-US" sz="1600"/>
                <a:t>多样性低</a:t>
              </a:r>
              <a:endParaRPr lang="zh-CN" altLang="en-US" sz="1600"/>
            </a:p>
          </p:txBody>
        </p:sp>
        <p:cxnSp>
          <p:nvCxnSpPr>
            <p:cNvPr id="10" name="直接箭头连接符 9"/>
            <p:cNvCxnSpPr/>
            <p:nvPr/>
          </p:nvCxnSpPr>
          <p:spPr>
            <a:xfrm>
              <a:off x="10019" y="7739"/>
              <a:ext cx="3014" cy="18"/>
            </a:xfrm>
            <a:prstGeom prst="straightConnector1">
              <a:avLst/>
            </a:prstGeom>
            <a:ln w="47625">
              <a:solidFill>
                <a:srgbClr val="FF0000"/>
              </a:solidFill>
              <a:tailEnd type="triangle" w="med" len="med"/>
            </a:ln>
          </p:spPr>
          <p:style>
            <a:lnRef idx="3">
              <a:schemeClr val="accent2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1" name="文本框 10"/>
            <p:cNvSpPr txBox="1"/>
            <p:nvPr/>
          </p:nvSpPr>
          <p:spPr>
            <a:xfrm>
              <a:off x="13126" y="4028"/>
              <a:ext cx="5119" cy="1312"/>
            </a:xfrm>
            <a:prstGeom prst="rect">
              <a:avLst/>
            </a:prstGeom>
            <a:noFill/>
            <a:ln w="28575">
              <a:solidFill>
                <a:schemeClr val="accent2"/>
              </a:solidFill>
            </a:ln>
          </p:spPr>
          <p:txBody>
            <a:bodyPr wrap="square" rtlCol="0" anchor="t">
              <a:spAutoFit/>
            </a:bodyPr>
            <a:lstStyle/>
            <a:p>
              <a:r>
                <a:rPr lang="zh-CN" altLang="en-US" sz="1600" dirty="0">
                  <a:sym typeface="+mn-ea"/>
                </a:rPr>
                <a:t>优化</a:t>
              </a:r>
              <a:r>
                <a:rPr lang="en-US" altLang="zh-CN" sz="1600" dirty="0">
                  <a:sym typeface="+mn-ea"/>
                </a:rPr>
                <a:t>cot</a:t>
              </a:r>
              <a:r>
                <a:rPr lang="zh-CN" altLang="en-US" sz="1600" dirty="0">
                  <a:sym typeface="+mn-ea"/>
                </a:rPr>
                <a:t>生成逻辑</a:t>
              </a:r>
              <a:endParaRPr lang="zh-CN" altLang="en-US" sz="1600" dirty="0">
                <a:sym typeface="+mn-ea"/>
              </a:endParaRPr>
            </a:p>
            <a:p>
              <a:r>
                <a:rPr lang="zh-CN" altLang="en-US" sz="1600" dirty="0">
                  <a:sym typeface="+mn-ea"/>
                </a:rPr>
                <a:t>利用</a:t>
              </a:r>
              <a:r>
                <a:rPr lang="en-US" altLang="zh-CN" sz="1600" dirty="0">
                  <a:sym typeface="+mn-ea"/>
                </a:rPr>
                <a:t>GDB</a:t>
              </a:r>
              <a:r>
                <a:rPr lang="zh-CN" altLang="en-US" sz="1600" dirty="0">
                  <a:sym typeface="+mn-ea"/>
                </a:rPr>
                <a:t>记录额外中间信息来丰富</a:t>
              </a:r>
              <a:r>
                <a:rPr lang="en-US" altLang="zh-CN" sz="1600" dirty="0">
                  <a:sym typeface="+mn-ea"/>
                </a:rPr>
                <a:t>cot</a:t>
              </a:r>
              <a:endParaRPr lang="en-US" altLang="zh-CN" sz="1600" dirty="0">
                <a:sym typeface="+mn-ea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13126" y="7240"/>
              <a:ext cx="5119" cy="922"/>
            </a:xfrm>
            <a:prstGeom prst="rect">
              <a:avLst/>
            </a:prstGeom>
            <a:noFill/>
            <a:ln w="28575">
              <a:solidFill>
                <a:schemeClr val="accent2"/>
              </a:solidFill>
            </a:ln>
          </p:spPr>
          <p:txBody>
            <a:bodyPr wrap="square" rtlCol="0" anchor="t">
              <a:spAutoFit/>
            </a:bodyPr>
            <a:lstStyle/>
            <a:p>
              <a:r>
                <a:rPr lang="zh-CN" altLang="en-US" sz="1600" dirty="0">
                  <a:sym typeface="+mn-ea"/>
                </a:rPr>
                <a:t>新</a:t>
              </a:r>
              <a:r>
                <a:rPr lang="en-US" altLang="zh-CN" sz="1600" dirty="0">
                  <a:sym typeface="+mn-ea"/>
                </a:rPr>
                <a:t>case</a:t>
              </a:r>
              <a:r>
                <a:rPr lang="zh-CN" altLang="en-US" sz="1600" dirty="0">
                  <a:sym typeface="+mn-ea"/>
                </a:rPr>
                <a:t>扩展生成逻辑调整，均衡难度和提升多样性</a:t>
              </a:r>
              <a:endParaRPr lang="zh-CN" altLang="en-US" sz="1600" dirty="0">
                <a:sym typeface="+mn-ea"/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13126" y="2376"/>
              <a:ext cx="5119" cy="533"/>
            </a:xfrm>
            <a:prstGeom prst="rect">
              <a:avLst/>
            </a:prstGeom>
            <a:noFill/>
            <a:ln w="28575">
              <a:solidFill>
                <a:schemeClr val="accent2"/>
              </a:solidFill>
            </a:ln>
          </p:spPr>
          <p:txBody>
            <a:bodyPr wrap="square" rtlCol="0" anchor="t">
              <a:spAutoFit/>
            </a:bodyPr>
            <a:lstStyle/>
            <a:p>
              <a:r>
                <a:rPr lang="zh-CN" altLang="en-US" sz="1600" dirty="0">
                  <a:sym typeface="+mn-ea"/>
                </a:rPr>
                <a:t>可视化工具集成</a:t>
              </a:r>
              <a:endParaRPr lang="zh-CN" altLang="en-US" sz="1600" dirty="0">
                <a:sym typeface="+mn-ea"/>
              </a:endParaRPr>
            </a:p>
          </p:txBody>
        </p:sp>
      </p:grpSp>
      <p:sp>
        <p:nvSpPr>
          <p:cNvPr id="7" name="流程图: 多文档 6"/>
          <p:cNvSpPr/>
          <p:nvPr/>
        </p:nvSpPr>
        <p:spPr>
          <a:xfrm>
            <a:off x="126365" y="1568450"/>
            <a:ext cx="1543050" cy="850900"/>
          </a:xfrm>
          <a:prstGeom prst="flowChartMultidocumen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zh-CN" altLang="en-US" sz="1400" dirty="0"/>
              <a:t>来自</a:t>
            </a:r>
            <a:r>
              <a:rPr lang="en-US" altLang="zh-CN" sz="1400" dirty="0"/>
              <a:t>code-sense</a:t>
            </a:r>
            <a:r>
              <a:rPr lang="zh-CN" altLang="en-US" sz="1400" dirty="0"/>
              <a:t>的真实代码</a:t>
            </a:r>
            <a:endParaRPr lang="zh-CN" altLang="en-US" sz="1400" dirty="0"/>
          </a:p>
        </p:txBody>
      </p:sp>
      <p:cxnSp>
        <p:nvCxnSpPr>
          <p:cNvPr id="12" name="直接箭头连接符 11"/>
          <p:cNvCxnSpPr/>
          <p:nvPr/>
        </p:nvCxnSpPr>
        <p:spPr>
          <a:xfrm flipH="1">
            <a:off x="787400" y="2387600"/>
            <a:ext cx="3175" cy="5156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126365" y="2903220"/>
            <a:ext cx="1445260" cy="193230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n-US" altLang="zh-CN" sz="1400" dirty="0"/>
              <a:t>Treec-Eva</a:t>
            </a:r>
            <a:r>
              <a:rPr lang="zh-CN" altLang="en-US" sz="1400" dirty="0"/>
              <a:t>结构</a:t>
            </a:r>
            <a:endParaRPr lang="en-US" altLang="zh-CN" sz="1400" dirty="0"/>
          </a:p>
          <a:p>
            <a:pPr marL="342900" indent="-342900" algn="l">
              <a:buAutoNum type="arabicPeriod"/>
            </a:pPr>
            <a:r>
              <a:rPr lang="zh-CN" altLang="en-US" sz="1400" dirty="0"/>
              <a:t>算数运算</a:t>
            </a:r>
            <a:endParaRPr lang="en-US" altLang="zh-CN" sz="1400" dirty="0"/>
          </a:p>
          <a:p>
            <a:pPr marL="342900" indent="-342900" algn="l">
              <a:buAutoNum type="arabicPeriod"/>
            </a:pPr>
            <a:r>
              <a:rPr lang="zh-CN" altLang="en-US" sz="1400" dirty="0"/>
              <a:t>布尔运算</a:t>
            </a:r>
            <a:endParaRPr lang="en-US" altLang="zh-CN" sz="1400" dirty="0"/>
          </a:p>
          <a:p>
            <a:pPr marL="342900" indent="-342900" algn="l">
              <a:buAutoNum type="arabicPeriod"/>
            </a:pPr>
            <a:r>
              <a:rPr lang="zh-CN" altLang="en-US" sz="1400" dirty="0"/>
              <a:t>函数调用</a:t>
            </a:r>
            <a:endParaRPr lang="en-US" altLang="zh-CN" sz="1400" dirty="0"/>
          </a:p>
          <a:p>
            <a:pPr marL="342900" indent="-342900" algn="l">
              <a:buAutoNum type="arabicPeriod"/>
            </a:pPr>
            <a:r>
              <a:rPr lang="zh-CN" altLang="en-US" sz="1400" dirty="0"/>
              <a:t>变量赋值</a:t>
            </a:r>
            <a:endParaRPr lang="en-US" altLang="zh-CN" sz="1400" dirty="0"/>
          </a:p>
          <a:p>
            <a:pPr marL="342900" indent="-342900" algn="l">
              <a:buAutoNum type="arabicPeriod"/>
            </a:pPr>
            <a:r>
              <a:rPr lang="zh-CN" altLang="en-US" sz="1400" dirty="0"/>
              <a:t>大混合</a:t>
            </a:r>
            <a:endParaRPr lang="zh-CN" altLang="en-US" sz="1400" dirty="0"/>
          </a:p>
        </p:txBody>
      </p:sp>
      <p:cxnSp>
        <p:nvCxnSpPr>
          <p:cNvPr id="31" name="直接箭头连接符 30"/>
          <p:cNvCxnSpPr>
            <a:stCxn id="13" idx="3"/>
            <a:endCxn id="33" idx="3"/>
          </p:cNvCxnSpPr>
          <p:nvPr/>
        </p:nvCxnSpPr>
        <p:spPr>
          <a:xfrm>
            <a:off x="1571625" y="3869690"/>
            <a:ext cx="866140" cy="6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/>
        </p:nvSpPr>
        <p:spPr>
          <a:xfrm>
            <a:off x="1683385" y="3086100"/>
            <a:ext cx="75438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</a:rPr>
              <a:t>之前太简单了希望更难一点</a:t>
            </a:r>
            <a:endParaRPr lang="zh-CN" altLang="en-US" sz="16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99090" y="302697"/>
            <a:ext cx="37321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一、回顾：往期工作速览</a:t>
            </a:r>
            <a:r>
              <a:rPr lang="en-US" altLang="zh-CN" sz="2400" dirty="0"/>
              <a:t>2</a:t>
            </a:r>
            <a:endParaRPr lang="zh-CN" altLang="en-US" sz="2400" dirty="0"/>
          </a:p>
        </p:txBody>
      </p:sp>
      <p:grpSp>
        <p:nvGrpSpPr>
          <p:cNvPr id="3" name="组合 2"/>
          <p:cNvGrpSpPr/>
          <p:nvPr/>
        </p:nvGrpSpPr>
        <p:grpSpPr>
          <a:xfrm>
            <a:off x="-857885" y="1303655"/>
            <a:ext cx="9531350" cy="4510405"/>
            <a:chOff x="943" y="1957"/>
            <a:chExt cx="17302" cy="7130"/>
          </a:xfrm>
        </p:grpSpPr>
        <p:sp>
          <p:nvSpPr>
            <p:cNvPr id="5" name="文本框 4"/>
            <p:cNvSpPr txBox="1"/>
            <p:nvPr/>
          </p:nvSpPr>
          <p:spPr>
            <a:xfrm>
              <a:off x="10133" y="4059"/>
              <a:ext cx="2826" cy="1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40000"/>
                </a:lnSpc>
              </a:pPr>
              <a:r>
                <a:rPr lang="zh-CN" altLang="en-US" sz="1600"/>
                <a:t>太粗糙简略</a:t>
              </a:r>
              <a:endParaRPr lang="zh-CN" altLang="en-US" sz="1600"/>
            </a:p>
            <a:p>
              <a:pPr algn="ctr">
                <a:lnSpc>
                  <a:spcPct val="140000"/>
                </a:lnSpc>
              </a:pPr>
              <a:r>
                <a:rPr lang="zh-CN" altLang="en-US" sz="1600"/>
                <a:t>对大模型提升弱</a:t>
              </a:r>
              <a:endParaRPr lang="zh-CN" altLang="en-US" sz="1600"/>
            </a:p>
          </p:txBody>
        </p:sp>
        <p:sp>
          <p:nvSpPr>
            <p:cNvPr id="14" name="矩形 13"/>
            <p:cNvSpPr/>
            <p:nvPr/>
          </p:nvSpPr>
          <p:spPr>
            <a:xfrm>
              <a:off x="943" y="1957"/>
              <a:ext cx="9220" cy="7130"/>
            </a:xfrm>
            <a:prstGeom prst="rect">
              <a:avLst/>
            </a:prstGeom>
            <a:ln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28" name="组合 27"/>
            <p:cNvGrpSpPr/>
            <p:nvPr>
              <p:custDataLst>
                <p:tags r:id="rId1"/>
              </p:custDataLst>
            </p:nvPr>
          </p:nvGrpSpPr>
          <p:grpSpPr>
            <a:xfrm>
              <a:off x="3880" y="2494"/>
              <a:ext cx="6086" cy="1507"/>
              <a:chOff x="9079" y="2581"/>
              <a:chExt cx="6086" cy="1507"/>
            </a:xfrm>
          </p:grpSpPr>
          <p:sp>
            <p:nvSpPr>
              <p:cNvPr id="15" name="笑脸 14"/>
              <p:cNvSpPr/>
              <p:nvPr>
                <p:custDataLst>
                  <p:tags r:id="rId2"/>
                </p:custDataLst>
              </p:nvPr>
            </p:nvSpPr>
            <p:spPr>
              <a:xfrm>
                <a:off x="9079" y="2913"/>
                <a:ext cx="672" cy="644"/>
              </a:xfrm>
              <a:prstGeom prst="smileyFac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6" name="文本框 15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9751" y="2581"/>
                <a:ext cx="5414" cy="15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Agent1</a:t>
                </a:r>
                <a:r>
                  <a:rPr lang="zh-CN" altLang="en-US" sz="1400" dirty="0"/>
                  <a:t>：</a:t>
                </a:r>
                <a:r>
                  <a:rPr lang="en-US" altLang="zh-CN" sz="1400" b="1" u="sng" dirty="0"/>
                  <a:t>execute_tasks</a:t>
                </a:r>
                <a:endParaRPr lang="en-US" altLang="zh-CN" sz="1400" dirty="0"/>
              </a:p>
              <a:p>
                <a:r>
                  <a:rPr lang="zh-CN" altLang="en-US" sz="1400" dirty="0"/>
                  <a:t>根据目前数据集，转换成可运行的代码并记录问题对应位置的运行结果</a:t>
                </a:r>
                <a:endParaRPr lang="zh-CN" altLang="en-US" sz="1400" dirty="0"/>
              </a:p>
            </p:txBody>
          </p:sp>
        </p:grpSp>
        <p:grpSp>
          <p:nvGrpSpPr>
            <p:cNvPr id="29" name="组合 28"/>
            <p:cNvGrpSpPr/>
            <p:nvPr>
              <p:custDataLst>
                <p:tags r:id="rId4"/>
              </p:custDataLst>
            </p:nvPr>
          </p:nvGrpSpPr>
          <p:grpSpPr>
            <a:xfrm>
              <a:off x="3880" y="4028"/>
              <a:ext cx="6086" cy="1165"/>
              <a:chOff x="9089" y="4111"/>
              <a:chExt cx="6086" cy="1165"/>
            </a:xfrm>
          </p:grpSpPr>
          <p:sp>
            <p:nvSpPr>
              <p:cNvPr id="17" name="笑脸 16"/>
              <p:cNvSpPr/>
              <p:nvPr>
                <p:custDataLst>
                  <p:tags r:id="rId5"/>
                </p:custDataLst>
              </p:nvPr>
            </p:nvSpPr>
            <p:spPr>
              <a:xfrm>
                <a:off x="9089" y="4442"/>
                <a:ext cx="672" cy="644"/>
              </a:xfrm>
              <a:prstGeom prst="smileyFac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9761" y="4111"/>
                <a:ext cx="5414" cy="1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Agent2</a:t>
                </a:r>
                <a:r>
                  <a:rPr lang="zh-CN" altLang="en-US" sz="1400" dirty="0"/>
                  <a:t>：</a:t>
                </a:r>
                <a:r>
                  <a:rPr lang="en-US" altLang="zh-CN" sz="1400" b="1" u="sng" dirty="0"/>
                  <a:t>generate_cot</a:t>
                </a:r>
                <a:endParaRPr lang="en-US" altLang="zh-CN" sz="1400" dirty="0"/>
              </a:p>
              <a:p>
                <a:r>
                  <a:rPr lang="zh-CN" altLang="en-US" sz="1400" b="1" strike="sngStrike" dirty="0">
                    <a:solidFill>
                      <a:srgbClr val="FF0000"/>
                    </a:solidFill>
                  </a:rPr>
                  <a:t>根据单个</a:t>
                </a:r>
                <a:r>
                  <a:rPr lang="en-US" altLang="zh-CN" sz="1400" b="1" strike="sngStrike" dirty="0">
                    <a:solidFill>
                      <a:srgbClr val="FF0000"/>
                    </a:solidFill>
                  </a:rPr>
                  <a:t>case</a:t>
                </a:r>
                <a:r>
                  <a:rPr lang="zh-CN" altLang="en-US" sz="1400" b="1" strike="sngStrike" dirty="0">
                    <a:solidFill>
                      <a:srgbClr val="FF0000"/>
                    </a:solidFill>
                  </a:rPr>
                  <a:t>生成精简的三句话以内的</a:t>
                </a:r>
                <a:r>
                  <a:rPr lang="en-US" altLang="zh-CN" sz="1400" b="1" strike="sngStrike" dirty="0">
                    <a:solidFill>
                      <a:srgbClr val="FF0000"/>
                    </a:solidFill>
                  </a:rPr>
                  <a:t>cot</a:t>
                </a:r>
                <a:endParaRPr lang="en-US" altLang="zh-CN" sz="1400" b="1" strike="sngStrike" dirty="0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8" name="组合 7"/>
            <p:cNvGrpSpPr/>
            <p:nvPr>
              <p:custDataLst>
                <p:tags r:id="rId7"/>
              </p:custDataLst>
            </p:nvPr>
          </p:nvGrpSpPr>
          <p:grpSpPr>
            <a:xfrm>
              <a:off x="3880" y="5562"/>
              <a:ext cx="6096" cy="1165"/>
              <a:chOff x="8625" y="5239"/>
              <a:chExt cx="6096" cy="1165"/>
            </a:xfrm>
          </p:grpSpPr>
          <p:sp>
            <p:nvSpPr>
              <p:cNvPr id="19" name="笑脸 18"/>
              <p:cNvSpPr/>
              <p:nvPr>
                <p:custDataLst>
                  <p:tags r:id="rId8"/>
                </p:custDataLst>
              </p:nvPr>
            </p:nvSpPr>
            <p:spPr>
              <a:xfrm>
                <a:off x="8625" y="5507"/>
                <a:ext cx="672" cy="644"/>
              </a:xfrm>
              <a:prstGeom prst="smileyFac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0" name="文本框 19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9307" y="5239"/>
                <a:ext cx="5414" cy="1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Agent3</a:t>
                </a:r>
                <a:r>
                  <a:rPr lang="zh-CN" altLang="en-US" sz="1400" dirty="0"/>
                  <a:t>：</a:t>
                </a:r>
                <a:r>
                  <a:rPr lang="en-US" altLang="zh-CN" sz="1400" b="1" u="sng" dirty="0"/>
                  <a:t>ai_evaluation</a:t>
                </a:r>
                <a:endParaRPr lang="en-US" altLang="zh-CN" sz="1400" dirty="0"/>
              </a:p>
              <a:p>
                <a:r>
                  <a:rPr lang="zh-CN" altLang="en-US" sz="1400" dirty="0"/>
                  <a:t>调用五个</a:t>
                </a:r>
                <a:r>
                  <a:rPr lang="en-US" altLang="zh-CN" sz="1400" dirty="0"/>
                  <a:t>ai</a:t>
                </a:r>
                <a:r>
                  <a:rPr lang="zh-CN" altLang="en-US" sz="1400" dirty="0"/>
                  <a:t>的</a:t>
                </a:r>
                <a:r>
                  <a:rPr lang="en-US" altLang="zh-CN" sz="1400" dirty="0"/>
                  <a:t>API</a:t>
                </a:r>
                <a:r>
                  <a:rPr lang="zh-CN" altLang="en-US" sz="1400" dirty="0"/>
                  <a:t>，预测对应</a:t>
                </a:r>
                <a:r>
                  <a:rPr lang="en-US" altLang="zh-CN" sz="1400" dirty="0"/>
                  <a:t>case</a:t>
                </a:r>
                <a:r>
                  <a:rPr lang="zh-CN" altLang="en-US" sz="1400" dirty="0"/>
                  <a:t>的答案，根据错误</a:t>
                </a:r>
                <a:r>
                  <a:rPr lang="en-US" altLang="zh-CN" sz="1400" dirty="0"/>
                  <a:t>ai</a:t>
                </a:r>
                <a:r>
                  <a:rPr lang="zh-CN" altLang="en-US" sz="1400" dirty="0"/>
                  <a:t>数目更新难度</a:t>
                </a:r>
                <a:endParaRPr lang="zh-CN" altLang="en-US" sz="1400" dirty="0"/>
              </a:p>
            </p:txBody>
          </p:sp>
        </p:grpSp>
        <p:grpSp>
          <p:nvGrpSpPr>
            <p:cNvPr id="30" name="组合 29"/>
            <p:cNvGrpSpPr/>
            <p:nvPr>
              <p:custDataLst>
                <p:tags r:id="rId10"/>
              </p:custDataLst>
            </p:nvPr>
          </p:nvGrpSpPr>
          <p:grpSpPr>
            <a:xfrm>
              <a:off x="3880" y="7097"/>
              <a:ext cx="6096" cy="1165"/>
              <a:chOff x="9079" y="7185"/>
              <a:chExt cx="6096" cy="1165"/>
            </a:xfrm>
          </p:grpSpPr>
          <p:sp>
            <p:nvSpPr>
              <p:cNvPr id="21" name="笑脸 20"/>
              <p:cNvSpPr/>
              <p:nvPr>
                <p:custDataLst>
                  <p:tags r:id="rId11"/>
                </p:custDataLst>
              </p:nvPr>
            </p:nvSpPr>
            <p:spPr>
              <a:xfrm>
                <a:off x="9079" y="7516"/>
                <a:ext cx="672" cy="644"/>
              </a:xfrm>
              <a:prstGeom prst="smileyFac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2" name="文本框 21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9761" y="7185"/>
                <a:ext cx="5414" cy="1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Agent4</a:t>
                </a:r>
                <a:r>
                  <a:rPr lang="zh-CN" altLang="en-US" sz="1400" dirty="0"/>
                  <a:t>：</a:t>
                </a:r>
                <a:r>
                  <a:rPr lang="en-US" altLang="zh-CN" sz="1400" b="1" u="sng" dirty="0"/>
                  <a:t>generate_new_task</a:t>
                </a:r>
                <a:endParaRPr lang="en-US" altLang="zh-CN" sz="1400" dirty="0"/>
              </a:p>
              <a:p>
                <a:r>
                  <a:rPr lang="zh-CN" altLang="en-US" sz="1400" dirty="0"/>
                  <a:t>根据给出的背景和需求和已有数据集，扩展数据集</a:t>
                </a:r>
                <a:endParaRPr lang="zh-CN" altLang="en-US" sz="1400" dirty="0"/>
              </a:p>
            </p:txBody>
          </p:sp>
        </p:grpSp>
        <p:sp>
          <p:nvSpPr>
            <p:cNvPr id="23" name="笑脸 22"/>
            <p:cNvSpPr/>
            <p:nvPr/>
          </p:nvSpPr>
          <p:spPr>
            <a:xfrm>
              <a:off x="1658" y="5037"/>
              <a:ext cx="672" cy="644"/>
            </a:xfrm>
            <a:prstGeom prst="smileyFac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1077" y="5784"/>
              <a:ext cx="1929" cy="25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400" dirty="0"/>
                <a:t>Master Agent</a:t>
              </a:r>
              <a:r>
                <a:rPr lang="zh-CN" altLang="en-US" sz="1400" dirty="0"/>
                <a:t>：负责多场景需求对不同</a:t>
              </a:r>
              <a:r>
                <a:rPr lang="en-US" altLang="zh-CN" sz="1400" dirty="0"/>
                <a:t>agent</a:t>
              </a:r>
              <a:r>
                <a:rPr lang="zh-CN" altLang="en-US" sz="1400" dirty="0"/>
                <a:t>的调用和流程把控</a:t>
              </a:r>
              <a:endParaRPr lang="zh-CN" altLang="en-US" sz="1400" dirty="0"/>
            </a:p>
          </p:txBody>
        </p:sp>
        <p:cxnSp>
          <p:nvCxnSpPr>
            <p:cNvPr id="32" name="直接连接符 31"/>
            <p:cNvCxnSpPr/>
            <p:nvPr/>
          </p:nvCxnSpPr>
          <p:spPr>
            <a:xfrm flipV="1">
              <a:off x="2328" y="5352"/>
              <a:ext cx="1012" cy="7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>
              <a:off x="3343" y="3100"/>
              <a:ext cx="16" cy="4624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直接箭头连接符 3"/>
            <p:cNvCxnSpPr/>
            <p:nvPr/>
          </p:nvCxnSpPr>
          <p:spPr>
            <a:xfrm>
              <a:off x="9976" y="4757"/>
              <a:ext cx="3014" cy="18"/>
            </a:xfrm>
            <a:prstGeom prst="straightConnector1">
              <a:avLst/>
            </a:prstGeom>
            <a:ln w="47625">
              <a:solidFill>
                <a:srgbClr val="FF0000"/>
              </a:solidFill>
              <a:tailEnd type="triangle" w="med" len="med"/>
            </a:ln>
          </p:spPr>
          <p:style>
            <a:lnRef idx="3">
              <a:schemeClr val="accent2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9" name="文本框 8"/>
            <p:cNvSpPr txBox="1"/>
            <p:nvPr/>
          </p:nvSpPr>
          <p:spPr>
            <a:xfrm>
              <a:off x="9965" y="7041"/>
              <a:ext cx="3037" cy="12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40000"/>
                </a:lnSpc>
              </a:pPr>
              <a:r>
                <a:rPr lang="zh-CN" altLang="en-US" sz="1600"/>
                <a:t>生成逻辑简略</a:t>
              </a:r>
              <a:endParaRPr lang="zh-CN" altLang="en-US" sz="1600"/>
            </a:p>
            <a:p>
              <a:pPr algn="ctr">
                <a:lnSpc>
                  <a:spcPct val="140000"/>
                </a:lnSpc>
              </a:pPr>
              <a:r>
                <a:rPr lang="zh-CN" altLang="en-US" sz="1600"/>
                <a:t>新</a:t>
              </a:r>
              <a:r>
                <a:rPr lang="en-US" altLang="zh-CN" sz="1600"/>
                <a:t>case</a:t>
              </a:r>
              <a:r>
                <a:rPr lang="zh-CN" altLang="en-US" sz="1600"/>
                <a:t>多样性低</a:t>
              </a:r>
              <a:endParaRPr lang="zh-CN" altLang="en-US" sz="1600"/>
            </a:p>
          </p:txBody>
        </p:sp>
        <p:cxnSp>
          <p:nvCxnSpPr>
            <p:cNvPr id="10" name="直接箭头连接符 9"/>
            <p:cNvCxnSpPr/>
            <p:nvPr/>
          </p:nvCxnSpPr>
          <p:spPr>
            <a:xfrm>
              <a:off x="10019" y="7739"/>
              <a:ext cx="3014" cy="18"/>
            </a:xfrm>
            <a:prstGeom prst="straightConnector1">
              <a:avLst/>
            </a:prstGeom>
            <a:ln w="47625">
              <a:solidFill>
                <a:srgbClr val="FF0000"/>
              </a:solidFill>
              <a:tailEnd type="triangle" w="med" len="med"/>
            </a:ln>
          </p:spPr>
          <p:style>
            <a:lnRef idx="3">
              <a:schemeClr val="accent2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1" name="文本框 10"/>
            <p:cNvSpPr txBox="1"/>
            <p:nvPr/>
          </p:nvSpPr>
          <p:spPr>
            <a:xfrm>
              <a:off x="13126" y="4028"/>
              <a:ext cx="5119" cy="1312"/>
            </a:xfrm>
            <a:prstGeom prst="rect">
              <a:avLst/>
            </a:prstGeom>
            <a:noFill/>
            <a:ln w="28575">
              <a:solidFill>
                <a:schemeClr val="accent2"/>
              </a:solidFill>
            </a:ln>
          </p:spPr>
          <p:txBody>
            <a:bodyPr wrap="square" rtlCol="0" anchor="t">
              <a:spAutoFit/>
            </a:bodyPr>
            <a:lstStyle/>
            <a:p>
              <a:r>
                <a:rPr lang="zh-CN" altLang="en-US" sz="1600" dirty="0">
                  <a:sym typeface="+mn-ea"/>
                </a:rPr>
                <a:t>优化</a:t>
              </a:r>
              <a:r>
                <a:rPr lang="en-US" altLang="zh-CN" sz="1600" dirty="0">
                  <a:sym typeface="+mn-ea"/>
                </a:rPr>
                <a:t>cot</a:t>
              </a:r>
              <a:r>
                <a:rPr lang="zh-CN" altLang="en-US" sz="1600" dirty="0">
                  <a:sym typeface="+mn-ea"/>
                </a:rPr>
                <a:t>生成逻辑</a:t>
              </a:r>
              <a:endParaRPr lang="zh-CN" altLang="en-US" sz="1600" dirty="0">
                <a:sym typeface="+mn-ea"/>
              </a:endParaRPr>
            </a:p>
            <a:p>
              <a:r>
                <a:rPr lang="zh-CN" altLang="en-US" sz="1600" dirty="0">
                  <a:sym typeface="+mn-ea"/>
                </a:rPr>
                <a:t>利用</a:t>
              </a:r>
              <a:r>
                <a:rPr lang="en-US" altLang="zh-CN" sz="1600" dirty="0">
                  <a:sym typeface="+mn-ea"/>
                </a:rPr>
                <a:t>GDB</a:t>
              </a:r>
              <a:r>
                <a:rPr lang="zh-CN" altLang="en-US" sz="1600" dirty="0">
                  <a:sym typeface="+mn-ea"/>
                </a:rPr>
                <a:t>记录额外中间信息来丰富</a:t>
              </a:r>
              <a:r>
                <a:rPr lang="en-US" altLang="zh-CN" sz="1600" dirty="0">
                  <a:sym typeface="+mn-ea"/>
                </a:rPr>
                <a:t>cot</a:t>
              </a:r>
              <a:endParaRPr lang="en-US" altLang="zh-CN" sz="1600" dirty="0">
                <a:sym typeface="+mn-ea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13126" y="7240"/>
              <a:ext cx="5119" cy="922"/>
            </a:xfrm>
            <a:prstGeom prst="rect">
              <a:avLst/>
            </a:prstGeom>
            <a:noFill/>
            <a:ln w="28575">
              <a:solidFill>
                <a:schemeClr val="accent2"/>
              </a:solidFill>
            </a:ln>
          </p:spPr>
          <p:txBody>
            <a:bodyPr wrap="square" rtlCol="0" anchor="t">
              <a:spAutoFit/>
            </a:bodyPr>
            <a:lstStyle/>
            <a:p>
              <a:r>
                <a:rPr lang="zh-CN" altLang="en-US" sz="1600" dirty="0">
                  <a:sym typeface="+mn-ea"/>
                </a:rPr>
                <a:t>新</a:t>
              </a:r>
              <a:r>
                <a:rPr lang="en-US" altLang="zh-CN" sz="1600" dirty="0">
                  <a:sym typeface="+mn-ea"/>
                </a:rPr>
                <a:t>case</a:t>
              </a:r>
              <a:r>
                <a:rPr lang="zh-CN" altLang="en-US" sz="1600" dirty="0">
                  <a:sym typeface="+mn-ea"/>
                </a:rPr>
                <a:t>扩展生成逻辑调整，均衡难度和提升多样性</a:t>
              </a:r>
              <a:endParaRPr lang="zh-CN" altLang="en-US" sz="1600" dirty="0">
                <a:sym typeface="+mn-ea"/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13126" y="2376"/>
              <a:ext cx="5119" cy="533"/>
            </a:xfrm>
            <a:prstGeom prst="rect">
              <a:avLst/>
            </a:prstGeom>
            <a:noFill/>
            <a:ln w="28575">
              <a:solidFill>
                <a:schemeClr val="accent2"/>
              </a:solidFill>
            </a:ln>
          </p:spPr>
          <p:txBody>
            <a:bodyPr wrap="square" rtlCol="0" anchor="t">
              <a:spAutoFit/>
            </a:bodyPr>
            <a:lstStyle/>
            <a:p>
              <a:r>
                <a:rPr lang="zh-CN" altLang="en-US" sz="1600" dirty="0">
                  <a:sym typeface="+mn-ea"/>
                </a:rPr>
                <a:t>可视化工具集成</a:t>
              </a:r>
              <a:endParaRPr lang="zh-CN" altLang="en-US" sz="1600" dirty="0">
                <a:sym typeface="+mn-ea"/>
              </a:endParaRPr>
            </a:p>
          </p:txBody>
        </p:sp>
      </p:grpSp>
      <p:sp>
        <p:nvSpPr>
          <p:cNvPr id="7" name="流程图: 多文档 6"/>
          <p:cNvSpPr/>
          <p:nvPr/>
        </p:nvSpPr>
        <p:spPr>
          <a:xfrm>
            <a:off x="-3169285" y="1568450"/>
            <a:ext cx="1543050" cy="850900"/>
          </a:xfrm>
          <a:prstGeom prst="flowChartMultidocumen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zh-CN" altLang="en-US" sz="1400" dirty="0"/>
              <a:t>来自</a:t>
            </a:r>
            <a:r>
              <a:rPr lang="en-US" altLang="zh-CN" sz="1400" dirty="0"/>
              <a:t>code-sense</a:t>
            </a:r>
            <a:r>
              <a:rPr lang="zh-CN" altLang="en-US" sz="1400" dirty="0"/>
              <a:t>的真实代码</a:t>
            </a:r>
            <a:endParaRPr lang="zh-CN" altLang="en-US" sz="1400" dirty="0"/>
          </a:p>
        </p:txBody>
      </p:sp>
      <p:cxnSp>
        <p:nvCxnSpPr>
          <p:cNvPr id="12" name="直接箭头连接符 11"/>
          <p:cNvCxnSpPr/>
          <p:nvPr/>
        </p:nvCxnSpPr>
        <p:spPr>
          <a:xfrm flipH="1">
            <a:off x="-2508250" y="2387600"/>
            <a:ext cx="3175" cy="5156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-3169285" y="2903220"/>
            <a:ext cx="1445260" cy="193230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n-US" altLang="zh-CN" sz="1400" dirty="0"/>
              <a:t>Treec-Eva</a:t>
            </a:r>
            <a:r>
              <a:rPr lang="zh-CN" altLang="en-US" sz="1400" dirty="0"/>
              <a:t>结构</a:t>
            </a:r>
            <a:endParaRPr lang="en-US" altLang="zh-CN" sz="1400" dirty="0"/>
          </a:p>
          <a:p>
            <a:pPr marL="342900" indent="-342900" algn="l">
              <a:buAutoNum type="arabicPeriod"/>
            </a:pPr>
            <a:r>
              <a:rPr lang="zh-CN" altLang="en-US" sz="1400" dirty="0"/>
              <a:t>算数运算</a:t>
            </a:r>
            <a:endParaRPr lang="en-US" altLang="zh-CN" sz="1400" dirty="0"/>
          </a:p>
          <a:p>
            <a:pPr marL="342900" indent="-342900" algn="l">
              <a:buAutoNum type="arabicPeriod"/>
            </a:pPr>
            <a:r>
              <a:rPr lang="zh-CN" altLang="en-US" sz="1400" dirty="0"/>
              <a:t>布尔运算</a:t>
            </a:r>
            <a:endParaRPr lang="en-US" altLang="zh-CN" sz="1400" dirty="0"/>
          </a:p>
          <a:p>
            <a:pPr marL="342900" indent="-342900" algn="l">
              <a:buAutoNum type="arabicPeriod"/>
            </a:pPr>
            <a:r>
              <a:rPr lang="zh-CN" altLang="en-US" sz="1400" dirty="0"/>
              <a:t>函数调用</a:t>
            </a:r>
            <a:endParaRPr lang="en-US" altLang="zh-CN" sz="1400" dirty="0"/>
          </a:p>
          <a:p>
            <a:pPr marL="342900" indent="-342900" algn="l">
              <a:buAutoNum type="arabicPeriod"/>
            </a:pPr>
            <a:r>
              <a:rPr lang="zh-CN" altLang="en-US" sz="1400" dirty="0"/>
              <a:t>变量赋值</a:t>
            </a:r>
            <a:endParaRPr lang="en-US" altLang="zh-CN" sz="1400" dirty="0"/>
          </a:p>
          <a:p>
            <a:pPr marL="342900" indent="-342900" algn="l">
              <a:buAutoNum type="arabicPeriod"/>
            </a:pPr>
            <a:r>
              <a:rPr lang="zh-CN" altLang="en-US" sz="1400" dirty="0"/>
              <a:t>大混合</a:t>
            </a:r>
            <a:endParaRPr lang="zh-CN" altLang="en-US" sz="1400" dirty="0"/>
          </a:p>
        </p:txBody>
      </p:sp>
      <p:cxnSp>
        <p:nvCxnSpPr>
          <p:cNvPr id="31" name="直接箭头连接符 30"/>
          <p:cNvCxnSpPr>
            <a:stCxn id="13" idx="3"/>
            <a:endCxn id="33" idx="3"/>
          </p:cNvCxnSpPr>
          <p:nvPr/>
        </p:nvCxnSpPr>
        <p:spPr>
          <a:xfrm>
            <a:off x="-1724025" y="3869690"/>
            <a:ext cx="866140" cy="6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/>
        </p:nvSpPr>
        <p:spPr>
          <a:xfrm>
            <a:off x="-1612265" y="3086100"/>
            <a:ext cx="75438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</a:rPr>
              <a:t>之前太简单了希望更难一点</a:t>
            </a:r>
            <a:endParaRPr lang="zh-CN" altLang="en-US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34" name="图片 33" descr="对勾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592695" y="1193800"/>
            <a:ext cx="914400" cy="914400"/>
          </a:xfrm>
          <a:prstGeom prst="rect">
            <a:avLst/>
          </a:prstGeom>
        </p:spPr>
      </p:pic>
      <p:sp>
        <p:nvSpPr>
          <p:cNvPr id="35" name="文本框 34"/>
          <p:cNvSpPr txBox="1"/>
          <p:nvPr/>
        </p:nvSpPr>
        <p:spPr>
          <a:xfrm>
            <a:off x="8961755" y="1506855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/>
              <a:t>体验不错，后续待优化</a:t>
            </a:r>
            <a:endParaRPr lang="zh-CN" altLang="en-US" sz="2000"/>
          </a:p>
        </p:txBody>
      </p:sp>
      <p:sp>
        <p:nvSpPr>
          <p:cNvPr id="36" name="文本框 35"/>
          <p:cNvSpPr txBox="1"/>
          <p:nvPr/>
        </p:nvSpPr>
        <p:spPr>
          <a:xfrm>
            <a:off x="8836025" y="2596515"/>
            <a:ext cx="335534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/>
              <a:t>新逻辑：</a:t>
            </a:r>
            <a:br>
              <a:rPr lang="zh-CN" altLang="en-US" sz="2000"/>
            </a:br>
            <a:r>
              <a:rPr lang="zh-CN" altLang="en-US" sz="2000"/>
              <a:t>记录完整的类似</a:t>
            </a:r>
            <a:r>
              <a:rPr lang="en-US" altLang="zh-CN" sz="2000"/>
              <a:t>gdb</a:t>
            </a:r>
            <a:r>
              <a:rPr lang="zh-CN" altLang="en-US" sz="2000"/>
              <a:t>数据</a:t>
            </a:r>
            <a:endParaRPr lang="zh-CN" altLang="en-US" sz="2000"/>
          </a:p>
          <a:p>
            <a:r>
              <a:rPr lang="zh-CN" altLang="en-US" sz="2000"/>
              <a:t>由</a:t>
            </a:r>
            <a:r>
              <a:rPr lang="en-US" altLang="zh-CN" sz="2000"/>
              <a:t>ai</a:t>
            </a:r>
            <a:r>
              <a:rPr lang="zh-CN" altLang="en-US" sz="2000"/>
              <a:t>生成优化后倒叙思维</a:t>
            </a:r>
            <a:r>
              <a:rPr lang="en-US" altLang="zh-CN" sz="2000"/>
              <a:t>cot</a:t>
            </a:r>
            <a:endParaRPr lang="en-US" altLang="zh-CN" sz="2000"/>
          </a:p>
        </p:txBody>
      </p:sp>
      <p:sp>
        <p:nvSpPr>
          <p:cNvPr id="37" name="文本框 36"/>
          <p:cNvSpPr txBox="1"/>
          <p:nvPr/>
        </p:nvSpPr>
        <p:spPr>
          <a:xfrm>
            <a:off x="8961755" y="4710430"/>
            <a:ext cx="15157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/>
              <a:t>已完善</a:t>
            </a:r>
            <a:endParaRPr lang="zh-CN" altLang="en-US" sz="2000"/>
          </a:p>
        </p:txBody>
      </p:sp>
      <p:pic>
        <p:nvPicPr>
          <p:cNvPr id="38" name="图片 37" descr="对勾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855585" y="4605020"/>
            <a:ext cx="914400" cy="914400"/>
          </a:xfrm>
          <a:prstGeom prst="rect">
            <a:avLst/>
          </a:prstGeom>
        </p:spPr>
      </p:pic>
      <p:pic>
        <p:nvPicPr>
          <p:cNvPr id="6" name="图片 5" descr="对勾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060305" y="2337435"/>
            <a:ext cx="914400" cy="914400"/>
          </a:xfrm>
          <a:prstGeom prst="rect">
            <a:avLst/>
          </a:prstGeom>
        </p:spPr>
      </p:pic>
      <p:pic>
        <p:nvPicPr>
          <p:cNvPr id="39" name="图片 38" descr="叉号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524365" y="3576320"/>
            <a:ext cx="535940" cy="535940"/>
          </a:xfrm>
          <a:prstGeom prst="rect">
            <a:avLst/>
          </a:prstGeom>
        </p:spPr>
      </p:pic>
      <p:sp>
        <p:nvSpPr>
          <p:cNvPr id="40" name="矩形 39"/>
          <p:cNvSpPr/>
          <p:nvPr/>
        </p:nvSpPr>
        <p:spPr>
          <a:xfrm>
            <a:off x="9109710" y="3260725"/>
            <a:ext cx="2863215" cy="288290"/>
          </a:xfrm>
          <a:prstGeom prst="rect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99090" y="302697"/>
            <a:ext cx="37321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一、回顾：往期工作速览</a:t>
            </a:r>
            <a:r>
              <a:rPr lang="en-US" altLang="zh-CN" sz="2400" dirty="0"/>
              <a:t>3</a:t>
            </a:r>
            <a:endParaRPr lang="zh-CN" altLang="en-US" sz="2400" dirty="0"/>
          </a:p>
        </p:txBody>
      </p:sp>
      <p:sp>
        <p:nvSpPr>
          <p:cNvPr id="41" name="文本框 40"/>
          <p:cNvSpPr txBox="1"/>
          <p:nvPr/>
        </p:nvSpPr>
        <p:spPr>
          <a:xfrm>
            <a:off x="666115" y="1141730"/>
            <a:ext cx="6096000" cy="31692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000">
                <a:sym typeface="+mn-ea"/>
              </a:rPr>
              <a:t>上周讨论</a:t>
            </a:r>
            <a:r>
              <a:rPr lang="en-US" altLang="zh-CN" sz="2000">
                <a:sym typeface="+mn-ea"/>
              </a:rPr>
              <a:t>cot</a:t>
            </a:r>
            <a:r>
              <a:rPr lang="zh-CN" altLang="en-US" sz="2000">
                <a:sym typeface="+mn-ea"/>
              </a:rPr>
              <a:t>生成逻辑：</a:t>
            </a:r>
            <a:endParaRPr lang="zh-CN" altLang="en-US" sz="2000">
              <a:sym typeface="+mn-ea"/>
            </a:endParaRPr>
          </a:p>
          <a:p>
            <a:pPr indent="457200">
              <a:lnSpc>
                <a:spcPct val="200000"/>
              </a:lnSpc>
            </a:pPr>
            <a:r>
              <a:rPr lang="en-US" altLang="zh-CN" sz="2000">
                <a:sym typeface="+mn-ea"/>
              </a:rPr>
              <a:t>1. </a:t>
            </a:r>
            <a:r>
              <a:rPr lang="zh-CN" altLang="en-US" sz="2000">
                <a:sym typeface="+mn-ea"/>
              </a:rPr>
              <a:t>代码执行追踪</a:t>
            </a:r>
            <a:endParaRPr lang="zh-CN" altLang="en-US" sz="2000">
              <a:sym typeface="+mn-ea"/>
            </a:endParaRPr>
          </a:p>
          <a:p>
            <a:pPr indent="457200">
              <a:lnSpc>
                <a:spcPct val="200000"/>
              </a:lnSpc>
            </a:pPr>
            <a:r>
              <a:rPr lang="en-US" altLang="zh-CN" sz="2000">
                <a:sym typeface="+mn-ea"/>
              </a:rPr>
              <a:t>2. </a:t>
            </a:r>
            <a:r>
              <a:rPr lang="zh-CN" altLang="en-US" sz="2000">
                <a:sym typeface="+mn-ea"/>
              </a:rPr>
              <a:t>智能回溯与剪枝</a:t>
            </a:r>
            <a:endParaRPr lang="zh-CN" altLang="en-US" sz="2000">
              <a:sym typeface="+mn-ea"/>
            </a:endParaRPr>
          </a:p>
          <a:p>
            <a:pPr indent="457200">
              <a:lnSpc>
                <a:spcPct val="200000"/>
              </a:lnSpc>
            </a:pPr>
            <a:r>
              <a:rPr lang="en-US" altLang="zh-CN" sz="2000">
                <a:sym typeface="+mn-ea"/>
              </a:rPr>
              <a:t>3. </a:t>
            </a:r>
            <a:r>
              <a:rPr lang="zh-CN" altLang="en-US" sz="2000">
                <a:sym typeface="+mn-ea"/>
              </a:rPr>
              <a:t>模板化</a:t>
            </a:r>
            <a:r>
              <a:rPr lang="en-US" altLang="zh-CN" sz="2000">
                <a:sym typeface="+mn-ea"/>
              </a:rPr>
              <a:t>COT</a:t>
            </a:r>
            <a:r>
              <a:rPr lang="zh-CN" altLang="en-US" sz="2000">
                <a:sym typeface="+mn-ea"/>
              </a:rPr>
              <a:t>生成</a:t>
            </a:r>
            <a:endParaRPr lang="zh-CN" altLang="en-US" sz="2000">
              <a:sym typeface="+mn-ea"/>
            </a:endParaRPr>
          </a:p>
          <a:p>
            <a:pPr>
              <a:lnSpc>
                <a:spcPct val="200000"/>
              </a:lnSpc>
            </a:pPr>
            <a:r>
              <a:rPr lang="zh-CN" altLang="en-US" sz="2000" b="1">
                <a:solidFill>
                  <a:srgbClr val="FF0000"/>
                </a:solidFill>
                <a:sym typeface="+mn-ea"/>
              </a:rPr>
              <a:t>去掉</a:t>
            </a:r>
            <a:r>
              <a:rPr lang="en-US" altLang="zh-CN" sz="2000" b="1">
                <a:solidFill>
                  <a:srgbClr val="FF0000"/>
                </a:solidFill>
                <a:sym typeface="+mn-ea"/>
              </a:rPr>
              <a:t>ai</a:t>
            </a:r>
            <a:r>
              <a:rPr lang="zh-CN" altLang="en-US" sz="2000" b="1">
                <a:solidFill>
                  <a:srgbClr val="FF0000"/>
                </a:solidFill>
                <a:sym typeface="+mn-ea"/>
              </a:rPr>
              <a:t>依赖，保证结果的可控性与高质量</a:t>
            </a:r>
            <a:endParaRPr lang="zh-CN" altLang="en-US" sz="2000" b="1">
              <a:solidFill>
                <a:srgbClr val="FF0000"/>
              </a:solidFill>
              <a:sym typeface="+mn-ea"/>
            </a:endParaRPr>
          </a:p>
        </p:txBody>
      </p:sp>
      <p:pic>
        <p:nvPicPr>
          <p:cNvPr id="3" name="图片 7" descr="向右箭头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49925" y="2332355"/>
            <a:ext cx="691515" cy="69151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681667" y="1390221"/>
            <a:ext cx="5042535" cy="246920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000" dirty="0">
                <a:sym typeface="+mn-ea"/>
              </a:rPr>
              <a:t>相关问题与新需求：</a:t>
            </a:r>
            <a:endParaRPr lang="en-US" altLang="zh-CN" sz="2000" dirty="0">
              <a:sym typeface="+mn-ea"/>
            </a:endParaRPr>
          </a:p>
          <a:p>
            <a:pPr>
              <a:lnSpc>
                <a:spcPct val="200000"/>
              </a:lnSpc>
            </a:pPr>
            <a:r>
              <a:rPr lang="en-US" altLang="zh-CN" sz="2000" dirty="0">
                <a:sym typeface="+mn-ea"/>
              </a:rPr>
              <a:t>1. </a:t>
            </a:r>
            <a:r>
              <a:rPr lang="zh-CN" altLang="en-US" sz="2000" dirty="0">
                <a:sym typeface="+mn-ea"/>
              </a:rPr>
              <a:t>优化一些边缘情况的处理如</a:t>
            </a:r>
            <a:r>
              <a:rPr lang="en-US" altLang="zh-CN" sz="2000" dirty="0" err="1">
                <a:sym typeface="+mn-ea"/>
              </a:rPr>
              <a:t>s.a.b</a:t>
            </a:r>
            <a:r>
              <a:rPr lang="zh-CN" altLang="en-US" sz="2000" dirty="0">
                <a:sym typeface="+mn-ea"/>
              </a:rPr>
              <a:t>等情况</a:t>
            </a:r>
            <a:endParaRPr lang="en-US" altLang="zh-CN" sz="2000" dirty="0">
              <a:sym typeface="+mn-ea"/>
            </a:endParaRPr>
          </a:p>
          <a:p>
            <a:pPr>
              <a:lnSpc>
                <a:spcPct val="200000"/>
              </a:lnSpc>
            </a:pPr>
            <a:r>
              <a:rPr lang="en-US" altLang="zh-CN" sz="2000" dirty="0">
                <a:sym typeface="+mn-ea"/>
              </a:rPr>
              <a:t>2. </a:t>
            </a:r>
            <a:r>
              <a:rPr lang="zh-CN" altLang="en-US" sz="2000" dirty="0">
                <a:sym typeface="+mn-ea"/>
              </a:rPr>
              <a:t>尝试有正序和倒叙两种</a:t>
            </a:r>
            <a:r>
              <a:rPr lang="en-US" altLang="zh-CN" sz="2000" dirty="0">
                <a:sym typeface="+mn-ea"/>
              </a:rPr>
              <a:t>cot</a:t>
            </a:r>
            <a:endParaRPr lang="en-US" altLang="zh-CN" sz="2000" dirty="0">
              <a:sym typeface="+mn-ea"/>
            </a:endParaRPr>
          </a:p>
          <a:p>
            <a:pPr>
              <a:lnSpc>
                <a:spcPct val="200000"/>
              </a:lnSpc>
            </a:pPr>
            <a:r>
              <a:rPr lang="en-US" altLang="zh-CN" sz="2000" dirty="0">
                <a:sym typeface="+mn-ea"/>
              </a:rPr>
              <a:t>3. </a:t>
            </a:r>
            <a:r>
              <a:rPr lang="zh-CN" altLang="en-US" sz="2000" dirty="0">
                <a:sym typeface="+mn-ea"/>
              </a:rPr>
              <a:t>做</a:t>
            </a:r>
            <a:r>
              <a:rPr lang="en-US" altLang="zh-CN" sz="2000" dirty="0">
                <a:sym typeface="+mn-ea"/>
              </a:rPr>
              <a:t>cot</a:t>
            </a:r>
            <a:r>
              <a:rPr lang="zh-CN" altLang="en-US" sz="2000" dirty="0">
                <a:sym typeface="+mn-ea"/>
              </a:rPr>
              <a:t>的简化和梳理</a:t>
            </a:r>
            <a:endParaRPr lang="zh-CN" altLang="en-US" sz="2000" dirty="0"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99090" y="302697"/>
            <a:ext cx="58272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二、进展</a:t>
            </a:r>
            <a:r>
              <a:rPr lang="en-US" altLang="zh-CN" sz="2400" dirty="0"/>
              <a:t>1</a:t>
            </a:r>
            <a:r>
              <a:rPr lang="zh-CN" altLang="en-US" sz="2400" dirty="0"/>
              <a:t>：</a:t>
            </a:r>
            <a:r>
              <a:rPr lang="zh-CN" altLang="en-US" sz="2400" dirty="0">
                <a:sym typeface="+mn-ea"/>
              </a:rPr>
              <a:t>边缘信息精简规则（如</a:t>
            </a:r>
            <a:r>
              <a:rPr lang="en-US" altLang="zh-CN" sz="2400" dirty="0">
                <a:sym typeface="+mn-ea"/>
              </a:rPr>
              <a:t>s.a.b</a:t>
            </a:r>
            <a:r>
              <a:rPr lang="zh-CN" altLang="en-US" sz="2400" dirty="0">
                <a:sym typeface="+mn-ea"/>
              </a:rPr>
              <a:t>）</a:t>
            </a:r>
            <a:endParaRPr lang="zh-CN" altLang="en-US" sz="2400" dirty="0"/>
          </a:p>
        </p:txBody>
      </p:sp>
      <p:sp>
        <p:nvSpPr>
          <p:cNvPr id="4" name="文本框 3"/>
          <p:cNvSpPr txBox="1"/>
          <p:nvPr/>
        </p:nvSpPr>
        <p:spPr>
          <a:xfrm>
            <a:off x="599090" y="969369"/>
            <a:ext cx="10373711" cy="38935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800" dirty="0">
                <a:sym typeface="+mn-ea"/>
              </a:rPr>
              <a:t>问题描述：</a:t>
            </a:r>
            <a:endParaRPr lang="en-US" altLang="zh-CN" sz="1800" dirty="0">
              <a:sym typeface="+mn-ea"/>
            </a:endParaRPr>
          </a:p>
          <a:p>
            <a:pPr>
              <a:lnSpc>
                <a:spcPct val="200000"/>
              </a:lnSpc>
            </a:pPr>
            <a:r>
              <a:rPr lang="zh-CN" altLang="en-US" dirty="0"/>
              <a:t>在之前的框架中，如果存在类似于</a:t>
            </a:r>
            <a:r>
              <a:rPr lang="en-US" altLang="zh-CN" dirty="0"/>
              <a:t>student(age</a:t>
            </a:r>
            <a:r>
              <a:rPr lang="zh-CN" altLang="en-US" dirty="0"/>
              <a:t>、</a:t>
            </a:r>
            <a:r>
              <a:rPr lang="en-US" altLang="zh-CN" dirty="0"/>
              <a:t>name</a:t>
            </a:r>
            <a:r>
              <a:rPr lang="zh-CN" altLang="en-US" dirty="0"/>
              <a:t>、</a:t>
            </a:r>
            <a:r>
              <a:rPr lang="en-US" altLang="zh-CN" dirty="0"/>
              <a:t>score(math</a:t>
            </a:r>
            <a:r>
              <a:rPr lang="zh-CN" altLang="en-US" dirty="0"/>
              <a:t>、</a:t>
            </a:r>
            <a:r>
              <a:rPr lang="en-US" altLang="zh-CN" dirty="0"/>
              <a:t>English))</a:t>
            </a:r>
            <a:r>
              <a:rPr lang="zh-CN" altLang="en-US" dirty="0"/>
              <a:t>这种数据结构；并且我们只需要</a:t>
            </a:r>
            <a:r>
              <a:rPr lang="en-US" altLang="zh-CN" dirty="0"/>
              <a:t>student.score.math</a:t>
            </a:r>
            <a:r>
              <a:rPr lang="zh-CN" altLang="en-US" dirty="0"/>
              <a:t>的数据的时候，</a:t>
            </a:r>
            <a:r>
              <a:rPr lang="en-US" altLang="zh-CN" dirty="0"/>
              <a:t>cot</a:t>
            </a:r>
            <a:r>
              <a:rPr lang="zh-CN" altLang="en-US" dirty="0"/>
              <a:t>生成体系不会做剪枝识别，会完整的记录</a:t>
            </a:r>
            <a:r>
              <a:rPr lang="en-US" altLang="zh-CN" dirty="0"/>
              <a:t>student</a:t>
            </a:r>
            <a:r>
              <a:rPr lang="zh-CN" altLang="en-US" dirty="0"/>
              <a:t>数据结构内容。这个会有两个重大问题：</a:t>
            </a:r>
            <a:endParaRPr lang="en-US" altLang="zh-CN" dirty="0"/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zh-CN" altLang="en-US" dirty="0"/>
              <a:t>可能只存了数据类型，没记录真正需要的值，导致了</a:t>
            </a:r>
            <a:r>
              <a:rPr lang="zh-CN" altLang="en-US" dirty="0">
                <a:solidFill>
                  <a:srgbClr val="FF0000"/>
                </a:solidFill>
              </a:rPr>
              <a:t>信息缺失</a:t>
            </a:r>
            <a:endParaRPr lang="en-US" altLang="zh-CN" dirty="0">
              <a:solidFill>
                <a:srgbClr val="FF0000"/>
              </a:solidFill>
            </a:endParaRP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zh-CN" altLang="en-US" dirty="0"/>
              <a:t>记录了太多的数据，消耗过多</a:t>
            </a:r>
            <a:r>
              <a:rPr lang="en-US" altLang="zh-CN" dirty="0"/>
              <a:t>token</a:t>
            </a:r>
            <a:r>
              <a:rPr lang="zh-CN" altLang="en-US" dirty="0"/>
              <a:t>记录无用信息，导致了</a:t>
            </a:r>
            <a:r>
              <a:rPr lang="zh-CN" altLang="en-US" dirty="0">
                <a:solidFill>
                  <a:srgbClr val="FF0000"/>
                </a:solidFill>
              </a:rPr>
              <a:t>信息冗余</a:t>
            </a:r>
            <a:endParaRPr lang="en-US" altLang="zh-CN" dirty="0">
              <a:solidFill>
                <a:srgbClr val="FF0000"/>
              </a:solidFill>
            </a:endParaRPr>
          </a:p>
          <a:p>
            <a:pPr>
              <a:lnSpc>
                <a:spcPct val="200000"/>
              </a:lnSpc>
            </a:pPr>
            <a:r>
              <a:rPr lang="zh-CN" altLang="en-US" u="sng" dirty="0"/>
              <a:t>总的来说，它对这种特殊情况，会留下一大堆垃圾信息，反而可能丢弃有用信息，所以亟待改进</a:t>
            </a:r>
            <a:endParaRPr lang="en-US" altLang="zh-CN" u="sng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99090" y="302697"/>
            <a:ext cx="58272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二、进展</a:t>
            </a:r>
            <a:r>
              <a:rPr lang="en-US" altLang="zh-CN" sz="2400" dirty="0"/>
              <a:t>1</a:t>
            </a:r>
            <a:r>
              <a:rPr lang="zh-CN" altLang="en-US" sz="2400" dirty="0"/>
              <a:t>：</a:t>
            </a:r>
            <a:r>
              <a:rPr lang="zh-CN" altLang="en-US" sz="2400" dirty="0">
                <a:sym typeface="+mn-ea"/>
              </a:rPr>
              <a:t>边缘信息精简规则（如</a:t>
            </a:r>
            <a:r>
              <a:rPr lang="en-US" altLang="zh-CN" sz="2400" dirty="0">
                <a:sym typeface="+mn-ea"/>
              </a:rPr>
              <a:t>s.a.b</a:t>
            </a:r>
            <a:r>
              <a:rPr lang="zh-CN" altLang="en-US" sz="2400" dirty="0">
                <a:sym typeface="+mn-ea"/>
              </a:rPr>
              <a:t>）</a:t>
            </a:r>
            <a:endParaRPr lang="zh-CN" altLang="en-US" sz="2400" dirty="0"/>
          </a:p>
        </p:txBody>
      </p:sp>
      <p:sp>
        <p:nvSpPr>
          <p:cNvPr id="4" name="文本框 3"/>
          <p:cNvSpPr txBox="1"/>
          <p:nvPr/>
        </p:nvSpPr>
        <p:spPr>
          <a:xfrm>
            <a:off x="599090" y="925226"/>
            <a:ext cx="10373711" cy="38935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800" dirty="0">
                <a:sym typeface="+mn-ea"/>
              </a:rPr>
              <a:t>解决方案：</a:t>
            </a:r>
            <a:r>
              <a:rPr lang="zh-CN" altLang="en-US" b="1" dirty="0"/>
              <a:t>延迟格式化 </a:t>
            </a:r>
            <a:r>
              <a:rPr lang="en-US" altLang="zh-CN" b="1" dirty="0"/>
              <a:t>+ </a:t>
            </a:r>
            <a:r>
              <a:rPr lang="zh-CN" altLang="en-US" b="1" dirty="0"/>
              <a:t>基于当前行需求的精简显示</a:t>
            </a:r>
            <a:endParaRPr lang="en-US" altLang="zh-CN" sz="1800" b="1" dirty="0">
              <a:sym typeface="+mn-ea"/>
            </a:endParaRP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zh-CN" altLang="en-US" dirty="0"/>
              <a:t>实现 </a:t>
            </a:r>
            <a:r>
              <a:rPr lang="en-US" altLang="zh-CN" dirty="0"/>
              <a:t>AttributePathCollector</a:t>
            </a:r>
            <a:r>
              <a:rPr lang="zh-CN" altLang="en-US" dirty="0"/>
              <a:t>类</a:t>
            </a:r>
            <a:r>
              <a:rPr lang="en-US" altLang="zh-CN" dirty="0"/>
              <a:t> </a:t>
            </a:r>
            <a:r>
              <a:rPr lang="zh-CN" altLang="en-US" dirty="0"/>
              <a:t>来分析代码中所有属性访问路径（如 </a:t>
            </a:r>
            <a:r>
              <a:rPr lang="en-US" altLang="zh-CN" dirty="0"/>
              <a:t>student.score.math</a:t>
            </a:r>
            <a:r>
              <a:rPr lang="zh-CN" altLang="en-US" dirty="0"/>
              <a:t>），并构建了变量到其使用属性的映射关系。</a:t>
            </a:r>
            <a:endParaRPr lang="en-US" altLang="zh-CN" dirty="0"/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zh-CN" altLang="en-US" dirty="0"/>
              <a:t>在剪枝阶段，基于当前行的实际属性访问情况（通过 第一步 分析当前行），动态决定每个对象只保留被访问的属性路径，未被访问的属性用省略号表示。</a:t>
            </a:r>
            <a:endParaRPr lang="en-US" altLang="zh-CN" dirty="0"/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zh-CN" altLang="en-US" dirty="0"/>
              <a:t>将</a:t>
            </a:r>
            <a:r>
              <a:rPr lang="en-US" altLang="zh-CN" dirty="0"/>
              <a:t>tracer</a:t>
            </a:r>
            <a:r>
              <a:rPr lang="zh-CN" altLang="en-US" dirty="0"/>
              <a:t>阶段的直接格式化字符串改为先保留为结构化数据</a:t>
            </a:r>
            <a:endParaRPr lang="en-US" altLang="zh-CN" dirty="0"/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zh-CN" altLang="en-US" dirty="0"/>
              <a:t>再根据属性访问需求进行选择性格式化，从而既保留了必要信息又避免了冗余。</a:t>
            </a:r>
            <a:endParaRPr lang="en-US" altLang="zh-C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99090" y="302697"/>
            <a:ext cx="58272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二、进展</a:t>
            </a:r>
            <a:r>
              <a:rPr lang="en-US" altLang="zh-CN" sz="2400" dirty="0"/>
              <a:t>1</a:t>
            </a:r>
            <a:r>
              <a:rPr lang="zh-CN" altLang="en-US" sz="2400" dirty="0"/>
              <a:t>：</a:t>
            </a:r>
            <a:r>
              <a:rPr lang="zh-CN" altLang="en-US" sz="2400" dirty="0">
                <a:sym typeface="+mn-ea"/>
              </a:rPr>
              <a:t>边缘信息精简规则（如</a:t>
            </a:r>
            <a:r>
              <a:rPr lang="en-US" altLang="zh-CN" sz="2400" dirty="0">
                <a:sym typeface="+mn-ea"/>
              </a:rPr>
              <a:t>s.a.b</a:t>
            </a:r>
            <a:r>
              <a:rPr lang="zh-CN" altLang="en-US" sz="2400" dirty="0">
                <a:sym typeface="+mn-ea"/>
              </a:rPr>
              <a:t>）</a:t>
            </a:r>
            <a:endParaRPr lang="zh-CN" altLang="en-US" sz="2400" dirty="0"/>
          </a:p>
        </p:txBody>
      </p:sp>
      <p:sp>
        <p:nvSpPr>
          <p:cNvPr id="4" name="文本框 3"/>
          <p:cNvSpPr txBox="1"/>
          <p:nvPr/>
        </p:nvSpPr>
        <p:spPr>
          <a:xfrm>
            <a:off x="599090" y="925226"/>
            <a:ext cx="10682714" cy="5001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b="1" dirty="0"/>
              <a:t>问题</a:t>
            </a:r>
            <a:r>
              <a:rPr lang="zh-CN" altLang="en-US" dirty="0"/>
              <a:t>：原框架记录完整对象结构，导致 </a:t>
            </a:r>
            <a:r>
              <a:rPr lang="en-US" altLang="zh-CN" dirty="0"/>
              <a:t>token </a:t>
            </a:r>
            <a:r>
              <a:rPr lang="zh-CN" altLang="en-US" dirty="0"/>
              <a:t>浪费且可能丢失关键信息</a:t>
            </a:r>
            <a:endParaRPr lang="en-US" altLang="zh-CN" dirty="0"/>
          </a:p>
          <a:p>
            <a:pPr>
              <a:lnSpc>
                <a:spcPct val="200000"/>
              </a:lnSpc>
            </a:pPr>
            <a:r>
              <a:rPr lang="zh-CN" altLang="en-US" b="1" dirty="0"/>
              <a:t>技术方案</a:t>
            </a:r>
            <a:r>
              <a:rPr lang="zh-CN" altLang="en-US" dirty="0"/>
              <a:t>：延迟格式化 </a:t>
            </a:r>
            <a:r>
              <a:rPr lang="en-US" altLang="zh-CN" dirty="0"/>
              <a:t>+ </a:t>
            </a:r>
            <a:r>
              <a:rPr lang="zh-CN" altLang="en-US" dirty="0"/>
              <a:t>基于当前行需求的精简显示</a:t>
            </a:r>
            <a:endParaRPr lang="en-US" altLang="zh-CN" dirty="0"/>
          </a:p>
          <a:p>
            <a:pPr>
              <a:lnSpc>
                <a:spcPct val="200000"/>
              </a:lnSpc>
            </a:pPr>
            <a:r>
              <a:rPr lang="zh-CN" altLang="en-US" b="1" dirty="0"/>
              <a:t>效果对比</a:t>
            </a:r>
            <a:r>
              <a:rPr lang="zh-CN" altLang="en-US" dirty="0"/>
              <a:t>：</a:t>
            </a:r>
            <a:endParaRPr lang="en-US" altLang="zh-CN" dirty="0"/>
          </a:p>
          <a:p>
            <a:pPr>
              <a:lnSpc>
                <a:spcPct val="200000"/>
              </a:lnSpc>
            </a:pPr>
            <a:r>
              <a:rPr lang="zh-CN" altLang="en-US" dirty="0"/>
              <a:t>原先：</a:t>
            </a:r>
            <a:r>
              <a:rPr lang="en-US" altLang="zh-CN" dirty="0"/>
              <a:t>Student(name='Alice', age=18, score=Score(math=95, english=88)) </a:t>
            </a:r>
            <a:r>
              <a:rPr lang="zh-CN" altLang="en-US" dirty="0"/>
              <a:t>全量显示</a:t>
            </a:r>
            <a:endParaRPr lang="en-US" altLang="zh-CN" dirty="0"/>
          </a:p>
          <a:p>
            <a:pPr>
              <a:lnSpc>
                <a:spcPct val="200000"/>
              </a:lnSpc>
            </a:pPr>
            <a:r>
              <a:rPr lang="zh-CN" altLang="en-US" dirty="0"/>
              <a:t>现在：</a:t>
            </a:r>
            <a:r>
              <a:rPr lang="en-US" altLang="zh-CN" dirty="0"/>
              <a:t>Student(score=Score(math=95)) </a:t>
            </a:r>
            <a:r>
              <a:rPr lang="zh-CN" altLang="en-US" dirty="0"/>
              <a:t>仅显示被访问的 </a:t>
            </a:r>
            <a:r>
              <a:rPr lang="en-US" altLang="zh-CN" dirty="0"/>
              <a:t>score.math</a:t>
            </a:r>
            <a:endParaRPr lang="en-US" altLang="zh-CN" dirty="0"/>
          </a:p>
          <a:p>
            <a:pPr>
              <a:lnSpc>
                <a:spcPct val="200000"/>
              </a:lnSpc>
            </a:pPr>
            <a:r>
              <a:rPr lang="zh-CN" altLang="en-US" b="1" dirty="0"/>
              <a:t>实际应用效用</a:t>
            </a:r>
            <a:r>
              <a:rPr lang="zh-CN" altLang="en-US" dirty="0"/>
              <a:t>：</a:t>
            </a:r>
            <a:endParaRPr lang="en-US" altLang="zh-CN" dirty="0"/>
          </a:p>
          <a:p>
            <a:pPr>
              <a:lnSpc>
                <a:spcPct val="200000"/>
              </a:lnSpc>
            </a:pPr>
            <a:r>
              <a:rPr lang="zh-CN" altLang="en-US" dirty="0"/>
              <a:t>在复杂类的</a:t>
            </a:r>
            <a:r>
              <a:rPr lang="en-US" altLang="zh-CN" dirty="0"/>
              <a:t>python</a:t>
            </a:r>
            <a:r>
              <a:rPr lang="zh-CN" altLang="en-US" dirty="0"/>
              <a:t>代码中，这个技术方案极大程度地减少了冗余信息，且尽量地保留了有用信息，提升信噪比。但目前在一些很特殊的情况下可能还是清的不够干净，但试了好久没做到最符合预期的效果。但个人认为够用，让我们来看两个例子：</a:t>
            </a:r>
            <a:r>
              <a:rPr lang="en-US" altLang="zh-CN" dirty="0"/>
              <a:t>[ COT</a:t>
            </a:r>
            <a:r>
              <a:rPr lang="zh-CN" altLang="en-US" dirty="0"/>
              <a:t>生成框架 </a:t>
            </a:r>
            <a:r>
              <a:rPr lang="en-US" altLang="zh-CN" dirty="0"/>
              <a:t>- </a:t>
            </a:r>
            <a:r>
              <a:rPr lang="zh-CN" altLang="en-US" dirty="0"/>
              <a:t>测试用例可视化网页 </a:t>
            </a:r>
            <a:r>
              <a:rPr lang="en-US" altLang="zh-CN" dirty="0"/>
              <a:t>]</a:t>
            </a:r>
            <a:r>
              <a:rPr lang="zh-CN" altLang="en-US" dirty="0"/>
              <a:t>（这次做了高亮美化）</a:t>
            </a:r>
            <a:endParaRPr lang="en-US" altLang="zh-C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99090" y="302697"/>
            <a:ext cx="58272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二、进展</a:t>
            </a:r>
            <a:r>
              <a:rPr lang="en-US" altLang="zh-CN" sz="2400" dirty="0"/>
              <a:t>1</a:t>
            </a:r>
            <a:r>
              <a:rPr lang="zh-CN" altLang="en-US" sz="2400" dirty="0"/>
              <a:t>：</a:t>
            </a:r>
            <a:r>
              <a:rPr lang="zh-CN" altLang="en-US" sz="2400" dirty="0">
                <a:sym typeface="+mn-ea"/>
              </a:rPr>
              <a:t>边缘信息精简规则（如</a:t>
            </a:r>
            <a:r>
              <a:rPr lang="en-US" altLang="zh-CN" sz="2400" dirty="0">
                <a:sym typeface="+mn-ea"/>
              </a:rPr>
              <a:t>s.a.b</a:t>
            </a:r>
            <a:r>
              <a:rPr lang="zh-CN" altLang="en-US" sz="2400" dirty="0">
                <a:sym typeface="+mn-ea"/>
              </a:rPr>
              <a:t>）</a:t>
            </a:r>
            <a:endParaRPr lang="zh-CN" altLang="en-US" sz="2400" dirty="0"/>
          </a:p>
        </p:txBody>
      </p:sp>
      <p:sp>
        <p:nvSpPr>
          <p:cNvPr id="4" name="文本框 3"/>
          <p:cNvSpPr txBox="1"/>
          <p:nvPr/>
        </p:nvSpPr>
        <p:spPr>
          <a:xfrm>
            <a:off x="599090" y="925226"/>
            <a:ext cx="10682714" cy="1123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b="1" dirty="0"/>
              <a:t>问题</a:t>
            </a:r>
            <a:r>
              <a:rPr lang="zh-CN" altLang="en-US" dirty="0"/>
              <a:t>：原框架记录完整对象结构，导致 </a:t>
            </a:r>
            <a:r>
              <a:rPr lang="en-US" altLang="zh-CN" dirty="0"/>
              <a:t>token </a:t>
            </a:r>
            <a:r>
              <a:rPr lang="zh-CN" altLang="en-US" dirty="0"/>
              <a:t>浪费且可能丢失关键信息</a:t>
            </a:r>
            <a:endParaRPr lang="en-US" altLang="zh-CN" dirty="0"/>
          </a:p>
          <a:p>
            <a:pPr>
              <a:lnSpc>
                <a:spcPct val="200000"/>
              </a:lnSpc>
            </a:pPr>
            <a:r>
              <a:rPr lang="zh-CN" altLang="en-US" b="1" dirty="0"/>
              <a:t>技术方案</a:t>
            </a:r>
            <a:r>
              <a:rPr lang="zh-CN" altLang="en-US" dirty="0"/>
              <a:t>：延迟格式化 </a:t>
            </a:r>
            <a:r>
              <a:rPr lang="en-US" altLang="zh-CN" dirty="0"/>
              <a:t>+ </a:t>
            </a:r>
            <a:r>
              <a:rPr lang="zh-CN" altLang="en-US" dirty="0"/>
              <a:t>基于当前行需求的精简显示</a:t>
            </a:r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3148" y="2272352"/>
            <a:ext cx="10972800" cy="458564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99090" y="302697"/>
            <a:ext cx="58272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二、进展</a:t>
            </a:r>
            <a:r>
              <a:rPr lang="en-US" altLang="zh-CN" sz="2400" dirty="0"/>
              <a:t>1</a:t>
            </a:r>
            <a:r>
              <a:rPr lang="zh-CN" altLang="en-US" sz="2400" dirty="0"/>
              <a:t>：</a:t>
            </a:r>
            <a:r>
              <a:rPr lang="zh-CN" altLang="en-US" sz="2400" dirty="0">
                <a:sym typeface="+mn-ea"/>
              </a:rPr>
              <a:t>边缘信息精简规则（如</a:t>
            </a:r>
            <a:r>
              <a:rPr lang="en-US" altLang="zh-CN" sz="2400" dirty="0">
                <a:sym typeface="+mn-ea"/>
              </a:rPr>
              <a:t>s.a.b</a:t>
            </a:r>
            <a:r>
              <a:rPr lang="zh-CN" altLang="en-US" sz="2400" dirty="0">
                <a:sym typeface="+mn-ea"/>
              </a:rPr>
              <a:t>）</a:t>
            </a:r>
            <a:endParaRPr lang="zh-CN" altLang="en-US" sz="2400" dirty="0"/>
          </a:p>
        </p:txBody>
      </p:sp>
      <p:sp>
        <p:nvSpPr>
          <p:cNvPr id="4" name="文本框 3"/>
          <p:cNvSpPr txBox="1"/>
          <p:nvPr/>
        </p:nvSpPr>
        <p:spPr>
          <a:xfrm>
            <a:off x="599090" y="925226"/>
            <a:ext cx="10682714" cy="1123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b="1" dirty="0"/>
              <a:t>问题</a:t>
            </a:r>
            <a:r>
              <a:rPr lang="zh-CN" altLang="en-US" dirty="0"/>
              <a:t>：原框架记录完整对象结构，导致 </a:t>
            </a:r>
            <a:r>
              <a:rPr lang="en-US" altLang="zh-CN" dirty="0"/>
              <a:t>token </a:t>
            </a:r>
            <a:r>
              <a:rPr lang="zh-CN" altLang="en-US" dirty="0"/>
              <a:t>浪费且可能丢失关键信息</a:t>
            </a:r>
            <a:endParaRPr lang="en-US" altLang="zh-CN" dirty="0"/>
          </a:p>
          <a:p>
            <a:pPr>
              <a:lnSpc>
                <a:spcPct val="200000"/>
              </a:lnSpc>
            </a:pPr>
            <a:r>
              <a:rPr lang="zh-CN" altLang="en-US" b="1" dirty="0"/>
              <a:t>技术方案</a:t>
            </a:r>
            <a:r>
              <a:rPr lang="zh-CN" altLang="en-US" dirty="0"/>
              <a:t>：延迟格式化 </a:t>
            </a:r>
            <a:r>
              <a:rPr lang="en-US" altLang="zh-CN" dirty="0"/>
              <a:t>+ </a:t>
            </a:r>
            <a:r>
              <a:rPr lang="zh-CN" altLang="en-US" dirty="0"/>
              <a:t>基于当前行需求的精简显示</a:t>
            </a:r>
            <a:endParaRPr lang="en-US" altLang="zh-CN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5578" y="2095581"/>
            <a:ext cx="10953881" cy="445972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99090" y="302697"/>
            <a:ext cx="579818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三、进展</a:t>
            </a:r>
            <a:r>
              <a:rPr lang="en-US" altLang="zh-CN" sz="2400" dirty="0"/>
              <a:t>2</a:t>
            </a:r>
            <a:r>
              <a:rPr lang="zh-CN" altLang="en-US" sz="2400" dirty="0"/>
              <a:t>：</a:t>
            </a:r>
            <a:r>
              <a:rPr lang="en-US" altLang="zh-CN" sz="2400" dirty="0">
                <a:sym typeface="+mn-ea"/>
              </a:rPr>
              <a:t>COT</a:t>
            </a:r>
            <a:r>
              <a:rPr lang="zh-CN" altLang="en-US" sz="2400" dirty="0">
                <a:sym typeface="+mn-ea"/>
              </a:rPr>
              <a:t>生成器的结构简化与优化</a:t>
            </a:r>
            <a:endParaRPr lang="zh-CN" altLang="en-US" sz="24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9903" y="920707"/>
            <a:ext cx="3659456" cy="5735494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7" name="箭头: 右 6"/>
          <p:cNvSpPr/>
          <p:nvPr/>
        </p:nvSpPr>
        <p:spPr>
          <a:xfrm>
            <a:off x="4244076" y="3186684"/>
            <a:ext cx="1412591" cy="484632"/>
          </a:xfrm>
          <a:prstGeom prst="rightArrow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5931229" y="1106441"/>
            <a:ext cx="5850868" cy="333950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dirty="0">
                <a:sym typeface="+mn-ea"/>
              </a:rPr>
              <a:t>重点问题：</a:t>
            </a:r>
            <a:endParaRPr lang="en-US" altLang="zh-CN" dirty="0">
              <a:sym typeface="+mn-ea"/>
            </a:endParaRP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zh-CN" altLang="en-US" dirty="0">
                <a:sym typeface="+mn-ea"/>
              </a:rPr>
              <a:t>过多的冗余信息：步骤</a:t>
            </a:r>
            <a:r>
              <a:rPr lang="en-US" altLang="zh-CN" dirty="0">
                <a:sym typeface="+mn-ea"/>
              </a:rPr>
              <a:t>x</a:t>
            </a:r>
            <a:r>
              <a:rPr lang="zh-CN" altLang="en-US" dirty="0">
                <a:sym typeface="+mn-ea"/>
              </a:rPr>
              <a:t>、当前状态</a:t>
            </a:r>
            <a:r>
              <a:rPr lang="en-US" altLang="zh-CN" dirty="0">
                <a:sym typeface="+mn-ea"/>
              </a:rPr>
              <a:t>xxx</a:t>
            </a:r>
            <a:r>
              <a:rPr lang="zh-CN" altLang="en-US" dirty="0">
                <a:sym typeface="+mn-ea"/>
              </a:rPr>
              <a:t>，担心当代码过于复杂的时候</a:t>
            </a:r>
            <a:r>
              <a:rPr lang="en-US" altLang="zh-CN" b="1" dirty="0">
                <a:solidFill>
                  <a:srgbClr val="FF0000"/>
                </a:solidFill>
                <a:sym typeface="+mn-ea"/>
              </a:rPr>
              <a:t>cot</a:t>
            </a:r>
            <a:r>
              <a:rPr lang="zh-CN" altLang="en-US" b="1" dirty="0">
                <a:solidFill>
                  <a:srgbClr val="FF0000"/>
                </a:solidFill>
                <a:sym typeface="+mn-ea"/>
              </a:rPr>
              <a:t>太长了、且信噪比低</a:t>
            </a:r>
            <a:endParaRPr lang="en-US" altLang="zh-CN" b="1" dirty="0">
              <a:solidFill>
                <a:srgbClr val="FF0000"/>
              </a:solidFill>
              <a:sym typeface="+mn-ea"/>
            </a:endParaRP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zh-CN" altLang="en-US" dirty="0">
                <a:sym typeface="+mn-ea"/>
              </a:rPr>
              <a:t>希望变成每一行后面紧跟着对其的解释即可，比如</a:t>
            </a:r>
            <a:r>
              <a:rPr lang="en-US" altLang="zh-CN" dirty="0">
                <a:sym typeface="+mn-ea"/>
              </a:rPr>
              <a:t>d=</a:t>
            </a:r>
            <a:r>
              <a:rPr lang="en-US" altLang="zh-CN" dirty="0" err="1">
                <a:sym typeface="+mn-ea"/>
              </a:rPr>
              <a:t>d+a</a:t>
            </a:r>
            <a:r>
              <a:rPr lang="zh-CN" altLang="en-US" dirty="0">
                <a:sym typeface="+mn-ea"/>
              </a:rPr>
              <a:t>对应“计算右侧表达式，</a:t>
            </a:r>
            <a:r>
              <a:rPr lang="en-US" altLang="zh-CN" dirty="0" err="1">
                <a:sym typeface="+mn-ea"/>
              </a:rPr>
              <a:t>d+a</a:t>
            </a:r>
            <a:r>
              <a:rPr lang="zh-CN" altLang="en-US" dirty="0">
                <a:sym typeface="+mn-ea"/>
              </a:rPr>
              <a:t>需要</a:t>
            </a:r>
            <a:r>
              <a:rPr lang="en-US" altLang="zh-CN" dirty="0">
                <a:sym typeface="+mn-ea"/>
              </a:rPr>
              <a:t>d</a:t>
            </a:r>
            <a:r>
              <a:rPr lang="zh-CN" altLang="en-US" dirty="0">
                <a:sym typeface="+mn-ea"/>
              </a:rPr>
              <a:t>和</a:t>
            </a:r>
            <a:r>
              <a:rPr lang="en-US" altLang="zh-CN" dirty="0">
                <a:sym typeface="+mn-ea"/>
              </a:rPr>
              <a:t>a</a:t>
            </a:r>
            <a:r>
              <a:rPr lang="zh-CN" altLang="en-US" dirty="0">
                <a:sym typeface="+mn-ea"/>
              </a:rPr>
              <a:t>的值，从之前第几行可知，</a:t>
            </a:r>
            <a:r>
              <a:rPr lang="en-US" altLang="zh-CN" dirty="0">
                <a:sym typeface="+mn-ea"/>
              </a:rPr>
              <a:t>d=x</a:t>
            </a:r>
            <a:r>
              <a:rPr lang="zh-CN" altLang="en-US" dirty="0">
                <a:sym typeface="+mn-ea"/>
              </a:rPr>
              <a:t>，</a:t>
            </a:r>
            <a:r>
              <a:rPr lang="en-US" altLang="zh-CN" dirty="0">
                <a:sym typeface="+mn-ea"/>
              </a:rPr>
              <a:t>a=y,</a:t>
            </a:r>
            <a:r>
              <a:rPr lang="zh-CN" altLang="en-US" dirty="0">
                <a:sym typeface="+mn-ea"/>
              </a:rPr>
              <a:t>所以”这种信息</a:t>
            </a:r>
            <a:endParaRPr lang="en-US" altLang="zh-CN" dirty="0">
              <a:sym typeface="+mn-ea"/>
            </a:endParaRPr>
          </a:p>
        </p:txBody>
      </p:sp>
      <p:sp>
        <p:nvSpPr>
          <p:cNvPr id="9" name="箭头: 右 8"/>
          <p:cNvSpPr/>
          <p:nvPr/>
        </p:nvSpPr>
        <p:spPr>
          <a:xfrm rot="5400000">
            <a:off x="7850560" y="4786625"/>
            <a:ext cx="814026" cy="484632"/>
          </a:xfrm>
          <a:prstGeom prst="rightArrow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6424170" y="5441547"/>
            <a:ext cx="3659456" cy="728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400" dirty="0">
                <a:sym typeface="+mn-ea"/>
              </a:rPr>
              <a:t>COT</a:t>
            </a:r>
            <a:r>
              <a:rPr lang="zh-CN" altLang="en-US" sz="2400" dirty="0">
                <a:sym typeface="+mn-ea"/>
              </a:rPr>
              <a:t>生成简化与逻辑优化</a:t>
            </a:r>
            <a:endParaRPr lang="en-US" altLang="zh-CN" sz="2400" dirty="0"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99090" y="302697"/>
            <a:ext cx="579818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三、进展</a:t>
            </a:r>
            <a:r>
              <a:rPr lang="en-US" altLang="zh-CN" sz="2400" dirty="0"/>
              <a:t>2</a:t>
            </a:r>
            <a:r>
              <a:rPr lang="zh-CN" altLang="en-US" sz="2400" dirty="0"/>
              <a:t>：</a:t>
            </a:r>
            <a:r>
              <a:rPr lang="en-US" altLang="zh-CN" sz="2400" dirty="0">
                <a:sym typeface="+mn-ea"/>
              </a:rPr>
              <a:t>COT</a:t>
            </a:r>
            <a:r>
              <a:rPr lang="zh-CN" altLang="en-US" sz="2400" dirty="0">
                <a:sym typeface="+mn-ea"/>
              </a:rPr>
              <a:t>生成器的结构简化与优化</a:t>
            </a:r>
            <a:endParaRPr lang="zh-CN" altLang="en-US" sz="24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9903" y="920707"/>
            <a:ext cx="3659456" cy="5735494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7" name="箭头: 右 6"/>
          <p:cNvSpPr/>
          <p:nvPr/>
        </p:nvSpPr>
        <p:spPr>
          <a:xfrm>
            <a:off x="4244076" y="3186684"/>
            <a:ext cx="1412591" cy="484632"/>
          </a:xfrm>
          <a:prstGeom prst="rightArrow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0843" y="2033762"/>
            <a:ext cx="6491157" cy="2790476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4527857" y="5277586"/>
            <a:ext cx="6930521" cy="507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FF0000"/>
                </a:solidFill>
                <a:sym typeface="+mn-ea"/>
              </a:rPr>
              <a:t>从前后对比可以看出，有做不少的简化且没有丢失信息</a:t>
            </a:r>
            <a:endParaRPr lang="en-US" altLang="zh-CN" sz="2000" dirty="0">
              <a:solidFill>
                <a:srgbClr val="FF0000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99090" y="302697"/>
            <a:ext cx="579818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三、进展</a:t>
            </a:r>
            <a:r>
              <a:rPr lang="en-US" altLang="zh-CN" sz="2400" dirty="0"/>
              <a:t>2</a:t>
            </a:r>
            <a:r>
              <a:rPr lang="zh-CN" altLang="en-US" sz="2400" dirty="0"/>
              <a:t>：</a:t>
            </a:r>
            <a:r>
              <a:rPr lang="en-US" altLang="zh-CN" sz="2400" dirty="0">
                <a:sym typeface="+mn-ea"/>
              </a:rPr>
              <a:t>COT</a:t>
            </a:r>
            <a:r>
              <a:rPr lang="zh-CN" altLang="en-US" sz="2400" dirty="0">
                <a:sym typeface="+mn-ea"/>
              </a:rPr>
              <a:t>生成器的结构简化与优化</a:t>
            </a:r>
            <a:endParaRPr lang="zh-CN" altLang="en-US" sz="2400" dirty="0"/>
          </a:p>
        </p:txBody>
      </p:sp>
      <p:sp>
        <p:nvSpPr>
          <p:cNvPr id="3" name="文本框 2"/>
          <p:cNvSpPr txBox="1"/>
          <p:nvPr/>
        </p:nvSpPr>
        <p:spPr>
          <a:xfrm>
            <a:off x="599090" y="932609"/>
            <a:ext cx="6610760" cy="465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ym typeface="+mn-ea"/>
              </a:rPr>
              <a:t>其他例子：同样起到了简化</a:t>
            </a:r>
            <a:r>
              <a:rPr lang="en-US" altLang="zh-CN" dirty="0">
                <a:sym typeface="+mn-ea"/>
              </a:rPr>
              <a:t>cot</a:t>
            </a:r>
            <a:r>
              <a:rPr lang="zh-CN" altLang="en-US" dirty="0">
                <a:sym typeface="+mn-ea"/>
              </a:rPr>
              <a:t>的作用</a:t>
            </a:r>
            <a:endParaRPr lang="en-US" altLang="zh-CN" dirty="0"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5941" y="1566496"/>
            <a:ext cx="11119476" cy="40019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5600" y="820138"/>
            <a:ext cx="5518634" cy="510525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99090" y="302697"/>
            <a:ext cx="579818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三、进展</a:t>
            </a:r>
            <a:r>
              <a:rPr lang="en-US" altLang="zh-CN" sz="2400" dirty="0"/>
              <a:t>2</a:t>
            </a:r>
            <a:r>
              <a:rPr lang="zh-CN" altLang="en-US" sz="2400" dirty="0"/>
              <a:t>：</a:t>
            </a:r>
            <a:r>
              <a:rPr lang="en-US" altLang="zh-CN" sz="2400" dirty="0">
                <a:sym typeface="+mn-ea"/>
              </a:rPr>
              <a:t>COT</a:t>
            </a:r>
            <a:r>
              <a:rPr lang="zh-CN" altLang="en-US" sz="2400" dirty="0">
                <a:sym typeface="+mn-ea"/>
              </a:rPr>
              <a:t>生成器的结构简化与优化</a:t>
            </a:r>
            <a:endParaRPr lang="zh-CN" altLang="en-US" sz="2400" dirty="0"/>
          </a:p>
        </p:txBody>
      </p:sp>
      <p:sp>
        <p:nvSpPr>
          <p:cNvPr id="3" name="文本框 2"/>
          <p:cNvSpPr txBox="1"/>
          <p:nvPr/>
        </p:nvSpPr>
        <p:spPr>
          <a:xfrm>
            <a:off x="599090" y="932609"/>
            <a:ext cx="6610760" cy="465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ym typeface="+mn-ea"/>
              </a:rPr>
              <a:t>其他例子：同样起到了简化</a:t>
            </a:r>
            <a:r>
              <a:rPr lang="en-US" altLang="zh-CN" dirty="0">
                <a:sym typeface="+mn-ea"/>
              </a:rPr>
              <a:t>cot</a:t>
            </a:r>
            <a:r>
              <a:rPr lang="zh-CN" altLang="en-US" dirty="0">
                <a:sym typeface="+mn-ea"/>
              </a:rPr>
              <a:t>的作用</a:t>
            </a:r>
            <a:endParaRPr lang="en-US" altLang="zh-CN" dirty="0"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5941" y="1566496"/>
            <a:ext cx="11119476" cy="400199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99090" y="302697"/>
            <a:ext cx="579818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三、进展</a:t>
            </a:r>
            <a:r>
              <a:rPr lang="en-US" altLang="zh-CN" sz="2400" dirty="0"/>
              <a:t>2</a:t>
            </a:r>
            <a:r>
              <a:rPr lang="zh-CN" altLang="en-US" sz="2400" dirty="0"/>
              <a:t>：</a:t>
            </a:r>
            <a:r>
              <a:rPr lang="en-US" altLang="zh-CN" sz="2400" dirty="0">
                <a:sym typeface="+mn-ea"/>
              </a:rPr>
              <a:t>COT</a:t>
            </a:r>
            <a:r>
              <a:rPr lang="zh-CN" altLang="en-US" sz="2400" dirty="0">
                <a:sym typeface="+mn-ea"/>
              </a:rPr>
              <a:t>生成器的结构简化与优化</a:t>
            </a:r>
            <a:endParaRPr lang="zh-CN" altLang="en-US" sz="2400" dirty="0"/>
          </a:p>
        </p:txBody>
      </p:sp>
      <p:sp>
        <p:nvSpPr>
          <p:cNvPr id="3" name="文本框 2"/>
          <p:cNvSpPr txBox="1"/>
          <p:nvPr/>
        </p:nvSpPr>
        <p:spPr>
          <a:xfrm>
            <a:off x="599090" y="932609"/>
            <a:ext cx="6610760" cy="465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ym typeface="+mn-ea"/>
              </a:rPr>
              <a:t>其他例子：同样起到了简化</a:t>
            </a:r>
            <a:r>
              <a:rPr lang="en-US" altLang="zh-CN" dirty="0">
                <a:sym typeface="+mn-ea"/>
              </a:rPr>
              <a:t>cot</a:t>
            </a:r>
            <a:r>
              <a:rPr lang="zh-CN" altLang="en-US" dirty="0">
                <a:sym typeface="+mn-ea"/>
              </a:rPr>
              <a:t>的作用</a:t>
            </a:r>
            <a:endParaRPr lang="en-US" altLang="zh-CN" dirty="0"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6860" y="1663065"/>
            <a:ext cx="11142345" cy="436816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4800" y="677545"/>
            <a:ext cx="2959100" cy="555688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3895" y="677545"/>
            <a:ext cx="3655695" cy="556450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99090" y="302697"/>
            <a:ext cx="579818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三、进展</a:t>
            </a:r>
            <a:r>
              <a:rPr lang="en-US" altLang="zh-CN" sz="2400" dirty="0"/>
              <a:t>2</a:t>
            </a:r>
            <a:r>
              <a:rPr lang="zh-CN" altLang="en-US" sz="2400" dirty="0"/>
              <a:t>：</a:t>
            </a:r>
            <a:r>
              <a:rPr lang="en-US" altLang="zh-CN" sz="2400" dirty="0">
                <a:sym typeface="+mn-ea"/>
              </a:rPr>
              <a:t>COT</a:t>
            </a:r>
            <a:r>
              <a:rPr lang="zh-CN" altLang="en-US" sz="2400" dirty="0">
                <a:sym typeface="+mn-ea"/>
              </a:rPr>
              <a:t>生成器的结构简化与优化</a:t>
            </a:r>
            <a:endParaRPr lang="zh-CN" altLang="en-US" sz="2400" dirty="0"/>
          </a:p>
        </p:txBody>
      </p:sp>
      <p:sp>
        <p:nvSpPr>
          <p:cNvPr id="3" name="文本框 2"/>
          <p:cNvSpPr txBox="1"/>
          <p:nvPr/>
        </p:nvSpPr>
        <p:spPr>
          <a:xfrm>
            <a:off x="599090" y="932609"/>
            <a:ext cx="6610760" cy="465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ym typeface="+mn-ea"/>
              </a:rPr>
              <a:t>其他例子：同样起到了简化</a:t>
            </a:r>
            <a:r>
              <a:rPr lang="en-US" altLang="zh-CN" dirty="0">
                <a:sym typeface="+mn-ea"/>
              </a:rPr>
              <a:t>cot</a:t>
            </a:r>
            <a:r>
              <a:rPr lang="zh-CN" altLang="en-US" dirty="0">
                <a:sym typeface="+mn-ea"/>
              </a:rPr>
              <a:t>的作用</a:t>
            </a:r>
            <a:endParaRPr lang="en-US" altLang="zh-CN" dirty="0"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6860" y="1663065"/>
            <a:ext cx="11142345" cy="436816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99090" y="302697"/>
            <a:ext cx="593471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dirty="0"/>
              <a:t>四、进展</a:t>
            </a:r>
            <a:r>
              <a:rPr lang="en-US" altLang="zh-CN" sz="2400" dirty="0"/>
              <a:t>3</a:t>
            </a:r>
            <a:r>
              <a:rPr lang="zh-CN" altLang="en-US" sz="2400" dirty="0"/>
              <a:t>：</a:t>
            </a:r>
            <a:r>
              <a:rPr lang="zh-CN" altLang="en-US" sz="2400" dirty="0">
                <a:sym typeface="+mn-ea"/>
              </a:rPr>
              <a:t>正序和倒叙两种</a:t>
            </a:r>
            <a:r>
              <a:rPr lang="en-US" altLang="zh-CN" sz="2400" dirty="0">
                <a:sym typeface="+mn-ea"/>
              </a:rPr>
              <a:t>cot</a:t>
            </a:r>
            <a:r>
              <a:rPr lang="zh-CN" altLang="en-US" sz="2400" dirty="0">
                <a:sym typeface="+mn-ea"/>
              </a:rPr>
              <a:t>的生成</a:t>
            </a:r>
            <a:r>
              <a:rPr lang="zh-CN" altLang="en-US" sz="2400" dirty="0">
                <a:sym typeface="+mn-ea"/>
              </a:rPr>
              <a:t>机制</a:t>
            </a:r>
            <a:endParaRPr lang="zh-CN" altLang="en-US" sz="2400" dirty="0"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13080" y="686435"/>
            <a:ext cx="821817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200000"/>
              </a:lnSpc>
            </a:pPr>
            <a:r>
              <a:rPr lang="zh-CN" altLang="en-US" b="1" dirty="0">
                <a:sym typeface="+mn-ea"/>
              </a:rPr>
              <a:t>问题</a:t>
            </a:r>
            <a:r>
              <a:rPr lang="zh-CN" altLang="en-US" dirty="0">
                <a:sym typeface="+mn-ea"/>
              </a:rPr>
              <a:t>：原框架的</a:t>
            </a:r>
            <a:r>
              <a:rPr lang="en-US" altLang="zh-CN" dirty="0">
                <a:sym typeface="+mn-ea"/>
              </a:rPr>
              <a:t>cot</a:t>
            </a:r>
            <a:r>
              <a:rPr lang="zh-CN" altLang="en-US" dirty="0">
                <a:sym typeface="+mn-ea"/>
              </a:rPr>
              <a:t>仅仅有正序，在输出预测输入的评估集体系中表现</a:t>
            </a:r>
            <a:r>
              <a:rPr lang="zh-CN" altLang="en-US" dirty="0">
                <a:sym typeface="+mn-ea"/>
              </a:rPr>
              <a:t>一般</a:t>
            </a:r>
            <a:endParaRPr lang="zh-CN" altLang="en-US" dirty="0">
              <a:sym typeface="+mn-ea"/>
            </a:endParaRPr>
          </a:p>
          <a:p>
            <a:pPr>
              <a:lnSpc>
                <a:spcPct val="200000"/>
              </a:lnSpc>
            </a:pPr>
            <a:r>
              <a:rPr lang="zh-CN" altLang="en-US" b="1" dirty="0">
                <a:sym typeface="+mn-ea"/>
              </a:rPr>
              <a:t>解决方案</a:t>
            </a:r>
            <a:r>
              <a:rPr lang="zh-CN" altLang="en-US" dirty="0">
                <a:sym typeface="+mn-ea"/>
              </a:rPr>
              <a:t>：根据目前地框架，扩展一个生成倒叙</a:t>
            </a:r>
            <a:r>
              <a:rPr lang="en-US" altLang="zh-CN" dirty="0">
                <a:sym typeface="+mn-ea"/>
              </a:rPr>
              <a:t>cot</a:t>
            </a:r>
            <a:r>
              <a:rPr lang="zh-CN" altLang="en-US" dirty="0">
                <a:sym typeface="+mn-ea"/>
              </a:rPr>
              <a:t>的组件</a:t>
            </a:r>
            <a:endParaRPr lang="zh-CN" altLang="en-US" b="1" dirty="0">
              <a:sym typeface="+mn-ea"/>
            </a:endParaRPr>
          </a:p>
          <a:p>
            <a:pPr>
              <a:lnSpc>
                <a:spcPct val="200000"/>
              </a:lnSpc>
            </a:pPr>
            <a:r>
              <a:rPr lang="zh-CN" altLang="en-US" b="1" dirty="0">
                <a:sym typeface="+mn-ea"/>
              </a:rPr>
              <a:t>技术方案</a:t>
            </a:r>
            <a:r>
              <a:rPr lang="zh-CN" altLang="en-US" dirty="0">
                <a:sym typeface="+mn-ea"/>
              </a:rPr>
              <a:t>：类似于</a:t>
            </a:r>
            <a:r>
              <a:rPr lang="en-US" altLang="zh-CN" dirty="0">
                <a:sym typeface="+mn-ea"/>
              </a:rPr>
              <a:t>cot</a:t>
            </a:r>
            <a:r>
              <a:rPr lang="zh-CN" altLang="en-US" dirty="0">
                <a:sym typeface="+mn-ea"/>
              </a:rPr>
              <a:t>结构，做倒叙</a:t>
            </a:r>
            <a:r>
              <a:rPr lang="zh-CN" altLang="en-US" dirty="0">
                <a:sym typeface="+mn-ea"/>
              </a:rPr>
              <a:t>复现</a:t>
            </a:r>
            <a:endParaRPr lang="zh-CN" altLang="en-US" dirty="0"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725" y="2439670"/>
            <a:ext cx="10934065" cy="446468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99090" y="302697"/>
            <a:ext cx="593471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dirty="0"/>
              <a:t>四、进展</a:t>
            </a:r>
            <a:r>
              <a:rPr lang="en-US" altLang="zh-CN" sz="2400" dirty="0"/>
              <a:t>3</a:t>
            </a:r>
            <a:r>
              <a:rPr lang="zh-CN" altLang="en-US" sz="2400" dirty="0"/>
              <a:t>：</a:t>
            </a:r>
            <a:r>
              <a:rPr lang="zh-CN" altLang="en-US" sz="2400" dirty="0">
                <a:sym typeface="+mn-ea"/>
              </a:rPr>
              <a:t>正序和倒叙两种</a:t>
            </a:r>
            <a:r>
              <a:rPr lang="en-US" altLang="zh-CN" sz="2400" dirty="0">
                <a:sym typeface="+mn-ea"/>
              </a:rPr>
              <a:t>cot</a:t>
            </a:r>
            <a:r>
              <a:rPr lang="zh-CN" altLang="en-US" sz="2400" dirty="0">
                <a:sym typeface="+mn-ea"/>
              </a:rPr>
              <a:t>的生成</a:t>
            </a:r>
            <a:r>
              <a:rPr lang="zh-CN" altLang="en-US" sz="2400" dirty="0">
                <a:sym typeface="+mn-ea"/>
              </a:rPr>
              <a:t>机制</a:t>
            </a:r>
            <a:endParaRPr lang="zh-CN" altLang="en-US" sz="2400" dirty="0"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13080" y="686435"/>
            <a:ext cx="821817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200000"/>
              </a:lnSpc>
            </a:pPr>
            <a:r>
              <a:rPr lang="zh-CN" altLang="en-US" b="1" dirty="0">
                <a:sym typeface="+mn-ea"/>
              </a:rPr>
              <a:t>问题</a:t>
            </a:r>
            <a:r>
              <a:rPr lang="zh-CN" altLang="en-US" dirty="0">
                <a:sym typeface="+mn-ea"/>
              </a:rPr>
              <a:t>：原框架的</a:t>
            </a:r>
            <a:r>
              <a:rPr lang="en-US" altLang="zh-CN" dirty="0">
                <a:sym typeface="+mn-ea"/>
              </a:rPr>
              <a:t>cot</a:t>
            </a:r>
            <a:r>
              <a:rPr lang="zh-CN" altLang="en-US" dirty="0">
                <a:sym typeface="+mn-ea"/>
              </a:rPr>
              <a:t>仅仅有正序，在输出预测输入的评估集体系中表现</a:t>
            </a:r>
            <a:r>
              <a:rPr lang="zh-CN" altLang="en-US" dirty="0">
                <a:sym typeface="+mn-ea"/>
              </a:rPr>
              <a:t>一般</a:t>
            </a:r>
            <a:endParaRPr lang="zh-CN" altLang="en-US" dirty="0">
              <a:sym typeface="+mn-ea"/>
            </a:endParaRPr>
          </a:p>
          <a:p>
            <a:pPr>
              <a:lnSpc>
                <a:spcPct val="200000"/>
              </a:lnSpc>
            </a:pPr>
            <a:r>
              <a:rPr lang="zh-CN" altLang="en-US" b="1" dirty="0">
                <a:sym typeface="+mn-ea"/>
              </a:rPr>
              <a:t>解决方案</a:t>
            </a:r>
            <a:r>
              <a:rPr lang="zh-CN" altLang="en-US" dirty="0">
                <a:sym typeface="+mn-ea"/>
              </a:rPr>
              <a:t>：根据目前地框架，扩展一个生成倒叙</a:t>
            </a:r>
            <a:r>
              <a:rPr lang="en-US" altLang="zh-CN" dirty="0">
                <a:sym typeface="+mn-ea"/>
              </a:rPr>
              <a:t>cot</a:t>
            </a:r>
            <a:r>
              <a:rPr lang="zh-CN" altLang="en-US" dirty="0">
                <a:sym typeface="+mn-ea"/>
              </a:rPr>
              <a:t>的组件</a:t>
            </a:r>
            <a:endParaRPr lang="zh-CN" altLang="en-US" b="1" dirty="0">
              <a:sym typeface="+mn-ea"/>
            </a:endParaRPr>
          </a:p>
          <a:p>
            <a:pPr>
              <a:lnSpc>
                <a:spcPct val="200000"/>
              </a:lnSpc>
            </a:pPr>
            <a:r>
              <a:rPr lang="zh-CN" altLang="en-US" b="1" dirty="0">
                <a:sym typeface="+mn-ea"/>
              </a:rPr>
              <a:t>技术方案</a:t>
            </a:r>
            <a:r>
              <a:rPr lang="zh-CN" altLang="en-US" dirty="0">
                <a:sym typeface="+mn-ea"/>
              </a:rPr>
              <a:t>：类似于</a:t>
            </a:r>
            <a:r>
              <a:rPr lang="en-US" altLang="zh-CN" dirty="0">
                <a:sym typeface="+mn-ea"/>
              </a:rPr>
              <a:t>cot</a:t>
            </a:r>
            <a:r>
              <a:rPr lang="zh-CN" altLang="en-US" dirty="0">
                <a:sym typeface="+mn-ea"/>
              </a:rPr>
              <a:t>结构，做倒叙</a:t>
            </a:r>
            <a:r>
              <a:rPr lang="zh-CN" altLang="en-US" dirty="0">
                <a:sym typeface="+mn-ea"/>
              </a:rPr>
              <a:t>复现</a:t>
            </a:r>
            <a:endParaRPr lang="zh-CN" altLang="en-US" dirty="0"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9425" y="2439670"/>
            <a:ext cx="10397490" cy="428180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99090" y="302697"/>
            <a:ext cx="593471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dirty="0"/>
              <a:t>四、进展</a:t>
            </a:r>
            <a:r>
              <a:rPr lang="en-US" altLang="zh-CN" sz="2400" dirty="0"/>
              <a:t>3</a:t>
            </a:r>
            <a:r>
              <a:rPr lang="zh-CN" altLang="en-US" sz="2400" dirty="0"/>
              <a:t>：</a:t>
            </a:r>
            <a:r>
              <a:rPr lang="zh-CN" altLang="en-US" sz="2400" dirty="0">
                <a:sym typeface="+mn-ea"/>
              </a:rPr>
              <a:t>正序和倒叙两种</a:t>
            </a:r>
            <a:r>
              <a:rPr lang="en-US" altLang="zh-CN" sz="2400" dirty="0">
                <a:sym typeface="+mn-ea"/>
              </a:rPr>
              <a:t>cot</a:t>
            </a:r>
            <a:r>
              <a:rPr lang="zh-CN" altLang="en-US" sz="2400" dirty="0">
                <a:sym typeface="+mn-ea"/>
              </a:rPr>
              <a:t>的生成</a:t>
            </a:r>
            <a:r>
              <a:rPr lang="zh-CN" altLang="en-US" sz="2400" dirty="0">
                <a:sym typeface="+mn-ea"/>
              </a:rPr>
              <a:t>机制</a:t>
            </a:r>
            <a:endParaRPr lang="zh-CN" altLang="en-US" sz="2400" dirty="0"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13080" y="686435"/>
            <a:ext cx="9208770" cy="50774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200000"/>
              </a:lnSpc>
            </a:pPr>
            <a:r>
              <a:rPr lang="zh-CN" altLang="en-US" b="1" dirty="0">
                <a:sym typeface="+mn-ea"/>
              </a:rPr>
              <a:t>问题</a:t>
            </a:r>
            <a:r>
              <a:rPr lang="zh-CN" altLang="en-US" dirty="0">
                <a:sym typeface="+mn-ea"/>
              </a:rPr>
              <a:t>：原框架的</a:t>
            </a:r>
            <a:r>
              <a:rPr lang="en-US" altLang="zh-CN" dirty="0">
                <a:sym typeface="+mn-ea"/>
              </a:rPr>
              <a:t>cot</a:t>
            </a:r>
            <a:r>
              <a:rPr lang="zh-CN" altLang="en-US" dirty="0">
                <a:sym typeface="+mn-ea"/>
              </a:rPr>
              <a:t>仅仅有正序，在输出预测输入的评估集体系中表现</a:t>
            </a:r>
            <a:r>
              <a:rPr lang="zh-CN" altLang="en-US" dirty="0">
                <a:sym typeface="+mn-ea"/>
              </a:rPr>
              <a:t>一般</a:t>
            </a:r>
            <a:endParaRPr lang="zh-CN" altLang="en-US" dirty="0">
              <a:sym typeface="+mn-ea"/>
            </a:endParaRPr>
          </a:p>
          <a:p>
            <a:pPr>
              <a:lnSpc>
                <a:spcPct val="200000"/>
              </a:lnSpc>
            </a:pPr>
            <a:r>
              <a:rPr lang="zh-CN" altLang="en-US" b="1" dirty="0">
                <a:sym typeface="+mn-ea"/>
              </a:rPr>
              <a:t>解决方案</a:t>
            </a:r>
            <a:r>
              <a:rPr lang="zh-CN" altLang="en-US" dirty="0">
                <a:sym typeface="+mn-ea"/>
              </a:rPr>
              <a:t>：根据目前地框架，扩展一个生成倒叙</a:t>
            </a:r>
            <a:r>
              <a:rPr lang="en-US" altLang="zh-CN" dirty="0">
                <a:sym typeface="+mn-ea"/>
              </a:rPr>
              <a:t>cot</a:t>
            </a:r>
            <a:r>
              <a:rPr lang="zh-CN" altLang="en-US" dirty="0">
                <a:sym typeface="+mn-ea"/>
              </a:rPr>
              <a:t>的组件</a:t>
            </a:r>
            <a:endParaRPr lang="zh-CN" altLang="en-US" b="1" dirty="0">
              <a:sym typeface="+mn-ea"/>
            </a:endParaRPr>
          </a:p>
          <a:p>
            <a:pPr>
              <a:lnSpc>
                <a:spcPct val="200000"/>
              </a:lnSpc>
            </a:pPr>
            <a:r>
              <a:rPr lang="zh-CN" altLang="en-US" b="1" dirty="0">
                <a:sym typeface="+mn-ea"/>
              </a:rPr>
              <a:t>技术方案</a:t>
            </a:r>
            <a:r>
              <a:rPr lang="zh-CN" altLang="en-US" dirty="0">
                <a:sym typeface="+mn-ea"/>
              </a:rPr>
              <a:t>：类似于</a:t>
            </a:r>
            <a:r>
              <a:rPr lang="en-US" altLang="zh-CN" dirty="0">
                <a:sym typeface="+mn-ea"/>
              </a:rPr>
              <a:t>cot</a:t>
            </a:r>
            <a:r>
              <a:rPr lang="zh-CN" altLang="en-US" dirty="0">
                <a:sym typeface="+mn-ea"/>
              </a:rPr>
              <a:t>结构，做倒叙</a:t>
            </a:r>
            <a:r>
              <a:rPr lang="zh-CN" altLang="en-US" dirty="0">
                <a:sym typeface="+mn-ea"/>
              </a:rPr>
              <a:t>复现</a:t>
            </a:r>
            <a:endParaRPr lang="zh-CN" altLang="en-US" dirty="0">
              <a:sym typeface="+mn-ea"/>
            </a:endParaRPr>
          </a:p>
          <a:p>
            <a:pPr>
              <a:lnSpc>
                <a:spcPct val="200000"/>
              </a:lnSpc>
            </a:pPr>
            <a:endParaRPr lang="zh-CN" altLang="en-US" dirty="0">
              <a:sym typeface="+mn-ea"/>
            </a:endParaRPr>
          </a:p>
          <a:p>
            <a:pPr>
              <a:lnSpc>
                <a:spcPct val="200000"/>
              </a:lnSpc>
            </a:pPr>
            <a:r>
              <a:rPr lang="en-US" altLang="zh-CN" dirty="0">
                <a:sym typeface="+mn-ea"/>
              </a:rPr>
              <a:t>1. cot</a:t>
            </a:r>
            <a:r>
              <a:rPr lang="zh-CN" altLang="en-US" dirty="0">
                <a:sym typeface="+mn-ea"/>
              </a:rPr>
              <a:t>：第几行、补充解释的时候换行、解释</a:t>
            </a:r>
            <a:r>
              <a:rPr lang="zh-CN" altLang="en-US" dirty="0">
                <a:sym typeface="+mn-ea"/>
              </a:rPr>
              <a:t>更专业化</a:t>
            </a:r>
            <a:endParaRPr lang="zh-CN" altLang="en-US" dirty="0">
              <a:sym typeface="+mn-ea"/>
            </a:endParaRPr>
          </a:p>
          <a:p>
            <a:pPr>
              <a:lnSpc>
                <a:spcPct val="200000"/>
              </a:lnSpc>
            </a:pPr>
            <a:r>
              <a:rPr lang="en-US" altLang="zh-CN" dirty="0">
                <a:sym typeface="+mn-ea"/>
              </a:rPr>
              <a:t>2. </a:t>
            </a:r>
            <a:r>
              <a:rPr lang="zh-CN" altLang="en-US" dirty="0">
                <a:sym typeface="+mn-ea"/>
              </a:rPr>
              <a:t>对于过长循环进行处理和</a:t>
            </a:r>
            <a:r>
              <a:rPr lang="zh-CN" altLang="en-US" dirty="0">
                <a:sym typeface="+mn-ea"/>
              </a:rPr>
              <a:t>管理</a:t>
            </a:r>
            <a:endParaRPr lang="zh-CN" altLang="en-US" dirty="0">
              <a:sym typeface="+mn-ea"/>
            </a:endParaRPr>
          </a:p>
          <a:p>
            <a:pPr>
              <a:lnSpc>
                <a:spcPct val="200000"/>
              </a:lnSpc>
            </a:pPr>
            <a:r>
              <a:rPr lang="en-US" altLang="zh-CN" dirty="0">
                <a:sym typeface="+mn-ea"/>
              </a:rPr>
              <a:t>3. </a:t>
            </a:r>
            <a:r>
              <a:rPr lang="zh-CN" altLang="en-US" dirty="0">
                <a:sym typeface="+mn-ea"/>
              </a:rPr>
              <a:t>倒叙的思路：正序</a:t>
            </a:r>
            <a:r>
              <a:rPr lang="en-US" altLang="zh-CN" dirty="0">
                <a:sym typeface="+mn-ea"/>
              </a:rPr>
              <a:t>+</a:t>
            </a:r>
            <a:r>
              <a:rPr lang="zh-CN" altLang="en-US" dirty="0">
                <a:sym typeface="+mn-ea"/>
              </a:rPr>
              <a:t>大模型</a:t>
            </a:r>
            <a:r>
              <a:rPr lang="en-US" altLang="zh-CN" dirty="0">
                <a:sym typeface="+mn-ea"/>
              </a:rPr>
              <a:t>——&gt;</a:t>
            </a:r>
            <a:r>
              <a:rPr lang="zh-CN" altLang="en-US" dirty="0">
                <a:sym typeface="+mn-ea"/>
              </a:rPr>
              <a:t>可用的倒</a:t>
            </a:r>
            <a:r>
              <a:rPr lang="zh-CN" altLang="en-US" dirty="0">
                <a:sym typeface="+mn-ea"/>
              </a:rPr>
              <a:t>序</a:t>
            </a:r>
            <a:endParaRPr lang="zh-CN" altLang="en-US" dirty="0">
              <a:sym typeface="+mn-ea"/>
            </a:endParaRPr>
          </a:p>
          <a:p>
            <a:pPr>
              <a:lnSpc>
                <a:spcPct val="200000"/>
              </a:lnSpc>
            </a:pPr>
            <a:r>
              <a:rPr lang="en-US" altLang="zh-CN" dirty="0">
                <a:sym typeface="+mn-ea"/>
              </a:rPr>
              <a:t>4. s.a.b</a:t>
            </a:r>
            <a:r>
              <a:rPr lang="zh-CN" altLang="en-US" dirty="0">
                <a:sym typeface="+mn-ea"/>
              </a:rPr>
              <a:t>的逻辑进行深究与</a:t>
            </a:r>
            <a:r>
              <a:rPr lang="zh-CN" altLang="en-US" dirty="0">
                <a:sym typeface="+mn-ea"/>
              </a:rPr>
              <a:t>细化</a:t>
            </a:r>
            <a:endParaRPr lang="zh-CN" altLang="en-US" dirty="0">
              <a:sym typeface="+mn-ea"/>
            </a:endParaRPr>
          </a:p>
          <a:p>
            <a:pPr>
              <a:lnSpc>
                <a:spcPct val="200000"/>
              </a:lnSpc>
            </a:pPr>
            <a:r>
              <a:rPr lang="en-US" altLang="zh-CN" dirty="0">
                <a:sym typeface="+mn-ea"/>
              </a:rPr>
              <a:t>5. </a:t>
            </a:r>
            <a:r>
              <a:rPr lang="zh-CN" altLang="en-US" dirty="0">
                <a:sym typeface="+mn-ea"/>
              </a:rPr>
              <a:t>中英文</a:t>
            </a:r>
            <a:r>
              <a:rPr lang="zh-CN" altLang="en-US" dirty="0">
                <a:sym typeface="+mn-ea"/>
              </a:rPr>
              <a:t>转换</a:t>
            </a:r>
            <a:endParaRPr lang="zh-CN" altLang="en-US" dirty="0"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915*418"/>
  <p:tag name="TABLE_ENDDRAG_RECT" val="15*85*915*418"/>
</p:tagLst>
</file>

<file path=ppt/tags/tag2.xml><?xml version="1.0" encoding="utf-8"?>
<p:tagLst xmlns:p="http://schemas.openxmlformats.org/presentationml/2006/main">
  <p:tag name="KSO_WM_DIAGRAM_VIRTUALLY_FRAME" val="{&quot;height&quot;:295.45,&quot;left&quot;:193.97795275590542,&quot;top&quot;:124.7,&quot;width&quot;:304.8220472440945}"/>
</p:tagLst>
</file>

<file path=ppt/tags/tag3.xml><?xml version="1.0" encoding="utf-8"?>
<p:tagLst xmlns:p="http://schemas.openxmlformats.org/presentationml/2006/main">
  <p:tag name="KSO_WM_DIAGRAM_VIRTUALLY_FRAME" val="{&quot;height&quot;:295.45,&quot;left&quot;:193.97795275590542,&quot;top&quot;:124.7,&quot;width&quot;:304.8220472440945}"/>
</p:tagLst>
</file>

<file path=ppt/tags/tag4.xml><?xml version="1.0" encoding="utf-8"?>
<p:tagLst xmlns:p="http://schemas.openxmlformats.org/presentationml/2006/main">
  <p:tag name="KSO_WM_DIAGRAM_VIRTUALLY_FRAME" val="{&quot;height&quot;:295.45,&quot;left&quot;:193.97795275590542,&quot;top&quot;:124.7,&quot;width&quot;:304.8220472440945}"/>
</p:tagLst>
</file>

<file path=ppt/tags/tag5.xml><?xml version="1.0" encoding="utf-8"?>
<p:tagLst xmlns:p="http://schemas.openxmlformats.org/presentationml/2006/main">
  <p:tag name="KSO_WM_DIAGRAM_VIRTUALLY_FRAME" val="{&quot;height&quot;:295.45,&quot;left&quot;:193.97795275590542,&quot;top&quot;:124.7,&quot;width&quot;:304.8220472440945}"/>
</p:tagLst>
</file>

<file path=ppt/tags/tag6.xml><?xml version="1.0" encoding="utf-8"?>
<p:tagLst xmlns:p="http://schemas.openxmlformats.org/presentationml/2006/main">
  <p:tag name="KSO_WM_DIAGRAM_VIRTUALLY_FRAME" val="{&quot;height&quot;:295.45,&quot;left&quot;:193.97795275590542,&quot;top&quot;:124.7,&quot;width&quot;:304.8220472440945}"/>
</p:tagLst>
</file>

<file path=ppt/tags/tag7.xml><?xml version="1.0" encoding="utf-8"?>
<p:tagLst xmlns:p="http://schemas.openxmlformats.org/presentationml/2006/main">
  <p:tag name="KSO_WM_DIAGRAM_VIRTUALLY_FRAME" val="{&quot;height&quot;:295.45,&quot;left&quot;:193.97795275590542,&quot;top&quot;:124.7,&quot;width&quot;:304.8220472440945}"/>
</p:tagLst>
</file>

<file path=ppt/tags/tag8.xml><?xml version="1.0" encoding="utf-8"?>
<p:tagLst xmlns:p="http://schemas.openxmlformats.org/presentationml/2006/main">
  <p:tag name="KSO_WM_DIAGRAM_VIRTUALLY_FRAME" val="{&quot;height&quot;:295.45,&quot;left&quot;:193.97795275590542,&quot;top&quot;:124.7,&quot;width&quot;:304.8220472440945}"/>
</p:tagLst>
</file>

<file path=ppt/tags/tag9.xml><?xml version="1.0" encoding="utf-8"?>
<p:tagLst xmlns:p="http://schemas.openxmlformats.org/presentationml/2006/main">
  <p:tag name="KSO_WM_DIAGRAM_VIRTUALLY_FRAME" val="{&quot;height&quot;:295.45,&quot;left&quot;:193.97795275590542,&quot;top&quot;:124.7,&quot;width&quot;:304.8220472440945}"/>
</p:tagLst>
</file>

<file path=ppt/tags/tag10.xml><?xml version="1.0" encoding="utf-8"?>
<p:tagLst xmlns:p="http://schemas.openxmlformats.org/presentationml/2006/main">
  <p:tag name="KSO_WM_DIAGRAM_VIRTUALLY_FRAME" val="{&quot;height&quot;:295.45,&quot;left&quot;:193.97795275590542,&quot;top&quot;:124.7,&quot;width&quot;:304.8220472440945}"/>
</p:tagLst>
</file>

<file path=ppt/tags/tag11.xml><?xml version="1.0" encoding="utf-8"?>
<p:tagLst xmlns:p="http://schemas.openxmlformats.org/presentationml/2006/main">
  <p:tag name="KSO_WM_DIAGRAM_VIRTUALLY_FRAME" val="{&quot;height&quot;:295.45,&quot;left&quot;:193.97795275590542,&quot;top&quot;:124.7,&quot;width&quot;:304.8220472440945}"/>
</p:tagLst>
</file>

<file path=ppt/tags/tag12.xml><?xml version="1.0" encoding="utf-8"?>
<p:tagLst xmlns:p="http://schemas.openxmlformats.org/presentationml/2006/main">
  <p:tag name="KSO_WM_DIAGRAM_VIRTUALLY_FRAME" val="{&quot;height&quot;:295.45,&quot;left&quot;:193.97795275590542,&quot;top&quot;:124.7,&quot;width&quot;:304.8220472440945}"/>
</p:tagLst>
</file>

<file path=ppt/tags/tag13.xml><?xml version="1.0" encoding="utf-8"?>
<p:tagLst xmlns:p="http://schemas.openxmlformats.org/presentationml/2006/main">
  <p:tag name="KSO_WM_DIAGRAM_VIRTUALLY_FRAME" val="{&quot;height&quot;:295.45,&quot;left&quot;:193.97795275590542,&quot;top&quot;:124.7,&quot;width&quot;:304.8220472440945}"/>
</p:tagLst>
</file>

<file path=ppt/tags/tag14.xml><?xml version="1.0" encoding="utf-8"?>
<p:tagLst xmlns:p="http://schemas.openxmlformats.org/presentationml/2006/main">
  <p:tag name="KSO_WM_DIAGRAM_VIRTUALLY_FRAME" val="{&quot;height&quot;:295.45,&quot;left&quot;:193.97795275590542,&quot;top&quot;:124.7,&quot;width&quot;:304.8220472440945}"/>
</p:tagLst>
</file>

<file path=ppt/tags/tag15.xml><?xml version="1.0" encoding="utf-8"?>
<p:tagLst xmlns:p="http://schemas.openxmlformats.org/presentationml/2006/main">
  <p:tag name="KSO_WM_DIAGRAM_VIRTUALLY_FRAME" val="{&quot;height&quot;:295.45,&quot;left&quot;:193.97795275590542,&quot;top&quot;:124.7,&quot;width&quot;:304.8220472440945}"/>
</p:tagLst>
</file>

<file path=ppt/tags/tag16.xml><?xml version="1.0" encoding="utf-8"?>
<p:tagLst xmlns:p="http://schemas.openxmlformats.org/presentationml/2006/main">
  <p:tag name="KSO_WM_DIAGRAM_VIRTUALLY_FRAME" val="{&quot;height&quot;:295.45,&quot;left&quot;:193.97795275590542,&quot;top&quot;:124.7,&quot;width&quot;:304.8220472440945}"/>
</p:tagLst>
</file>

<file path=ppt/tags/tag17.xml><?xml version="1.0" encoding="utf-8"?>
<p:tagLst xmlns:p="http://schemas.openxmlformats.org/presentationml/2006/main">
  <p:tag name="KSO_WM_DIAGRAM_VIRTUALLY_FRAME" val="{&quot;height&quot;:295.45,&quot;left&quot;:193.97795275590542,&quot;top&quot;:124.7,&quot;width&quot;:304.8220472440945}"/>
</p:tagLst>
</file>

<file path=ppt/tags/tag18.xml><?xml version="1.0" encoding="utf-8"?>
<p:tagLst xmlns:p="http://schemas.openxmlformats.org/presentationml/2006/main">
  <p:tag name="KSO_WM_DIAGRAM_VIRTUALLY_FRAME" val="{&quot;height&quot;:295.45,&quot;left&quot;:193.97795275590542,&quot;top&quot;:124.7,&quot;width&quot;:304.8220472440945}"/>
</p:tagLst>
</file>

<file path=ppt/tags/tag19.xml><?xml version="1.0" encoding="utf-8"?>
<p:tagLst xmlns:p="http://schemas.openxmlformats.org/presentationml/2006/main">
  <p:tag name="KSO_WM_DIAGRAM_VIRTUALLY_FRAME" val="{&quot;height&quot;:295.45,&quot;left&quot;:193.97795275590542,&quot;top&quot;:124.7,&quot;width&quot;:304.8220472440945}"/>
</p:tagLst>
</file>

<file path=ppt/tags/tag20.xml><?xml version="1.0" encoding="utf-8"?>
<p:tagLst xmlns:p="http://schemas.openxmlformats.org/presentationml/2006/main">
  <p:tag name="KSO_WM_DIAGRAM_VIRTUALLY_FRAME" val="{&quot;height&quot;:295.45,&quot;left&quot;:193.97795275590542,&quot;top&quot;:124.7,&quot;width&quot;:304.8220472440945}"/>
</p:tagLst>
</file>

<file path=ppt/tags/tag21.xml><?xml version="1.0" encoding="utf-8"?>
<p:tagLst xmlns:p="http://schemas.openxmlformats.org/presentationml/2006/main">
  <p:tag name="KSO_WM_DIAGRAM_VIRTUALLY_FRAME" val="{&quot;height&quot;:295.45,&quot;left&quot;:193.97795275590542,&quot;top&quot;:124.7,&quot;width&quot;:304.8220472440945}"/>
</p:tagLst>
</file>

<file path=ppt/tags/tag22.xml><?xml version="1.0" encoding="utf-8"?>
<p:tagLst xmlns:p="http://schemas.openxmlformats.org/presentationml/2006/main">
  <p:tag name="KSO_WM_DIAGRAM_VIRTUALLY_FRAME" val="{&quot;height&quot;:295.45,&quot;left&quot;:193.97795275590542,&quot;top&quot;:124.7,&quot;width&quot;:304.8220472440945}"/>
</p:tagLst>
</file>

<file path=ppt/tags/tag23.xml><?xml version="1.0" encoding="utf-8"?>
<p:tagLst xmlns:p="http://schemas.openxmlformats.org/presentationml/2006/main">
  <p:tag name="KSO_WM_DIAGRAM_VIRTUALLY_FRAME" val="{&quot;height&quot;:295.45,&quot;left&quot;:193.97795275590542,&quot;top&quot;:124.7,&quot;width&quot;:304.8220472440945}"/>
</p:tagLst>
</file>

<file path=ppt/tags/tag24.xml><?xml version="1.0" encoding="utf-8"?>
<p:tagLst xmlns:p="http://schemas.openxmlformats.org/presentationml/2006/main">
  <p:tag name="KSO_WM_DIAGRAM_VIRTUALLY_FRAME" val="{&quot;height&quot;:295.45,&quot;left&quot;:193.97795275590542,&quot;top&quot;:124.7,&quot;width&quot;:304.8220472440945}"/>
</p:tagLst>
</file>

<file path=ppt/tags/tag25.xml><?xml version="1.0" encoding="utf-8"?>
<p:tagLst xmlns:p="http://schemas.openxmlformats.org/presentationml/2006/main">
  <p:tag name="KSO_WM_DIAGRAM_VIRTUALLY_FRAME" val="{&quot;height&quot;:295.45,&quot;left&quot;:193.97795275590542,&quot;top&quot;:124.7,&quot;width&quot;:304.8220472440945}"/>
</p:tagLst>
</file>

<file path=ppt/tags/tag26.xml><?xml version="1.0" encoding="utf-8"?>
<p:tagLst xmlns:p="http://schemas.openxmlformats.org/presentationml/2006/main">
  <p:tag name="RESOURCE_RECORD_KEY" val="{&quot;10&quot;:[20179637,20211662,50039266,21564682]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3245</Words>
  <Application>WPS 演示</Application>
  <PresentationFormat>宽屏</PresentationFormat>
  <Paragraphs>215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8" baseType="lpstr">
      <vt:lpstr>Arial</vt:lpstr>
      <vt:lpstr>宋体</vt:lpstr>
      <vt:lpstr>Wingdings</vt:lpstr>
      <vt:lpstr>等线</vt:lpstr>
      <vt:lpstr>微软雅黑</vt:lpstr>
      <vt:lpstr>Arial Unicode MS</vt:lpstr>
      <vt:lpstr>等线 Light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caoye541@gmail.com</dc:creator>
  <cp:lastModifiedBy>曹烨(2021012167)</cp:lastModifiedBy>
  <cp:revision>62</cp:revision>
  <dcterms:created xsi:type="dcterms:W3CDTF">2025-10-01T20:32:00Z</dcterms:created>
  <dcterms:modified xsi:type="dcterms:W3CDTF">2025-11-06T11:29:04Z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0EF9495A275B44739829F704D14D350D_13</vt:lpwstr>
  </property>
  <property fmtid="{D5CDD505-2E9C-101B-9397-08002B2CF9AE}" pid="3" name="KSOProductBuildVer">
    <vt:lpwstr>2052-12.1.0.19302</vt:lpwstr>
  </property>
</Properties>
</file>