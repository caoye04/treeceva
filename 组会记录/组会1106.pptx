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7" r:id="rId2"/>
    <p:sldId id="327" r:id="rId3"/>
    <p:sldId id="265" r:id="rId4"/>
    <p:sldId id="277" r:id="rId5"/>
    <p:sldId id="315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tags" Target="../tags/tag14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tags" Target="../tags/tag13.xml"/><Relationship Id="rId5" Type="http://schemas.openxmlformats.org/officeDocument/2006/relationships/tags" Target="../tags/tag7.xml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tags" Target="../tags/tag26.xml"/><Relationship Id="rId17" Type="http://schemas.openxmlformats.org/officeDocument/2006/relationships/image" Target="../media/image4.svg"/><Relationship Id="rId2" Type="http://schemas.openxmlformats.org/officeDocument/2006/relationships/tags" Target="../tags/tag16.xml"/><Relationship Id="rId16" Type="http://schemas.openxmlformats.org/officeDocument/2006/relationships/image" Target="../media/image3.png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tags" Target="../tags/tag25.xml"/><Relationship Id="rId5" Type="http://schemas.openxmlformats.org/officeDocument/2006/relationships/tags" Target="../tags/tag19.xml"/><Relationship Id="rId15" Type="http://schemas.openxmlformats.org/officeDocument/2006/relationships/image" Target="../media/image2.svg"/><Relationship Id="rId10" Type="http://schemas.openxmlformats.org/officeDocument/2006/relationships/tags" Target="../tags/tag24.xml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60500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上周回顾：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1031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5</a:t>
            </a:r>
            <a:endParaRPr lang="en-US" altLang="zh-CN" sz="3200" dirty="0"/>
          </a:p>
        </p:txBody>
      </p:sp>
      <p:sp>
        <p:nvSpPr>
          <p:cNvPr id="4" name="文本框 3"/>
          <p:cNvSpPr txBox="1"/>
          <p:nvPr/>
        </p:nvSpPr>
        <p:spPr>
          <a:xfrm>
            <a:off x="373380" y="941070"/>
            <a:ext cx="11605260" cy="4200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/>
              <a:t>1. </a:t>
            </a:r>
            <a:r>
              <a:rPr lang="zh-CN" altLang="en-US" sz="2000" dirty="0"/>
              <a:t>分享了</a:t>
            </a:r>
            <a:r>
              <a:rPr lang="en-US" altLang="zh-CN" sz="2000" dirty="0"/>
              <a:t>cot</a:t>
            </a:r>
            <a:r>
              <a:rPr lang="zh-CN" altLang="en-US" sz="2000" dirty="0"/>
              <a:t>生成优化技术：</a:t>
            </a:r>
            <a:r>
              <a:rPr lang="zh-CN" altLang="en-US" sz="2000" dirty="0">
                <a:sym typeface="+mn-ea"/>
              </a:rPr>
              <a:t>完成了去</a:t>
            </a:r>
            <a:r>
              <a:rPr lang="en-US" altLang="zh-CN" sz="2000" dirty="0">
                <a:sym typeface="+mn-ea"/>
              </a:rPr>
              <a:t>ai</a:t>
            </a:r>
            <a:r>
              <a:rPr lang="zh-CN" altLang="en-US" sz="2000" dirty="0">
                <a:sym typeface="+mn-ea"/>
              </a:rPr>
              <a:t>依赖的剪枝与模板化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生成框架，分享了它的三步走流程与核心算法</a:t>
            </a:r>
            <a:r>
              <a:rPr lang="en-US" altLang="zh-CN" sz="2000" dirty="0">
                <a:sym typeface="+mn-ea"/>
              </a:rPr>
              <a:t>——</a:t>
            </a:r>
            <a:r>
              <a:rPr lang="zh-CN" altLang="en-US" sz="2000" dirty="0">
                <a:solidFill>
                  <a:schemeClr val="accent5">
                    <a:lumMod val="75000"/>
                  </a:schemeClr>
                </a:solidFill>
                <a:sym typeface="+mn-ea"/>
              </a:rPr>
              <a:t>智能回溯剪枝算法</a:t>
            </a:r>
            <a:r>
              <a:rPr lang="zh-CN" altLang="en-US" sz="2000" dirty="0">
                <a:sym typeface="+mn-ea"/>
              </a:rPr>
              <a:t>与</a:t>
            </a:r>
            <a:r>
              <a:rPr lang="zh-CN" altLang="en-US" sz="2000" dirty="0">
                <a:solidFill>
                  <a:schemeClr val="accent5">
                    <a:lumMod val="75000"/>
                  </a:schemeClr>
                </a:solidFill>
                <a:sym typeface="+mn-ea"/>
              </a:rPr>
              <a:t>模板化</a:t>
            </a:r>
            <a:r>
              <a:rPr lang="en-US" altLang="zh-CN" sz="2000" dirty="0">
                <a:solidFill>
                  <a:schemeClr val="accent5">
                    <a:lumMod val="75000"/>
                  </a:schemeClr>
                </a:solidFill>
                <a:sym typeface="+mn-ea"/>
              </a:rPr>
              <a:t>COT</a:t>
            </a:r>
            <a:r>
              <a:rPr lang="zh-CN" altLang="en-US" sz="2000" dirty="0">
                <a:solidFill>
                  <a:schemeClr val="accent5">
                    <a:lumMod val="75000"/>
                  </a:schemeClr>
                </a:solidFill>
                <a:sym typeface="+mn-ea"/>
              </a:rPr>
              <a:t>生成算法，</a:t>
            </a:r>
            <a:r>
              <a:rPr lang="zh-CN" altLang="en-US" sz="2000" dirty="0">
                <a:sym typeface="+mn-ea"/>
              </a:rPr>
              <a:t>并且在</a:t>
            </a:r>
            <a:r>
              <a:rPr lang="en-US" altLang="zh-CN" sz="2000" dirty="0">
                <a:sym typeface="+mn-ea"/>
              </a:rPr>
              <a:t>10</a:t>
            </a:r>
            <a:r>
              <a:rPr lang="zh-CN" altLang="en-US" sz="2000" dirty="0">
                <a:sym typeface="+mn-ea"/>
              </a:rPr>
              <a:t>种情况的测试例中验证了正确性</a:t>
            </a: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2. </a:t>
            </a:r>
            <a:r>
              <a:rPr lang="zh-CN" altLang="en-US" sz="2000" dirty="0">
                <a:sym typeface="+mn-ea"/>
              </a:rPr>
              <a:t>尝试将正确答案连同代码一同丢进提示词中进行微调，并进行评估：在</a:t>
            </a:r>
            <a:r>
              <a:rPr lang="en-US" altLang="zh-CN" sz="2000" dirty="0" err="1">
                <a:sym typeface="+mn-ea"/>
              </a:rPr>
              <a:t>CRUXEval</a:t>
            </a:r>
            <a:r>
              <a:rPr lang="zh-CN" altLang="en-US" sz="2000" dirty="0">
                <a:sym typeface="+mn-ea"/>
              </a:rPr>
              <a:t>上的提升高达</a:t>
            </a:r>
            <a:r>
              <a:rPr lang="en-US" altLang="zh-CN" sz="2000" dirty="0">
                <a:sym typeface="+mn-ea"/>
              </a:rPr>
              <a:t>30%</a:t>
            </a: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3. </a:t>
            </a:r>
            <a:r>
              <a:rPr lang="zh-CN" altLang="en-US" sz="2000" dirty="0">
                <a:sym typeface="+mn-ea"/>
              </a:rPr>
              <a:t>后续规划简化优化最后一步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组织细节，并优化一些边缘情况的处理如</a:t>
            </a:r>
            <a:r>
              <a:rPr lang="en-US" altLang="zh-CN" sz="2000" dirty="0" err="1">
                <a:sym typeface="+mn-ea"/>
              </a:rPr>
              <a:t>s.a.b</a:t>
            </a:r>
            <a:r>
              <a:rPr lang="zh-CN" altLang="en-US" sz="2000" dirty="0">
                <a:sym typeface="+mn-ea"/>
              </a:rPr>
              <a:t>等情况，以及增加</a:t>
            </a:r>
            <a:r>
              <a:rPr lang="en-US" altLang="zh-CN" sz="2000" dirty="0">
                <a:sym typeface="+mn-ea"/>
              </a:rPr>
              <a:t>forward / backward</a:t>
            </a:r>
            <a:r>
              <a:rPr lang="zh-CN" altLang="en-US" sz="2000" dirty="0">
                <a:sym typeface="+mn-ea"/>
              </a:rPr>
              <a:t>的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形式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4. </a:t>
            </a:r>
            <a:r>
              <a:rPr lang="zh-CN" altLang="en-US" sz="2000" dirty="0">
                <a:sym typeface="+mn-ea"/>
              </a:rPr>
              <a:t>后续规划产出第一批带高质量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</a:t>
            </a:r>
            <a:r>
              <a:rPr lang="en-US" altLang="zh-CN" sz="2000" dirty="0">
                <a:sym typeface="+mn-ea"/>
              </a:rPr>
              <a:t>python</a:t>
            </a:r>
            <a:r>
              <a:rPr lang="zh-CN" altLang="en-US" sz="2000" dirty="0">
                <a:sym typeface="+mn-ea"/>
              </a:rPr>
              <a:t>数据集</a:t>
            </a:r>
          </a:p>
          <a:p>
            <a:pPr>
              <a:lnSpc>
                <a:spcPct val="150000"/>
              </a:lnSpc>
            </a:pPr>
            <a:r>
              <a:rPr lang="en-US" altLang="zh-CN" sz="2000" dirty="0"/>
              <a:t>5. </a:t>
            </a:r>
            <a:r>
              <a:rPr lang="zh-CN" altLang="en-US" sz="2000" dirty="0"/>
              <a:t>后续生成较为系统的实验方案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B85A2-ABAB-118A-93B8-6E28C76E348F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0083583"/>
              </p:ext>
            </p:extLst>
          </p:nvPr>
        </p:nvGraphicFramePr>
        <p:xfrm>
          <a:off x="190183" y="1090295"/>
          <a:ext cx="11628438" cy="566864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8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0266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进展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生成框架优化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——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边缘信息精简规则实现（如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s.a.b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这种情况）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258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Todo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>
                        <a:lnSpc>
                          <a:spcPct val="150000"/>
                        </a:lnSpc>
                        <a:buAutoNum type="arabicPeriod"/>
                      </a:pP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34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会议纪要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sym typeface="+mn-ea"/>
                        </a:rPr>
                        <a:t>2025</a:t>
                      </a:r>
                      <a:r>
                        <a:rPr lang="en-US" altLang="zh-CN" sz="1600" dirty="0">
                          <a:sym typeface="+mn-ea"/>
                        </a:rPr>
                        <a:t>1105</a:t>
                      </a:r>
                      <a:r>
                        <a:rPr lang="zh-CN" altLang="en-US" sz="1600" dirty="0">
                          <a:sym typeface="+mn-ea"/>
                        </a:rPr>
                        <a:t> 会议纪要 </a:t>
                      </a:r>
                      <a:r>
                        <a:rPr lang="en-US" altLang="zh-CN" sz="1600" dirty="0">
                          <a:sym typeface="+mn-ea"/>
                        </a:rPr>
                        <a:t>6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1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243776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12636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78740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12636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15716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68338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2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-85788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-316928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-250825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-316928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-17240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-161226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  <p:pic>
        <p:nvPicPr>
          <p:cNvPr id="34" name="图片 33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92695" y="1193800"/>
            <a:ext cx="914400" cy="914400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8961755" y="150685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体验不错，后续待优化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8836025" y="2596515"/>
            <a:ext cx="335534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新逻辑：</a:t>
            </a:r>
            <a:br>
              <a:rPr lang="zh-CN" altLang="en-US" sz="2000"/>
            </a:br>
            <a:r>
              <a:rPr lang="zh-CN" altLang="en-US" sz="2000"/>
              <a:t>记录完整的类似</a:t>
            </a:r>
            <a:r>
              <a:rPr lang="en-US" altLang="zh-CN" sz="2000"/>
              <a:t>gdb</a:t>
            </a:r>
            <a:r>
              <a:rPr lang="zh-CN" altLang="en-US" sz="2000"/>
              <a:t>数据</a:t>
            </a:r>
          </a:p>
          <a:p>
            <a:r>
              <a:rPr lang="zh-CN" altLang="en-US" sz="2000"/>
              <a:t>由</a:t>
            </a:r>
            <a:r>
              <a:rPr lang="en-US" altLang="zh-CN" sz="2000"/>
              <a:t>ai</a:t>
            </a:r>
            <a:r>
              <a:rPr lang="zh-CN" altLang="en-US" sz="2000"/>
              <a:t>生成优化后倒叙思维</a:t>
            </a:r>
            <a:r>
              <a:rPr lang="en-US" altLang="zh-CN" sz="2000"/>
              <a:t>cot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8961755" y="4710430"/>
            <a:ext cx="15157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已完善</a:t>
            </a:r>
          </a:p>
        </p:txBody>
      </p:sp>
      <p:pic>
        <p:nvPicPr>
          <p:cNvPr id="38" name="图片 37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55585" y="4605020"/>
            <a:ext cx="914400" cy="914400"/>
          </a:xfrm>
          <a:prstGeom prst="rect">
            <a:avLst/>
          </a:prstGeom>
        </p:spPr>
      </p:pic>
      <p:pic>
        <p:nvPicPr>
          <p:cNvPr id="6" name="图片 5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060305" y="2337435"/>
            <a:ext cx="914400" cy="914400"/>
          </a:xfrm>
          <a:prstGeom prst="rect">
            <a:avLst/>
          </a:prstGeom>
        </p:spPr>
      </p:pic>
      <p:pic>
        <p:nvPicPr>
          <p:cNvPr id="39" name="图片 38" descr="叉号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24365" y="3576320"/>
            <a:ext cx="535940" cy="535940"/>
          </a:xfrm>
          <a:prstGeom prst="rect">
            <a:avLst/>
          </a:prstGeom>
        </p:spPr>
      </p:pic>
      <p:sp>
        <p:nvSpPr>
          <p:cNvPr id="40" name="矩形 39"/>
          <p:cNvSpPr/>
          <p:nvPr/>
        </p:nvSpPr>
        <p:spPr>
          <a:xfrm>
            <a:off x="9109710" y="3260725"/>
            <a:ext cx="2863215" cy="28829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3</a:t>
            </a:r>
            <a:endParaRPr lang="zh-CN" alt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666115" y="1141730"/>
            <a:ext cx="6096000" cy="31692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>
                <a:sym typeface="+mn-ea"/>
              </a:rPr>
              <a:t>上周讨论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生成逻辑：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1. </a:t>
            </a:r>
            <a:r>
              <a:rPr lang="zh-CN" altLang="en-US" sz="2000">
                <a:sym typeface="+mn-ea"/>
              </a:rPr>
              <a:t>代码执行追踪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2. </a:t>
            </a:r>
            <a:r>
              <a:rPr lang="zh-CN" altLang="en-US" sz="2000">
                <a:sym typeface="+mn-ea"/>
              </a:rPr>
              <a:t>智能回溯与剪枝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3. </a:t>
            </a:r>
            <a:r>
              <a:rPr lang="zh-CN" altLang="en-US" sz="2000">
                <a:sym typeface="+mn-ea"/>
              </a:rPr>
              <a:t>模板化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</a:t>
            </a:r>
          </a:p>
          <a:p>
            <a:pPr>
              <a:lnSpc>
                <a:spcPct val="200000"/>
              </a:lnSpc>
            </a:pPr>
            <a:r>
              <a:rPr lang="zh-CN" altLang="en-US" sz="2000" b="1">
                <a:solidFill>
                  <a:srgbClr val="FF0000"/>
                </a:solidFill>
                <a:sym typeface="+mn-ea"/>
              </a:rPr>
              <a:t>去掉</a:t>
            </a:r>
            <a:r>
              <a:rPr lang="en-US" altLang="zh-CN" sz="2000" b="1">
                <a:solidFill>
                  <a:srgbClr val="FF0000"/>
                </a:solidFill>
                <a:sym typeface="+mn-ea"/>
              </a:rPr>
              <a:t>ai</a:t>
            </a:r>
            <a:r>
              <a:rPr lang="zh-CN" altLang="en-US" sz="2000" b="1">
                <a:solidFill>
                  <a:srgbClr val="FF0000"/>
                </a:solidFill>
                <a:sym typeface="+mn-ea"/>
              </a:rPr>
              <a:t>依赖，保证结果的可控性与高质量</a:t>
            </a:r>
          </a:p>
        </p:txBody>
      </p:sp>
      <p:pic>
        <p:nvPicPr>
          <p:cNvPr id="3" name="图片 7" descr="向右箭头">
            <a:extLst>
              <a:ext uri="{FF2B5EF4-FFF2-40B4-BE49-F238E27FC236}">
                <a16:creationId xmlns:a16="http://schemas.microsoft.com/office/drawing/2014/main" id="{79A3EBEA-A2E5-524E-A55E-88D1D754A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9925" y="2332355"/>
            <a:ext cx="691515" cy="69151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53A91586-2819-24EA-AF3C-2CD64F23018C}"/>
              </a:ext>
            </a:extLst>
          </p:cNvPr>
          <p:cNvSpPr txBox="1"/>
          <p:nvPr/>
        </p:nvSpPr>
        <p:spPr>
          <a:xfrm>
            <a:off x="6681667" y="1390221"/>
            <a:ext cx="5042535" cy="24692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dirty="0">
                <a:sym typeface="+mn-ea"/>
              </a:rPr>
              <a:t>相关问题与新需求：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1. </a:t>
            </a:r>
            <a:r>
              <a:rPr lang="zh-CN" altLang="en-US" sz="2000" dirty="0">
                <a:sym typeface="+mn-ea"/>
              </a:rPr>
              <a:t>优化一些边缘情况的处理如</a:t>
            </a:r>
            <a:r>
              <a:rPr lang="en-US" altLang="zh-CN" sz="2000" dirty="0" err="1">
                <a:sym typeface="+mn-ea"/>
              </a:rPr>
              <a:t>s.a.b</a:t>
            </a:r>
            <a:r>
              <a:rPr lang="zh-CN" altLang="en-US" sz="2000" dirty="0">
                <a:sym typeface="+mn-ea"/>
              </a:rPr>
              <a:t>等情况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2. </a:t>
            </a:r>
            <a:r>
              <a:rPr lang="zh-CN" altLang="en-US" sz="2000" dirty="0">
                <a:sym typeface="+mn-ea"/>
              </a:rPr>
              <a:t>尝试有正序和倒叙两种</a:t>
            </a:r>
            <a:r>
              <a:rPr lang="en-US" altLang="zh-CN" sz="2000" dirty="0">
                <a:sym typeface="+mn-ea"/>
              </a:rPr>
              <a:t>cot</a:t>
            </a: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3. </a:t>
            </a:r>
            <a:r>
              <a:rPr lang="zh-CN" altLang="en-US" sz="2000" dirty="0">
                <a:sym typeface="+mn-ea"/>
              </a:rPr>
              <a:t>做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的简化和梳理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2A03-2335-FE72-6AA5-9274954855B5}"/>
              </a:ext>
            </a:extLst>
          </p:cNvPr>
          <p:cNvSpPr txBox="1"/>
          <p:nvPr/>
        </p:nvSpPr>
        <p:spPr>
          <a:xfrm>
            <a:off x="599090" y="969369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问题描述：</a:t>
            </a:r>
            <a:endParaRPr lang="en-US" altLang="zh-CN" sz="18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dirty="0"/>
              <a:t>在之前的框架中，如果存在类似于</a:t>
            </a:r>
            <a:r>
              <a:rPr lang="en-US" altLang="zh-CN" dirty="0"/>
              <a:t>student(age</a:t>
            </a:r>
            <a:r>
              <a:rPr lang="zh-CN" altLang="en-US" dirty="0"/>
              <a:t>、</a:t>
            </a:r>
            <a:r>
              <a:rPr lang="en-US" altLang="zh-CN" dirty="0"/>
              <a:t>name</a:t>
            </a:r>
            <a:r>
              <a:rPr lang="zh-CN" altLang="en-US" dirty="0"/>
              <a:t>、</a:t>
            </a:r>
            <a:r>
              <a:rPr lang="en-US" altLang="zh-CN" dirty="0"/>
              <a:t>score(math</a:t>
            </a:r>
            <a:r>
              <a:rPr lang="zh-CN" altLang="en-US" dirty="0"/>
              <a:t>、</a:t>
            </a:r>
            <a:r>
              <a:rPr lang="en-US" altLang="zh-CN" dirty="0"/>
              <a:t>English))</a:t>
            </a:r>
            <a:r>
              <a:rPr lang="zh-CN" altLang="en-US" dirty="0"/>
              <a:t>这种数据结构；并且我们只需要</a:t>
            </a:r>
            <a:r>
              <a:rPr lang="en-US" altLang="zh-CN" dirty="0"/>
              <a:t>student.score.math</a:t>
            </a:r>
            <a:r>
              <a:rPr lang="zh-CN" altLang="en-US" dirty="0"/>
              <a:t>的数据的时候，</a:t>
            </a:r>
            <a:r>
              <a:rPr lang="en-US" altLang="zh-CN" dirty="0"/>
              <a:t>cot</a:t>
            </a:r>
            <a:r>
              <a:rPr lang="zh-CN" altLang="en-US" dirty="0"/>
              <a:t>生成体系不会做剪枝识别，会完整的记录</a:t>
            </a:r>
            <a:r>
              <a:rPr lang="en-US" altLang="zh-CN" dirty="0"/>
              <a:t>student</a:t>
            </a:r>
            <a:r>
              <a:rPr lang="zh-CN" altLang="en-US" dirty="0"/>
              <a:t>数据结构内容。这个会有两个重大问题：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可能只存了数据类型，没记录真正需要的值，导致了</a:t>
            </a:r>
            <a:r>
              <a:rPr lang="zh-CN" altLang="en-US" dirty="0">
                <a:solidFill>
                  <a:srgbClr val="FF0000"/>
                </a:solidFill>
              </a:rPr>
              <a:t>信息缺失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记录了太多的数据，消耗过多</a:t>
            </a:r>
            <a:r>
              <a:rPr lang="en-US" altLang="zh-CN" dirty="0"/>
              <a:t>token</a:t>
            </a:r>
            <a:r>
              <a:rPr lang="zh-CN" altLang="en-US" dirty="0"/>
              <a:t>记录无用信息，导致了</a:t>
            </a:r>
            <a:r>
              <a:rPr lang="zh-CN" altLang="en-US" dirty="0">
                <a:solidFill>
                  <a:srgbClr val="FF0000"/>
                </a:solidFill>
              </a:rPr>
              <a:t>信息冗余</a:t>
            </a:r>
            <a:endParaRPr lang="en-US" altLang="zh-CN" dirty="0">
              <a:solidFill>
                <a:srgbClr val="FF0000"/>
              </a:solidFill>
            </a:endParaRPr>
          </a:p>
          <a:p>
            <a:pPr>
              <a:lnSpc>
                <a:spcPct val="200000"/>
              </a:lnSpc>
            </a:pPr>
            <a:r>
              <a:rPr lang="zh-CN" altLang="en-US" u="sng" dirty="0"/>
              <a:t>总的来说，它对这种特殊情况，会留下一大堆垃圾信息，反而可能丢弃有用信息，所以亟待改进</a:t>
            </a:r>
            <a:endParaRPr lang="en-US" altLang="zh-CN" u="sng" dirty="0"/>
          </a:p>
        </p:txBody>
      </p:sp>
    </p:spTree>
    <p:extLst>
      <p:ext uri="{BB962C8B-B14F-4D97-AF65-F5344CB8AC3E}">
        <p14:creationId xmlns:p14="http://schemas.microsoft.com/office/powerpoint/2010/main" val="145550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2A03-2335-FE72-6AA5-9274954855B5}"/>
              </a:ext>
            </a:extLst>
          </p:cNvPr>
          <p:cNvSpPr txBox="1"/>
          <p:nvPr/>
        </p:nvSpPr>
        <p:spPr>
          <a:xfrm>
            <a:off x="599090" y="925226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解决方案：</a:t>
            </a:r>
            <a:r>
              <a:rPr lang="zh-CN" altLang="en-US" b="1" dirty="0"/>
              <a:t>延迟格式化 </a:t>
            </a:r>
            <a:r>
              <a:rPr lang="en-US" altLang="zh-CN" b="1" dirty="0"/>
              <a:t>+ </a:t>
            </a:r>
            <a:r>
              <a:rPr lang="zh-CN" altLang="en-US" b="1" dirty="0"/>
              <a:t>基于当前行需求的精简显示</a:t>
            </a:r>
            <a:endParaRPr lang="en-US" altLang="zh-CN" sz="1800" b="1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实现 </a:t>
            </a:r>
            <a:r>
              <a:rPr lang="en-US" altLang="zh-CN" dirty="0"/>
              <a:t>AttributePathCollector</a:t>
            </a:r>
            <a:r>
              <a:rPr lang="zh-CN" altLang="en-US" dirty="0"/>
              <a:t>类</a:t>
            </a:r>
            <a:r>
              <a:rPr lang="en-US" altLang="zh-CN" dirty="0"/>
              <a:t> </a:t>
            </a:r>
            <a:r>
              <a:rPr lang="zh-CN" altLang="en-US" dirty="0"/>
              <a:t>来分析代码中所有属性访问路径（如 </a:t>
            </a:r>
            <a:r>
              <a:rPr lang="en-US" altLang="zh-CN" dirty="0"/>
              <a:t>student.score.math</a:t>
            </a:r>
            <a:r>
              <a:rPr lang="zh-CN" altLang="en-US" dirty="0"/>
              <a:t>），并构建了变量到其使用属性的映射关系。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在剪枝阶段，基于当前行的实际属性访问情况（通过 第一步 分析当前行），动态决定每个对象只保留被访问的属性路径，未被访问的属性用省略号表示。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将</a:t>
            </a:r>
            <a:r>
              <a:rPr lang="en-US" altLang="zh-CN" dirty="0"/>
              <a:t>tracer</a:t>
            </a:r>
            <a:r>
              <a:rPr lang="zh-CN" altLang="en-US" dirty="0"/>
              <a:t>阶段的直接格式化字符串改为先保留为结构化数据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再根据属性访问需求进行选择性格式化，从而既保留了必要信息又避免了冗余。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114728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2A03-2335-FE72-6AA5-9274954855B5}"/>
              </a:ext>
            </a:extLst>
          </p:cNvPr>
          <p:cNvSpPr txBox="1"/>
          <p:nvPr/>
        </p:nvSpPr>
        <p:spPr>
          <a:xfrm>
            <a:off x="599090" y="925226"/>
            <a:ext cx="10682714" cy="5001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效果对比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原先：</a:t>
            </a:r>
            <a:r>
              <a:rPr lang="en-US" altLang="zh-CN" dirty="0"/>
              <a:t>Student(name='Alice', age=18, score=Score(math=95, english=88)) </a:t>
            </a:r>
            <a:r>
              <a:rPr lang="zh-CN" altLang="en-US" dirty="0"/>
              <a:t>全量显示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现在：</a:t>
            </a:r>
            <a:r>
              <a:rPr lang="en-US" altLang="zh-CN" dirty="0"/>
              <a:t>Student(score=Score(math=95)) </a:t>
            </a:r>
            <a:r>
              <a:rPr lang="zh-CN" altLang="en-US" dirty="0"/>
              <a:t>仅显示被访问的 </a:t>
            </a:r>
            <a:r>
              <a:rPr lang="en-US" altLang="zh-CN" dirty="0"/>
              <a:t>score.math</a:t>
            </a:r>
          </a:p>
          <a:p>
            <a:pPr>
              <a:lnSpc>
                <a:spcPct val="200000"/>
              </a:lnSpc>
            </a:pPr>
            <a:r>
              <a:rPr lang="zh-CN" altLang="en-US" b="1" dirty="0"/>
              <a:t>实际应用效用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在复杂类的</a:t>
            </a:r>
            <a:r>
              <a:rPr lang="en-US" altLang="zh-CN" dirty="0"/>
              <a:t>python</a:t>
            </a:r>
            <a:r>
              <a:rPr lang="zh-CN" altLang="en-US" dirty="0"/>
              <a:t>代码中，这个技术方案极大程度地减少了冗余信息，且尽量地保留了有用信息，提升信噪比。但目前在一些很特殊的情况下可能还是清的不够干净，但试了好久没做到最符合预期的效果。但个人认为够用，让我们来看两个例子：</a:t>
            </a:r>
            <a:r>
              <a:rPr lang="en-US" altLang="zh-CN" dirty="0"/>
              <a:t>[ COT</a:t>
            </a:r>
            <a:r>
              <a:rPr lang="zh-CN" altLang="en-US" dirty="0"/>
              <a:t>生成框架 </a:t>
            </a:r>
            <a:r>
              <a:rPr lang="en-US" altLang="zh-CN" dirty="0"/>
              <a:t>- </a:t>
            </a:r>
            <a:r>
              <a:rPr lang="zh-CN" altLang="en-US" dirty="0"/>
              <a:t>测试用例可视化网页 </a:t>
            </a:r>
            <a:r>
              <a:rPr lang="en-US" altLang="zh-CN" dirty="0"/>
              <a:t>]</a:t>
            </a:r>
            <a:r>
              <a:rPr lang="zh-CN" altLang="en-US" dirty="0"/>
              <a:t>（这次做了高亮美化）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36687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2A03-2335-FE72-6AA5-9274954855B5}"/>
              </a:ext>
            </a:extLst>
          </p:cNvPr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8FFEEE-2F34-7DC9-896C-FB3CD211D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8" y="2272352"/>
            <a:ext cx="10972800" cy="4585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806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2A03-2335-FE72-6AA5-9274954855B5}"/>
              </a:ext>
            </a:extLst>
          </p:cNvPr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D6ACC9F-8BE9-5DA2-FCC5-ADC9DB226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78" y="2095581"/>
            <a:ext cx="10953881" cy="445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519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66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02430F2-BE51-6632-8EB3-F905B7082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>
            <a:extLst>
              <a:ext uri="{FF2B5EF4-FFF2-40B4-BE49-F238E27FC236}">
                <a16:creationId xmlns:a16="http://schemas.microsoft.com/office/drawing/2014/main" id="{69ACFFBE-13AC-B7FD-D2C8-1566452326AA}"/>
              </a:ext>
            </a:extLst>
          </p:cNvPr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1D7B43-C742-EB48-025D-E034556BF8B6}"/>
              </a:ext>
            </a:extLst>
          </p:cNvPr>
          <p:cNvSpPr txBox="1"/>
          <p:nvPr/>
        </p:nvSpPr>
        <p:spPr>
          <a:xfrm>
            <a:off x="5931229" y="1106441"/>
            <a:ext cx="5850868" cy="333950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dirty="0">
                <a:sym typeface="+mn-ea"/>
              </a:rPr>
              <a:t>重点问题：</a:t>
            </a:r>
            <a:endParaRPr lang="en-US" altLang="zh-CN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过多的冗余信息：步骤</a:t>
            </a:r>
            <a:r>
              <a:rPr lang="en-US" altLang="zh-CN" dirty="0">
                <a:sym typeface="+mn-ea"/>
              </a:rPr>
              <a:t>x</a:t>
            </a:r>
            <a:r>
              <a:rPr lang="zh-CN" altLang="en-US" dirty="0">
                <a:sym typeface="+mn-ea"/>
              </a:rPr>
              <a:t>、当前状态</a:t>
            </a:r>
            <a:r>
              <a:rPr lang="en-US" altLang="zh-CN" dirty="0">
                <a:sym typeface="+mn-ea"/>
              </a:rPr>
              <a:t>xxx</a:t>
            </a:r>
            <a:r>
              <a:rPr lang="zh-CN" altLang="en-US" dirty="0">
                <a:sym typeface="+mn-ea"/>
              </a:rPr>
              <a:t>，担心当代码过于复杂的时候</a:t>
            </a:r>
            <a:r>
              <a:rPr lang="en-US" altLang="zh-CN" b="1" dirty="0">
                <a:solidFill>
                  <a:srgbClr val="FF0000"/>
                </a:solidFill>
                <a:sym typeface="+mn-ea"/>
              </a:rPr>
              <a:t>cot</a:t>
            </a:r>
            <a:r>
              <a:rPr lang="zh-CN" altLang="en-US" b="1" dirty="0">
                <a:solidFill>
                  <a:srgbClr val="FF0000"/>
                </a:solidFill>
                <a:sym typeface="+mn-ea"/>
              </a:rPr>
              <a:t>太长了、且信噪比低</a:t>
            </a:r>
            <a:endParaRPr lang="en-US" altLang="zh-CN" b="1" dirty="0">
              <a:solidFill>
                <a:srgbClr val="FF0000"/>
              </a:solidFill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希望变成每一行后面紧跟着对其的解释即可，比如</a:t>
            </a:r>
            <a:r>
              <a:rPr lang="en-US" altLang="zh-CN" dirty="0">
                <a:sym typeface="+mn-ea"/>
              </a:rPr>
              <a:t>d=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对应“计算右侧表达式，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需要</a:t>
            </a:r>
            <a:r>
              <a:rPr lang="en-US" altLang="zh-CN" dirty="0">
                <a:sym typeface="+mn-ea"/>
              </a:rPr>
              <a:t>d</a:t>
            </a:r>
            <a:r>
              <a:rPr lang="zh-CN" altLang="en-US" dirty="0">
                <a:sym typeface="+mn-ea"/>
              </a:rPr>
              <a:t>和</a:t>
            </a:r>
            <a:r>
              <a:rPr lang="en-US" altLang="zh-CN" dirty="0">
                <a:sym typeface="+mn-ea"/>
              </a:rPr>
              <a:t>a</a:t>
            </a:r>
            <a:r>
              <a:rPr lang="zh-CN" altLang="en-US" dirty="0">
                <a:sym typeface="+mn-ea"/>
              </a:rPr>
              <a:t>的值，从之前第几行可知，</a:t>
            </a:r>
            <a:r>
              <a:rPr lang="en-US" altLang="zh-CN" dirty="0">
                <a:sym typeface="+mn-ea"/>
              </a:rPr>
              <a:t>d=x</a:t>
            </a:r>
            <a:r>
              <a:rPr lang="zh-CN" altLang="en-US" dirty="0">
                <a:sym typeface="+mn-ea"/>
              </a:rPr>
              <a:t>，</a:t>
            </a:r>
            <a:r>
              <a:rPr lang="en-US" altLang="zh-CN" dirty="0">
                <a:sym typeface="+mn-ea"/>
              </a:rPr>
              <a:t>a=y,</a:t>
            </a:r>
            <a:r>
              <a:rPr lang="zh-CN" altLang="en-US" dirty="0">
                <a:sym typeface="+mn-ea"/>
              </a:rPr>
              <a:t>所以”这种信息</a:t>
            </a:r>
            <a:endParaRPr lang="en-US" altLang="zh-CN" dirty="0">
              <a:sym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783D6BE3-24E4-9922-FD41-2D77233EDEAF}"/>
              </a:ext>
            </a:extLst>
          </p:cNvPr>
          <p:cNvSpPr/>
          <p:nvPr/>
        </p:nvSpPr>
        <p:spPr>
          <a:xfrm rot="5400000">
            <a:off x="7850560" y="4786625"/>
            <a:ext cx="814026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F00FD14-6B5F-54B0-B5D1-5A79BD474558}"/>
              </a:ext>
            </a:extLst>
          </p:cNvPr>
          <p:cNvSpPr txBox="1"/>
          <p:nvPr/>
        </p:nvSpPr>
        <p:spPr>
          <a:xfrm>
            <a:off x="6424170" y="5441547"/>
            <a:ext cx="3659456" cy="728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生成简化与逻辑优化</a:t>
            </a:r>
            <a:endParaRPr lang="en-US" altLang="zh-CN" sz="2400"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74559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66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02430F2-BE51-6632-8EB3-F905B7082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>
            <a:extLst>
              <a:ext uri="{FF2B5EF4-FFF2-40B4-BE49-F238E27FC236}">
                <a16:creationId xmlns:a16="http://schemas.microsoft.com/office/drawing/2014/main" id="{69ACFFBE-13AC-B7FD-D2C8-1566452326AA}"/>
              </a:ext>
            </a:extLst>
          </p:cNvPr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966C91F-987D-CF13-EF64-596CD0BD1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843" y="2033762"/>
            <a:ext cx="6491157" cy="279047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BE0264F-9C79-B584-A128-78EF5620913D}"/>
              </a:ext>
            </a:extLst>
          </p:cNvPr>
          <p:cNvSpPr txBox="1"/>
          <p:nvPr/>
        </p:nvSpPr>
        <p:spPr>
          <a:xfrm>
            <a:off x="4527857" y="5277586"/>
            <a:ext cx="6930521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sym typeface="+mn-ea"/>
              </a:rPr>
              <a:t>从前后对比可以看出，有做不少的简化且没有丢失信息</a:t>
            </a:r>
            <a:endParaRPr lang="en-US" altLang="zh-CN" sz="2000" dirty="0">
              <a:solidFill>
                <a:srgbClr val="FF0000"/>
              </a:solidFill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93309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66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2E65A4F-DAC0-A935-0A0C-F83726F3BAF5}"/>
              </a:ext>
            </a:extLst>
          </p:cNvPr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DD98982-2541-7B5A-74E2-199751C89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C88869B-89CB-6246-5270-FC411ADF3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600" y="820138"/>
            <a:ext cx="5518634" cy="510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7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66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2E65A4F-DAC0-A935-0A0C-F83726F3BAF5}"/>
              </a:ext>
            </a:extLst>
          </p:cNvPr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DD98982-2541-7B5A-74E2-199751C89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999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66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2E65A4F-DAC0-A935-0A0C-F83726F3BAF5}"/>
              </a:ext>
            </a:extLst>
          </p:cNvPr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DD98982-2541-7B5A-74E2-199751C89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1212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20179637,20211662,50039266,2156468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39*519"/>
  <p:tag name="TABLE_ENDDRAG_RECT" val="0*-2*939*51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1407</Words>
  <Application>Microsoft Office PowerPoint</Application>
  <PresentationFormat>宽屏</PresentationFormat>
  <Paragraphs>117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caoye541@gmail.com</cp:lastModifiedBy>
  <cp:revision>58</cp:revision>
  <dcterms:created xsi:type="dcterms:W3CDTF">2025-10-01T20:32:00Z</dcterms:created>
  <dcterms:modified xsi:type="dcterms:W3CDTF">2025-11-06T01:20:52Z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0EF9495A275B44739829F704D14D350D_13</vt:lpwstr>
  </property>
  <property fmtid="{D5CDD505-2E9C-101B-9397-08002B2CF9AE}" pid="3" name="KSOProductBuildVer">
    <vt:lpwstr>2052-12.1.0.19302</vt:lpwstr>
  </property>
</Properties>
</file>