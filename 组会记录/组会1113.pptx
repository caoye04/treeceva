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1"/>
  </p:notesMasterIdLst>
  <p:sldIdLst>
    <p:sldId id="257" r:id="rId3"/>
    <p:sldId id="367" r:id="rId4"/>
    <p:sldId id="327" r:id="rId5"/>
    <p:sldId id="346" r:id="rId6"/>
    <p:sldId id="347" r:id="rId7"/>
    <p:sldId id="348" r:id="rId8"/>
    <p:sldId id="349" r:id="rId9"/>
    <p:sldId id="350" r:id="rId10"/>
    <p:sldId id="351" r:id="rId11"/>
    <p:sldId id="352" r:id="rId12"/>
    <p:sldId id="353" r:id="rId13"/>
    <p:sldId id="360" r:id="rId14"/>
    <p:sldId id="358" r:id="rId15"/>
    <p:sldId id="357" r:id="rId16"/>
    <p:sldId id="361" r:id="rId17"/>
    <p:sldId id="354" r:id="rId18"/>
    <p:sldId id="355" r:id="rId19"/>
    <p:sldId id="356" r:id="rId20"/>
  </p:sldIdLst>
  <p:sldSz cx="12192000" cy="6858000"/>
  <p:notesSz cx="6858000" cy="9144000"/>
  <p:custDataLst>
    <p:tags r:id="rId2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B7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121" d="100"/>
          <a:sy n="121" d="100"/>
        </p:scale>
        <p:origin x="523"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5" Type="http://schemas.openxmlformats.org/officeDocument/2006/relationships/tags" Target="tags/tag12.xml"/><Relationship Id="rId24" Type="http://schemas.openxmlformats.org/officeDocument/2006/relationships/tableStyles" Target="tableStyles.xml"/><Relationship Id="rId23" Type="http://schemas.openxmlformats.org/officeDocument/2006/relationships/viewProps" Target="viewProps.xml"/><Relationship Id="rId22" Type="http://schemas.openxmlformats.org/officeDocument/2006/relationships/presProps" Target="presProps.xml"/><Relationship Id="rId21" Type="http://schemas.openxmlformats.org/officeDocument/2006/relationships/notesMaster" Target="notesMasters/notesMaster1.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endParaRPr lang="zh-CN" altLang="en-US"/>
          </a:p>
        </p:txBody>
      </p:sp>
      <p:sp>
        <p:nvSpPr>
          <p:cNvPr id="4" name="日期占位符 3"/>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日期占位符 4"/>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7" name="日期占位符 6"/>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7840E2-13A5-46A9-A265-C77FF1EECC77}"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79686F9-7E47-4853-B8F4-FBCF71CB48DC}"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8.png"/><Relationship Id="rId1"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0.png"/><Relationship Id="rId1"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3.png"/><Relationship Id="rId1" Type="http://schemas.openxmlformats.org/officeDocument/2006/relationships/image" Target="../media/image12.png"/></Relationships>
</file>

<file path=ppt/slides/_rels/slide13.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2.png"/><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image" Target="../media/image14.png"/></Relationships>
</file>

<file path=ppt/slides/_rels/slide14.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1.png"/></Relationships>
</file>

<file path=ppt/slides/_rels/slide18.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2" Type="http://schemas.openxmlformats.org/officeDocument/2006/relationships/slideLayout" Target="../slideLayouts/slideLayout1.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599090" y="302697"/>
            <a:ext cx="6050054" cy="584775"/>
          </a:xfrm>
          <a:prstGeom prst="rect">
            <a:avLst/>
          </a:prstGeom>
          <a:noFill/>
        </p:spPr>
        <p:txBody>
          <a:bodyPr wrap="none" rtlCol="0">
            <a:spAutoFit/>
          </a:bodyPr>
          <a:lstStyle/>
          <a:p>
            <a:r>
              <a:rPr lang="zh-CN" altLang="en-US" sz="3200" dirty="0"/>
              <a:t>上周回顾：</a:t>
            </a:r>
            <a:r>
              <a:rPr lang="zh-CN" altLang="en-US" sz="3200" dirty="0">
                <a:sym typeface="+mn-ea"/>
              </a:rPr>
              <a:t>2025</a:t>
            </a:r>
            <a:r>
              <a:rPr lang="en-US" altLang="zh-CN" sz="3200" dirty="0">
                <a:sym typeface="+mn-ea"/>
              </a:rPr>
              <a:t>1106</a:t>
            </a:r>
            <a:r>
              <a:rPr lang="zh-CN" altLang="en-US" sz="3200" dirty="0">
                <a:sym typeface="+mn-ea"/>
              </a:rPr>
              <a:t> 会议纪要 </a:t>
            </a:r>
            <a:r>
              <a:rPr lang="en-US" altLang="zh-CN" sz="3200" dirty="0">
                <a:sym typeface="+mn-ea"/>
              </a:rPr>
              <a:t>6</a:t>
            </a:r>
            <a:endParaRPr lang="en-US" altLang="zh-CN" sz="3200" dirty="0"/>
          </a:p>
        </p:txBody>
      </p:sp>
      <p:sp>
        <p:nvSpPr>
          <p:cNvPr id="4" name="文本框 3"/>
          <p:cNvSpPr txBox="1"/>
          <p:nvPr/>
        </p:nvSpPr>
        <p:spPr>
          <a:xfrm>
            <a:off x="186690" y="1167130"/>
            <a:ext cx="11818620" cy="4707890"/>
          </a:xfrm>
          <a:prstGeom prst="rect">
            <a:avLst/>
          </a:prstGeom>
          <a:noFill/>
        </p:spPr>
        <p:txBody>
          <a:bodyPr wrap="square">
            <a:spAutoFit/>
          </a:bodyPr>
          <a:lstStyle/>
          <a:p>
            <a:pPr marL="457200" indent="-457200">
              <a:lnSpc>
                <a:spcPct val="250000"/>
              </a:lnSpc>
              <a:buAutoNum type="arabicPeriod"/>
            </a:pPr>
            <a:r>
              <a:rPr lang="zh-CN" altLang="en-US" sz="2000" dirty="0">
                <a:sym typeface="+mn-ea"/>
              </a:rPr>
              <a:t>分享了</a:t>
            </a:r>
            <a:r>
              <a:rPr lang="en-US" altLang="zh-CN" sz="2000" dirty="0">
                <a:sym typeface="+mn-ea"/>
              </a:rPr>
              <a:t>COT</a:t>
            </a:r>
            <a:r>
              <a:rPr lang="zh-CN" altLang="en-US" sz="2000" dirty="0">
                <a:sym typeface="+mn-ea"/>
              </a:rPr>
              <a:t>生成框架优化：边缘信息精简规则实现；做</a:t>
            </a:r>
            <a:r>
              <a:rPr lang="en-US" altLang="zh-CN" sz="2000" dirty="0">
                <a:sym typeface="+mn-ea"/>
              </a:rPr>
              <a:t>cot</a:t>
            </a:r>
            <a:r>
              <a:rPr lang="zh-CN" altLang="en-US" sz="2000" dirty="0">
                <a:sym typeface="+mn-ea"/>
              </a:rPr>
              <a:t>的简化和梳理；产出了正序和倒叙两种</a:t>
            </a:r>
            <a:r>
              <a:rPr lang="en-US" altLang="zh-CN" sz="2000" dirty="0">
                <a:sym typeface="+mn-ea"/>
              </a:rPr>
              <a:t>cot</a:t>
            </a:r>
            <a:endParaRPr lang="en-US" altLang="zh-CN" sz="2000" dirty="0">
              <a:sym typeface="+mn-ea"/>
            </a:endParaRPr>
          </a:p>
          <a:p>
            <a:pPr marL="457200" indent="-457200">
              <a:lnSpc>
                <a:spcPct val="250000"/>
              </a:lnSpc>
              <a:buAutoNum type="arabicPeriod"/>
            </a:pPr>
            <a:r>
              <a:rPr lang="zh-CN" altLang="en-US" sz="2000" dirty="0">
                <a:sym typeface="+mn-ea"/>
              </a:rPr>
              <a:t>重构</a:t>
            </a:r>
            <a:r>
              <a:rPr lang="en-US" altLang="zh-CN" sz="2000" dirty="0">
                <a:sym typeface="+mn-ea"/>
              </a:rPr>
              <a:t>SURGE</a:t>
            </a:r>
            <a:r>
              <a:rPr lang="zh-CN" altLang="en-US" sz="2000" dirty="0">
                <a:sym typeface="+mn-ea"/>
              </a:rPr>
              <a:t>评估代码，指标采用</a:t>
            </a:r>
            <a:r>
              <a:rPr lang="en-US" altLang="zh-CN" sz="2000" dirty="0">
                <a:sym typeface="+mn-ea"/>
              </a:rPr>
              <a:t>acc</a:t>
            </a:r>
            <a:r>
              <a:rPr lang="zh-CN" altLang="en-US" sz="2000" dirty="0">
                <a:sym typeface="+mn-ea"/>
              </a:rPr>
              <a:t>，后续改为</a:t>
            </a:r>
            <a:r>
              <a:rPr lang="en-US" altLang="zh-CN" sz="2000" dirty="0">
                <a:sym typeface="+mn-ea"/>
              </a:rPr>
              <a:t>pass@k</a:t>
            </a:r>
            <a:endParaRPr lang="en-US" altLang="zh-CN" sz="2000" dirty="0">
              <a:sym typeface="+mn-ea"/>
            </a:endParaRPr>
          </a:p>
          <a:p>
            <a:pPr marL="457200" indent="-457200">
              <a:lnSpc>
                <a:spcPct val="250000"/>
              </a:lnSpc>
              <a:buAutoNum type="arabicPeriod"/>
            </a:pPr>
            <a:r>
              <a:rPr lang="zh-CN" altLang="en-US" sz="2000" dirty="0">
                <a:sym typeface="+mn-ea"/>
              </a:rPr>
              <a:t>分享了目前设计的六个实验方案：对比不同训练集、不同微调方法对不同架构模型的提升和消融实验</a:t>
            </a:r>
            <a:r>
              <a:rPr lang="en-US" altLang="zh-CN" sz="2000" dirty="0">
                <a:sym typeface="+mn-ea"/>
              </a:rPr>
              <a:t> </a:t>
            </a:r>
            <a:endParaRPr lang="en-US" altLang="zh-CN" sz="2000" dirty="0">
              <a:sym typeface="+mn-ea"/>
            </a:endParaRPr>
          </a:p>
          <a:p>
            <a:pPr marL="457200" indent="-457200">
              <a:lnSpc>
                <a:spcPct val="250000"/>
              </a:lnSpc>
              <a:buAutoNum type="arabicPeriod"/>
            </a:pPr>
            <a:r>
              <a:rPr lang="zh-CN" altLang="en-US" sz="2000" dirty="0">
                <a:sym typeface="+mn-ea"/>
              </a:rPr>
              <a:t>后续需要再优化</a:t>
            </a:r>
            <a:r>
              <a:rPr lang="en-US" altLang="zh-CN" sz="2000" dirty="0">
                <a:sym typeface="+mn-ea"/>
              </a:rPr>
              <a:t>cot</a:t>
            </a:r>
            <a:r>
              <a:rPr lang="zh-CN" altLang="en-US" sz="2000" dirty="0">
                <a:sym typeface="+mn-ea"/>
              </a:rPr>
              <a:t>使其更专业化、需考虑过长循环状况、更换倒叙思路、做中英双语</a:t>
            </a:r>
            <a:endParaRPr lang="zh-CN" altLang="en-US" sz="2000" dirty="0">
              <a:sym typeface="+mn-ea"/>
            </a:endParaRPr>
          </a:p>
          <a:p>
            <a:pPr marL="457200" indent="-457200">
              <a:lnSpc>
                <a:spcPct val="250000"/>
              </a:lnSpc>
              <a:buAutoNum type="arabicPeriod"/>
            </a:pPr>
            <a:r>
              <a:rPr lang="zh-CN" altLang="en-US" sz="2000" dirty="0">
                <a:sym typeface="+mn-ea"/>
              </a:rPr>
              <a:t>下周需要将</a:t>
            </a:r>
            <a:r>
              <a:rPr lang="en-US" altLang="zh-CN" sz="2000" dirty="0">
                <a:sym typeface="+mn-ea"/>
              </a:rPr>
              <a:t>cot</a:t>
            </a:r>
            <a:r>
              <a:rPr lang="zh-CN" altLang="en-US" sz="2000" dirty="0">
                <a:sym typeface="+mn-ea"/>
              </a:rPr>
              <a:t>框架与增广框架拼接起来，并产出足量的带正序</a:t>
            </a:r>
            <a:r>
              <a:rPr lang="en-US" altLang="zh-CN" sz="2000" dirty="0">
                <a:sym typeface="+mn-ea"/>
              </a:rPr>
              <a:t>cot</a:t>
            </a:r>
            <a:r>
              <a:rPr lang="zh-CN" altLang="en-US" sz="2000" dirty="0">
                <a:sym typeface="+mn-ea"/>
              </a:rPr>
              <a:t>的数据集（</a:t>
            </a:r>
            <a:r>
              <a:rPr lang="en-US" altLang="zh-CN" sz="2000" dirty="0">
                <a:sym typeface="+mn-ea"/>
              </a:rPr>
              <a:t>500</a:t>
            </a:r>
            <a:r>
              <a:rPr lang="zh-CN" altLang="en-US" sz="2000" dirty="0">
                <a:sym typeface="+mn-ea"/>
              </a:rPr>
              <a:t>）来进行实验</a:t>
            </a:r>
            <a:endParaRPr lang="zh-CN" altLang="en-US" sz="2000" dirty="0">
              <a:sym typeface="+mn-ea"/>
            </a:endParaRPr>
          </a:p>
          <a:p>
            <a:pPr marL="457200" indent="-457200">
              <a:lnSpc>
                <a:spcPct val="250000"/>
              </a:lnSpc>
              <a:buAutoNum type="arabicPeriod"/>
            </a:pPr>
            <a:r>
              <a:rPr lang="zh-CN" altLang="en-US" sz="2000" dirty="0">
                <a:sym typeface="+mn-ea"/>
              </a:rPr>
              <a:t>下周使用带正序的数据集进行微调，并进行评估</a:t>
            </a:r>
            <a:endParaRPr lang="zh-CN" altLang="en-US" sz="2000" dirty="0">
              <a:sym typeface="+mn-e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599090" y="302697"/>
            <a:ext cx="5988685" cy="583565"/>
          </a:xfrm>
          <a:prstGeom prst="rect">
            <a:avLst/>
          </a:prstGeom>
          <a:noFill/>
        </p:spPr>
        <p:txBody>
          <a:bodyPr wrap="none" rtlCol="0">
            <a:spAutoFit/>
          </a:bodyPr>
          <a:lstStyle/>
          <a:p>
            <a:r>
              <a:rPr lang="zh-CN" altLang="en-US" sz="3200" dirty="0"/>
              <a:t>本周记录：</a:t>
            </a:r>
            <a:r>
              <a:rPr lang="zh-CN" altLang="en-US" sz="3200" dirty="0">
                <a:sym typeface="+mn-ea"/>
              </a:rPr>
              <a:t>2025</a:t>
            </a:r>
            <a:r>
              <a:rPr lang="en-US" altLang="zh-CN" sz="3200" dirty="0">
                <a:sym typeface="+mn-ea"/>
              </a:rPr>
              <a:t>1113</a:t>
            </a:r>
            <a:r>
              <a:rPr lang="zh-CN" altLang="en-US" sz="3200" dirty="0">
                <a:sym typeface="+mn-ea"/>
              </a:rPr>
              <a:t> 会议纪要 </a:t>
            </a:r>
            <a:r>
              <a:rPr lang="en-US" altLang="zh-CN" sz="3200" dirty="0">
                <a:sym typeface="+mn-ea"/>
              </a:rPr>
              <a:t>7</a:t>
            </a:r>
            <a:endParaRPr lang="en-US" altLang="zh-CN" sz="3200" dirty="0">
              <a:sym typeface="+mn-ea"/>
            </a:endParaRPr>
          </a:p>
        </p:txBody>
      </p:sp>
      <p:sp>
        <p:nvSpPr>
          <p:cNvPr id="4" name="文本框 3"/>
          <p:cNvSpPr txBox="1"/>
          <p:nvPr/>
        </p:nvSpPr>
        <p:spPr>
          <a:xfrm>
            <a:off x="186690" y="1167130"/>
            <a:ext cx="11818620" cy="4246245"/>
          </a:xfrm>
          <a:prstGeom prst="rect">
            <a:avLst/>
          </a:prstGeom>
          <a:noFill/>
        </p:spPr>
        <p:txBody>
          <a:bodyPr wrap="square">
            <a:spAutoFit/>
          </a:bodyPr>
          <a:lstStyle/>
          <a:p>
            <a:pPr marL="457200" indent="-457200" algn="l">
              <a:lnSpc>
                <a:spcPct val="150000"/>
              </a:lnSpc>
              <a:buAutoNum type="arabicPeriod"/>
            </a:pPr>
            <a:r>
              <a:rPr lang="zh-CN" altLang="en-US" sz="2000" dirty="0">
                <a:sym typeface="+mn-ea"/>
              </a:rPr>
              <a:t>优化</a:t>
            </a:r>
            <a:r>
              <a:rPr lang="en-US" altLang="zh-CN" sz="2000" dirty="0">
                <a:sym typeface="+mn-ea"/>
              </a:rPr>
              <a:t>cot</a:t>
            </a:r>
            <a:r>
              <a:rPr lang="zh-CN" altLang="en-US" sz="2000" dirty="0">
                <a:sym typeface="+mn-ea"/>
              </a:rPr>
              <a:t>语言结构，做了中英可选切换重构；迁移并接入了目前的</a:t>
            </a:r>
            <a:r>
              <a:rPr lang="en-US" altLang="zh-CN" sz="2000" dirty="0">
                <a:sym typeface="+mn-ea"/>
              </a:rPr>
              <a:t>cot</a:t>
            </a:r>
            <a:r>
              <a:rPr lang="zh-CN" altLang="en-US" sz="2000" dirty="0">
                <a:sym typeface="+mn-ea"/>
              </a:rPr>
              <a:t>生成框架到数据集增广架构；生产了</a:t>
            </a:r>
            <a:r>
              <a:rPr lang="en-US" altLang="zh-CN" sz="2000" dirty="0">
                <a:sym typeface="+mn-ea"/>
              </a:rPr>
              <a:t>500</a:t>
            </a:r>
            <a:r>
              <a:rPr lang="zh-CN" altLang="en-US" sz="2000" dirty="0">
                <a:sym typeface="+mn-ea"/>
              </a:rPr>
              <a:t>个新的粗糙的带</a:t>
            </a:r>
            <a:r>
              <a:rPr lang="en-US" altLang="zh-CN" sz="2000" dirty="0">
                <a:sym typeface="+mn-ea"/>
              </a:rPr>
              <a:t>cot</a:t>
            </a:r>
            <a:r>
              <a:rPr lang="zh-CN" altLang="en-US" sz="2000" dirty="0">
                <a:sym typeface="+mn-ea"/>
              </a:rPr>
              <a:t>的</a:t>
            </a:r>
            <a:r>
              <a:rPr lang="en-US" altLang="zh-CN" sz="2000" dirty="0">
                <a:sym typeface="+mn-ea"/>
              </a:rPr>
              <a:t>python</a:t>
            </a:r>
            <a:r>
              <a:rPr lang="zh-CN" altLang="en-US" sz="2000" dirty="0">
                <a:sym typeface="+mn-ea"/>
              </a:rPr>
              <a:t>数据集</a:t>
            </a:r>
            <a:endParaRPr lang="zh-CN" altLang="en-US" sz="2000" dirty="0">
              <a:sym typeface="+mn-ea"/>
            </a:endParaRPr>
          </a:p>
          <a:p>
            <a:pPr marL="457200" indent="-457200" algn="l">
              <a:lnSpc>
                <a:spcPct val="150000"/>
              </a:lnSpc>
              <a:buAutoNum type="arabicPeriod"/>
            </a:pPr>
            <a:r>
              <a:rPr lang="zh-CN" altLang="en-US" sz="2000" dirty="0">
                <a:sym typeface="+mn-ea"/>
              </a:rPr>
              <a:t>尝试在独立</a:t>
            </a:r>
            <a:r>
              <a:rPr lang="en-US" altLang="zh-CN" sz="2000" dirty="0">
                <a:sym typeface="+mn-ea"/>
              </a:rPr>
              <a:t>cot</a:t>
            </a:r>
            <a:r>
              <a:rPr lang="zh-CN" altLang="en-US" sz="2000" dirty="0">
                <a:sym typeface="+mn-ea"/>
              </a:rPr>
              <a:t>项目里实现了</a:t>
            </a:r>
            <a:r>
              <a:rPr lang="en-US" altLang="zh-CN" sz="2000" dirty="0">
                <a:sym typeface="+mn-ea"/>
              </a:rPr>
              <a:t>ai+</a:t>
            </a:r>
            <a:r>
              <a:rPr lang="zh-CN" altLang="en-US" sz="2000" dirty="0">
                <a:sym typeface="+mn-ea"/>
              </a:rPr>
              <a:t>倒叙</a:t>
            </a:r>
            <a:r>
              <a:rPr lang="en-US" altLang="zh-CN" sz="2000" dirty="0">
                <a:sym typeface="+mn-ea"/>
              </a:rPr>
              <a:t>cot</a:t>
            </a:r>
            <a:r>
              <a:rPr lang="zh-CN" altLang="en-US" sz="2000" dirty="0">
                <a:sym typeface="+mn-ea"/>
              </a:rPr>
              <a:t>的能力</a:t>
            </a:r>
            <a:endParaRPr lang="zh-CN" altLang="en-US" sz="2000" dirty="0">
              <a:sym typeface="+mn-ea"/>
            </a:endParaRPr>
          </a:p>
          <a:p>
            <a:pPr marL="457200" indent="-457200" algn="l">
              <a:lnSpc>
                <a:spcPct val="150000"/>
              </a:lnSpc>
              <a:buAutoNum type="arabicPeriod"/>
            </a:pPr>
            <a:r>
              <a:rPr lang="zh-CN" altLang="en-US" sz="2000" dirty="0">
                <a:sym typeface="+mn-ea"/>
              </a:rPr>
              <a:t>分享了一个和我们思路相近的一个工作：</a:t>
            </a:r>
            <a:r>
              <a:rPr lang="en-US" altLang="zh-CN" sz="2000" dirty="0">
                <a:sym typeface="+mn-ea"/>
              </a:rPr>
              <a:t>code+</a:t>
            </a:r>
            <a:r>
              <a:rPr lang="zh-CN" altLang="en-US" sz="2000" dirty="0">
                <a:sym typeface="+mn-ea"/>
              </a:rPr>
              <a:t>执行轨迹</a:t>
            </a:r>
            <a:r>
              <a:rPr lang="en-US" altLang="zh-CN" sz="2000" dirty="0">
                <a:sym typeface="+mn-ea"/>
              </a:rPr>
              <a:t>—&gt;AI—&gt;</a:t>
            </a:r>
            <a:r>
              <a:rPr lang="zh-CN" altLang="en-US" sz="2000" dirty="0">
                <a:sym typeface="+mn-ea"/>
              </a:rPr>
              <a:t>自然语言</a:t>
            </a:r>
            <a:r>
              <a:rPr lang="en-US" altLang="zh-CN" sz="2000" dirty="0">
                <a:sym typeface="+mn-ea"/>
              </a:rPr>
              <a:t>cot</a:t>
            </a:r>
            <a:endParaRPr lang="en-US" altLang="zh-CN" sz="2000" dirty="0">
              <a:sym typeface="+mn-ea"/>
            </a:endParaRPr>
          </a:p>
          <a:p>
            <a:pPr marL="457200" indent="-457200" algn="l">
              <a:lnSpc>
                <a:spcPct val="150000"/>
              </a:lnSpc>
              <a:buAutoNum type="arabicPeriod"/>
            </a:pPr>
            <a:r>
              <a:rPr lang="zh-CN" altLang="en-US" sz="2000" dirty="0">
                <a:sym typeface="+mn-ea"/>
              </a:rPr>
              <a:t>框架迁移的时候有的功能没耦合好，</a:t>
            </a:r>
            <a:r>
              <a:rPr lang="zh-CN" altLang="en-US" sz="2000" dirty="0">
                <a:sym typeface="+mn-ea"/>
              </a:rPr>
              <a:t>本周再优化；并逐个例子做细节优化</a:t>
            </a:r>
            <a:endParaRPr lang="zh-CN" altLang="en-US" sz="2000" b="0" dirty="0">
              <a:solidFill>
                <a:schemeClr val="tx1"/>
              </a:solidFill>
            </a:endParaRPr>
          </a:p>
          <a:p>
            <a:pPr marL="457200" indent="-457200" algn="l">
              <a:lnSpc>
                <a:spcPct val="150000"/>
              </a:lnSpc>
              <a:buAutoNum type="arabicPeriod"/>
            </a:pPr>
            <a:r>
              <a:rPr lang="zh-CN" altLang="en-US" sz="2000" dirty="0">
                <a:sym typeface="+mn-ea"/>
              </a:rPr>
              <a:t>重构</a:t>
            </a:r>
            <a:r>
              <a:rPr lang="en-US" altLang="zh-CN" sz="2000" dirty="0">
                <a:sym typeface="+mn-ea"/>
              </a:rPr>
              <a:t>SURGE</a:t>
            </a:r>
            <a:r>
              <a:rPr lang="zh-CN" altLang="en-US" sz="2000" dirty="0">
                <a:sym typeface="+mn-ea"/>
              </a:rPr>
              <a:t>评估</a:t>
            </a:r>
            <a:r>
              <a:rPr lang="zh-CN" altLang="en-US" sz="2000" dirty="0">
                <a:sym typeface="+mn-ea"/>
              </a:rPr>
              <a:t>代码，对</a:t>
            </a:r>
            <a:r>
              <a:rPr lang="zh-CN" altLang="en-US" sz="2000" dirty="0">
                <a:sym typeface="+mn-ea"/>
              </a:rPr>
              <a:t>粗糙的带</a:t>
            </a:r>
            <a:r>
              <a:rPr lang="en-US" altLang="zh-CN" sz="2000" dirty="0">
                <a:sym typeface="+mn-ea"/>
              </a:rPr>
              <a:t>cot</a:t>
            </a:r>
            <a:r>
              <a:rPr lang="zh-CN" altLang="en-US" sz="2000" dirty="0">
                <a:sym typeface="+mn-ea"/>
              </a:rPr>
              <a:t>的</a:t>
            </a:r>
            <a:r>
              <a:rPr lang="en-US" altLang="zh-CN" sz="2000" dirty="0">
                <a:sym typeface="+mn-ea"/>
              </a:rPr>
              <a:t>python</a:t>
            </a:r>
            <a:r>
              <a:rPr lang="zh-CN" altLang="en-US" sz="2000" dirty="0">
                <a:sym typeface="+mn-ea"/>
              </a:rPr>
              <a:t>数据集进行评估，发现效果与直接</a:t>
            </a:r>
            <a:r>
              <a:rPr lang="en-US" altLang="zh-CN" sz="2000" dirty="0">
                <a:sym typeface="+mn-ea"/>
              </a:rPr>
              <a:t>ai-cot</a:t>
            </a:r>
            <a:r>
              <a:rPr lang="zh-CN" altLang="en-US" sz="2000" dirty="0">
                <a:sym typeface="+mn-ea"/>
              </a:rPr>
              <a:t>差不多</a:t>
            </a:r>
            <a:endParaRPr lang="zh-CN" altLang="en-US" sz="2000" dirty="0">
              <a:sym typeface="+mn-ea"/>
            </a:endParaRPr>
          </a:p>
          <a:p>
            <a:pPr marL="457200" indent="-457200" algn="l">
              <a:lnSpc>
                <a:spcPct val="150000"/>
              </a:lnSpc>
              <a:buAutoNum type="arabicPeriod"/>
            </a:pPr>
            <a:r>
              <a:rPr lang="zh-CN" altLang="en-US" sz="2000" dirty="0">
                <a:sym typeface="+mn-ea"/>
              </a:rPr>
              <a:t>分享两个新的评估基准：</a:t>
            </a:r>
            <a:r>
              <a:rPr lang="en-US" altLang="zh-CN" sz="2000" dirty="0">
                <a:sym typeface="+mn-ea"/>
              </a:rPr>
              <a:t>CRUXEval-X</a:t>
            </a:r>
            <a:r>
              <a:rPr lang="zh-CN" altLang="en-US" sz="2000" dirty="0">
                <a:sym typeface="+mn-ea"/>
              </a:rPr>
              <a:t>和</a:t>
            </a:r>
            <a:r>
              <a:rPr lang="en-US" altLang="zh-CN" sz="2000" dirty="0">
                <a:sym typeface="+mn-ea"/>
              </a:rPr>
              <a:t>CoRe</a:t>
            </a:r>
            <a:r>
              <a:rPr lang="zh-CN" altLang="en-US" sz="2000" dirty="0">
                <a:sym typeface="+mn-ea"/>
              </a:rPr>
              <a:t>（分析</a:t>
            </a:r>
            <a:r>
              <a:rPr lang="zh-CN" altLang="en-US" sz="2000" dirty="0">
                <a:sym typeface="+mn-ea"/>
              </a:rPr>
              <a:t>信息流）</a:t>
            </a:r>
            <a:endParaRPr lang="zh-CN" altLang="en-US" sz="2000" dirty="0">
              <a:sym typeface="+mn-ea"/>
            </a:endParaRPr>
          </a:p>
          <a:p>
            <a:pPr marL="457200" indent="-457200" algn="l">
              <a:lnSpc>
                <a:spcPct val="150000"/>
              </a:lnSpc>
              <a:buAutoNum type="arabicPeriod"/>
            </a:pPr>
            <a:r>
              <a:rPr lang="zh-CN" altLang="en-US" sz="2000" dirty="0">
                <a:sym typeface="+mn-ea"/>
              </a:rPr>
              <a:t>本周尝试产出三类</a:t>
            </a:r>
            <a:r>
              <a:rPr lang="en-US" altLang="zh-CN" sz="2000" dirty="0">
                <a:sym typeface="+mn-ea"/>
              </a:rPr>
              <a:t>cot</a:t>
            </a:r>
            <a:r>
              <a:rPr lang="zh-CN" altLang="en-US" sz="2000" dirty="0">
                <a:sym typeface="+mn-ea"/>
              </a:rPr>
              <a:t>的数据集：</a:t>
            </a:r>
            <a:r>
              <a:rPr lang="en-US" altLang="zh-CN" sz="2000" dirty="0">
                <a:sym typeface="+mn-ea"/>
              </a:rPr>
              <a:t>simple-ai</a:t>
            </a:r>
            <a:r>
              <a:rPr lang="zh-CN" altLang="en-US" sz="2000" dirty="0">
                <a:sym typeface="+mn-ea"/>
              </a:rPr>
              <a:t>；</a:t>
            </a:r>
            <a:r>
              <a:rPr lang="en-US" altLang="zh-CN" sz="2000" dirty="0">
                <a:sym typeface="+mn-ea"/>
              </a:rPr>
              <a:t>reduced-format</a:t>
            </a:r>
            <a:r>
              <a:rPr lang="zh-CN" altLang="en-US" sz="2000" dirty="0">
                <a:sym typeface="+mn-ea"/>
              </a:rPr>
              <a:t>；</a:t>
            </a:r>
            <a:r>
              <a:rPr lang="en-US" altLang="zh-CN" sz="2000" dirty="0">
                <a:sym typeface="+mn-ea"/>
              </a:rPr>
              <a:t>reduced-natural</a:t>
            </a:r>
            <a:r>
              <a:rPr lang="zh-CN" altLang="en-US" sz="2000" dirty="0">
                <a:sym typeface="+mn-ea"/>
              </a:rPr>
              <a:t>。且</a:t>
            </a:r>
            <a:r>
              <a:rPr lang="zh-CN" altLang="en-US" sz="2000" dirty="0">
                <a:sym typeface="+mn-ea"/>
              </a:rPr>
              <a:t>足量</a:t>
            </a:r>
            <a:endParaRPr lang="zh-CN" altLang="en-US" sz="2000" dirty="0">
              <a:sym typeface="+mn-ea"/>
            </a:endParaRPr>
          </a:p>
          <a:p>
            <a:pPr marL="457200" indent="-457200" algn="l">
              <a:lnSpc>
                <a:spcPct val="150000"/>
              </a:lnSpc>
              <a:buAutoNum type="arabicPeriod"/>
            </a:pPr>
            <a:r>
              <a:rPr lang="zh-CN" altLang="en-US" sz="2000" dirty="0">
                <a:sym typeface="+mn-ea"/>
              </a:rPr>
              <a:t>本周尝试跑通</a:t>
            </a:r>
            <a:r>
              <a:rPr lang="en-US" altLang="zh-CN" sz="2000" dirty="0">
                <a:sym typeface="+mn-ea"/>
              </a:rPr>
              <a:t>CoRe</a:t>
            </a:r>
            <a:r>
              <a:rPr lang="zh-CN" altLang="en-US" sz="2000" dirty="0">
                <a:sym typeface="+mn-ea"/>
              </a:rPr>
              <a:t>评估基准，并用新的训练数据进行</a:t>
            </a:r>
            <a:r>
              <a:rPr lang="zh-CN" altLang="en-US" sz="2000" dirty="0">
                <a:sym typeface="+mn-ea"/>
              </a:rPr>
              <a:t>微调</a:t>
            </a:r>
            <a:endParaRPr lang="zh-CN" altLang="en-US" sz="2000" dirty="0">
              <a:sym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599090" y="302697"/>
            <a:ext cx="2646878" cy="584775"/>
          </a:xfrm>
          <a:prstGeom prst="rect">
            <a:avLst/>
          </a:prstGeom>
          <a:noFill/>
        </p:spPr>
        <p:txBody>
          <a:bodyPr wrap="none" rtlCol="0">
            <a:spAutoFit/>
          </a:bodyPr>
          <a:lstStyle/>
          <a:p>
            <a:r>
              <a:rPr lang="zh-CN" altLang="en-US" sz="3200" dirty="0"/>
              <a:t>本周内容总结</a:t>
            </a:r>
            <a:endParaRPr lang="zh-CN" altLang="en-US" sz="3200" dirty="0"/>
          </a:p>
        </p:txBody>
      </p:sp>
      <p:graphicFrame>
        <p:nvGraphicFramePr>
          <p:cNvPr id="3" name="表格 2"/>
          <p:cNvGraphicFramePr>
            <a:graphicFrameLocks noGrp="1"/>
          </p:cNvGraphicFramePr>
          <p:nvPr>
            <p:custDataLst>
              <p:tags r:id="rId1"/>
            </p:custDataLst>
          </p:nvPr>
        </p:nvGraphicFramePr>
        <p:xfrm>
          <a:off x="190500" y="1118235"/>
          <a:ext cx="11951970" cy="5652770"/>
        </p:xfrm>
        <a:graphic>
          <a:graphicData uri="http://schemas.openxmlformats.org/drawingml/2006/table">
            <a:tbl>
              <a:tblPr firstRow="1" bandRow="1">
                <a:tableStyleId>{073A0DAA-6AF3-43AB-8588-CEC1D06C72B9}</a:tableStyleId>
              </a:tblPr>
              <a:tblGrid>
                <a:gridCol w="1539875"/>
                <a:gridCol w="10412095"/>
              </a:tblGrid>
              <a:tr h="2148840">
                <a:tc>
                  <a:txBody>
                    <a:bodyPr/>
                    <a:lstStyle/>
                    <a:p>
                      <a:pPr algn="ctr"/>
                      <a:r>
                        <a:rPr lang="zh-CN" altLang="en-US" sz="1800" b="0" dirty="0">
                          <a:solidFill>
                            <a:schemeClr val="tx1"/>
                          </a:solidFill>
                        </a:rPr>
                        <a:t>进展</a:t>
                      </a:r>
                      <a:endParaRPr lang="zh-CN" altLang="en-US" sz="18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342900" indent="-342900" algn="l">
                        <a:lnSpc>
                          <a:spcPct val="150000"/>
                        </a:lnSpc>
                        <a:buAutoNum type="arabicPeriod"/>
                      </a:pPr>
                      <a:r>
                        <a:rPr lang="zh-CN" altLang="en-US" sz="1800" b="0" dirty="0">
                          <a:solidFill>
                            <a:schemeClr val="tx1"/>
                          </a:solidFill>
                        </a:rPr>
                        <a:t>优化</a:t>
                      </a:r>
                      <a:r>
                        <a:rPr lang="en-US" altLang="zh-CN" sz="1800" b="0" dirty="0">
                          <a:solidFill>
                            <a:schemeClr val="tx1"/>
                          </a:solidFill>
                        </a:rPr>
                        <a:t>cot</a:t>
                      </a:r>
                      <a:r>
                        <a:rPr lang="zh-CN" altLang="en-US" sz="1800" b="0" dirty="0">
                          <a:solidFill>
                            <a:schemeClr val="tx1"/>
                          </a:solidFill>
                        </a:rPr>
                        <a:t>语言结构，做了中英可选切换</a:t>
                      </a:r>
                      <a:endParaRPr lang="en-US" altLang="zh-CN" sz="1800" b="0" dirty="0">
                        <a:solidFill>
                          <a:schemeClr val="tx1"/>
                        </a:solidFill>
                      </a:endParaRPr>
                    </a:p>
                    <a:p>
                      <a:pPr marL="342900" indent="-342900" algn="l">
                        <a:lnSpc>
                          <a:spcPct val="150000"/>
                        </a:lnSpc>
                        <a:buAutoNum type="arabicPeriod"/>
                      </a:pPr>
                      <a:r>
                        <a:rPr lang="zh-CN" altLang="en-US" sz="1800" b="0" dirty="0">
                          <a:solidFill>
                            <a:schemeClr val="tx1"/>
                          </a:solidFill>
                        </a:rPr>
                        <a:t>重构迁移并接入了目前的</a:t>
                      </a:r>
                      <a:r>
                        <a:rPr lang="en-US" altLang="zh-CN" sz="1800" b="0" dirty="0">
                          <a:solidFill>
                            <a:schemeClr val="tx1"/>
                          </a:solidFill>
                        </a:rPr>
                        <a:t>cot</a:t>
                      </a:r>
                      <a:r>
                        <a:rPr lang="zh-CN" altLang="en-US" sz="1800" b="0" dirty="0">
                          <a:solidFill>
                            <a:schemeClr val="tx1"/>
                          </a:solidFill>
                        </a:rPr>
                        <a:t>生成框架到数据集增广架构</a:t>
                      </a:r>
                      <a:endParaRPr lang="en-US" altLang="zh-CN" sz="1800" b="0" dirty="0">
                        <a:solidFill>
                          <a:schemeClr val="tx1"/>
                        </a:solidFill>
                      </a:endParaRPr>
                    </a:p>
                    <a:p>
                      <a:pPr marL="342900" indent="-342900" algn="l">
                        <a:lnSpc>
                          <a:spcPct val="150000"/>
                        </a:lnSpc>
                        <a:buAutoNum type="arabicPeriod"/>
                      </a:pPr>
                      <a:r>
                        <a:rPr lang="zh-CN" altLang="en-US" sz="1800" b="0" dirty="0">
                          <a:solidFill>
                            <a:schemeClr val="tx1"/>
                          </a:solidFill>
                        </a:rPr>
                        <a:t>生产了</a:t>
                      </a:r>
                      <a:r>
                        <a:rPr lang="en-US" altLang="zh-CN" sz="1800" b="0" dirty="0">
                          <a:solidFill>
                            <a:schemeClr val="tx1"/>
                          </a:solidFill>
                        </a:rPr>
                        <a:t>500</a:t>
                      </a:r>
                      <a:r>
                        <a:rPr lang="zh-CN" altLang="en-US" sz="1800" b="0" dirty="0">
                          <a:solidFill>
                            <a:schemeClr val="tx1"/>
                          </a:solidFill>
                        </a:rPr>
                        <a:t>个新的粗糙的带</a:t>
                      </a:r>
                      <a:r>
                        <a:rPr lang="en-US" altLang="zh-CN" sz="1800" b="0" dirty="0">
                          <a:solidFill>
                            <a:schemeClr val="tx1"/>
                          </a:solidFill>
                        </a:rPr>
                        <a:t>cot</a:t>
                      </a:r>
                      <a:r>
                        <a:rPr lang="zh-CN" altLang="en-US" sz="1800" b="0" dirty="0">
                          <a:solidFill>
                            <a:schemeClr val="tx1"/>
                          </a:solidFill>
                        </a:rPr>
                        <a:t>的</a:t>
                      </a:r>
                      <a:r>
                        <a:rPr lang="en-US" altLang="zh-CN" sz="1800" b="0" dirty="0">
                          <a:solidFill>
                            <a:schemeClr val="tx1"/>
                          </a:solidFill>
                        </a:rPr>
                        <a:t>python</a:t>
                      </a:r>
                      <a:r>
                        <a:rPr lang="zh-CN" altLang="en-US" sz="1800" b="0" dirty="0">
                          <a:solidFill>
                            <a:schemeClr val="tx1"/>
                          </a:solidFill>
                        </a:rPr>
                        <a:t>数据集</a:t>
                      </a:r>
                      <a:endParaRPr lang="en-US" altLang="zh-CN" sz="1800" b="0" dirty="0">
                        <a:solidFill>
                          <a:schemeClr val="tx1"/>
                        </a:solidFill>
                      </a:endParaRPr>
                    </a:p>
                    <a:p>
                      <a:pPr marL="342900" indent="-342900" algn="l">
                        <a:lnSpc>
                          <a:spcPct val="150000"/>
                        </a:lnSpc>
                        <a:buAutoNum type="arabicPeriod"/>
                      </a:pPr>
                      <a:r>
                        <a:rPr lang="zh-CN" altLang="en-US" sz="1800" b="0" dirty="0">
                          <a:solidFill>
                            <a:schemeClr val="tx1"/>
                          </a:solidFill>
                        </a:rPr>
                        <a:t>尝试在独立</a:t>
                      </a:r>
                      <a:r>
                        <a:rPr lang="en-US" altLang="zh-CN" sz="1800" b="0" dirty="0">
                          <a:solidFill>
                            <a:schemeClr val="tx1"/>
                          </a:solidFill>
                        </a:rPr>
                        <a:t>cot</a:t>
                      </a:r>
                      <a:r>
                        <a:rPr lang="zh-CN" altLang="en-US" sz="1800" b="0" dirty="0">
                          <a:solidFill>
                            <a:schemeClr val="tx1"/>
                          </a:solidFill>
                        </a:rPr>
                        <a:t>项目里实现了</a:t>
                      </a:r>
                      <a:r>
                        <a:rPr lang="en-US" altLang="zh-CN" sz="1800" b="0" dirty="0">
                          <a:solidFill>
                            <a:schemeClr val="tx1"/>
                          </a:solidFill>
                        </a:rPr>
                        <a:t>ai+</a:t>
                      </a:r>
                      <a:r>
                        <a:rPr lang="zh-CN" altLang="en-US" sz="1800" b="0" dirty="0">
                          <a:solidFill>
                            <a:schemeClr val="tx1"/>
                          </a:solidFill>
                        </a:rPr>
                        <a:t>倒叙</a:t>
                      </a:r>
                      <a:r>
                        <a:rPr lang="en-US" altLang="zh-CN" sz="1800" b="0" dirty="0">
                          <a:solidFill>
                            <a:schemeClr val="tx1"/>
                          </a:solidFill>
                        </a:rPr>
                        <a:t>cot</a:t>
                      </a:r>
                      <a:r>
                        <a:rPr lang="zh-CN" altLang="en-US" sz="1800" b="0" dirty="0">
                          <a:solidFill>
                            <a:schemeClr val="tx1"/>
                          </a:solidFill>
                        </a:rPr>
                        <a:t>的能力</a:t>
                      </a:r>
                      <a:endParaRPr lang="zh-CN" altLang="en-US" sz="1800" b="0" dirty="0">
                        <a:solidFill>
                          <a:schemeClr val="tx1"/>
                        </a:solidFill>
                      </a:endParaRPr>
                    </a:p>
                    <a:p>
                      <a:pPr marL="342900" indent="-342900" algn="l">
                        <a:lnSpc>
                          <a:spcPct val="150000"/>
                        </a:lnSpc>
                        <a:buAutoNum type="arabicPeriod"/>
                      </a:pPr>
                      <a:r>
                        <a:rPr lang="zh-CN" altLang="en-US" sz="1800" b="0" dirty="0">
                          <a:solidFill>
                            <a:schemeClr val="tx1"/>
                          </a:solidFill>
                        </a:rPr>
                        <a:t>粗略看了和我们思路相近的一个工作：</a:t>
                      </a:r>
                      <a:r>
                        <a:rPr lang="en-US" altLang="zh-CN" sz="1800" b="0" dirty="0">
                          <a:solidFill>
                            <a:schemeClr val="tx1"/>
                          </a:solidFill>
                        </a:rPr>
                        <a:t>code+</a:t>
                      </a:r>
                      <a:r>
                        <a:rPr lang="zh-CN" altLang="en-US" sz="1800" b="0" dirty="0">
                          <a:solidFill>
                            <a:schemeClr val="tx1"/>
                          </a:solidFill>
                        </a:rPr>
                        <a:t>执行轨迹</a:t>
                      </a:r>
                      <a:r>
                        <a:rPr lang="en-US" altLang="zh-CN" sz="1800" b="0" dirty="0">
                          <a:solidFill>
                            <a:schemeClr val="tx1"/>
                          </a:solidFill>
                        </a:rPr>
                        <a:t>—&gt;AI—&gt;</a:t>
                      </a:r>
                      <a:r>
                        <a:rPr lang="zh-CN" altLang="en-US" sz="1800" b="0" dirty="0">
                          <a:solidFill>
                            <a:schemeClr val="tx1"/>
                          </a:solidFill>
                        </a:rPr>
                        <a:t>自然语言</a:t>
                      </a:r>
                      <a:r>
                        <a:rPr lang="en-US" altLang="zh-CN" sz="1800" b="0" dirty="0">
                          <a:solidFill>
                            <a:schemeClr val="tx1"/>
                          </a:solidFill>
                        </a:rPr>
                        <a:t>cot</a:t>
                      </a:r>
                      <a:endParaRPr lang="en-US" altLang="zh-CN" sz="18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1315720">
                <a:tc>
                  <a:txBody>
                    <a:bodyPr/>
                    <a:lstStyle/>
                    <a:p>
                      <a:pPr algn="ctr"/>
                      <a:r>
                        <a:rPr lang="en-US" altLang="zh-CN" sz="1800" b="0" dirty="0">
                          <a:solidFill>
                            <a:schemeClr val="tx1"/>
                          </a:solidFill>
                        </a:rPr>
                        <a:t>Todo</a:t>
                      </a:r>
                      <a:endParaRPr lang="en-US" altLang="zh-CN" sz="18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342900" indent="-342900" algn="l">
                        <a:lnSpc>
                          <a:spcPct val="150000"/>
                        </a:lnSpc>
                        <a:buAutoNum type="arabicPeriod"/>
                      </a:pPr>
                      <a:r>
                        <a:rPr lang="en-US" altLang="zh-CN" sz="1800" b="0" dirty="0">
                          <a:solidFill>
                            <a:schemeClr val="tx1"/>
                          </a:solidFill>
                        </a:rPr>
                        <a:t>[P0] </a:t>
                      </a:r>
                      <a:r>
                        <a:rPr lang="zh-CN" altLang="en-US" sz="1800" b="0" dirty="0">
                          <a:solidFill>
                            <a:schemeClr val="tx1"/>
                          </a:solidFill>
                        </a:rPr>
                        <a:t>在复杂案例中，暴露出了很多</a:t>
                      </a:r>
                      <a:r>
                        <a:rPr lang="en-US" altLang="zh-CN" sz="1800" b="0" dirty="0">
                          <a:solidFill>
                            <a:schemeClr val="tx1"/>
                          </a:solidFill>
                        </a:rPr>
                        <a:t>cot</a:t>
                      </a:r>
                      <a:r>
                        <a:rPr lang="zh-CN" altLang="en-US" sz="1800" b="0" dirty="0">
                          <a:solidFill>
                            <a:schemeClr val="tx1"/>
                          </a:solidFill>
                        </a:rPr>
                        <a:t>生成逻辑的一些细节</a:t>
                      </a:r>
                      <a:r>
                        <a:rPr lang="en-US" altLang="zh-CN" sz="1800" b="0" dirty="0">
                          <a:solidFill>
                            <a:schemeClr val="tx1"/>
                          </a:solidFill>
                        </a:rPr>
                        <a:t>bug</a:t>
                      </a:r>
                      <a:r>
                        <a:rPr lang="zh-CN" altLang="en-US" sz="1800" b="0" dirty="0">
                          <a:solidFill>
                            <a:schemeClr val="tx1"/>
                          </a:solidFill>
                        </a:rPr>
                        <a:t>，预期这周再逐个案例看来进行优化</a:t>
                      </a:r>
                      <a:endParaRPr lang="zh-CN" altLang="en-US" sz="1800" b="0" dirty="0">
                        <a:solidFill>
                          <a:schemeClr val="tx1"/>
                        </a:solidFill>
                      </a:endParaRPr>
                    </a:p>
                    <a:p>
                      <a:pPr marL="342900" indent="-342900" algn="l">
                        <a:lnSpc>
                          <a:spcPct val="150000"/>
                        </a:lnSpc>
                        <a:buAutoNum type="arabicPeriod"/>
                      </a:pPr>
                      <a:r>
                        <a:rPr lang="en-US" altLang="zh-CN" sz="1800" b="0" dirty="0">
                          <a:solidFill>
                            <a:schemeClr val="tx1"/>
                          </a:solidFill>
                        </a:rPr>
                        <a:t>[P1] </a:t>
                      </a:r>
                      <a:r>
                        <a:rPr lang="zh-CN" altLang="en-US" sz="1800" b="0" dirty="0">
                          <a:solidFill>
                            <a:schemeClr val="tx1"/>
                          </a:solidFill>
                        </a:rPr>
                        <a:t>框架迁移的时候有的功能没耦合好，后续再优化</a:t>
                      </a:r>
                      <a:endParaRPr lang="zh-CN" altLang="en-US" sz="18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188210">
                <a:tc>
                  <a:txBody>
                    <a:bodyPr/>
                    <a:lstStyle/>
                    <a:p>
                      <a:pPr algn="ctr"/>
                      <a:r>
                        <a:rPr lang="en-US" altLang="zh-CN" sz="1800" b="0" dirty="0">
                          <a:solidFill>
                            <a:schemeClr val="tx1"/>
                          </a:solidFill>
                        </a:rPr>
                        <a:t>Insight</a:t>
                      </a:r>
                      <a:endParaRPr lang="en-US" altLang="zh-CN" sz="18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342900" indent="-342900" algn="l">
                        <a:lnSpc>
                          <a:spcPct val="150000"/>
                        </a:lnSpc>
                        <a:buAutoNum type="arabicPeriod"/>
                      </a:pPr>
                      <a:r>
                        <a:rPr lang="zh-CN" altLang="en-US" sz="1800" b="0" dirty="0">
                          <a:solidFill>
                            <a:schemeClr val="tx1"/>
                          </a:solidFill>
                        </a:rPr>
                        <a:t>之前的</a:t>
                      </a:r>
                      <a:r>
                        <a:rPr lang="en-US" altLang="zh-CN" sz="1800" b="0" dirty="0">
                          <a:solidFill>
                            <a:schemeClr val="tx1"/>
                          </a:solidFill>
                        </a:rPr>
                        <a:t>cot</a:t>
                      </a:r>
                      <a:r>
                        <a:rPr lang="zh-CN" altLang="en-US" sz="1800" b="0" dirty="0">
                          <a:solidFill>
                            <a:schemeClr val="tx1"/>
                          </a:solidFill>
                        </a:rPr>
                        <a:t>生成框架太独立，且用的都是直接想的比较小的测例</a:t>
                      </a:r>
                      <a:endParaRPr lang="zh-CN" altLang="en-US" sz="1800" b="0" dirty="0">
                        <a:solidFill>
                          <a:schemeClr val="tx1"/>
                        </a:solidFill>
                      </a:endParaRPr>
                    </a:p>
                    <a:p>
                      <a:pPr marL="342900" indent="-342900" algn="l">
                        <a:lnSpc>
                          <a:spcPct val="150000"/>
                        </a:lnSpc>
                        <a:buAutoNum type="arabicPeriod"/>
                      </a:pPr>
                      <a:r>
                        <a:rPr lang="zh-CN" altLang="en-US" sz="1800" b="0" dirty="0">
                          <a:solidFill>
                            <a:schemeClr val="tx1"/>
                          </a:solidFill>
                        </a:rPr>
                        <a:t>当真到类似真实代码的时候，遇到多个函数嵌套循环嵌套和表达式分行等这种问题的时候，会出现一系列奇怪的问题，后面重点就是优化这里了</a:t>
                      </a:r>
                      <a:endParaRPr lang="zh-CN" altLang="en-US" sz="1800" b="0" dirty="0">
                        <a:solidFill>
                          <a:schemeClr val="tx1"/>
                        </a:solidFill>
                      </a:endParaRPr>
                    </a:p>
                    <a:p>
                      <a:pPr marL="342900" indent="-342900" algn="l">
                        <a:lnSpc>
                          <a:spcPct val="150000"/>
                        </a:lnSpc>
                        <a:buAutoNum type="arabicPeriod"/>
                      </a:pPr>
                      <a:r>
                        <a:rPr lang="zh-CN" altLang="en-US" sz="1800" b="0" dirty="0">
                          <a:solidFill>
                            <a:schemeClr val="tx1"/>
                          </a:solidFill>
                        </a:rPr>
                        <a:t>对于类真实代码，有的执行轨迹会巨长，剪枝过后产出的</a:t>
                      </a:r>
                      <a:r>
                        <a:rPr lang="en-US" altLang="zh-CN" sz="1800" b="0" dirty="0">
                          <a:solidFill>
                            <a:schemeClr val="tx1"/>
                          </a:solidFill>
                        </a:rPr>
                        <a:t>cot</a:t>
                      </a:r>
                      <a:r>
                        <a:rPr lang="zh-CN" altLang="en-US" sz="1800" b="0" dirty="0">
                          <a:solidFill>
                            <a:schemeClr val="tx1"/>
                          </a:solidFill>
                        </a:rPr>
                        <a:t>仍然不短，认为再补一个同等长度的倒序</a:t>
                      </a:r>
                      <a:r>
                        <a:rPr lang="en-US" altLang="zh-CN" sz="1800" b="0" dirty="0">
                          <a:solidFill>
                            <a:schemeClr val="tx1"/>
                          </a:solidFill>
                        </a:rPr>
                        <a:t>cot</a:t>
                      </a:r>
                      <a:r>
                        <a:rPr lang="zh-CN" altLang="en-US" sz="1800" b="0" dirty="0">
                          <a:solidFill>
                            <a:schemeClr val="tx1"/>
                          </a:solidFill>
                        </a:rPr>
                        <a:t>对训练提升较小</a:t>
                      </a:r>
                      <a:endParaRPr lang="zh-CN" altLang="en-US" sz="18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5090" y="302697"/>
            <a:ext cx="6993255" cy="460375"/>
          </a:xfrm>
          <a:prstGeom prst="rect">
            <a:avLst/>
          </a:prstGeom>
          <a:noFill/>
        </p:spPr>
        <p:txBody>
          <a:bodyPr wrap="none" rtlCol="0">
            <a:spAutoFit/>
          </a:bodyPr>
          <a:lstStyle/>
          <a:p>
            <a:pPr algn="l"/>
            <a:r>
              <a:rPr lang="zh-CN" altLang="en-US" sz="2400" dirty="0"/>
              <a:t>进展分享</a:t>
            </a:r>
            <a:r>
              <a:rPr lang="zh-CN" altLang="en-US" sz="2400" dirty="0"/>
              <a:t>一：</a:t>
            </a:r>
            <a:r>
              <a:rPr lang="zh-CN" altLang="en-US" sz="2400" dirty="0">
                <a:sym typeface="+mn-ea"/>
              </a:rPr>
              <a:t>优化</a:t>
            </a:r>
            <a:r>
              <a:rPr lang="en-US" altLang="zh-CN" sz="2400" dirty="0">
                <a:sym typeface="+mn-ea"/>
              </a:rPr>
              <a:t>cot</a:t>
            </a:r>
            <a:r>
              <a:rPr lang="zh-CN" altLang="en-US" sz="2400" dirty="0">
                <a:sym typeface="+mn-ea"/>
              </a:rPr>
              <a:t>语言结构，做了中英可选切换</a:t>
            </a:r>
            <a:endParaRPr lang="zh-CN" altLang="en-US" sz="2400" dirty="0">
              <a:sym typeface="+mn-ea"/>
            </a:endParaRPr>
          </a:p>
        </p:txBody>
      </p:sp>
      <p:sp>
        <p:nvSpPr>
          <p:cNvPr id="4" name="文本框 3"/>
          <p:cNvSpPr txBox="1"/>
          <p:nvPr/>
        </p:nvSpPr>
        <p:spPr>
          <a:xfrm>
            <a:off x="497840" y="849630"/>
            <a:ext cx="10253980" cy="1337945"/>
          </a:xfrm>
          <a:prstGeom prst="rect">
            <a:avLst/>
          </a:prstGeom>
          <a:noFill/>
        </p:spPr>
        <p:txBody>
          <a:bodyPr wrap="square" rtlCol="0">
            <a:spAutoFit/>
          </a:bodyPr>
          <a:p>
            <a:pPr>
              <a:lnSpc>
                <a:spcPct val="150000"/>
              </a:lnSpc>
            </a:pPr>
            <a:r>
              <a:rPr lang="en-US" altLang="zh-CN"/>
              <a:t>1. </a:t>
            </a:r>
            <a:r>
              <a:rPr lang="zh-CN" altLang="en-US"/>
              <a:t>结构优化：突出显示了</a:t>
            </a:r>
            <a:r>
              <a:rPr lang="en-US" altLang="zh-CN"/>
              <a:t> [line n]</a:t>
            </a:r>
            <a:r>
              <a:rPr lang="zh-CN" altLang="en-US"/>
              <a:t>，也单独标记了</a:t>
            </a:r>
            <a:r>
              <a:rPr lang="en-US" altLang="zh-CN"/>
              <a:t>[explain]</a:t>
            </a:r>
            <a:r>
              <a:rPr lang="zh-CN" altLang="en-US"/>
              <a:t>。</a:t>
            </a:r>
            <a:r>
              <a:rPr lang="zh-CN" altLang="en-US"/>
              <a:t>更便于模型</a:t>
            </a:r>
            <a:r>
              <a:rPr lang="zh-CN" altLang="en-US"/>
              <a:t>阅读</a:t>
            </a:r>
            <a:endParaRPr lang="zh-CN" altLang="en-US"/>
          </a:p>
          <a:p>
            <a:pPr>
              <a:lnSpc>
                <a:spcPct val="150000"/>
              </a:lnSpc>
            </a:pPr>
            <a:r>
              <a:rPr lang="en-US" altLang="zh-CN"/>
              <a:t>2. </a:t>
            </a:r>
            <a:r>
              <a:rPr lang="zh-CN" altLang="en-US"/>
              <a:t>语言体系改为全英，但支持加</a:t>
            </a:r>
            <a:r>
              <a:rPr lang="en-US" altLang="zh-CN"/>
              <a:t> </a:t>
            </a:r>
            <a:r>
              <a:rPr lang="en-US" altLang="zh-CN">
                <a:ln w="10160">
                  <a:solidFill>
                    <a:schemeClr val="accent5"/>
                  </a:solidFill>
                  <a:prstDash val="solid"/>
                </a:ln>
                <a:solidFill>
                  <a:srgbClr val="FFFFFF"/>
                </a:solidFill>
                <a:effectLst>
                  <a:outerShdw blurRad="38100" dist="22860" dir="5400000" algn="tl" rotWithShape="0">
                    <a:srgbClr val="000000">
                      <a:alpha val="30000"/>
                    </a:srgbClr>
                  </a:outerShdw>
                </a:effectLst>
              </a:rPr>
              <a:t>--zh</a:t>
            </a:r>
            <a:r>
              <a:rPr lang="en-US" altLang="zh-CN"/>
              <a:t> </a:t>
            </a:r>
            <a:r>
              <a:rPr lang="zh-CN" altLang="en-US"/>
              <a:t>后缀生成中文</a:t>
            </a:r>
            <a:r>
              <a:rPr lang="en-US" altLang="zh-CN"/>
              <a:t>cot</a:t>
            </a:r>
            <a:endParaRPr lang="en-US" altLang="zh-CN"/>
          </a:p>
          <a:p>
            <a:pPr>
              <a:lnSpc>
                <a:spcPct val="150000"/>
              </a:lnSpc>
            </a:pPr>
            <a:r>
              <a:rPr lang="en-US" altLang="zh-CN"/>
              <a:t>3. </a:t>
            </a:r>
            <a:r>
              <a:rPr lang="zh-CN" altLang="en-US"/>
              <a:t>适当专业化，修改了一些模板，如赋值循环等，让其更</a:t>
            </a:r>
            <a:r>
              <a:rPr lang="zh-CN" altLang="en-US"/>
              <a:t>专业化</a:t>
            </a:r>
            <a:endParaRPr lang="zh-CN" altLang="en-US"/>
          </a:p>
        </p:txBody>
      </p:sp>
      <p:pic>
        <p:nvPicPr>
          <p:cNvPr id="5" name="图片 4"/>
          <p:cNvPicPr>
            <a:picLocks noChangeAspect="1"/>
          </p:cNvPicPr>
          <p:nvPr/>
        </p:nvPicPr>
        <p:blipFill>
          <a:blip r:embed="rId1"/>
          <a:stretch>
            <a:fillRect/>
          </a:stretch>
        </p:blipFill>
        <p:spPr>
          <a:xfrm>
            <a:off x="145415" y="3141980"/>
            <a:ext cx="2815590" cy="1958975"/>
          </a:xfrm>
          <a:prstGeom prst="rect">
            <a:avLst/>
          </a:prstGeom>
          <a:ln>
            <a:solidFill>
              <a:schemeClr val="tx1"/>
            </a:solidFill>
          </a:ln>
        </p:spPr>
      </p:pic>
      <p:cxnSp>
        <p:nvCxnSpPr>
          <p:cNvPr id="6" name="直接箭头连接符 5"/>
          <p:cNvCxnSpPr/>
          <p:nvPr/>
        </p:nvCxnSpPr>
        <p:spPr>
          <a:xfrm>
            <a:off x="2961005" y="4121785"/>
            <a:ext cx="544195" cy="127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pic>
        <p:nvPicPr>
          <p:cNvPr id="7" name="图片 6"/>
          <p:cNvPicPr>
            <a:picLocks noChangeAspect="1"/>
          </p:cNvPicPr>
          <p:nvPr/>
        </p:nvPicPr>
        <p:blipFill>
          <a:blip r:embed="rId2"/>
          <a:stretch>
            <a:fillRect/>
          </a:stretch>
        </p:blipFill>
        <p:spPr>
          <a:xfrm>
            <a:off x="3896995" y="2157095"/>
            <a:ext cx="7513955" cy="4700905"/>
          </a:xfrm>
          <a:prstGeom prst="rect">
            <a:avLst/>
          </a:prstGeom>
        </p:spPr>
      </p:pic>
      <p:sp>
        <p:nvSpPr>
          <p:cNvPr id="3" name="文本框 2"/>
          <p:cNvSpPr txBox="1"/>
          <p:nvPr/>
        </p:nvSpPr>
        <p:spPr>
          <a:xfrm>
            <a:off x="8253095" y="1841500"/>
            <a:ext cx="4064000" cy="368300"/>
          </a:xfrm>
          <a:prstGeom prst="rect">
            <a:avLst/>
          </a:prstGeom>
          <a:noFill/>
        </p:spPr>
        <p:txBody>
          <a:bodyPr wrap="square" rtlCol="0">
            <a:spAutoFit/>
          </a:bodyPr>
          <a:p>
            <a:r>
              <a:rPr lang="zh-CN" altLang="en-US"/>
              <a:t>去掉</a:t>
            </a:r>
            <a:r>
              <a:rPr lang="en-US" altLang="zh-CN"/>
              <a:t>explain</a:t>
            </a:r>
            <a:r>
              <a:rPr lang="zh-CN" altLang="en-US"/>
              <a:t>、</a:t>
            </a:r>
            <a:r>
              <a:rPr lang="en-US" altLang="zh-CN"/>
              <a:t>from —&gt;defined at</a:t>
            </a:r>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5090" y="302697"/>
            <a:ext cx="6993255" cy="460375"/>
          </a:xfrm>
          <a:prstGeom prst="rect">
            <a:avLst/>
          </a:prstGeom>
          <a:noFill/>
        </p:spPr>
        <p:txBody>
          <a:bodyPr wrap="none" rtlCol="0">
            <a:spAutoFit/>
          </a:bodyPr>
          <a:lstStyle/>
          <a:p>
            <a:pPr algn="l"/>
            <a:r>
              <a:rPr lang="zh-CN" altLang="en-US" sz="2400" dirty="0"/>
              <a:t>进展分享</a:t>
            </a:r>
            <a:r>
              <a:rPr lang="zh-CN" altLang="en-US" sz="2400" dirty="0"/>
              <a:t>一：</a:t>
            </a:r>
            <a:r>
              <a:rPr lang="zh-CN" altLang="en-US" sz="2400" dirty="0">
                <a:sym typeface="+mn-ea"/>
              </a:rPr>
              <a:t>优化</a:t>
            </a:r>
            <a:r>
              <a:rPr lang="en-US" altLang="zh-CN" sz="2400" dirty="0">
                <a:sym typeface="+mn-ea"/>
              </a:rPr>
              <a:t>cot</a:t>
            </a:r>
            <a:r>
              <a:rPr lang="zh-CN" altLang="en-US" sz="2400" dirty="0">
                <a:sym typeface="+mn-ea"/>
              </a:rPr>
              <a:t>语言结构，做了中英可选切换</a:t>
            </a:r>
            <a:endParaRPr lang="zh-CN" altLang="en-US" sz="2400" dirty="0">
              <a:sym typeface="+mn-ea"/>
            </a:endParaRPr>
          </a:p>
        </p:txBody>
      </p:sp>
      <p:sp>
        <p:nvSpPr>
          <p:cNvPr id="4" name="文本框 3"/>
          <p:cNvSpPr txBox="1"/>
          <p:nvPr/>
        </p:nvSpPr>
        <p:spPr>
          <a:xfrm>
            <a:off x="497840" y="849630"/>
            <a:ext cx="10253980" cy="1337945"/>
          </a:xfrm>
          <a:prstGeom prst="rect">
            <a:avLst/>
          </a:prstGeom>
          <a:noFill/>
        </p:spPr>
        <p:txBody>
          <a:bodyPr wrap="square" rtlCol="0">
            <a:spAutoFit/>
          </a:bodyPr>
          <a:p>
            <a:pPr>
              <a:lnSpc>
                <a:spcPct val="150000"/>
              </a:lnSpc>
            </a:pPr>
            <a:r>
              <a:rPr lang="en-US" altLang="zh-CN"/>
              <a:t>1. </a:t>
            </a:r>
            <a:r>
              <a:rPr lang="zh-CN" altLang="en-US"/>
              <a:t>结构优化：突出显示了</a:t>
            </a:r>
            <a:r>
              <a:rPr lang="en-US" altLang="zh-CN"/>
              <a:t> [line n]</a:t>
            </a:r>
            <a:r>
              <a:rPr lang="zh-CN" altLang="en-US"/>
              <a:t>，也单独标记了</a:t>
            </a:r>
            <a:r>
              <a:rPr lang="en-US" altLang="zh-CN"/>
              <a:t>[explain]</a:t>
            </a:r>
            <a:r>
              <a:rPr lang="zh-CN" altLang="en-US"/>
              <a:t>。</a:t>
            </a:r>
            <a:r>
              <a:rPr lang="zh-CN" altLang="en-US"/>
              <a:t>更便于模型</a:t>
            </a:r>
            <a:r>
              <a:rPr lang="zh-CN" altLang="en-US"/>
              <a:t>阅读</a:t>
            </a:r>
            <a:endParaRPr lang="zh-CN" altLang="en-US"/>
          </a:p>
          <a:p>
            <a:pPr>
              <a:lnSpc>
                <a:spcPct val="150000"/>
              </a:lnSpc>
            </a:pPr>
            <a:r>
              <a:rPr lang="en-US" altLang="zh-CN"/>
              <a:t>2. </a:t>
            </a:r>
            <a:r>
              <a:rPr lang="zh-CN" altLang="en-US"/>
              <a:t>语言体系改为全英，但支持加</a:t>
            </a:r>
            <a:r>
              <a:rPr lang="en-US" altLang="zh-CN"/>
              <a:t> </a:t>
            </a:r>
            <a:r>
              <a:rPr lang="en-US" altLang="zh-CN">
                <a:ln w="10160">
                  <a:solidFill>
                    <a:schemeClr val="accent5"/>
                  </a:solidFill>
                  <a:prstDash val="solid"/>
                </a:ln>
                <a:solidFill>
                  <a:srgbClr val="FFFFFF"/>
                </a:solidFill>
                <a:effectLst>
                  <a:outerShdw blurRad="38100" dist="22860" dir="5400000" algn="tl" rotWithShape="0">
                    <a:srgbClr val="000000">
                      <a:alpha val="30000"/>
                    </a:srgbClr>
                  </a:outerShdw>
                </a:effectLst>
              </a:rPr>
              <a:t>--zh</a:t>
            </a:r>
            <a:r>
              <a:rPr lang="en-US" altLang="zh-CN"/>
              <a:t> </a:t>
            </a:r>
            <a:r>
              <a:rPr lang="zh-CN" altLang="en-US"/>
              <a:t>后缀生成中文</a:t>
            </a:r>
            <a:r>
              <a:rPr lang="en-US" altLang="zh-CN"/>
              <a:t>cot</a:t>
            </a:r>
            <a:endParaRPr lang="en-US" altLang="zh-CN"/>
          </a:p>
          <a:p>
            <a:pPr>
              <a:lnSpc>
                <a:spcPct val="150000"/>
              </a:lnSpc>
            </a:pPr>
            <a:r>
              <a:rPr lang="en-US" altLang="zh-CN"/>
              <a:t>3. </a:t>
            </a:r>
            <a:r>
              <a:rPr lang="zh-CN" altLang="en-US"/>
              <a:t>适当专业化，修改了一些模板，如赋值循环等，让其更</a:t>
            </a:r>
            <a:r>
              <a:rPr lang="zh-CN" altLang="en-US"/>
              <a:t>专业化</a:t>
            </a:r>
            <a:endParaRPr lang="zh-CN" altLang="en-US"/>
          </a:p>
        </p:txBody>
      </p:sp>
      <p:pic>
        <p:nvPicPr>
          <p:cNvPr id="5" name="图片 4"/>
          <p:cNvPicPr>
            <a:picLocks noChangeAspect="1"/>
          </p:cNvPicPr>
          <p:nvPr/>
        </p:nvPicPr>
        <p:blipFill>
          <a:blip r:embed="rId1"/>
          <a:stretch>
            <a:fillRect/>
          </a:stretch>
        </p:blipFill>
        <p:spPr>
          <a:xfrm>
            <a:off x="145415" y="3141980"/>
            <a:ext cx="2815590" cy="1958975"/>
          </a:xfrm>
          <a:prstGeom prst="rect">
            <a:avLst/>
          </a:prstGeom>
          <a:ln>
            <a:solidFill>
              <a:schemeClr val="tx1"/>
            </a:solidFill>
          </a:ln>
        </p:spPr>
      </p:pic>
      <p:cxnSp>
        <p:nvCxnSpPr>
          <p:cNvPr id="6" name="直接箭头连接符 5"/>
          <p:cNvCxnSpPr/>
          <p:nvPr/>
        </p:nvCxnSpPr>
        <p:spPr>
          <a:xfrm flipV="1">
            <a:off x="2961005" y="4120515"/>
            <a:ext cx="2673350" cy="127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pic>
        <p:nvPicPr>
          <p:cNvPr id="3" name="图片 2"/>
          <p:cNvPicPr>
            <a:picLocks noChangeAspect="1"/>
          </p:cNvPicPr>
          <p:nvPr/>
        </p:nvPicPr>
        <p:blipFill>
          <a:blip r:embed="rId2"/>
          <a:srcRect r="21564" b="2963"/>
          <a:stretch>
            <a:fillRect/>
          </a:stretch>
        </p:blipFill>
        <p:spPr>
          <a:xfrm>
            <a:off x="3031490" y="3522980"/>
            <a:ext cx="2547620" cy="415925"/>
          </a:xfrm>
          <a:prstGeom prst="rect">
            <a:avLst/>
          </a:prstGeom>
        </p:spPr>
      </p:pic>
      <p:pic>
        <p:nvPicPr>
          <p:cNvPr id="8" name="图片 7"/>
          <p:cNvPicPr>
            <a:picLocks noChangeAspect="1"/>
          </p:cNvPicPr>
          <p:nvPr/>
        </p:nvPicPr>
        <p:blipFill>
          <a:blip r:embed="rId3"/>
          <a:stretch>
            <a:fillRect/>
          </a:stretch>
        </p:blipFill>
        <p:spPr>
          <a:xfrm>
            <a:off x="5634990" y="2389505"/>
            <a:ext cx="6426200" cy="43205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a:t>
            </a:r>
            <a:r>
              <a:rPr lang="zh-CN" altLang="en-US" sz="2400" dirty="0"/>
              <a:t>二：</a:t>
            </a:r>
            <a:r>
              <a:rPr lang="zh-CN" altLang="en-US" sz="2400" dirty="0">
                <a:sym typeface="+mn-ea"/>
              </a:rPr>
              <a:t>重构迁移并接入了目前的</a:t>
            </a:r>
            <a:r>
              <a:rPr lang="en-US" altLang="zh-CN" sz="2400" dirty="0">
                <a:sym typeface="+mn-ea"/>
              </a:rPr>
              <a:t>cot</a:t>
            </a:r>
            <a:r>
              <a:rPr lang="zh-CN" altLang="en-US" sz="2400" dirty="0">
                <a:sym typeface="+mn-ea"/>
              </a:rPr>
              <a:t>生成框架到数据集增广架构</a:t>
            </a:r>
            <a:endParaRPr lang="zh-CN" altLang="en-US" sz="2400" dirty="0">
              <a:sym typeface="+mn-ea"/>
            </a:endParaRPr>
          </a:p>
        </p:txBody>
      </p:sp>
      <p:sp>
        <p:nvSpPr>
          <p:cNvPr id="4" name="文本框 3"/>
          <p:cNvSpPr txBox="1"/>
          <p:nvPr/>
        </p:nvSpPr>
        <p:spPr>
          <a:xfrm>
            <a:off x="532130" y="1029970"/>
            <a:ext cx="10253980" cy="506730"/>
          </a:xfrm>
          <a:prstGeom prst="rect">
            <a:avLst/>
          </a:prstGeom>
          <a:noFill/>
        </p:spPr>
        <p:txBody>
          <a:bodyPr wrap="square" rtlCol="0">
            <a:spAutoFit/>
          </a:bodyPr>
          <a:p>
            <a:pPr>
              <a:lnSpc>
                <a:spcPct val="150000"/>
              </a:lnSpc>
            </a:pPr>
            <a:r>
              <a:rPr lang="zh-CN" altLang="en-US"/>
              <a:t>将独立的</a:t>
            </a:r>
            <a:r>
              <a:rPr lang="en-US" altLang="zh-CN"/>
              <a:t>[cot</a:t>
            </a:r>
            <a:r>
              <a:rPr lang="zh-CN" altLang="en-US"/>
              <a:t>生成框架</a:t>
            </a:r>
            <a:r>
              <a:rPr lang="en-US" altLang="zh-CN"/>
              <a:t>]</a:t>
            </a:r>
            <a:r>
              <a:rPr lang="zh-CN" altLang="en-US"/>
              <a:t>重构迁移进了目前的</a:t>
            </a:r>
            <a:r>
              <a:rPr lang="en-US" altLang="zh-CN"/>
              <a:t> [</a:t>
            </a:r>
            <a:r>
              <a:rPr lang="zh-CN" altLang="en-US"/>
              <a:t>数据集增广框架</a:t>
            </a:r>
            <a:r>
              <a:rPr lang="en-US" altLang="zh-CN"/>
              <a:t>]</a:t>
            </a:r>
            <a:endParaRPr lang="en-US" altLang="zh-CN"/>
          </a:p>
        </p:txBody>
      </p:sp>
      <p:sp>
        <p:nvSpPr>
          <p:cNvPr id="7" name="矩形 6"/>
          <p:cNvSpPr/>
          <p:nvPr/>
        </p:nvSpPr>
        <p:spPr>
          <a:xfrm>
            <a:off x="663575" y="1977390"/>
            <a:ext cx="3133725" cy="3348990"/>
          </a:xfrm>
          <a:prstGeom prst="rect">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9" name="矩形 8"/>
          <p:cNvSpPr/>
          <p:nvPr/>
        </p:nvSpPr>
        <p:spPr>
          <a:xfrm>
            <a:off x="1452245" y="1977390"/>
            <a:ext cx="1577975" cy="447040"/>
          </a:xfrm>
          <a:prstGeom prst="rect">
            <a:avLst/>
          </a:prstGeom>
          <a:solidFill>
            <a:schemeClr val="tx2">
              <a:lumMod val="50000"/>
              <a:lumOff val="5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COT</a:t>
            </a:r>
            <a:r>
              <a:rPr lang="zh-CN" altLang="en-US"/>
              <a:t>生成</a:t>
            </a:r>
            <a:r>
              <a:rPr lang="zh-CN" altLang="en-US"/>
              <a:t>框架</a:t>
            </a:r>
            <a:endParaRPr lang="zh-CN" altLang="en-US"/>
          </a:p>
        </p:txBody>
      </p:sp>
      <p:sp>
        <p:nvSpPr>
          <p:cNvPr id="10" name="文本框 9"/>
          <p:cNvSpPr txBox="1"/>
          <p:nvPr/>
        </p:nvSpPr>
        <p:spPr>
          <a:xfrm>
            <a:off x="739140" y="2631440"/>
            <a:ext cx="2982595" cy="368300"/>
          </a:xfrm>
          <a:prstGeom prst="rect">
            <a:avLst/>
          </a:prstGeom>
          <a:noFill/>
        </p:spPr>
        <p:txBody>
          <a:bodyPr wrap="square" rtlCol="0">
            <a:spAutoFit/>
          </a:bodyPr>
          <a:p>
            <a:pPr algn="ctr"/>
            <a:r>
              <a:rPr lang="en-US" altLang="zh-CN"/>
              <a:t>Code+</a:t>
            </a:r>
            <a:r>
              <a:rPr lang="zh-CN" altLang="en-US"/>
              <a:t>目标行号</a:t>
            </a:r>
            <a:r>
              <a:rPr lang="en-US" altLang="zh-CN"/>
              <a:t>+</a:t>
            </a:r>
            <a:r>
              <a:rPr lang="zh-CN" altLang="en-US"/>
              <a:t>目标</a:t>
            </a:r>
            <a:r>
              <a:rPr lang="zh-CN" altLang="en-US"/>
              <a:t>变量</a:t>
            </a:r>
            <a:endParaRPr lang="zh-CN" altLang="en-US"/>
          </a:p>
        </p:txBody>
      </p:sp>
      <p:cxnSp>
        <p:nvCxnSpPr>
          <p:cNvPr id="11" name="直接箭头连接符 10"/>
          <p:cNvCxnSpPr>
            <a:stCxn id="10" idx="2"/>
          </p:cNvCxnSpPr>
          <p:nvPr/>
        </p:nvCxnSpPr>
        <p:spPr>
          <a:xfrm>
            <a:off x="2230755" y="2999740"/>
            <a:ext cx="3810" cy="36512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2" name="文本框 11"/>
          <p:cNvSpPr txBox="1"/>
          <p:nvPr/>
        </p:nvSpPr>
        <p:spPr>
          <a:xfrm>
            <a:off x="749935" y="3362960"/>
            <a:ext cx="2982595" cy="368300"/>
          </a:xfrm>
          <a:prstGeom prst="rect">
            <a:avLst/>
          </a:prstGeom>
          <a:noFill/>
        </p:spPr>
        <p:txBody>
          <a:bodyPr wrap="square" rtlCol="0">
            <a:spAutoFit/>
          </a:bodyPr>
          <a:p>
            <a:pPr algn="ctr"/>
            <a:r>
              <a:rPr lang="zh-CN" altLang="en-US"/>
              <a:t>代码执行轨迹</a:t>
            </a:r>
            <a:r>
              <a:rPr lang="en-US" altLang="zh-CN"/>
              <a:t> </a:t>
            </a:r>
            <a:r>
              <a:rPr lang="en-US" altLang="zh-CN"/>
              <a:t>trace</a:t>
            </a:r>
            <a:endParaRPr lang="en-US" altLang="zh-CN"/>
          </a:p>
        </p:txBody>
      </p:sp>
      <p:cxnSp>
        <p:nvCxnSpPr>
          <p:cNvPr id="13" name="直接箭头连接符 12"/>
          <p:cNvCxnSpPr>
            <a:stCxn id="12" idx="2"/>
          </p:cNvCxnSpPr>
          <p:nvPr/>
        </p:nvCxnSpPr>
        <p:spPr>
          <a:xfrm>
            <a:off x="2241550" y="3731260"/>
            <a:ext cx="3810" cy="36512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文本框 13"/>
          <p:cNvSpPr txBox="1"/>
          <p:nvPr/>
        </p:nvSpPr>
        <p:spPr>
          <a:xfrm>
            <a:off x="749935" y="4094480"/>
            <a:ext cx="2982595" cy="368300"/>
          </a:xfrm>
          <a:prstGeom prst="rect">
            <a:avLst/>
          </a:prstGeom>
          <a:noFill/>
        </p:spPr>
        <p:txBody>
          <a:bodyPr wrap="square" rtlCol="0">
            <a:spAutoFit/>
          </a:bodyPr>
          <a:p>
            <a:pPr algn="ctr"/>
            <a:r>
              <a:rPr lang="zh-CN" altLang="en-US"/>
              <a:t>剪枝后的执行流</a:t>
            </a:r>
            <a:r>
              <a:rPr lang="en-US" altLang="zh-CN"/>
              <a:t> trim-trace</a:t>
            </a:r>
            <a:endParaRPr lang="en-US" altLang="zh-CN"/>
          </a:p>
        </p:txBody>
      </p:sp>
      <p:cxnSp>
        <p:nvCxnSpPr>
          <p:cNvPr id="15" name="直接箭头连接符 14"/>
          <p:cNvCxnSpPr>
            <a:stCxn id="14" idx="2"/>
          </p:cNvCxnSpPr>
          <p:nvPr/>
        </p:nvCxnSpPr>
        <p:spPr>
          <a:xfrm>
            <a:off x="2241550" y="4462780"/>
            <a:ext cx="3810" cy="36512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6" name="文本框 15"/>
          <p:cNvSpPr txBox="1"/>
          <p:nvPr/>
        </p:nvSpPr>
        <p:spPr>
          <a:xfrm>
            <a:off x="749935" y="4826000"/>
            <a:ext cx="2982595" cy="368300"/>
          </a:xfrm>
          <a:prstGeom prst="rect">
            <a:avLst/>
          </a:prstGeom>
          <a:noFill/>
        </p:spPr>
        <p:txBody>
          <a:bodyPr wrap="square" rtlCol="0">
            <a:spAutoFit/>
          </a:bodyPr>
          <a:p>
            <a:pPr algn="ctr"/>
            <a:r>
              <a:rPr lang="en-US" altLang="zh-CN"/>
              <a:t>AST</a:t>
            </a:r>
            <a:r>
              <a:rPr lang="zh-CN" altLang="en-US"/>
              <a:t>模板匹配逻辑得到</a:t>
            </a:r>
            <a:r>
              <a:rPr lang="en-US" altLang="zh-CN"/>
              <a:t> </a:t>
            </a:r>
            <a:r>
              <a:rPr lang="en-US" altLang="zh-CN"/>
              <a:t>COT</a:t>
            </a:r>
            <a:endParaRPr lang="en-US" altLang="zh-CN"/>
          </a:p>
        </p:txBody>
      </p:sp>
      <p:sp>
        <p:nvSpPr>
          <p:cNvPr id="18" name="矩形 17"/>
          <p:cNvSpPr/>
          <p:nvPr/>
        </p:nvSpPr>
        <p:spPr>
          <a:xfrm>
            <a:off x="5149850" y="1977390"/>
            <a:ext cx="6436360" cy="3348990"/>
          </a:xfrm>
          <a:prstGeom prst="rect">
            <a:avLst/>
          </a:prstGeom>
          <a:ln>
            <a:solidFill>
              <a:schemeClr val="accent2">
                <a:lumMod val="75000"/>
              </a:schemeClr>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9" name="矩形 18"/>
          <p:cNvSpPr/>
          <p:nvPr/>
        </p:nvSpPr>
        <p:spPr>
          <a:xfrm>
            <a:off x="6936740" y="1977390"/>
            <a:ext cx="1842135" cy="447040"/>
          </a:xfrm>
          <a:prstGeom prst="rect">
            <a:avLst/>
          </a:prstGeom>
          <a:solidFill>
            <a:schemeClr val="accent2">
              <a:lumMod val="60000"/>
              <a:lumOff val="40000"/>
            </a:schemeClr>
          </a:solidFill>
          <a:ln>
            <a:solidFill>
              <a:schemeClr val="accent2">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数据集增广</a:t>
            </a:r>
            <a:r>
              <a:rPr lang="zh-CN" altLang="en-US"/>
              <a:t>框架</a:t>
            </a:r>
            <a:endParaRPr lang="zh-CN" altLang="en-US"/>
          </a:p>
        </p:txBody>
      </p:sp>
      <p:grpSp>
        <p:nvGrpSpPr>
          <p:cNvPr id="35" name="组合 34"/>
          <p:cNvGrpSpPr/>
          <p:nvPr/>
        </p:nvGrpSpPr>
        <p:grpSpPr>
          <a:xfrm rot="0">
            <a:off x="5391150" y="2585085"/>
            <a:ext cx="5712460" cy="336550"/>
            <a:chOff x="8830" y="3658"/>
            <a:chExt cx="8996" cy="530"/>
          </a:xfrm>
        </p:grpSpPr>
        <p:sp>
          <p:nvSpPr>
            <p:cNvPr id="27" name="矩形 26"/>
            <p:cNvSpPr/>
            <p:nvPr/>
          </p:nvSpPr>
          <p:spPr>
            <a:xfrm>
              <a:off x="8830" y="3717"/>
              <a:ext cx="429" cy="434"/>
            </a:xfrm>
            <a:prstGeom prst="rect">
              <a:avLst/>
            </a:prstGeom>
            <a:solidFill>
              <a:schemeClr val="accent6">
                <a:lumMod val="60000"/>
                <a:lumOff val="40000"/>
              </a:schemeClr>
            </a:solid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ltLang="zh-CN"/>
            </a:p>
          </p:txBody>
        </p:sp>
        <p:sp>
          <p:nvSpPr>
            <p:cNvPr id="28" name="文本框 27"/>
            <p:cNvSpPr txBox="1"/>
            <p:nvPr/>
          </p:nvSpPr>
          <p:spPr>
            <a:xfrm>
              <a:off x="9412" y="3658"/>
              <a:ext cx="8415" cy="531"/>
            </a:xfrm>
            <a:prstGeom prst="rect">
              <a:avLst/>
            </a:prstGeom>
            <a:noFill/>
          </p:spPr>
          <p:txBody>
            <a:bodyPr wrap="square" rtlCol="0">
              <a:spAutoFit/>
            </a:bodyPr>
            <a:p>
              <a:pPr algn="l"/>
              <a:r>
                <a:rPr lang="en-US" altLang="zh-CN" sz="1600" b="1" u="sng" dirty="0">
                  <a:sym typeface="+mn-ea"/>
                </a:rPr>
                <a:t>execute_tasks</a:t>
              </a:r>
              <a:r>
                <a:rPr lang="zh-CN" altLang="en-US" sz="1600" dirty="0">
                  <a:sym typeface="+mn-ea"/>
                </a:rPr>
                <a:t>：数据集变为可执行代码，并记录执行结果</a:t>
              </a:r>
              <a:endParaRPr lang="zh-CN" altLang="en-US" sz="1600" dirty="0">
                <a:sym typeface="+mn-ea"/>
              </a:endParaRPr>
            </a:p>
          </p:txBody>
        </p:sp>
      </p:grpSp>
      <p:grpSp>
        <p:nvGrpSpPr>
          <p:cNvPr id="37" name="组合 36"/>
          <p:cNvGrpSpPr/>
          <p:nvPr/>
        </p:nvGrpSpPr>
        <p:grpSpPr>
          <a:xfrm>
            <a:off x="5391150" y="3312795"/>
            <a:ext cx="6050280" cy="336550"/>
            <a:chOff x="8830" y="4442"/>
            <a:chExt cx="9528" cy="530"/>
          </a:xfrm>
        </p:grpSpPr>
        <p:sp>
          <p:nvSpPr>
            <p:cNvPr id="29" name="矩形 28"/>
            <p:cNvSpPr/>
            <p:nvPr/>
          </p:nvSpPr>
          <p:spPr>
            <a:xfrm>
              <a:off x="8830" y="4501"/>
              <a:ext cx="429" cy="434"/>
            </a:xfrm>
            <a:prstGeom prst="rect">
              <a:avLst/>
            </a:prstGeom>
            <a:solidFill>
              <a:schemeClr val="accent1">
                <a:lumMod val="60000"/>
                <a:lumOff val="40000"/>
              </a:schemeClr>
            </a:solidFill>
          </p:spPr>
          <p:style>
            <a:lnRef idx="2">
              <a:schemeClr val="accent1"/>
            </a:lnRef>
            <a:fillRef idx="0">
              <a:srgbClr val="FFFFFF"/>
            </a:fillRef>
            <a:effectRef idx="0">
              <a:srgbClr val="FFFFFF"/>
            </a:effectRef>
            <a:fontRef idx="minor">
              <a:schemeClr val="tx1"/>
            </a:fontRef>
          </p:style>
          <p:txBody>
            <a:bodyPr rtlCol="0" anchor="ctr"/>
            <a:p>
              <a:pPr algn="ctr"/>
              <a:endParaRPr lang="en-US" altLang="zh-CN"/>
            </a:p>
          </p:txBody>
        </p:sp>
        <p:sp>
          <p:nvSpPr>
            <p:cNvPr id="30" name="文本框 29"/>
            <p:cNvSpPr txBox="1"/>
            <p:nvPr/>
          </p:nvSpPr>
          <p:spPr>
            <a:xfrm>
              <a:off x="9412" y="4442"/>
              <a:ext cx="8947" cy="531"/>
            </a:xfrm>
            <a:prstGeom prst="rect">
              <a:avLst/>
            </a:prstGeom>
            <a:noFill/>
          </p:spPr>
          <p:txBody>
            <a:bodyPr wrap="square" rtlCol="0">
              <a:spAutoFit/>
            </a:bodyPr>
            <a:p>
              <a:pPr algn="l"/>
              <a:r>
                <a:rPr lang="en-US" altLang="zh-CN" sz="1600" b="1" u="sng" dirty="0">
                  <a:sym typeface="+mn-ea"/>
                </a:rPr>
                <a:t>generate_cot</a:t>
              </a:r>
              <a:r>
                <a:rPr lang="zh-CN" altLang="en-US" sz="1600" dirty="0">
                  <a:sym typeface="+mn-ea"/>
                </a:rPr>
                <a:t>：</a:t>
              </a:r>
              <a:r>
                <a:rPr lang="en-US" altLang="zh-CN" sz="1600" dirty="0">
                  <a:sym typeface="+mn-ea"/>
                </a:rPr>
                <a:t>AI</a:t>
              </a:r>
              <a:r>
                <a:rPr lang="zh-CN" altLang="en-US" sz="1600" dirty="0">
                  <a:sym typeface="+mn-ea"/>
                </a:rPr>
                <a:t>分析目标行号变量、接入</a:t>
              </a:r>
              <a:r>
                <a:rPr lang="en-US" altLang="zh-CN" sz="1600" dirty="0">
                  <a:sym typeface="+mn-ea"/>
                </a:rPr>
                <a:t>cot</a:t>
              </a:r>
              <a:r>
                <a:rPr lang="zh-CN" altLang="en-US" sz="1600" dirty="0">
                  <a:sym typeface="+mn-ea"/>
                </a:rPr>
                <a:t>生成框架</a:t>
              </a:r>
              <a:r>
                <a:rPr lang="zh-CN" altLang="en-US" sz="1600" dirty="0">
                  <a:sym typeface="+mn-ea"/>
                </a:rPr>
                <a:t>逻辑</a:t>
              </a:r>
              <a:endParaRPr lang="zh-CN" altLang="en-US" sz="1600" dirty="0">
                <a:sym typeface="+mn-ea"/>
              </a:endParaRPr>
            </a:p>
          </p:txBody>
        </p:sp>
      </p:grpSp>
      <p:grpSp>
        <p:nvGrpSpPr>
          <p:cNvPr id="39" name="组合 38"/>
          <p:cNvGrpSpPr/>
          <p:nvPr/>
        </p:nvGrpSpPr>
        <p:grpSpPr>
          <a:xfrm>
            <a:off x="5391150" y="4040505"/>
            <a:ext cx="6051550" cy="336550"/>
            <a:chOff x="8830" y="5348"/>
            <a:chExt cx="9530" cy="530"/>
          </a:xfrm>
        </p:grpSpPr>
        <p:sp>
          <p:nvSpPr>
            <p:cNvPr id="31" name="矩形 30"/>
            <p:cNvSpPr/>
            <p:nvPr/>
          </p:nvSpPr>
          <p:spPr>
            <a:xfrm>
              <a:off x="8830" y="5407"/>
              <a:ext cx="429" cy="434"/>
            </a:xfrm>
            <a:prstGeom prst="rect">
              <a:avLst/>
            </a:prstGeom>
            <a:solidFill>
              <a:schemeClr val="accent5">
                <a:lumMod val="40000"/>
                <a:lumOff val="60000"/>
              </a:schemeClr>
            </a:solidFill>
          </p:spPr>
          <p:style>
            <a:lnRef idx="2">
              <a:schemeClr val="accent5"/>
            </a:lnRef>
            <a:fillRef idx="2">
              <a:schemeClr val="accent5"/>
            </a:fillRef>
            <a:effectRef idx="0">
              <a:srgbClr val="FFFFFF"/>
            </a:effectRef>
            <a:fontRef idx="minor">
              <a:schemeClr val="lt1"/>
            </a:fontRef>
          </p:style>
          <p:txBody>
            <a:bodyPr rtlCol="0" anchor="ctr"/>
            <a:p>
              <a:pPr algn="ctr"/>
              <a:endParaRPr lang="en-US" altLang="zh-CN"/>
            </a:p>
          </p:txBody>
        </p:sp>
        <p:sp>
          <p:nvSpPr>
            <p:cNvPr id="32" name="文本框 31"/>
            <p:cNvSpPr txBox="1"/>
            <p:nvPr/>
          </p:nvSpPr>
          <p:spPr>
            <a:xfrm>
              <a:off x="9412" y="5348"/>
              <a:ext cx="8948" cy="531"/>
            </a:xfrm>
            <a:prstGeom prst="rect">
              <a:avLst/>
            </a:prstGeom>
            <a:noFill/>
          </p:spPr>
          <p:txBody>
            <a:bodyPr wrap="square" rtlCol="0">
              <a:spAutoFit/>
            </a:bodyPr>
            <a:p>
              <a:pPr algn="l"/>
              <a:r>
                <a:rPr lang="en-US" altLang="zh-CN" sz="1600" b="1" u="sng" dirty="0">
                  <a:sym typeface="+mn-ea"/>
                </a:rPr>
                <a:t>ai_evaluation</a:t>
              </a:r>
              <a:r>
                <a:rPr lang="zh-CN" altLang="en-US" sz="1600" dirty="0">
                  <a:sym typeface="+mn-ea"/>
                </a:rPr>
                <a:t>：调用五个开源</a:t>
              </a:r>
              <a:r>
                <a:rPr lang="en-US" altLang="zh-CN" sz="1600" dirty="0">
                  <a:sym typeface="+mn-ea"/>
                </a:rPr>
                <a:t>ai</a:t>
              </a:r>
              <a:r>
                <a:rPr lang="zh-CN" altLang="en-US" sz="1600" dirty="0">
                  <a:sym typeface="+mn-ea"/>
                </a:rPr>
                <a:t>分析预测结果，并更新难度</a:t>
              </a:r>
              <a:r>
                <a:rPr lang="zh-CN" altLang="en-US" sz="1600" dirty="0">
                  <a:sym typeface="+mn-ea"/>
                </a:rPr>
                <a:t>值</a:t>
              </a:r>
              <a:endParaRPr lang="zh-CN" altLang="en-US" sz="1600" dirty="0">
                <a:sym typeface="+mn-ea"/>
              </a:endParaRPr>
            </a:p>
          </p:txBody>
        </p:sp>
      </p:grpSp>
      <p:grpSp>
        <p:nvGrpSpPr>
          <p:cNvPr id="38" name="组合 37"/>
          <p:cNvGrpSpPr/>
          <p:nvPr/>
        </p:nvGrpSpPr>
        <p:grpSpPr>
          <a:xfrm>
            <a:off x="5391150" y="4768215"/>
            <a:ext cx="6195060" cy="336550"/>
            <a:chOff x="8830" y="6132"/>
            <a:chExt cx="9756" cy="530"/>
          </a:xfrm>
        </p:grpSpPr>
        <p:sp>
          <p:nvSpPr>
            <p:cNvPr id="33" name="矩形 32"/>
            <p:cNvSpPr/>
            <p:nvPr/>
          </p:nvSpPr>
          <p:spPr>
            <a:xfrm>
              <a:off x="8830" y="6191"/>
              <a:ext cx="429" cy="434"/>
            </a:xfrm>
            <a:prstGeom prst="rect">
              <a:avLst/>
            </a:prstGeom>
            <a:solidFill>
              <a:srgbClr val="FFB7B7"/>
            </a:solidFill>
            <a:ln>
              <a:solidFill>
                <a:srgbClr val="FF0000"/>
              </a:solidFill>
            </a:ln>
          </p:spPr>
          <p:style>
            <a:lnRef idx="2">
              <a:schemeClr val="accent1"/>
            </a:lnRef>
            <a:fillRef idx="0">
              <a:srgbClr val="FFFFFF"/>
            </a:fillRef>
            <a:effectRef idx="0">
              <a:srgbClr val="FFFFFF"/>
            </a:effectRef>
            <a:fontRef idx="minor">
              <a:schemeClr val="tx1"/>
            </a:fontRef>
          </p:style>
          <p:txBody>
            <a:bodyPr rtlCol="0" anchor="ctr"/>
            <a:p>
              <a:pPr algn="ctr"/>
              <a:endParaRPr lang="en-US" altLang="zh-CN"/>
            </a:p>
          </p:txBody>
        </p:sp>
        <p:sp>
          <p:nvSpPr>
            <p:cNvPr id="34" name="文本框 33"/>
            <p:cNvSpPr txBox="1"/>
            <p:nvPr/>
          </p:nvSpPr>
          <p:spPr>
            <a:xfrm>
              <a:off x="9412" y="6132"/>
              <a:ext cx="9174" cy="531"/>
            </a:xfrm>
            <a:prstGeom prst="rect">
              <a:avLst/>
            </a:prstGeom>
            <a:noFill/>
          </p:spPr>
          <p:txBody>
            <a:bodyPr wrap="square" rtlCol="0">
              <a:spAutoFit/>
            </a:bodyPr>
            <a:p>
              <a:pPr algn="l"/>
              <a:r>
                <a:rPr lang="en-US" altLang="zh-CN" sz="1600" b="1" u="sng" dirty="0">
                  <a:sym typeface="+mn-ea"/>
                </a:rPr>
                <a:t>generate_new_task</a:t>
              </a:r>
              <a:r>
                <a:rPr lang="zh-CN" altLang="en-US" sz="1600" dirty="0">
                  <a:sym typeface="+mn-ea"/>
                </a:rPr>
                <a:t>：根据需求，均衡难度提升多样性增广</a:t>
              </a:r>
              <a:r>
                <a:rPr lang="zh-CN" altLang="en-US" sz="1600" dirty="0">
                  <a:sym typeface="+mn-ea"/>
                </a:rPr>
                <a:t>数据</a:t>
              </a:r>
              <a:endParaRPr lang="zh-CN" altLang="en-US" sz="1600" dirty="0">
                <a:sym typeface="+mn-ea"/>
              </a:endParaRPr>
            </a:p>
          </p:txBody>
        </p:sp>
      </p:grpSp>
      <p:cxnSp>
        <p:nvCxnSpPr>
          <p:cNvPr id="40" name="直接连接符 39"/>
          <p:cNvCxnSpPr/>
          <p:nvPr/>
        </p:nvCxnSpPr>
        <p:spPr>
          <a:xfrm>
            <a:off x="3806825" y="1986915"/>
            <a:ext cx="1720850" cy="1363345"/>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直接连接符 40"/>
          <p:cNvCxnSpPr/>
          <p:nvPr/>
        </p:nvCxnSpPr>
        <p:spPr>
          <a:xfrm flipV="1">
            <a:off x="3789680" y="3625850"/>
            <a:ext cx="1737995" cy="1708150"/>
          </a:xfrm>
          <a:prstGeom prst="line">
            <a:avLst/>
          </a:prstGeom>
        </p:spPr>
        <p:style>
          <a:lnRef idx="2">
            <a:schemeClr val="accent1"/>
          </a:lnRef>
          <a:fillRef idx="0">
            <a:schemeClr val="accent1"/>
          </a:fillRef>
          <a:effectRef idx="1">
            <a:schemeClr val="accent1"/>
          </a:effectRef>
          <a:fontRef idx="minor">
            <a:schemeClr val="tx1"/>
          </a:fontRef>
        </p:style>
      </p:cxnSp>
      <p:sp>
        <p:nvSpPr>
          <p:cNvPr id="42" name="文本框 41"/>
          <p:cNvSpPr txBox="1"/>
          <p:nvPr/>
        </p:nvSpPr>
        <p:spPr>
          <a:xfrm>
            <a:off x="532130" y="5879465"/>
            <a:ext cx="10253980" cy="506730"/>
          </a:xfrm>
          <a:prstGeom prst="rect">
            <a:avLst/>
          </a:prstGeom>
          <a:noFill/>
        </p:spPr>
        <p:txBody>
          <a:bodyPr wrap="square" rtlCol="0">
            <a:spAutoFit/>
          </a:bodyPr>
          <a:p>
            <a:pPr>
              <a:lnSpc>
                <a:spcPct val="150000"/>
              </a:lnSpc>
            </a:pPr>
            <a:r>
              <a:rPr lang="zh-CN"/>
              <a:t>【</a:t>
            </a:r>
            <a:r>
              <a:rPr lang="en-US" altLang="zh-CN"/>
              <a:t>Todo</a:t>
            </a:r>
            <a:r>
              <a:rPr lang="zh-CN"/>
              <a:t>】但是实际产出的时候与独立产出有一定出入，认为</a:t>
            </a:r>
            <a:r>
              <a:rPr lang="zh-CN"/>
              <a:t>是重构时没太复现好，下周内完善</a:t>
            </a:r>
            <a:r>
              <a:rPr lang="zh-CN"/>
              <a:t>好</a:t>
            </a:r>
            <a:endParaRPr lang="zh-C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进展分享三：</a:t>
            </a:r>
            <a:r>
              <a:rPr lang="zh-CN" altLang="en-US" sz="2400" dirty="0">
                <a:sym typeface="+mn-ea"/>
              </a:rPr>
              <a:t>生产了</a:t>
            </a:r>
            <a:r>
              <a:rPr lang="en-US" altLang="zh-CN" sz="2400" dirty="0">
                <a:sym typeface="+mn-ea"/>
              </a:rPr>
              <a:t>500</a:t>
            </a:r>
            <a:r>
              <a:rPr lang="zh-CN" altLang="en-US" sz="2400" dirty="0">
                <a:sym typeface="+mn-ea"/>
              </a:rPr>
              <a:t>个新的粗糙的带</a:t>
            </a:r>
            <a:r>
              <a:rPr lang="en-US" altLang="zh-CN" sz="2400" dirty="0">
                <a:sym typeface="+mn-ea"/>
              </a:rPr>
              <a:t>cot</a:t>
            </a:r>
            <a:r>
              <a:rPr lang="zh-CN" altLang="en-US" sz="2400" dirty="0">
                <a:sym typeface="+mn-ea"/>
              </a:rPr>
              <a:t>的</a:t>
            </a:r>
            <a:r>
              <a:rPr lang="en-US" altLang="zh-CN" sz="2400" dirty="0">
                <a:sym typeface="+mn-ea"/>
              </a:rPr>
              <a:t>python</a:t>
            </a:r>
            <a:r>
              <a:rPr lang="zh-CN" altLang="en-US" sz="2400" dirty="0">
                <a:sym typeface="+mn-ea"/>
              </a:rPr>
              <a:t>数据集</a:t>
            </a:r>
            <a:endParaRPr lang="zh-CN" altLang="en-US" sz="2400" dirty="0">
              <a:sym typeface="+mn-ea"/>
            </a:endParaRPr>
          </a:p>
        </p:txBody>
      </p:sp>
      <p:sp>
        <p:nvSpPr>
          <p:cNvPr id="4" name="文本框 3"/>
          <p:cNvSpPr txBox="1"/>
          <p:nvPr/>
        </p:nvSpPr>
        <p:spPr>
          <a:xfrm>
            <a:off x="532130" y="945515"/>
            <a:ext cx="10253980" cy="506730"/>
          </a:xfrm>
          <a:prstGeom prst="rect">
            <a:avLst/>
          </a:prstGeom>
          <a:noFill/>
        </p:spPr>
        <p:txBody>
          <a:bodyPr wrap="square" rtlCol="0">
            <a:spAutoFit/>
          </a:bodyPr>
          <a:p>
            <a:pPr>
              <a:lnSpc>
                <a:spcPct val="150000"/>
              </a:lnSpc>
            </a:pPr>
            <a:r>
              <a:rPr lang="zh-CN" altLang="en-US"/>
              <a:t>重新生成了：【可运行】的【带正确答案】的【带</a:t>
            </a:r>
            <a:r>
              <a:rPr lang="en-US" altLang="zh-CN"/>
              <a:t>cot</a:t>
            </a:r>
            <a:r>
              <a:rPr lang="zh-CN" altLang="en-US"/>
              <a:t>】的【高难度】数据集</a:t>
            </a:r>
            <a:r>
              <a:rPr lang="en-US" altLang="zh-CN"/>
              <a:t>500</a:t>
            </a:r>
            <a:r>
              <a:rPr lang="zh-CN" altLang="en-US"/>
              <a:t>条</a:t>
            </a:r>
            <a:endParaRPr lang="zh-CN" altLang="en-US"/>
          </a:p>
        </p:txBody>
      </p:sp>
      <p:pic>
        <p:nvPicPr>
          <p:cNvPr id="3" name="图片 2"/>
          <p:cNvPicPr>
            <a:picLocks noChangeAspect="1"/>
          </p:cNvPicPr>
          <p:nvPr/>
        </p:nvPicPr>
        <p:blipFill>
          <a:blip r:embed="rId1"/>
          <a:stretch>
            <a:fillRect/>
          </a:stretch>
        </p:blipFill>
        <p:spPr>
          <a:xfrm>
            <a:off x="532130" y="1634490"/>
            <a:ext cx="9236710" cy="455358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进展分享三：</a:t>
            </a:r>
            <a:r>
              <a:rPr lang="zh-CN" altLang="en-US" sz="2400" dirty="0">
                <a:sym typeface="+mn-ea"/>
              </a:rPr>
              <a:t>生产了</a:t>
            </a:r>
            <a:r>
              <a:rPr lang="en-US" altLang="zh-CN" sz="2400" dirty="0">
                <a:sym typeface="+mn-ea"/>
              </a:rPr>
              <a:t>500</a:t>
            </a:r>
            <a:r>
              <a:rPr lang="zh-CN" altLang="en-US" sz="2400" dirty="0">
                <a:sym typeface="+mn-ea"/>
              </a:rPr>
              <a:t>个新的粗糙的带</a:t>
            </a:r>
            <a:r>
              <a:rPr lang="en-US" altLang="zh-CN" sz="2400" dirty="0">
                <a:sym typeface="+mn-ea"/>
              </a:rPr>
              <a:t>cot</a:t>
            </a:r>
            <a:r>
              <a:rPr lang="zh-CN" altLang="en-US" sz="2400" dirty="0">
                <a:sym typeface="+mn-ea"/>
              </a:rPr>
              <a:t>的</a:t>
            </a:r>
            <a:r>
              <a:rPr lang="en-US" altLang="zh-CN" sz="2400" dirty="0">
                <a:sym typeface="+mn-ea"/>
              </a:rPr>
              <a:t>python</a:t>
            </a:r>
            <a:r>
              <a:rPr lang="zh-CN" altLang="en-US" sz="2400" dirty="0">
                <a:sym typeface="+mn-ea"/>
              </a:rPr>
              <a:t>数据集</a:t>
            </a:r>
            <a:endParaRPr lang="zh-CN" altLang="en-US" sz="2400" dirty="0">
              <a:sym typeface="+mn-ea"/>
            </a:endParaRPr>
          </a:p>
        </p:txBody>
      </p:sp>
      <p:sp>
        <p:nvSpPr>
          <p:cNvPr id="4" name="文本框 3"/>
          <p:cNvSpPr txBox="1"/>
          <p:nvPr/>
        </p:nvSpPr>
        <p:spPr>
          <a:xfrm>
            <a:off x="532130" y="945515"/>
            <a:ext cx="10253980" cy="506730"/>
          </a:xfrm>
          <a:prstGeom prst="rect">
            <a:avLst/>
          </a:prstGeom>
          <a:noFill/>
        </p:spPr>
        <p:txBody>
          <a:bodyPr wrap="square" rtlCol="0">
            <a:spAutoFit/>
          </a:bodyPr>
          <a:p>
            <a:pPr>
              <a:lnSpc>
                <a:spcPct val="150000"/>
              </a:lnSpc>
            </a:pPr>
            <a:r>
              <a:rPr lang="zh-CN" altLang="en-US"/>
              <a:t>重新生成了：【可运行】的【带正确答案】的【带</a:t>
            </a:r>
            <a:r>
              <a:rPr lang="en-US" altLang="zh-CN"/>
              <a:t>cot</a:t>
            </a:r>
            <a:r>
              <a:rPr lang="zh-CN" altLang="en-US"/>
              <a:t>】的【高难度】数据集</a:t>
            </a:r>
            <a:r>
              <a:rPr lang="en-US" altLang="zh-CN"/>
              <a:t>500</a:t>
            </a:r>
            <a:r>
              <a:rPr lang="zh-CN" altLang="en-US"/>
              <a:t>条</a:t>
            </a:r>
            <a:endParaRPr lang="zh-CN" altLang="en-US"/>
          </a:p>
        </p:txBody>
      </p:sp>
      <p:pic>
        <p:nvPicPr>
          <p:cNvPr id="5" name="图片 4"/>
          <p:cNvPicPr>
            <a:picLocks noChangeAspect="1"/>
          </p:cNvPicPr>
          <p:nvPr/>
        </p:nvPicPr>
        <p:blipFill>
          <a:blip r:embed="rId1"/>
          <a:stretch>
            <a:fillRect/>
          </a:stretch>
        </p:blipFill>
        <p:spPr>
          <a:xfrm>
            <a:off x="1030605" y="1564005"/>
            <a:ext cx="4895215" cy="5151120"/>
          </a:xfrm>
          <a:prstGeom prst="rect">
            <a:avLst/>
          </a:prstGeom>
        </p:spPr>
      </p:pic>
      <p:sp>
        <p:nvSpPr>
          <p:cNvPr id="6" name="文本框 5"/>
          <p:cNvSpPr txBox="1"/>
          <p:nvPr/>
        </p:nvSpPr>
        <p:spPr>
          <a:xfrm>
            <a:off x="6096000" y="2573020"/>
            <a:ext cx="4064000" cy="1198880"/>
          </a:xfrm>
          <a:prstGeom prst="rect">
            <a:avLst/>
          </a:prstGeom>
          <a:noFill/>
        </p:spPr>
        <p:txBody>
          <a:bodyPr wrap="square" rtlCol="0">
            <a:spAutoFit/>
          </a:bodyPr>
          <a:p>
            <a:pPr>
              <a:lnSpc>
                <a:spcPct val="200000"/>
              </a:lnSpc>
            </a:pPr>
            <a:r>
              <a:rPr lang="en-US" altLang="zh-CN"/>
              <a:t>AI</a:t>
            </a:r>
            <a:r>
              <a:rPr lang="zh-CN" altLang="en-US"/>
              <a:t>评估</a:t>
            </a:r>
            <a:r>
              <a:rPr lang="zh-CN" altLang="en-US"/>
              <a:t>结果：</a:t>
            </a:r>
            <a:endParaRPr lang="zh-CN" altLang="en-US"/>
          </a:p>
          <a:p>
            <a:pPr>
              <a:lnSpc>
                <a:spcPct val="200000"/>
              </a:lnSpc>
            </a:pPr>
            <a:r>
              <a:rPr lang="zh-CN" altLang="en-US"/>
              <a:t>常用</a:t>
            </a:r>
            <a:r>
              <a:rPr lang="en-US" altLang="zh-CN"/>
              <a:t>ai</a:t>
            </a:r>
            <a:r>
              <a:rPr lang="zh-CN" altLang="en-US"/>
              <a:t>的正确率大概是</a:t>
            </a:r>
            <a:r>
              <a:rPr lang="en-US" altLang="zh-CN"/>
              <a:t>15%</a:t>
            </a:r>
            <a:r>
              <a:rPr lang="zh-CN" altLang="en-US"/>
              <a:t>左右</a:t>
            </a:r>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进展分享三：</a:t>
            </a:r>
            <a:r>
              <a:rPr lang="zh-CN" altLang="en-US" sz="2400" dirty="0">
                <a:sym typeface="+mn-ea"/>
              </a:rPr>
              <a:t>生产了</a:t>
            </a:r>
            <a:r>
              <a:rPr lang="en-US" altLang="zh-CN" sz="2400" dirty="0">
                <a:sym typeface="+mn-ea"/>
              </a:rPr>
              <a:t>500</a:t>
            </a:r>
            <a:r>
              <a:rPr lang="zh-CN" altLang="en-US" sz="2400" dirty="0">
                <a:sym typeface="+mn-ea"/>
              </a:rPr>
              <a:t>个新的粗糙的带</a:t>
            </a:r>
            <a:r>
              <a:rPr lang="en-US" altLang="zh-CN" sz="2400" dirty="0">
                <a:sym typeface="+mn-ea"/>
              </a:rPr>
              <a:t>cot</a:t>
            </a:r>
            <a:r>
              <a:rPr lang="zh-CN" altLang="en-US" sz="2400" dirty="0">
                <a:sym typeface="+mn-ea"/>
              </a:rPr>
              <a:t>的</a:t>
            </a:r>
            <a:r>
              <a:rPr lang="en-US" altLang="zh-CN" sz="2400" dirty="0">
                <a:sym typeface="+mn-ea"/>
              </a:rPr>
              <a:t>python</a:t>
            </a:r>
            <a:r>
              <a:rPr lang="zh-CN" altLang="en-US" sz="2400" dirty="0">
                <a:sym typeface="+mn-ea"/>
              </a:rPr>
              <a:t>数据集</a:t>
            </a:r>
            <a:endParaRPr lang="zh-CN" altLang="en-US" sz="2400" dirty="0">
              <a:sym typeface="+mn-ea"/>
            </a:endParaRPr>
          </a:p>
        </p:txBody>
      </p:sp>
      <p:pic>
        <p:nvPicPr>
          <p:cNvPr id="7" name="图片 6"/>
          <p:cNvPicPr>
            <a:picLocks noChangeAspect="1"/>
          </p:cNvPicPr>
          <p:nvPr/>
        </p:nvPicPr>
        <p:blipFill>
          <a:blip r:embed="rId1"/>
          <a:stretch>
            <a:fillRect/>
          </a:stretch>
        </p:blipFill>
        <p:spPr>
          <a:xfrm>
            <a:off x="109855" y="1031875"/>
            <a:ext cx="5582285" cy="5791200"/>
          </a:xfrm>
          <a:prstGeom prst="rect">
            <a:avLst/>
          </a:prstGeom>
        </p:spPr>
      </p:pic>
      <p:pic>
        <p:nvPicPr>
          <p:cNvPr id="8" name="图片 7"/>
          <p:cNvPicPr>
            <a:picLocks noChangeAspect="1"/>
          </p:cNvPicPr>
          <p:nvPr/>
        </p:nvPicPr>
        <p:blipFill>
          <a:blip r:embed="rId2"/>
          <a:stretch>
            <a:fillRect/>
          </a:stretch>
        </p:blipFill>
        <p:spPr>
          <a:xfrm>
            <a:off x="6287135" y="1031875"/>
            <a:ext cx="5684520" cy="5791200"/>
          </a:xfrm>
          <a:prstGeom prst="rect">
            <a:avLst/>
          </a:prstGeom>
        </p:spPr>
      </p:pic>
      <p:sp>
        <p:nvSpPr>
          <p:cNvPr id="9" name="文本框 8"/>
          <p:cNvSpPr txBox="1"/>
          <p:nvPr/>
        </p:nvSpPr>
        <p:spPr>
          <a:xfrm>
            <a:off x="8535670" y="638810"/>
            <a:ext cx="2834640" cy="645160"/>
          </a:xfrm>
          <a:prstGeom prst="rect">
            <a:avLst/>
          </a:prstGeom>
          <a:noFill/>
        </p:spPr>
        <p:txBody>
          <a:bodyPr wrap="square" rtlCol="0" anchor="t">
            <a:spAutoFit/>
          </a:bodyPr>
          <a:p>
            <a:pPr>
              <a:lnSpc>
                <a:spcPct val="200000"/>
              </a:lnSpc>
            </a:pPr>
            <a:r>
              <a:rPr lang="zh-CN" altLang="en-US">
                <a:sym typeface="+mn-ea"/>
              </a:rPr>
              <a:t>不太符合预期的</a:t>
            </a:r>
            <a:r>
              <a:rPr lang="en-US" altLang="zh-CN">
                <a:sym typeface="+mn-ea"/>
              </a:rPr>
              <a:t>cot</a:t>
            </a:r>
            <a:endParaRPr lang="en-US" altLang="zh-CN">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进展分享三：</a:t>
            </a:r>
            <a:r>
              <a:rPr lang="zh-CN" altLang="en-US" sz="2400" dirty="0">
                <a:sym typeface="+mn-ea"/>
              </a:rPr>
              <a:t>生产了</a:t>
            </a:r>
            <a:r>
              <a:rPr lang="en-US" altLang="zh-CN" sz="2400" dirty="0">
                <a:sym typeface="+mn-ea"/>
              </a:rPr>
              <a:t>500</a:t>
            </a:r>
            <a:r>
              <a:rPr lang="zh-CN" altLang="en-US" sz="2400" dirty="0">
                <a:sym typeface="+mn-ea"/>
              </a:rPr>
              <a:t>个新的粗糙的带</a:t>
            </a:r>
            <a:r>
              <a:rPr lang="en-US" altLang="zh-CN" sz="2400" dirty="0">
                <a:sym typeface="+mn-ea"/>
              </a:rPr>
              <a:t>cot</a:t>
            </a:r>
            <a:r>
              <a:rPr lang="zh-CN" altLang="en-US" sz="2400" dirty="0">
                <a:sym typeface="+mn-ea"/>
              </a:rPr>
              <a:t>的</a:t>
            </a:r>
            <a:r>
              <a:rPr lang="en-US" altLang="zh-CN" sz="2400" dirty="0">
                <a:sym typeface="+mn-ea"/>
              </a:rPr>
              <a:t>python</a:t>
            </a:r>
            <a:r>
              <a:rPr lang="zh-CN" altLang="en-US" sz="2400" dirty="0">
                <a:sym typeface="+mn-ea"/>
              </a:rPr>
              <a:t>数据集</a:t>
            </a:r>
            <a:endParaRPr lang="zh-CN" altLang="en-US" sz="2400" dirty="0">
              <a:sym typeface="+mn-ea"/>
            </a:endParaRPr>
          </a:p>
        </p:txBody>
      </p:sp>
      <p:pic>
        <p:nvPicPr>
          <p:cNvPr id="3" name="图片 2"/>
          <p:cNvPicPr>
            <a:picLocks noChangeAspect="1"/>
          </p:cNvPicPr>
          <p:nvPr/>
        </p:nvPicPr>
        <p:blipFill>
          <a:blip r:embed="rId1"/>
          <a:stretch>
            <a:fillRect/>
          </a:stretch>
        </p:blipFill>
        <p:spPr>
          <a:xfrm>
            <a:off x="274320" y="807720"/>
            <a:ext cx="5723255" cy="5958205"/>
          </a:xfrm>
          <a:prstGeom prst="rect">
            <a:avLst/>
          </a:prstGeom>
        </p:spPr>
      </p:pic>
      <p:pic>
        <p:nvPicPr>
          <p:cNvPr id="4" name="图片 3"/>
          <p:cNvPicPr>
            <a:picLocks noChangeAspect="1"/>
          </p:cNvPicPr>
          <p:nvPr/>
        </p:nvPicPr>
        <p:blipFill>
          <a:blip r:embed="rId2"/>
          <a:stretch>
            <a:fillRect/>
          </a:stretch>
        </p:blipFill>
        <p:spPr>
          <a:xfrm>
            <a:off x="6093460" y="807720"/>
            <a:ext cx="5964555" cy="4185920"/>
          </a:xfrm>
          <a:prstGeom prst="rect">
            <a:avLst/>
          </a:prstGeom>
        </p:spPr>
      </p:pic>
      <p:sp>
        <p:nvSpPr>
          <p:cNvPr id="9" name="文本框 8"/>
          <p:cNvSpPr txBox="1"/>
          <p:nvPr/>
        </p:nvSpPr>
        <p:spPr>
          <a:xfrm>
            <a:off x="6093460" y="5288280"/>
            <a:ext cx="5812790" cy="1198880"/>
          </a:xfrm>
          <a:prstGeom prst="rect">
            <a:avLst/>
          </a:prstGeom>
          <a:noFill/>
        </p:spPr>
        <p:txBody>
          <a:bodyPr wrap="square" rtlCol="0" anchor="t">
            <a:spAutoFit/>
          </a:bodyPr>
          <a:p>
            <a:pPr>
              <a:lnSpc>
                <a:spcPct val="200000"/>
              </a:lnSpc>
            </a:pPr>
            <a:r>
              <a:rPr lang="zh-CN" altLang="en-US">
                <a:sym typeface="+mn-ea"/>
              </a:rPr>
              <a:t>独立框架生成的</a:t>
            </a:r>
            <a:r>
              <a:rPr lang="en-US" altLang="zh-CN">
                <a:sym typeface="+mn-ea"/>
              </a:rPr>
              <a:t>cot</a:t>
            </a:r>
            <a:r>
              <a:rPr lang="zh-CN" altLang="en-US">
                <a:sym typeface="+mn-ea"/>
              </a:rPr>
              <a:t>，基本符合预期，后续会把迁移工作再重</a:t>
            </a:r>
            <a:r>
              <a:rPr lang="zh-CN" altLang="en-US">
                <a:sym typeface="+mn-ea"/>
              </a:rPr>
              <a:t>优化</a:t>
            </a:r>
            <a:endParaRPr lang="zh-CN" altLang="en-US">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进展分享四：</a:t>
            </a:r>
            <a:r>
              <a:rPr lang="en-US" altLang="zh-CN" sz="2400" dirty="0">
                <a:sym typeface="+mn-ea"/>
              </a:rPr>
              <a:t>AI+</a:t>
            </a:r>
            <a:r>
              <a:rPr lang="zh-CN" altLang="en-US" sz="2400" dirty="0">
                <a:sym typeface="+mn-ea"/>
              </a:rPr>
              <a:t>正序</a:t>
            </a:r>
            <a:r>
              <a:rPr lang="en-US" altLang="zh-CN" sz="2400" dirty="0">
                <a:sym typeface="+mn-ea"/>
              </a:rPr>
              <a:t>cot——&gt;</a:t>
            </a:r>
            <a:r>
              <a:rPr lang="zh-CN" altLang="en-US" sz="2400" dirty="0">
                <a:sym typeface="+mn-ea"/>
              </a:rPr>
              <a:t>得到倒叙</a:t>
            </a:r>
            <a:r>
              <a:rPr lang="en-US" altLang="zh-CN" sz="2400" dirty="0">
                <a:sym typeface="+mn-ea"/>
              </a:rPr>
              <a:t>cot </a:t>
            </a:r>
            <a:r>
              <a:rPr lang="zh-CN" altLang="en-US" sz="2400" dirty="0">
                <a:sym typeface="+mn-ea"/>
              </a:rPr>
              <a:t>探索</a:t>
            </a:r>
            <a:endParaRPr lang="zh-CN" altLang="en-US" sz="2400" dirty="0">
              <a:sym typeface="+mn-ea"/>
            </a:endParaRPr>
          </a:p>
        </p:txBody>
      </p:sp>
      <p:sp>
        <p:nvSpPr>
          <p:cNvPr id="5" name="文本框 4"/>
          <p:cNvSpPr txBox="1"/>
          <p:nvPr/>
        </p:nvSpPr>
        <p:spPr>
          <a:xfrm>
            <a:off x="344805" y="1064260"/>
            <a:ext cx="11449050" cy="2861310"/>
          </a:xfrm>
          <a:prstGeom prst="rect">
            <a:avLst/>
          </a:prstGeom>
        </p:spPr>
        <p:txBody>
          <a:bodyPr wrap="square">
            <a:spAutoFit/>
          </a:bodyPr>
          <a:p>
            <a:pPr>
              <a:lnSpc>
                <a:spcPct val="200000"/>
              </a:lnSpc>
            </a:pPr>
            <a:r>
              <a:rPr lang="zh-CN" altLang="en-US"/>
              <a:t>思路：将去除答案的正序</a:t>
            </a:r>
            <a:r>
              <a:rPr lang="en-US" altLang="zh-CN"/>
              <a:t>cot</a:t>
            </a:r>
            <a:r>
              <a:rPr lang="zh-CN" altLang="en-US"/>
              <a:t>给</a:t>
            </a:r>
            <a:r>
              <a:rPr lang="en-US" altLang="zh-CN"/>
              <a:t>ai</a:t>
            </a:r>
            <a:r>
              <a:rPr lang="zh-CN" altLang="en-US"/>
              <a:t>，</a:t>
            </a:r>
            <a:r>
              <a:rPr lang="zh-CN" altLang="en-US"/>
              <a:t>并给</a:t>
            </a:r>
            <a:r>
              <a:rPr lang="en-US" altLang="zh-CN"/>
              <a:t>AI</a:t>
            </a:r>
            <a:r>
              <a:rPr lang="zh-CN" altLang="en-US"/>
              <a:t>合适的</a:t>
            </a:r>
            <a:r>
              <a:rPr lang="en-US" altLang="zh-CN"/>
              <a:t>prompt</a:t>
            </a:r>
            <a:r>
              <a:rPr lang="zh-CN" altLang="en-US"/>
              <a:t>来做思维引导</a:t>
            </a:r>
            <a:r>
              <a:rPr lang="en-US" altLang="zh-CN"/>
              <a:t>↓</a:t>
            </a:r>
            <a:endParaRPr lang="zh-CN" altLang="en-US"/>
          </a:p>
          <a:p>
            <a:pPr>
              <a:lnSpc>
                <a:spcPct val="200000"/>
              </a:lnSpc>
            </a:pPr>
            <a:r>
              <a:rPr lang="zh-CN" altLang="en-US"/>
              <a:t>【</a:t>
            </a:r>
            <a:r>
              <a:rPr lang="en-US" altLang="zh-CN"/>
              <a:t>Step1</a:t>
            </a:r>
            <a:r>
              <a:rPr lang="zh-CN" altLang="en-US"/>
              <a:t>】</a:t>
            </a:r>
            <a:r>
              <a:rPr lang="zh-CN" altLang="en-US" b="1">
                <a:effectLst>
                  <a:outerShdw blurRad="38100" dist="38100" dir="2700000" algn="tl">
                    <a:srgbClr val="000000">
                      <a:alpha val="43137"/>
                    </a:srgbClr>
                  </a:outerShdw>
                </a:effectLst>
              </a:rPr>
              <a:t>依赖识别</a:t>
            </a:r>
            <a:r>
              <a:rPr lang="zh-CN" altLang="en-US"/>
              <a:t>：从目标行出发，识别目标变量依赖哪些其他变量或表达式</a:t>
            </a:r>
            <a:endParaRPr lang="zh-CN" altLang="en-US"/>
          </a:p>
          <a:p>
            <a:pPr>
              <a:lnSpc>
                <a:spcPct val="200000"/>
              </a:lnSpc>
            </a:pPr>
            <a:r>
              <a:rPr lang="zh-CN" altLang="en-US"/>
              <a:t>【</a:t>
            </a:r>
            <a:r>
              <a:rPr lang="en-US" altLang="zh-CN"/>
              <a:t>Step2</a:t>
            </a:r>
            <a:r>
              <a:rPr lang="zh-CN" altLang="en-US"/>
              <a:t>】</a:t>
            </a:r>
            <a:r>
              <a:rPr lang="zh-CN" altLang="en-US" b="1">
                <a:effectLst>
                  <a:outerShdw blurRad="38100" dist="38100" dir="2700000" algn="tl">
                    <a:srgbClr val="000000">
                      <a:alpha val="43137"/>
                    </a:srgbClr>
                  </a:outerShdw>
                </a:effectLst>
              </a:rPr>
              <a:t>逆向追溯</a:t>
            </a:r>
            <a:r>
              <a:rPr lang="zh-CN" altLang="en-US"/>
              <a:t>：递归地向前查找每个依赖变量的最后赋值位置，直到找到所有常量或初始值</a:t>
            </a:r>
            <a:endParaRPr lang="zh-CN" altLang="en-US"/>
          </a:p>
          <a:p>
            <a:pPr>
              <a:lnSpc>
                <a:spcPct val="200000"/>
              </a:lnSpc>
            </a:pPr>
            <a:r>
              <a:rPr lang="zh-CN" altLang="en-US"/>
              <a:t>【</a:t>
            </a:r>
            <a:r>
              <a:rPr lang="en-US" altLang="zh-CN"/>
              <a:t>Step3</a:t>
            </a:r>
            <a:r>
              <a:rPr lang="zh-CN" altLang="en-US"/>
              <a:t>】</a:t>
            </a:r>
            <a:r>
              <a:rPr lang="zh-CN" altLang="en-US" b="1">
                <a:effectLst>
                  <a:outerShdw blurRad="38100" dist="38100" dir="2700000" algn="tl">
                    <a:srgbClr val="000000">
                      <a:alpha val="43137"/>
                    </a:srgbClr>
                  </a:outerShdw>
                </a:effectLst>
              </a:rPr>
              <a:t>正向计算</a:t>
            </a:r>
            <a:r>
              <a:rPr lang="zh-CN" altLang="en-US"/>
              <a:t>：依照逆向追溯的思维链快速正向计算确保</a:t>
            </a:r>
            <a:r>
              <a:rPr lang="zh-CN" altLang="en-US"/>
              <a:t>正确</a:t>
            </a:r>
            <a:endParaRPr lang="zh-CN" altLang="en-US"/>
          </a:p>
          <a:p>
            <a:pPr>
              <a:lnSpc>
                <a:spcPct val="200000"/>
              </a:lnSpc>
            </a:pPr>
            <a:r>
              <a:rPr lang="zh-CN" altLang="en-US"/>
              <a:t>【</a:t>
            </a:r>
            <a:r>
              <a:rPr lang="en-US" altLang="zh-CN"/>
              <a:t>Step4</a:t>
            </a:r>
            <a:r>
              <a:rPr lang="zh-CN" altLang="en-US"/>
              <a:t>】</a:t>
            </a:r>
            <a:r>
              <a:rPr lang="zh-CN" altLang="en-US" b="1">
                <a:effectLst>
                  <a:outerShdw blurRad="38100" dist="38100" dir="2700000" algn="tl">
                    <a:srgbClr val="000000">
                      <a:alpha val="43137"/>
                    </a:srgbClr>
                  </a:outerShdw>
                </a:effectLst>
              </a:rPr>
              <a:t>约束输出格式</a:t>
            </a:r>
            <a:r>
              <a:rPr lang="zh-CN" altLang="en-US"/>
              <a:t>：通过明确的格式模板和精简要求，引导</a:t>
            </a:r>
            <a:r>
              <a:rPr lang="en-US" altLang="zh-CN"/>
              <a:t>AI</a:t>
            </a:r>
            <a:r>
              <a:rPr lang="zh-CN" altLang="en-US"/>
              <a:t>按倒序思维生成推理过程而非直接给答案</a:t>
            </a:r>
            <a:endParaRPr lang="zh-CN" altLang="en-US"/>
          </a:p>
        </p:txBody>
      </p:sp>
      <p:pic>
        <p:nvPicPr>
          <p:cNvPr id="6" name="图片 5"/>
          <p:cNvPicPr>
            <a:picLocks noChangeAspect="1"/>
          </p:cNvPicPr>
          <p:nvPr/>
        </p:nvPicPr>
        <p:blipFill>
          <a:blip r:embed="rId1"/>
          <a:stretch>
            <a:fillRect/>
          </a:stretch>
        </p:blipFill>
        <p:spPr>
          <a:xfrm>
            <a:off x="407035" y="4312285"/>
            <a:ext cx="4362450" cy="2276475"/>
          </a:xfrm>
          <a:prstGeom prst="rect">
            <a:avLst/>
          </a:prstGeom>
          <a:ln w="19050">
            <a:solidFill>
              <a:schemeClr val="accent6">
                <a:lumMod val="75000"/>
              </a:schemeClr>
            </a:solid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进展分享四：</a:t>
            </a:r>
            <a:r>
              <a:rPr lang="en-US" altLang="zh-CN" sz="2400" dirty="0">
                <a:sym typeface="+mn-ea"/>
              </a:rPr>
              <a:t>AI+</a:t>
            </a:r>
            <a:r>
              <a:rPr lang="zh-CN" altLang="en-US" sz="2400" dirty="0">
                <a:sym typeface="+mn-ea"/>
              </a:rPr>
              <a:t>正序</a:t>
            </a:r>
            <a:r>
              <a:rPr lang="en-US" altLang="zh-CN" sz="2400" dirty="0">
                <a:sym typeface="+mn-ea"/>
              </a:rPr>
              <a:t>cot——&gt;</a:t>
            </a:r>
            <a:r>
              <a:rPr lang="zh-CN" altLang="en-US" sz="2400" dirty="0">
                <a:sym typeface="+mn-ea"/>
              </a:rPr>
              <a:t>得到倒叙</a:t>
            </a:r>
            <a:r>
              <a:rPr lang="en-US" altLang="zh-CN" sz="2400" dirty="0">
                <a:sym typeface="+mn-ea"/>
              </a:rPr>
              <a:t>cot </a:t>
            </a:r>
            <a:r>
              <a:rPr lang="zh-CN" altLang="en-US" sz="2400" dirty="0">
                <a:sym typeface="+mn-ea"/>
              </a:rPr>
              <a:t>探索</a:t>
            </a:r>
            <a:endParaRPr lang="zh-CN" altLang="en-US" sz="2400" dirty="0">
              <a:sym typeface="+mn-ea"/>
            </a:endParaRPr>
          </a:p>
        </p:txBody>
      </p:sp>
      <p:pic>
        <p:nvPicPr>
          <p:cNvPr id="9" name="图片 8"/>
          <p:cNvPicPr>
            <a:picLocks noChangeAspect="1"/>
          </p:cNvPicPr>
          <p:nvPr/>
        </p:nvPicPr>
        <p:blipFill>
          <a:blip r:embed="rId1"/>
          <a:stretch>
            <a:fillRect/>
          </a:stretch>
        </p:blipFill>
        <p:spPr>
          <a:xfrm>
            <a:off x="344805" y="985520"/>
            <a:ext cx="2956560" cy="1797685"/>
          </a:xfrm>
          <a:prstGeom prst="rect">
            <a:avLst/>
          </a:prstGeom>
          <a:ln>
            <a:solidFill>
              <a:schemeClr val="accent6">
                <a:lumMod val="75000"/>
              </a:schemeClr>
            </a:solidFill>
          </a:ln>
        </p:spPr>
      </p:pic>
      <p:pic>
        <p:nvPicPr>
          <p:cNvPr id="3" name="图片 2"/>
          <p:cNvPicPr>
            <a:picLocks noChangeAspect="1"/>
          </p:cNvPicPr>
          <p:nvPr/>
        </p:nvPicPr>
        <p:blipFill>
          <a:blip r:embed="rId2"/>
          <a:stretch>
            <a:fillRect/>
          </a:stretch>
        </p:blipFill>
        <p:spPr>
          <a:xfrm>
            <a:off x="3514090" y="950595"/>
            <a:ext cx="8353425" cy="5398135"/>
          </a:xfrm>
          <a:prstGeom prst="rect">
            <a:avLst/>
          </a:prstGeom>
          <a:ln>
            <a:solidFill>
              <a:schemeClr val="accent5">
                <a:lumMod val="75000"/>
              </a:schemeClr>
            </a:solid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进展分享四：</a:t>
            </a:r>
            <a:r>
              <a:rPr lang="en-US" altLang="zh-CN" sz="2400" dirty="0">
                <a:sym typeface="+mn-ea"/>
              </a:rPr>
              <a:t>AI+</a:t>
            </a:r>
            <a:r>
              <a:rPr lang="zh-CN" altLang="en-US" sz="2400" dirty="0">
                <a:sym typeface="+mn-ea"/>
              </a:rPr>
              <a:t>正序</a:t>
            </a:r>
            <a:r>
              <a:rPr lang="en-US" altLang="zh-CN" sz="2400" dirty="0">
                <a:sym typeface="+mn-ea"/>
              </a:rPr>
              <a:t>cot——&gt;</a:t>
            </a:r>
            <a:r>
              <a:rPr lang="zh-CN" altLang="en-US" sz="2400" dirty="0">
                <a:sym typeface="+mn-ea"/>
              </a:rPr>
              <a:t>得到倒叙</a:t>
            </a:r>
            <a:r>
              <a:rPr lang="en-US" altLang="zh-CN" sz="2400" dirty="0">
                <a:sym typeface="+mn-ea"/>
              </a:rPr>
              <a:t>cot </a:t>
            </a:r>
            <a:r>
              <a:rPr lang="zh-CN" altLang="en-US" sz="2400" dirty="0">
                <a:sym typeface="+mn-ea"/>
              </a:rPr>
              <a:t>探索</a:t>
            </a:r>
            <a:endParaRPr lang="zh-CN" altLang="en-US" sz="2400" dirty="0">
              <a:sym typeface="+mn-ea"/>
            </a:endParaRPr>
          </a:p>
        </p:txBody>
      </p:sp>
      <p:sp>
        <p:nvSpPr>
          <p:cNvPr id="7" name="文本框 6"/>
          <p:cNvSpPr txBox="1"/>
          <p:nvPr/>
        </p:nvSpPr>
        <p:spPr>
          <a:xfrm>
            <a:off x="9250680" y="219075"/>
            <a:ext cx="1708785" cy="368300"/>
          </a:xfrm>
          <a:prstGeom prst="rect">
            <a:avLst/>
          </a:prstGeom>
          <a:noFill/>
        </p:spPr>
        <p:txBody>
          <a:bodyPr wrap="square" rtlCol="0">
            <a:spAutoFit/>
          </a:bodyPr>
          <a:p>
            <a:r>
              <a:rPr lang="zh-CN" altLang="en-US"/>
              <a:t>倒序</a:t>
            </a:r>
            <a:r>
              <a:rPr lang="en-US" altLang="zh-CN"/>
              <a:t>cot</a:t>
            </a:r>
            <a:endParaRPr lang="zh-CN" altLang="en-US"/>
          </a:p>
        </p:txBody>
      </p:sp>
      <p:pic>
        <p:nvPicPr>
          <p:cNvPr id="5" name="图片 4"/>
          <p:cNvPicPr>
            <a:picLocks noChangeAspect="1"/>
          </p:cNvPicPr>
          <p:nvPr/>
        </p:nvPicPr>
        <p:blipFill>
          <a:blip r:embed="rId1"/>
          <a:stretch>
            <a:fillRect/>
          </a:stretch>
        </p:blipFill>
        <p:spPr>
          <a:xfrm>
            <a:off x="274320" y="985520"/>
            <a:ext cx="6576695" cy="5640070"/>
          </a:xfrm>
          <a:prstGeom prst="rect">
            <a:avLst/>
          </a:prstGeom>
        </p:spPr>
      </p:pic>
      <p:pic>
        <p:nvPicPr>
          <p:cNvPr id="6" name="图片 5"/>
          <p:cNvPicPr>
            <a:picLocks noChangeAspect="1"/>
          </p:cNvPicPr>
          <p:nvPr/>
        </p:nvPicPr>
        <p:blipFill>
          <a:blip r:embed="rId2"/>
          <a:stretch>
            <a:fillRect/>
          </a:stretch>
        </p:blipFill>
        <p:spPr>
          <a:xfrm>
            <a:off x="4839970" y="952500"/>
            <a:ext cx="4327525" cy="5672455"/>
          </a:xfrm>
          <a:prstGeom prst="rect">
            <a:avLst/>
          </a:prstGeom>
        </p:spPr>
      </p:pic>
      <p:pic>
        <p:nvPicPr>
          <p:cNvPr id="8" name="图片 7"/>
          <p:cNvPicPr>
            <a:picLocks noChangeAspect="1"/>
          </p:cNvPicPr>
          <p:nvPr/>
        </p:nvPicPr>
        <p:blipFill>
          <a:blip r:embed="rId3"/>
          <a:stretch>
            <a:fillRect/>
          </a:stretch>
        </p:blipFill>
        <p:spPr>
          <a:xfrm>
            <a:off x="8743315" y="4743450"/>
            <a:ext cx="3208655" cy="2035175"/>
          </a:xfrm>
          <a:prstGeom prst="rect">
            <a:avLst/>
          </a:prstGeom>
        </p:spPr>
      </p:pic>
      <p:pic>
        <p:nvPicPr>
          <p:cNvPr id="9" name="图片 8"/>
          <p:cNvPicPr>
            <a:picLocks noChangeAspect="1"/>
          </p:cNvPicPr>
          <p:nvPr/>
        </p:nvPicPr>
        <p:blipFill>
          <a:blip r:embed="rId4"/>
          <a:stretch>
            <a:fillRect/>
          </a:stretch>
        </p:blipFill>
        <p:spPr>
          <a:xfrm>
            <a:off x="9060180" y="985520"/>
            <a:ext cx="2956560" cy="1797685"/>
          </a:xfrm>
          <a:prstGeom prst="rect">
            <a:avLst/>
          </a:prstGeom>
          <a:ln>
            <a:solidFill>
              <a:schemeClr val="accent6">
                <a:lumMod val="75000"/>
              </a:schemeClr>
            </a:solid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进展分享四：</a:t>
            </a:r>
            <a:r>
              <a:rPr lang="en-US" altLang="zh-CN" sz="2400" dirty="0">
                <a:sym typeface="+mn-ea"/>
              </a:rPr>
              <a:t>AI+</a:t>
            </a:r>
            <a:r>
              <a:rPr lang="zh-CN" altLang="en-US" sz="2400" dirty="0">
                <a:sym typeface="+mn-ea"/>
              </a:rPr>
              <a:t>正序</a:t>
            </a:r>
            <a:r>
              <a:rPr lang="en-US" altLang="zh-CN" sz="2400" dirty="0">
                <a:sym typeface="+mn-ea"/>
              </a:rPr>
              <a:t>cot——&gt;</a:t>
            </a:r>
            <a:r>
              <a:rPr lang="zh-CN" altLang="en-US" sz="2400" dirty="0">
                <a:sym typeface="+mn-ea"/>
              </a:rPr>
              <a:t>得到倒叙</a:t>
            </a:r>
            <a:r>
              <a:rPr lang="en-US" altLang="zh-CN" sz="2400" dirty="0">
                <a:sym typeface="+mn-ea"/>
              </a:rPr>
              <a:t>cot </a:t>
            </a:r>
            <a:r>
              <a:rPr lang="zh-CN" altLang="en-US" sz="2400" dirty="0">
                <a:sym typeface="+mn-ea"/>
              </a:rPr>
              <a:t>探索</a:t>
            </a:r>
            <a:endParaRPr lang="zh-CN" altLang="en-US" sz="2400" dirty="0">
              <a:sym typeface="+mn-ea"/>
            </a:endParaRPr>
          </a:p>
        </p:txBody>
      </p:sp>
      <p:pic>
        <p:nvPicPr>
          <p:cNvPr id="9" name="图片 8"/>
          <p:cNvPicPr>
            <a:picLocks noChangeAspect="1"/>
          </p:cNvPicPr>
          <p:nvPr/>
        </p:nvPicPr>
        <p:blipFill>
          <a:blip r:embed="rId1"/>
          <a:stretch>
            <a:fillRect/>
          </a:stretch>
        </p:blipFill>
        <p:spPr>
          <a:xfrm>
            <a:off x="344805" y="985520"/>
            <a:ext cx="2956560" cy="1797685"/>
          </a:xfrm>
          <a:prstGeom prst="rect">
            <a:avLst/>
          </a:prstGeom>
          <a:ln>
            <a:solidFill>
              <a:schemeClr val="accent6">
                <a:lumMod val="75000"/>
              </a:schemeClr>
            </a:solidFill>
          </a:ln>
        </p:spPr>
      </p:pic>
      <p:sp>
        <p:nvSpPr>
          <p:cNvPr id="8" name="文本框 7"/>
          <p:cNvSpPr txBox="1"/>
          <p:nvPr/>
        </p:nvSpPr>
        <p:spPr>
          <a:xfrm>
            <a:off x="344805" y="3300095"/>
            <a:ext cx="1976755" cy="922020"/>
          </a:xfrm>
          <a:prstGeom prst="rect">
            <a:avLst/>
          </a:prstGeom>
          <a:noFill/>
        </p:spPr>
        <p:txBody>
          <a:bodyPr wrap="square" rtlCol="0">
            <a:spAutoFit/>
          </a:bodyPr>
          <a:p>
            <a:r>
              <a:rPr lang="zh-CN" altLang="en-US"/>
              <a:t>亮点</a:t>
            </a:r>
            <a:r>
              <a:rPr lang="en-US" altLang="zh-CN"/>
              <a:t>cot</a:t>
            </a:r>
            <a:r>
              <a:rPr lang="zh-CN" altLang="en-US"/>
              <a:t>片段</a:t>
            </a:r>
            <a:r>
              <a:rPr lang="zh-CN" altLang="en-US"/>
              <a:t>分析</a:t>
            </a:r>
            <a:endParaRPr lang="zh-CN" altLang="en-US"/>
          </a:p>
          <a:p>
            <a:endParaRPr lang="zh-CN" altLang="en-US"/>
          </a:p>
          <a:p>
            <a:r>
              <a:rPr lang="zh-CN" altLang="en-US"/>
              <a:t>缺陷</a:t>
            </a:r>
            <a:r>
              <a:rPr lang="zh-CN" altLang="en-US"/>
              <a:t>总结</a:t>
            </a:r>
            <a:endParaRPr lang="zh-CN" altLang="en-US"/>
          </a:p>
        </p:txBody>
      </p:sp>
      <p:pic>
        <p:nvPicPr>
          <p:cNvPr id="10" name="图片 9"/>
          <p:cNvPicPr>
            <a:picLocks noChangeAspect="1"/>
          </p:cNvPicPr>
          <p:nvPr/>
        </p:nvPicPr>
        <p:blipFill>
          <a:blip r:embed="rId2"/>
          <a:stretch>
            <a:fillRect/>
          </a:stretch>
        </p:blipFill>
        <p:spPr>
          <a:xfrm>
            <a:off x="3718560" y="985520"/>
            <a:ext cx="7964805" cy="1574800"/>
          </a:xfrm>
          <a:prstGeom prst="rect">
            <a:avLst/>
          </a:prstGeom>
          <a:ln>
            <a:solidFill>
              <a:schemeClr val="accent5">
                <a:lumMod val="75000"/>
              </a:schemeClr>
            </a:solidFill>
          </a:ln>
        </p:spPr>
      </p:pic>
      <p:sp>
        <p:nvSpPr>
          <p:cNvPr id="11" name="文本框 10"/>
          <p:cNvSpPr txBox="1"/>
          <p:nvPr/>
        </p:nvSpPr>
        <p:spPr>
          <a:xfrm>
            <a:off x="3718560" y="2560320"/>
            <a:ext cx="5187315" cy="368300"/>
          </a:xfrm>
          <a:prstGeom prst="rect">
            <a:avLst/>
          </a:prstGeom>
          <a:noFill/>
        </p:spPr>
        <p:txBody>
          <a:bodyPr wrap="square" rtlCol="0">
            <a:spAutoFit/>
          </a:bodyPr>
          <a:p>
            <a:r>
              <a:rPr lang="zh-CN" altLang="en-US"/>
              <a:t>亮点：分析了依赖，开始逆序</a:t>
            </a:r>
            <a:r>
              <a:rPr lang="zh-CN" altLang="en-US"/>
              <a:t>思考</a:t>
            </a:r>
            <a:endParaRPr lang="zh-CN" altLang="en-US"/>
          </a:p>
        </p:txBody>
      </p:sp>
      <p:pic>
        <p:nvPicPr>
          <p:cNvPr id="12" name="图片 11"/>
          <p:cNvPicPr>
            <a:picLocks noChangeAspect="1"/>
          </p:cNvPicPr>
          <p:nvPr/>
        </p:nvPicPr>
        <p:blipFill>
          <a:blip r:embed="rId3"/>
          <a:stretch>
            <a:fillRect/>
          </a:stretch>
        </p:blipFill>
        <p:spPr>
          <a:xfrm>
            <a:off x="3718560" y="2976245"/>
            <a:ext cx="6067425" cy="1266825"/>
          </a:xfrm>
          <a:prstGeom prst="rect">
            <a:avLst/>
          </a:prstGeom>
          <a:ln>
            <a:solidFill>
              <a:schemeClr val="accent5">
                <a:lumMod val="75000"/>
              </a:schemeClr>
            </a:solidFill>
          </a:ln>
        </p:spPr>
      </p:pic>
      <p:sp>
        <p:nvSpPr>
          <p:cNvPr id="13" name="文本框 12"/>
          <p:cNvSpPr txBox="1"/>
          <p:nvPr/>
        </p:nvSpPr>
        <p:spPr>
          <a:xfrm>
            <a:off x="3718560" y="4352290"/>
            <a:ext cx="5187315" cy="368300"/>
          </a:xfrm>
          <a:prstGeom prst="rect">
            <a:avLst/>
          </a:prstGeom>
          <a:noFill/>
        </p:spPr>
        <p:txBody>
          <a:bodyPr wrap="square" rtlCol="0">
            <a:spAutoFit/>
          </a:bodyPr>
          <a:p>
            <a:r>
              <a:rPr lang="zh-CN" altLang="en-US"/>
              <a:t>亮点：适当分析了循环的</a:t>
            </a:r>
            <a:r>
              <a:rPr lang="zh-CN" altLang="en-US"/>
              <a:t>影响</a:t>
            </a:r>
            <a:endParaRPr lang="zh-CN" altLang="en-US"/>
          </a:p>
        </p:txBody>
      </p:sp>
      <p:pic>
        <p:nvPicPr>
          <p:cNvPr id="15" name="图片 14"/>
          <p:cNvPicPr>
            <a:picLocks noChangeAspect="1"/>
          </p:cNvPicPr>
          <p:nvPr/>
        </p:nvPicPr>
        <p:blipFill>
          <a:blip r:embed="rId4"/>
          <a:stretch>
            <a:fillRect/>
          </a:stretch>
        </p:blipFill>
        <p:spPr>
          <a:xfrm>
            <a:off x="3718560" y="4777105"/>
            <a:ext cx="7030720" cy="907415"/>
          </a:xfrm>
          <a:prstGeom prst="rect">
            <a:avLst/>
          </a:prstGeom>
          <a:ln>
            <a:solidFill>
              <a:schemeClr val="accent5">
                <a:lumMod val="75000"/>
              </a:schemeClr>
            </a:solidFill>
          </a:ln>
        </p:spPr>
      </p:pic>
      <p:sp>
        <p:nvSpPr>
          <p:cNvPr id="16" name="文本框 15"/>
          <p:cNvSpPr txBox="1"/>
          <p:nvPr/>
        </p:nvSpPr>
        <p:spPr>
          <a:xfrm>
            <a:off x="3718560" y="5798820"/>
            <a:ext cx="7030085" cy="368300"/>
          </a:xfrm>
          <a:prstGeom prst="rect">
            <a:avLst/>
          </a:prstGeom>
          <a:noFill/>
        </p:spPr>
        <p:txBody>
          <a:bodyPr wrap="square" rtlCol="0">
            <a:spAutoFit/>
          </a:bodyPr>
          <a:p>
            <a:r>
              <a:rPr lang="zh-CN" altLang="en-US"/>
              <a:t>缺陷：由于是</a:t>
            </a:r>
            <a:r>
              <a:rPr lang="en-US" altLang="zh-CN"/>
              <a:t>ai</a:t>
            </a:r>
            <a:r>
              <a:rPr lang="zh-CN" altLang="en-US"/>
              <a:t>，所以反复</a:t>
            </a:r>
            <a:r>
              <a:rPr lang="en-US" altLang="zh-CN"/>
              <a:t>wait</a:t>
            </a:r>
            <a:r>
              <a:rPr lang="zh-CN" altLang="en-US"/>
              <a:t>重新思考，整体过于冗长且逻辑</a:t>
            </a:r>
            <a:r>
              <a:rPr lang="zh-CN" altLang="en-US"/>
              <a:t>混乱</a:t>
            </a:r>
            <a:endParaRPr lang="zh-CN" altLang="en-US"/>
          </a:p>
        </p:txBody>
      </p:sp>
      <p:pic>
        <p:nvPicPr>
          <p:cNvPr id="17" name="图片 16"/>
          <p:cNvPicPr>
            <a:picLocks noChangeAspect="1"/>
          </p:cNvPicPr>
          <p:nvPr/>
        </p:nvPicPr>
        <p:blipFill>
          <a:blip r:embed="rId5"/>
          <a:stretch>
            <a:fillRect/>
          </a:stretch>
        </p:blipFill>
        <p:spPr>
          <a:xfrm>
            <a:off x="10800715" y="4720590"/>
            <a:ext cx="1066800" cy="971550"/>
          </a:xfrm>
          <a:prstGeom prst="rect">
            <a:avLst/>
          </a:prstGeom>
          <a:ln>
            <a:solidFill>
              <a:schemeClr val="accent5">
                <a:lumMod val="75000"/>
              </a:schemeClr>
            </a:solid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进展分享四：</a:t>
            </a:r>
            <a:r>
              <a:rPr lang="en-US" altLang="zh-CN" sz="2400" dirty="0">
                <a:sym typeface="+mn-ea"/>
              </a:rPr>
              <a:t>AI+</a:t>
            </a:r>
            <a:r>
              <a:rPr lang="zh-CN" altLang="en-US" sz="2400" dirty="0">
                <a:sym typeface="+mn-ea"/>
              </a:rPr>
              <a:t>正序</a:t>
            </a:r>
            <a:r>
              <a:rPr lang="en-US" altLang="zh-CN" sz="2400" dirty="0">
                <a:sym typeface="+mn-ea"/>
              </a:rPr>
              <a:t>cot——&gt;</a:t>
            </a:r>
            <a:r>
              <a:rPr lang="zh-CN" altLang="en-US" sz="2400" dirty="0">
                <a:sym typeface="+mn-ea"/>
              </a:rPr>
              <a:t>得到倒叙</a:t>
            </a:r>
            <a:r>
              <a:rPr lang="en-US" altLang="zh-CN" sz="2400" dirty="0">
                <a:sym typeface="+mn-ea"/>
              </a:rPr>
              <a:t>cot </a:t>
            </a:r>
            <a:r>
              <a:rPr lang="zh-CN" altLang="en-US" sz="2400" dirty="0">
                <a:sym typeface="+mn-ea"/>
              </a:rPr>
              <a:t>探索</a:t>
            </a:r>
            <a:endParaRPr lang="zh-CN" altLang="en-US" sz="2400" dirty="0">
              <a:sym typeface="+mn-ea"/>
            </a:endParaRPr>
          </a:p>
        </p:txBody>
      </p:sp>
      <p:sp>
        <p:nvSpPr>
          <p:cNvPr id="5" name="文本框 4"/>
          <p:cNvSpPr txBox="1"/>
          <p:nvPr/>
        </p:nvSpPr>
        <p:spPr>
          <a:xfrm>
            <a:off x="344805" y="1064260"/>
            <a:ext cx="11449050" cy="3784600"/>
          </a:xfrm>
          <a:prstGeom prst="rect">
            <a:avLst/>
          </a:prstGeom>
        </p:spPr>
        <p:txBody>
          <a:bodyPr wrap="square">
            <a:spAutoFit/>
          </a:bodyPr>
          <a:p>
            <a:pPr>
              <a:lnSpc>
                <a:spcPct val="200000"/>
              </a:lnSpc>
            </a:pPr>
            <a:r>
              <a:rPr lang="zh-CN" altLang="en-US" sz="2000"/>
              <a:t>总结：</a:t>
            </a:r>
            <a:r>
              <a:rPr lang="en-US" altLang="zh-CN" sz="2000"/>
              <a:t>AI</a:t>
            </a:r>
            <a:r>
              <a:rPr lang="zh-CN" altLang="en-US" sz="2000"/>
              <a:t>确实很好的理解了逆向思考的这一需求，且能完整走通逆向思考步骤，给出合适的</a:t>
            </a:r>
            <a:r>
              <a:rPr lang="en-US" altLang="zh-CN" sz="2000"/>
              <a:t>cot</a:t>
            </a:r>
            <a:r>
              <a:rPr lang="zh-CN" altLang="en-US" sz="2000"/>
              <a:t>。</a:t>
            </a:r>
            <a:endParaRPr lang="zh-CN" altLang="en-US" sz="2000"/>
          </a:p>
          <a:p>
            <a:pPr>
              <a:lnSpc>
                <a:spcPct val="200000"/>
              </a:lnSpc>
            </a:pPr>
            <a:r>
              <a:rPr lang="zh-CN" altLang="en-US" sz="2000"/>
              <a:t>但有明显缺陷是其容易陷入思维死循环，且最终</a:t>
            </a:r>
            <a:r>
              <a:rPr lang="en-US" altLang="zh-CN" sz="2000"/>
              <a:t>cot</a:t>
            </a:r>
            <a:r>
              <a:rPr lang="zh-CN" altLang="en-US" sz="2000"/>
              <a:t>不如直接硬编码</a:t>
            </a:r>
            <a:r>
              <a:rPr lang="en-US" altLang="zh-CN" sz="2000"/>
              <a:t>cot</a:t>
            </a:r>
            <a:r>
              <a:rPr lang="zh-CN" altLang="en-US" sz="2000"/>
              <a:t>简洁明了。</a:t>
            </a:r>
            <a:r>
              <a:rPr lang="en-US" altLang="zh-CN" sz="2000"/>
              <a:t>ai cot</a:t>
            </a:r>
            <a:r>
              <a:rPr lang="zh-CN" altLang="en-US" sz="2000"/>
              <a:t>更</a:t>
            </a:r>
            <a:r>
              <a:rPr lang="zh-CN" altLang="en-US" sz="2000"/>
              <a:t>冗杂。</a:t>
            </a:r>
            <a:endParaRPr lang="zh-CN" altLang="en-US" sz="2000"/>
          </a:p>
          <a:p>
            <a:pPr>
              <a:lnSpc>
                <a:spcPct val="200000"/>
              </a:lnSpc>
            </a:pPr>
            <a:endParaRPr lang="zh-CN" altLang="en-US" sz="2000"/>
          </a:p>
          <a:p>
            <a:pPr>
              <a:lnSpc>
                <a:spcPct val="200000"/>
              </a:lnSpc>
            </a:pPr>
            <a:r>
              <a:rPr lang="zh-CN" altLang="en-US" sz="2000"/>
              <a:t>解决方案思考：</a:t>
            </a:r>
            <a:endParaRPr lang="zh-CN" altLang="en-US" sz="2000"/>
          </a:p>
          <a:p>
            <a:pPr>
              <a:lnSpc>
                <a:spcPct val="200000"/>
              </a:lnSpc>
            </a:pPr>
            <a:r>
              <a:rPr lang="en-US" altLang="zh-CN" sz="2000"/>
              <a:t>1. </a:t>
            </a:r>
            <a:r>
              <a:rPr lang="zh-CN" altLang="en-US" sz="2000"/>
              <a:t>限制</a:t>
            </a:r>
            <a:r>
              <a:rPr lang="en-US" altLang="zh-CN" sz="2000"/>
              <a:t>ai</a:t>
            </a:r>
            <a:r>
              <a:rPr lang="zh-CN" altLang="en-US" sz="2000"/>
              <a:t>回答长度、要求其用简短的话回复（面临丢失信息跳</a:t>
            </a:r>
            <a:r>
              <a:rPr lang="zh-CN" altLang="en-US" sz="2000"/>
              <a:t>步骤风险）</a:t>
            </a:r>
            <a:endParaRPr lang="zh-CN" altLang="en-US" sz="2000"/>
          </a:p>
          <a:p>
            <a:pPr>
              <a:lnSpc>
                <a:spcPct val="200000"/>
              </a:lnSpc>
            </a:pPr>
            <a:r>
              <a:rPr lang="en-US" altLang="zh-CN" sz="2000"/>
              <a:t>2. </a:t>
            </a:r>
            <a:r>
              <a:rPr lang="zh-CN" altLang="en-US" sz="2000"/>
              <a:t>调用能力更高</a:t>
            </a:r>
            <a:r>
              <a:rPr lang="en-US" altLang="zh-CN" sz="2000"/>
              <a:t>ai</a:t>
            </a:r>
            <a:r>
              <a:rPr lang="zh-CN" altLang="en-US" sz="2000"/>
              <a:t>尝试，目前是校园算力平台中开源</a:t>
            </a:r>
            <a:r>
              <a:rPr lang="en-US" altLang="zh-CN" sz="2000"/>
              <a:t>qwen</a:t>
            </a:r>
            <a:endParaRPr lang="en-US" altLang="zh-CN" sz="20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进展分享五：</a:t>
            </a:r>
            <a:r>
              <a:rPr lang="zh-CN" altLang="en-US" sz="2400" dirty="0">
                <a:sym typeface="+mn-ea"/>
              </a:rPr>
              <a:t>思路相近的一个工作</a:t>
            </a:r>
            <a:r>
              <a:rPr lang="en-US" altLang="zh-CN" sz="2400" dirty="0">
                <a:sym typeface="+mn-ea"/>
              </a:rPr>
              <a:t> code+</a:t>
            </a:r>
            <a:r>
              <a:rPr lang="zh-CN" altLang="en-US" sz="2400" dirty="0">
                <a:sym typeface="+mn-ea"/>
              </a:rPr>
              <a:t>执行轨迹</a:t>
            </a:r>
            <a:r>
              <a:rPr lang="en-US" altLang="zh-CN" sz="2400" dirty="0">
                <a:sym typeface="+mn-ea"/>
              </a:rPr>
              <a:t>—&gt;AI—&gt;</a:t>
            </a:r>
            <a:r>
              <a:rPr lang="zh-CN" altLang="en-US" sz="2400" dirty="0">
                <a:sym typeface="+mn-ea"/>
              </a:rPr>
              <a:t>自然语言</a:t>
            </a:r>
            <a:r>
              <a:rPr lang="en-US" altLang="zh-CN" sz="2400" dirty="0">
                <a:sym typeface="+mn-ea"/>
              </a:rPr>
              <a:t>cot</a:t>
            </a:r>
            <a:endParaRPr lang="zh-CN" altLang="en-US" sz="2400" dirty="0">
              <a:sym typeface="+mn-ea"/>
            </a:endParaRPr>
          </a:p>
        </p:txBody>
      </p:sp>
      <p:sp>
        <p:nvSpPr>
          <p:cNvPr id="3" name="文本框 2"/>
          <p:cNvSpPr txBox="1"/>
          <p:nvPr/>
        </p:nvSpPr>
        <p:spPr>
          <a:xfrm>
            <a:off x="344805" y="970915"/>
            <a:ext cx="10856595" cy="736600"/>
          </a:xfrm>
          <a:prstGeom prst="rect">
            <a:avLst/>
          </a:prstGeom>
          <a:ln>
            <a:solidFill>
              <a:schemeClr val="bg1">
                <a:lumMod val="85000"/>
              </a:schemeClr>
            </a:solidFill>
          </a:ln>
        </p:spPr>
        <p:txBody>
          <a:bodyPr wrap="square">
            <a:noAutofit/>
          </a:bodyPr>
          <a:p>
            <a:pPr marL="95250" indent="0">
              <a:lnSpc>
                <a:spcPct val="150000"/>
              </a:lnSpc>
              <a:spcBef>
                <a:spcPts val="200"/>
              </a:spcBef>
              <a:spcAft>
                <a:spcPts val="400"/>
              </a:spcAft>
            </a:pPr>
            <a:r>
              <a:rPr lang="en-US" altLang="zh-CN" sz="2800" b="1" i="0">
                <a:solidFill>
                  <a:srgbClr val="000000"/>
                </a:solidFill>
                <a:latin typeface="黑体" panose="02010609060101010101" charset="-122"/>
                <a:ea typeface="黑体" panose="02010609060101010101" charset="-122"/>
              </a:rPr>
              <a:t>Code Execution as Grounded Supervision for LLM Reasoning</a:t>
            </a:r>
            <a:endParaRPr lang="en-US" altLang="zh-CN" sz="2800" b="1" i="0">
              <a:solidFill>
                <a:srgbClr val="000000"/>
              </a:solidFill>
              <a:latin typeface="黑体" panose="02010609060101010101" charset="-122"/>
              <a:ea typeface="黑体" panose="02010609060101010101" charset="-122"/>
            </a:endParaRPr>
          </a:p>
        </p:txBody>
      </p:sp>
      <p:sp>
        <p:nvSpPr>
          <p:cNvPr id="4" name="文本框 3"/>
          <p:cNvSpPr txBox="1"/>
          <p:nvPr/>
        </p:nvSpPr>
        <p:spPr>
          <a:xfrm>
            <a:off x="344805" y="2164715"/>
            <a:ext cx="10856595" cy="3322955"/>
          </a:xfrm>
          <a:prstGeom prst="rect">
            <a:avLst/>
          </a:prstGeom>
        </p:spPr>
        <p:txBody>
          <a:bodyPr wrap="square">
            <a:spAutoFit/>
          </a:bodyPr>
          <a:p>
            <a:pPr marL="0" indent="0">
              <a:lnSpc>
                <a:spcPct val="150000"/>
              </a:lnSpc>
            </a:pPr>
            <a:r>
              <a:rPr lang="zh-CN" altLang="en-US" sz="2000" b="0" i="0">
                <a:solidFill>
                  <a:srgbClr val="000000"/>
                </a:solidFill>
                <a:latin typeface="Lucida Grande"/>
                <a:ea typeface="Lucida Grande"/>
              </a:rPr>
              <a:t>事实证明，通过思维链 （</a:t>
            </a:r>
            <a:r>
              <a:rPr lang="en-US" altLang="zh-CN" sz="2000" b="0" i="0">
                <a:solidFill>
                  <a:srgbClr val="000000"/>
                </a:solidFill>
                <a:latin typeface="Lucida Grande"/>
                <a:ea typeface="Lucida Grande"/>
              </a:rPr>
              <a:t>CoT</a:t>
            </a:r>
            <a:r>
              <a:rPr lang="zh-CN" altLang="en-US" sz="2000" b="0" i="0">
                <a:solidFill>
                  <a:srgbClr val="000000"/>
                </a:solidFill>
                <a:latin typeface="Lucida Grande"/>
                <a:ea typeface="Lucida Grande"/>
              </a:rPr>
              <a:t>） 监督训练大型语言模型 （</a:t>
            </a:r>
            <a:r>
              <a:rPr lang="en-US" altLang="zh-CN" sz="2000" b="0" i="0">
                <a:solidFill>
                  <a:srgbClr val="000000"/>
                </a:solidFill>
                <a:latin typeface="Lucida Grande"/>
                <a:ea typeface="Lucida Grande"/>
              </a:rPr>
              <a:t>LLM</a:t>
            </a:r>
            <a:r>
              <a:rPr lang="zh-CN" altLang="en-US" sz="2000" b="0" i="0">
                <a:solidFill>
                  <a:srgbClr val="000000"/>
                </a:solidFill>
                <a:latin typeface="Lucida Grande"/>
                <a:ea typeface="Lucida Grande"/>
              </a:rPr>
              <a:t>） 可以有效增强其推理能力。然而，获得可靠和准确的推理监督仍然是一个重大挑战。我们提出了一种可扩展的方法，</a:t>
            </a:r>
            <a:r>
              <a:rPr lang="zh-CN" altLang="en-US" sz="2000" b="1" i="0">
                <a:solidFill>
                  <a:srgbClr val="000000"/>
                </a:solidFill>
                <a:effectLst>
                  <a:outerShdw blurRad="38100" dist="38100" dir="2700000" algn="tl">
                    <a:srgbClr val="000000">
                      <a:alpha val="43137"/>
                    </a:srgbClr>
                  </a:outerShdw>
                </a:effectLst>
                <a:latin typeface="Lucida Grande"/>
                <a:ea typeface="Lucida Grande"/>
              </a:rPr>
              <a:t>利用程序执行的确定性来生成高质量的 </a:t>
            </a:r>
            <a:r>
              <a:rPr lang="en-US" altLang="zh-CN" sz="2000" b="1" i="0">
                <a:solidFill>
                  <a:srgbClr val="000000"/>
                </a:solidFill>
                <a:effectLst>
                  <a:outerShdw blurRad="38100" dist="38100" dir="2700000" algn="tl">
                    <a:srgbClr val="000000">
                      <a:alpha val="43137"/>
                    </a:srgbClr>
                  </a:outerShdw>
                </a:effectLst>
                <a:latin typeface="Lucida Grande"/>
                <a:ea typeface="Lucida Grande"/>
              </a:rPr>
              <a:t>CoT </a:t>
            </a:r>
            <a:r>
              <a:rPr lang="zh-CN" altLang="en-US" sz="2000" b="1" i="0">
                <a:solidFill>
                  <a:srgbClr val="000000"/>
                </a:solidFill>
                <a:effectLst>
                  <a:outerShdw blurRad="38100" dist="38100" dir="2700000" algn="tl">
                    <a:srgbClr val="000000">
                      <a:alpha val="43137"/>
                    </a:srgbClr>
                  </a:outerShdw>
                </a:effectLst>
                <a:latin typeface="Lucida Grande"/>
                <a:ea typeface="Lucida Grande"/>
              </a:rPr>
              <a:t>监督数据集</a:t>
            </a:r>
            <a:r>
              <a:rPr lang="zh-CN" altLang="en-US" sz="2000" b="0" i="0">
                <a:solidFill>
                  <a:srgbClr val="000000"/>
                </a:solidFill>
                <a:latin typeface="Lucida Grande"/>
                <a:ea typeface="Lucida Grande"/>
              </a:rPr>
              <a:t>。与依赖昂贵的人工注释或容易出错的 </a:t>
            </a:r>
            <a:r>
              <a:rPr lang="en-US" altLang="zh-CN" sz="2000" b="0" i="0">
                <a:solidFill>
                  <a:srgbClr val="000000"/>
                </a:solidFill>
                <a:latin typeface="Lucida Grande"/>
                <a:ea typeface="Lucida Grande"/>
              </a:rPr>
              <a:t>LLM </a:t>
            </a:r>
            <a:r>
              <a:rPr lang="zh-CN" altLang="en-US" sz="2000" b="0" i="0">
                <a:solidFill>
                  <a:srgbClr val="000000"/>
                </a:solidFill>
                <a:latin typeface="Lucida Grande"/>
                <a:ea typeface="Lucida Grande"/>
              </a:rPr>
              <a:t>生成的 </a:t>
            </a:r>
            <a:r>
              <a:rPr lang="en-US" altLang="zh-CN" sz="2000" b="0" i="0">
                <a:solidFill>
                  <a:srgbClr val="000000"/>
                </a:solidFill>
                <a:latin typeface="Lucida Grande"/>
                <a:ea typeface="Lucida Grande"/>
              </a:rPr>
              <a:t>CoT </a:t>
            </a:r>
            <a:r>
              <a:rPr lang="zh-CN" altLang="en-US" sz="2000" b="0" i="0">
                <a:solidFill>
                  <a:srgbClr val="000000"/>
                </a:solidFill>
                <a:latin typeface="Lucida Grande"/>
                <a:ea typeface="Lucida Grande"/>
              </a:rPr>
              <a:t>的现有推理数据集生成方法不同，我们的方法从代码执行中提取可验证的分步推理跟踪，并将其转换为自然语言 </a:t>
            </a:r>
            <a:r>
              <a:rPr lang="en-US" altLang="zh-CN" sz="2000" b="0" i="0">
                <a:solidFill>
                  <a:srgbClr val="000000"/>
                </a:solidFill>
                <a:latin typeface="Lucida Grande"/>
                <a:ea typeface="Lucida Grande"/>
              </a:rPr>
              <a:t>CoT </a:t>
            </a:r>
            <a:r>
              <a:rPr lang="zh-CN" altLang="en-US" sz="2000" b="0" i="0">
                <a:solidFill>
                  <a:srgbClr val="000000"/>
                </a:solidFill>
                <a:latin typeface="Lucida Grande"/>
                <a:ea typeface="Lucida Grande"/>
              </a:rPr>
              <a:t>推理。跨领域推理基准的实验表明，我们的方法有效地为</a:t>
            </a:r>
            <a:r>
              <a:rPr lang="en-US" altLang="zh-CN" sz="2000" b="0" i="0">
                <a:solidFill>
                  <a:srgbClr val="000000"/>
                </a:solidFill>
                <a:latin typeface="Lucida Grande"/>
                <a:ea typeface="Lucida Grande"/>
              </a:rPr>
              <a:t>LLM</a:t>
            </a:r>
            <a:r>
              <a:rPr lang="zh-CN" altLang="en-US" sz="2000" b="0" i="0">
                <a:solidFill>
                  <a:srgbClr val="000000"/>
                </a:solidFill>
                <a:latin typeface="Lucida Grande"/>
                <a:ea typeface="Lucida Grande"/>
              </a:rPr>
              <a:t>提供了跨不同任务的可转移推理能力。此外，消融研究验证了我们的方法</a:t>
            </a:r>
            <a:r>
              <a:rPr lang="zh-CN" altLang="en-US" sz="2000" b="1" i="0">
                <a:solidFill>
                  <a:srgbClr val="000000"/>
                </a:solidFill>
                <a:latin typeface="Lucida Grande"/>
                <a:ea typeface="Lucida Grande"/>
              </a:rPr>
              <a:t>可以产生高度准确的推理数据，并通过减少无意义的重复和过度思考来减少推理过程中的总体标记长度</a:t>
            </a:r>
            <a:r>
              <a:rPr lang="zh-CN" altLang="en-US" sz="2000" b="0" i="0">
                <a:solidFill>
                  <a:srgbClr val="000000"/>
                </a:solidFill>
                <a:latin typeface="Lucida Grande"/>
                <a:ea typeface="Lucida Grande"/>
              </a:rPr>
              <a:t>。</a:t>
            </a:r>
            <a:endParaRPr lang="zh-CN" altLang="en-US" sz="2000" b="0" i="0">
              <a:solidFill>
                <a:srgbClr val="000000"/>
              </a:solidFill>
              <a:latin typeface="Lucida Grande"/>
              <a:ea typeface="Lucida Grande"/>
            </a:endParaRPr>
          </a:p>
        </p:txBody>
      </p:sp>
      <p:sp>
        <p:nvSpPr>
          <p:cNvPr id="7" name="文本框 6"/>
          <p:cNvSpPr txBox="1"/>
          <p:nvPr/>
        </p:nvSpPr>
        <p:spPr>
          <a:xfrm>
            <a:off x="6535420" y="5716270"/>
            <a:ext cx="5656580" cy="1189355"/>
          </a:xfrm>
          <a:prstGeom prst="rect">
            <a:avLst/>
          </a:prstGeom>
          <a:noFill/>
        </p:spPr>
        <p:txBody>
          <a:bodyPr wrap="square" rtlCol="0">
            <a:noAutofit/>
          </a:bodyPr>
          <a:p>
            <a:r>
              <a:rPr lang="en-US" altLang="zh-CN" sz="7200" b="1">
                <a:ln w="10160">
                  <a:solidFill>
                    <a:schemeClr val="tx1">
                      <a:lumMod val="75000"/>
                      <a:lumOff val="25000"/>
                    </a:schemeClr>
                  </a:solidFill>
                  <a:prstDash val="solid"/>
                </a:ln>
                <a:solidFill>
                  <a:srgbClr val="FFFFFF"/>
                </a:solidFill>
                <a:effectLst>
                  <a:outerShdw blurRad="38100" dist="22860" dir="5400000" algn="tl" rotWithShape="0">
                    <a:srgbClr val="000000">
                      <a:alpha val="30000"/>
                    </a:srgbClr>
                  </a:outerShdw>
                </a:effectLst>
              </a:rPr>
              <a:t>EMNLP 2025</a:t>
            </a:r>
            <a:endParaRPr lang="en-US" altLang="zh-CN" sz="7200" b="1">
              <a:ln w="10160">
                <a:solidFill>
                  <a:schemeClr val="tx1">
                    <a:lumMod val="75000"/>
                    <a:lumOff val="25000"/>
                  </a:schemeClr>
                </a:solidFill>
                <a:prstDash val="solid"/>
              </a:ln>
              <a:solidFill>
                <a:srgbClr val="FFFFFF"/>
              </a:solidFill>
              <a:effectLst>
                <a:outerShdw blurRad="38100" dist="22860" dir="5400000" algn="tl" rotWithShape="0">
                  <a:srgbClr val="000000">
                    <a:alpha val="30000"/>
                  </a:srgbClr>
                </a:outerShdw>
              </a:effectLs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进展分享五：</a:t>
            </a:r>
            <a:r>
              <a:rPr lang="zh-CN" altLang="en-US" sz="2400" dirty="0">
                <a:sym typeface="+mn-ea"/>
              </a:rPr>
              <a:t>思路相近的一个工作</a:t>
            </a:r>
            <a:r>
              <a:rPr lang="en-US" altLang="zh-CN" sz="2400" dirty="0">
                <a:sym typeface="+mn-ea"/>
              </a:rPr>
              <a:t> code+</a:t>
            </a:r>
            <a:r>
              <a:rPr lang="zh-CN" altLang="en-US" sz="2400" dirty="0">
                <a:sym typeface="+mn-ea"/>
              </a:rPr>
              <a:t>执行轨迹</a:t>
            </a:r>
            <a:r>
              <a:rPr lang="en-US" altLang="zh-CN" sz="2400" dirty="0">
                <a:sym typeface="+mn-ea"/>
              </a:rPr>
              <a:t>—&gt;AI—&gt;</a:t>
            </a:r>
            <a:r>
              <a:rPr lang="zh-CN" altLang="en-US" sz="2400" dirty="0">
                <a:sym typeface="+mn-ea"/>
              </a:rPr>
              <a:t>自然语言</a:t>
            </a:r>
            <a:r>
              <a:rPr lang="en-US" altLang="zh-CN" sz="2400" dirty="0">
                <a:sym typeface="+mn-ea"/>
              </a:rPr>
              <a:t>cot</a:t>
            </a:r>
            <a:endParaRPr lang="zh-CN" altLang="en-US" sz="2400" dirty="0">
              <a:sym typeface="+mn-ea"/>
            </a:endParaRPr>
          </a:p>
        </p:txBody>
      </p:sp>
      <p:pic>
        <p:nvPicPr>
          <p:cNvPr id="5" name="图片 4"/>
          <p:cNvPicPr>
            <a:picLocks noChangeAspect="1"/>
          </p:cNvPicPr>
          <p:nvPr/>
        </p:nvPicPr>
        <p:blipFill>
          <a:blip r:embed="rId1"/>
          <a:stretch>
            <a:fillRect/>
          </a:stretch>
        </p:blipFill>
        <p:spPr>
          <a:xfrm>
            <a:off x="220980" y="725805"/>
            <a:ext cx="11802745" cy="2380615"/>
          </a:xfrm>
          <a:prstGeom prst="rect">
            <a:avLst/>
          </a:prstGeom>
        </p:spPr>
      </p:pic>
      <p:sp>
        <p:nvSpPr>
          <p:cNvPr id="6" name="矩形 5"/>
          <p:cNvSpPr/>
          <p:nvPr/>
        </p:nvSpPr>
        <p:spPr>
          <a:xfrm>
            <a:off x="874395" y="3291205"/>
            <a:ext cx="4509135" cy="3348990"/>
          </a:xfrm>
          <a:prstGeom prst="rect">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9" name="矩形 8"/>
          <p:cNvSpPr/>
          <p:nvPr/>
        </p:nvSpPr>
        <p:spPr>
          <a:xfrm>
            <a:off x="2398395" y="3291205"/>
            <a:ext cx="1577975" cy="447040"/>
          </a:xfrm>
          <a:prstGeom prst="rect">
            <a:avLst/>
          </a:prstGeom>
          <a:solidFill>
            <a:schemeClr val="tx2">
              <a:lumMod val="50000"/>
              <a:lumOff val="5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t>OURS</a:t>
            </a:r>
            <a:endParaRPr lang="en-US"/>
          </a:p>
        </p:txBody>
      </p:sp>
      <p:sp>
        <p:nvSpPr>
          <p:cNvPr id="10" name="文本框 9"/>
          <p:cNvSpPr txBox="1"/>
          <p:nvPr/>
        </p:nvSpPr>
        <p:spPr>
          <a:xfrm>
            <a:off x="1136650" y="3945255"/>
            <a:ext cx="4109085" cy="368300"/>
          </a:xfrm>
          <a:prstGeom prst="rect">
            <a:avLst/>
          </a:prstGeom>
          <a:noFill/>
        </p:spPr>
        <p:txBody>
          <a:bodyPr wrap="square" rtlCol="0">
            <a:spAutoFit/>
          </a:bodyPr>
          <a:p>
            <a:pPr algn="ctr"/>
            <a:r>
              <a:rPr lang="zh-CN" altLang="en-US"/>
              <a:t>真实可运行</a:t>
            </a:r>
            <a:r>
              <a:rPr lang="en-US" altLang="zh-CN"/>
              <a:t>Code+</a:t>
            </a:r>
            <a:r>
              <a:rPr lang="zh-CN" altLang="en-US"/>
              <a:t>目标行号</a:t>
            </a:r>
            <a:r>
              <a:rPr lang="en-US" altLang="zh-CN"/>
              <a:t>+</a:t>
            </a:r>
            <a:r>
              <a:rPr lang="zh-CN" altLang="en-US"/>
              <a:t>目标</a:t>
            </a:r>
            <a:r>
              <a:rPr lang="zh-CN" altLang="en-US"/>
              <a:t>变量</a:t>
            </a:r>
            <a:endParaRPr lang="zh-CN" altLang="en-US"/>
          </a:p>
        </p:txBody>
      </p:sp>
      <p:cxnSp>
        <p:nvCxnSpPr>
          <p:cNvPr id="11" name="直接箭头连接符 10"/>
          <p:cNvCxnSpPr>
            <a:stCxn id="10" idx="2"/>
          </p:cNvCxnSpPr>
          <p:nvPr/>
        </p:nvCxnSpPr>
        <p:spPr>
          <a:xfrm>
            <a:off x="3191510" y="4313555"/>
            <a:ext cx="3810" cy="36512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2" name="文本框 11"/>
          <p:cNvSpPr txBox="1"/>
          <p:nvPr/>
        </p:nvSpPr>
        <p:spPr>
          <a:xfrm>
            <a:off x="1696085" y="4676775"/>
            <a:ext cx="2982595" cy="368300"/>
          </a:xfrm>
          <a:prstGeom prst="rect">
            <a:avLst/>
          </a:prstGeom>
          <a:noFill/>
        </p:spPr>
        <p:txBody>
          <a:bodyPr wrap="square" rtlCol="0">
            <a:spAutoFit/>
          </a:bodyPr>
          <a:p>
            <a:pPr algn="ctr"/>
            <a:r>
              <a:rPr lang="zh-CN" altLang="en-US"/>
              <a:t>代码执行轨迹</a:t>
            </a:r>
            <a:r>
              <a:rPr lang="en-US" altLang="zh-CN"/>
              <a:t> </a:t>
            </a:r>
            <a:r>
              <a:rPr lang="en-US" altLang="zh-CN"/>
              <a:t>trace</a:t>
            </a:r>
            <a:endParaRPr lang="en-US" altLang="zh-CN"/>
          </a:p>
        </p:txBody>
      </p:sp>
      <p:cxnSp>
        <p:nvCxnSpPr>
          <p:cNvPr id="13" name="直接箭头连接符 12"/>
          <p:cNvCxnSpPr>
            <a:stCxn id="12" idx="2"/>
          </p:cNvCxnSpPr>
          <p:nvPr/>
        </p:nvCxnSpPr>
        <p:spPr>
          <a:xfrm>
            <a:off x="3187700" y="5045075"/>
            <a:ext cx="3810" cy="36512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文本框 13"/>
          <p:cNvSpPr txBox="1"/>
          <p:nvPr/>
        </p:nvSpPr>
        <p:spPr>
          <a:xfrm>
            <a:off x="1696085" y="5408295"/>
            <a:ext cx="2982595" cy="368300"/>
          </a:xfrm>
          <a:prstGeom prst="rect">
            <a:avLst/>
          </a:prstGeom>
          <a:noFill/>
        </p:spPr>
        <p:txBody>
          <a:bodyPr wrap="square" rtlCol="0">
            <a:spAutoFit/>
          </a:bodyPr>
          <a:p>
            <a:pPr algn="ctr"/>
            <a:r>
              <a:rPr lang="zh-CN" altLang="en-US"/>
              <a:t>剪枝后的执行流</a:t>
            </a:r>
            <a:r>
              <a:rPr lang="en-US" altLang="zh-CN"/>
              <a:t> trim-trace</a:t>
            </a:r>
            <a:endParaRPr lang="en-US" altLang="zh-CN"/>
          </a:p>
        </p:txBody>
      </p:sp>
      <p:cxnSp>
        <p:nvCxnSpPr>
          <p:cNvPr id="15" name="直接箭头连接符 14"/>
          <p:cNvCxnSpPr>
            <a:stCxn id="14" idx="2"/>
          </p:cNvCxnSpPr>
          <p:nvPr/>
        </p:nvCxnSpPr>
        <p:spPr>
          <a:xfrm>
            <a:off x="3187700" y="5776595"/>
            <a:ext cx="3810" cy="36512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6" name="文本框 15"/>
          <p:cNvSpPr txBox="1"/>
          <p:nvPr/>
        </p:nvSpPr>
        <p:spPr>
          <a:xfrm>
            <a:off x="1696085" y="6139815"/>
            <a:ext cx="2982595" cy="368300"/>
          </a:xfrm>
          <a:prstGeom prst="rect">
            <a:avLst/>
          </a:prstGeom>
          <a:noFill/>
        </p:spPr>
        <p:txBody>
          <a:bodyPr wrap="square" rtlCol="0">
            <a:spAutoFit/>
          </a:bodyPr>
          <a:p>
            <a:pPr algn="ctr"/>
            <a:r>
              <a:rPr lang="en-US" altLang="zh-CN"/>
              <a:t>AST</a:t>
            </a:r>
            <a:r>
              <a:rPr lang="zh-CN" altLang="en-US"/>
              <a:t>模板匹配逻辑得到</a:t>
            </a:r>
            <a:r>
              <a:rPr lang="en-US" altLang="zh-CN"/>
              <a:t> </a:t>
            </a:r>
            <a:r>
              <a:rPr lang="en-US" altLang="zh-CN"/>
              <a:t>COT</a:t>
            </a:r>
            <a:endParaRPr lang="en-US" altLang="zh-CN"/>
          </a:p>
        </p:txBody>
      </p:sp>
      <p:sp>
        <p:nvSpPr>
          <p:cNvPr id="17" name="矩形 16"/>
          <p:cNvSpPr/>
          <p:nvPr/>
        </p:nvSpPr>
        <p:spPr>
          <a:xfrm>
            <a:off x="6658610" y="3291205"/>
            <a:ext cx="4509135" cy="3348990"/>
          </a:xfrm>
          <a:prstGeom prst="rect">
            <a:avLst/>
          </a:prstGeom>
          <a:noFill/>
          <a:ln>
            <a:solidFill>
              <a:schemeClr val="accent2"/>
            </a:solidFill>
          </a:ln>
          <a:extLst>
            <a:ext uri="{909E8E84-426E-40DD-AFC4-6F175D3DCCD1}">
              <a14:hiddenFill xmlns:a14="http://schemas.microsoft.com/office/drawing/2010/main">
                <a:solidFill>
                  <a:schemeClr val="accent2">
                    <a:lumMod val="40000"/>
                    <a:lumOff val="60000"/>
                  </a:schemeClr>
                </a:solidFill>
              </a14:hiddenFill>
            </a:ext>
          </a:extLst>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8" name="矩形 17"/>
          <p:cNvSpPr/>
          <p:nvPr/>
        </p:nvSpPr>
        <p:spPr>
          <a:xfrm>
            <a:off x="8182610" y="3291205"/>
            <a:ext cx="1577975" cy="447040"/>
          </a:xfrm>
          <a:prstGeom prst="rect">
            <a:avLst/>
          </a:prstGeom>
          <a:solidFill>
            <a:schemeClr val="accent2">
              <a:lumMod val="60000"/>
              <a:lumOff val="40000"/>
            </a:schemeClr>
          </a:solidFill>
          <a:ln>
            <a:solidFill>
              <a:schemeClr val="accent2"/>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t>Jungs</a:t>
            </a:r>
            <a:endParaRPr lang="en-US"/>
          </a:p>
        </p:txBody>
      </p:sp>
      <p:sp>
        <p:nvSpPr>
          <p:cNvPr id="19" name="文本框 18"/>
          <p:cNvSpPr txBox="1"/>
          <p:nvPr/>
        </p:nvSpPr>
        <p:spPr>
          <a:xfrm>
            <a:off x="6920865" y="3945255"/>
            <a:ext cx="4109085" cy="368300"/>
          </a:xfrm>
          <a:prstGeom prst="rect">
            <a:avLst/>
          </a:prstGeom>
          <a:noFill/>
          <a:ln>
            <a:noFill/>
          </a:ln>
          <a:extLst>
            <a:ext uri="{909E8E84-426E-40DD-AFC4-6F175D3DCCD1}">
              <a14:hiddenFill xmlns:a14="http://schemas.microsoft.com/office/drawing/2010/main">
                <a:solidFill>
                  <a:schemeClr val="accent2">
                    <a:lumMod val="40000"/>
                    <a:lumOff val="60000"/>
                  </a:schemeClr>
                </a:solidFill>
              </a14:hiddenFill>
            </a:ext>
          </a:extLst>
        </p:spPr>
        <p:txBody>
          <a:bodyPr wrap="square" rtlCol="0">
            <a:spAutoFit/>
          </a:bodyPr>
          <a:p>
            <a:pPr algn="ctr"/>
            <a:r>
              <a:rPr lang="zh-CN" altLang="en-US"/>
              <a:t>单个函数</a:t>
            </a:r>
            <a:r>
              <a:rPr lang="en-US" altLang="zh-CN"/>
              <a:t>+</a:t>
            </a:r>
            <a:r>
              <a:rPr lang="zh-CN" altLang="en-US"/>
              <a:t>输入</a:t>
            </a:r>
            <a:endParaRPr lang="zh-CN" altLang="en-US"/>
          </a:p>
        </p:txBody>
      </p:sp>
      <p:cxnSp>
        <p:nvCxnSpPr>
          <p:cNvPr id="20" name="直接箭头连接符 19"/>
          <p:cNvCxnSpPr>
            <a:stCxn id="19" idx="2"/>
          </p:cNvCxnSpPr>
          <p:nvPr/>
        </p:nvCxnSpPr>
        <p:spPr>
          <a:xfrm>
            <a:off x="8975725" y="4313555"/>
            <a:ext cx="3810" cy="365125"/>
          </a:xfrm>
          <a:prstGeom prst="straightConnector1">
            <a:avLst/>
          </a:prstGeom>
          <a:noFill/>
          <a:ln>
            <a:solidFill>
              <a:schemeClr val="accent2"/>
            </a:solidFill>
            <a:tailEnd type="arrow"/>
          </a:ln>
          <a:extLst>
            <a:ext uri="{909E8E84-426E-40DD-AFC4-6F175D3DCCD1}">
              <a14:hiddenFill xmlns:a14="http://schemas.microsoft.com/office/drawing/2010/main">
                <a:solidFill>
                  <a:schemeClr val="accent2">
                    <a:lumMod val="40000"/>
                    <a:lumOff val="60000"/>
                  </a:schemeClr>
                </a:solidFill>
              </a14:hiddenFill>
            </a:ext>
          </a:extLst>
        </p:spPr>
        <p:style>
          <a:lnRef idx="2">
            <a:schemeClr val="accent1"/>
          </a:lnRef>
          <a:fillRef idx="0">
            <a:schemeClr val="accent1"/>
          </a:fillRef>
          <a:effectRef idx="1">
            <a:schemeClr val="accent1"/>
          </a:effectRef>
          <a:fontRef idx="minor">
            <a:schemeClr val="tx1"/>
          </a:fontRef>
        </p:style>
      </p:cxnSp>
      <p:sp>
        <p:nvSpPr>
          <p:cNvPr id="21" name="文本框 20"/>
          <p:cNvSpPr txBox="1"/>
          <p:nvPr/>
        </p:nvSpPr>
        <p:spPr>
          <a:xfrm>
            <a:off x="7480300" y="4676775"/>
            <a:ext cx="2982595" cy="368300"/>
          </a:xfrm>
          <a:prstGeom prst="rect">
            <a:avLst/>
          </a:prstGeom>
          <a:noFill/>
          <a:ln>
            <a:noFill/>
          </a:ln>
          <a:extLst>
            <a:ext uri="{909E8E84-426E-40DD-AFC4-6F175D3DCCD1}">
              <a14:hiddenFill xmlns:a14="http://schemas.microsoft.com/office/drawing/2010/main">
                <a:solidFill>
                  <a:schemeClr val="accent2">
                    <a:lumMod val="40000"/>
                    <a:lumOff val="60000"/>
                  </a:schemeClr>
                </a:solidFill>
              </a14:hiddenFill>
            </a:ext>
          </a:extLst>
        </p:spPr>
        <p:txBody>
          <a:bodyPr wrap="square" rtlCol="0">
            <a:spAutoFit/>
          </a:bodyPr>
          <a:p>
            <a:pPr algn="ctr"/>
            <a:r>
              <a:rPr lang="zh-CN" altLang="en-US"/>
              <a:t>代码执行轨迹</a:t>
            </a:r>
            <a:r>
              <a:rPr lang="en-US" altLang="zh-CN"/>
              <a:t> </a:t>
            </a:r>
            <a:r>
              <a:rPr lang="en-US" altLang="zh-CN"/>
              <a:t>trace</a:t>
            </a:r>
            <a:endParaRPr lang="en-US" altLang="zh-CN"/>
          </a:p>
        </p:txBody>
      </p:sp>
      <p:cxnSp>
        <p:nvCxnSpPr>
          <p:cNvPr id="22" name="直接箭头连接符 21"/>
          <p:cNvCxnSpPr>
            <a:stCxn id="21" idx="2"/>
          </p:cNvCxnSpPr>
          <p:nvPr/>
        </p:nvCxnSpPr>
        <p:spPr>
          <a:xfrm>
            <a:off x="8971915" y="5045075"/>
            <a:ext cx="3810" cy="365125"/>
          </a:xfrm>
          <a:prstGeom prst="straightConnector1">
            <a:avLst/>
          </a:prstGeom>
          <a:noFill/>
          <a:ln>
            <a:solidFill>
              <a:schemeClr val="accent2"/>
            </a:solidFill>
            <a:tailEnd type="arrow"/>
          </a:ln>
          <a:extLst>
            <a:ext uri="{909E8E84-426E-40DD-AFC4-6F175D3DCCD1}">
              <a14:hiddenFill xmlns:a14="http://schemas.microsoft.com/office/drawing/2010/main">
                <a:solidFill>
                  <a:schemeClr val="accent2">
                    <a:lumMod val="40000"/>
                    <a:lumOff val="60000"/>
                  </a:schemeClr>
                </a:solidFill>
              </a14:hiddenFill>
            </a:ext>
          </a:extLst>
        </p:spPr>
        <p:style>
          <a:lnRef idx="2">
            <a:schemeClr val="accent1"/>
          </a:lnRef>
          <a:fillRef idx="0">
            <a:schemeClr val="accent1"/>
          </a:fillRef>
          <a:effectRef idx="1">
            <a:schemeClr val="accent1"/>
          </a:effectRef>
          <a:fontRef idx="minor">
            <a:schemeClr val="tx1"/>
          </a:fontRef>
        </p:style>
      </p:cxnSp>
      <p:sp>
        <p:nvSpPr>
          <p:cNvPr id="23" name="文本框 22"/>
          <p:cNvSpPr txBox="1"/>
          <p:nvPr/>
        </p:nvSpPr>
        <p:spPr>
          <a:xfrm>
            <a:off x="7480300" y="5408295"/>
            <a:ext cx="2982595" cy="368300"/>
          </a:xfrm>
          <a:prstGeom prst="rect">
            <a:avLst/>
          </a:prstGeom>
          <a:noFill/>
          <a:ln>
            <a:noFill/>
          </a:ln>
          <a:extLst>
            <a:ext uri="{909E8E84-426E-40DD-AFC4-6F175D3DCCD1}">
              <a14:hiddenFill xmlns:a14="http://schemas.microsoft.com/office/drawing/2010/main">
                <a:solidFill>
                  <a:schemeClr val="accent2">
                    <a:lumMod val="40000"/>
                    <a:lumOff val="60000"/>
                  </a:schemeClr>
                </a:solidFill>
              </a14:hiddenFill>
            </a:ext>
          </a:extLst>
        </p:spPr>
        <p:txBody>
          <a:bodyPr wrap="square" rtlCol="0">
            <a:spAutoFit/>
          </a:bodyPr>
          <a:p>
            <a:pPr algn="ctr"/>
            <a:r>
              <a:rPr lang="en-US" altLang="zh-CN"/>
              <a:t>AI+</a:t>
            </a:r>
            <a:r>
              <a:rPr lang="zh-CN" altLang="en-US"/>
              <a:t>合适</a:t>
            </a:r>
            <a:r>
              <a:rPr lang="en-US" altLang="zh-CN"/>
              <a:t>prompt</a:t>
            </a:r>
            <a:endParaRPr lang="en-US" altLang="zh-CN"/>
          </a:p>
        </p:txBody>
      </p:sp>
      <p:cxnSp>
        <p:nvCxnSpPr>
          <p:cNvPr id="24" name="直接箭头连接符 23"/>
          <p:cNvCxnSpPr>
            <a:stCxn id="23" idx="2"/>
          </p:cNvCxnSpPr>
          <p:nvPr/>
        </p:nvCxnSpPr>
        <p:spPr>
          <a:xfrm>
            <a:off x="8971915" y="5776595"/>
            <a:ext cx="3810" cy="365125"/>
          </a:xfrm>
          <a:prstGeom prst="straightConnector1">
            <a:avLst/>
          </a:prstGeom>
          <a:noFill/>
          <a:ln>
            <a:solidFill>
              <a:schemeClr val="accent2"/>
            </a:solidFill>
            <a:tailEnd type="arrow"/>
          </a:ln>
          <a:extLst>
            <a:ext uri="{909E8E84-426E-40DD-AFC4-6F175D3DCCD1}">
              <a14:hiddenFill xmlns:a14="http://schemas.microsoft.com/office/drawing/2010/main">
                <a:solidFill>
                  <a:schemeClr val="accent2">
                    <a:lumMod val="40000"/>
                    <a:lumOff val="60000"/>
                  </a:schemeClr>
                </a:solidFill>
              </a14:hiddenFill>
            </a:ext>
          </a:extLst>
        </p:spPr>
        <p:style>
          <a:lnRef idx="2">
            <a:schemeClr val="accent1"/>
          </a:lnRef>
          <a:fillRef idx="0">
            <a:schemeClr val="accent1"/>
          </a:fillRef>
          <a:effectRef idx="1">
            <a:schemeClr val="accent1"/>
          </a:effectRef>
          <a:fontRef idx="minor">
            <a:schemeClr val="tx1"/>
          </a:fontRef>
        </p:style>
      </p:cxnSp>
      <p:sp>
        <p:nvSpPr>
          <p:cNvPr id="25" name="文本框 24"/>
          <p:cNvSpPr txBox="1"/>
          <p:nvPr/>
        </p:nvSpPr>
        <p:spPr>
          <a:xfrm>
            <a:off x="7480300" y="6139815"/>
            <a:ext cx="2982595" cy="368300"/>
          </a:xfrm>
          <a:prstGeom prst="rect">
            <a:avLst/>
          </a:prstGeom>
          <a:noFill/>
          <a:ln>
            <a:noFill/>
          </a:ln>
          <a:extLst>
            <a:ext uri="{909E8E84-426E-40DD-AFC4-6F175D3DCCD1}">
              <a14:hiddenFill xmlns:a14="http://schemas.microsoft.com/office/drawing/2010/main">
                <a:solidFill>
                  <a:schemeClr val="accent2">
                    <a:lumMod val="40000"/>
                    <a:lumOff val="60000"/>
                  </a:schemeClr>
                </a:solidFill>
              </a14:hiddenFill>
            </a:ext>
          </a:extLst>
        </p:spPr>
        <p:txBody>
          <a:bodyPr wrap="square" rtlCol="0">
            <a:spAutoFit/>
          </a:bodyPr>
          <a:p>
            <a:pPr algn="ctr"/>
            <a:r>
              <a:rPr lang="zh-CN" altLang="en-US"/>
              <a:t>直接得到对应的</a:t>
            </a:r>
            <a:r>
              <a:rPr lang="en-US" altLang="zh-CN"/>
              <a:t>COT</a:t>
            </a:r>
            <a:endParaRPr lang="en-US" altLang="zh-CN"/>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进展分享五：</a:t>
            </a:r>
            <a:r>
              <a:rPr lang="zh-CN" altLang="en-US" sz="2400" dirty="0">
                <a:sym typeface="+mn-ea"/>
              </a:rPr>
              <a:t>思路相近的一个工作</a:t>
            </a:r>
            <a:r>
              <a:rPr lang="en-US" altLang="zh-CN" sz="2400" dirty="0">
                <a:sym typeface="+mn-ea"/>
              </a:rPr>
              <a:t> code+</a:t>
            </a:r>
            <a:r>
              <a:rPr lang="zh-CN" altLang="en-US" sz="2400" dirty="0">
                <a:sym typeface="+mn-ea"/>
              </a:rPr>
              <a:t>执行轨迹</a:t>
            </a:r>
            <a:r>
              <a:rPr lang="en-US" altLang="zh-CN" sz="2400" dirty="0">
                <a:sym typeface="+mn-ea"/>
              </a:rPr>
              <a:t>—&gt;AI—&gt;</a:t>
            </a:r>
            <a:r>
              <a:rPr lang="zh-CN" altLang="en-US" sz="2400" dirty="0">
                <a:sym typeface="+mn-ea"/>
              </a:rPr>
              <a:t>自然语言</a:t>
            </a:r>
            <a:r>
              <a:rPr lang="en-US" altLang="zh-CN" sz="2400" dirty="0">
                <a:sym typeface="+mn-ea"/>
              </a:rPr>
              <a:t>cot</a:t>
            </a:r>
            <a:endParaRPr lang="zh-CN" altLang="en-US" sz="2400" dirty="0">
              <a:sym typeface="+mn-ea"/>
            </a:endParaRPr>
          </a:p>
        </p:txBody>
      </p:sp>
      <p:pic>
        <p:nvPicPr>
          <p:cNvPr id="3" name="图片 2"/>
          <p:cNvPicPr>
            <a:picLocks noChangeAspect="1"/>
          </p:cNvPicPr>
          <p:nvPr/>
        </p:nvPicPr>
        <p:blipFill>
          <a:blip r:embed="rId1"/>
          <a:stretch>
            <a:fillRect/>
          </a:stretch>
        </p:blipFill>
        <p:spPr>
          <a:xfrm>
            <a:off x="381635" y="727075"/>
            <a:ext cx="9571990" cy="2866390"/>
          </a:xfrm>
          <a:prstGeom prst="rect">
            <a:avLst/>
          </a:prstGeom>
        </p:spPr>
      </p:pic>
      <p:sp>
        <p:nvSpPr>
          <p:cNvPr id="4" name="文本框 3"/>
          <p:cNvSpPr txBox="1"/>
          <p:nvPr/>
        </p:nvSpPr>
        <p:spPr>
          <a:xfrm>
            <a:off x="10114280" y="1184275"/>
            <a:ext cx="1776095" cy="1938020"/>
          </a:xfrm>
          <a:prstGeom prst="rect">
            <a:avLst/>
          </a:prstGeom>
          <a:noFill/>
          <a:ln>
            <a:solidFill>
              <a:schemeClr val="accent6">
                <a:lumMod val="75000"/>
              </a:schemeClr>
            </a:solidFill>
          </a:ln>
        </p:spPr>
        <p:txBody>
          <a:bodyPr wrap="square" rtlCol="0" anchor="t">
            <a:spAutoFit/>
          </a:bodyPr>
          <a:p>
            <a:pPr>
              <a:lnSpc>
                <a:spcPct val="150000"/>
              </a:lnSpc>
            </a:pPr>
            <a:r>
              <a:rPr lang="zh-CN" altLang="en-US" sz="2000" dirty="0">
                <a:sym typeface="+mn-ea"/>
              </a:rPr>
              <a:t>结果分析，整体比</a:t>
            </a:r>
            <a:r>
              <a:rPr lang="en-US" altLang="zh-CN" sz="2000" dirty="0">
                <a:sym typeface="+mn-ea"/>
              </a:rPr>
              <a:t>CodeI/O</a:t>
            </a:r>
            <a:r>
              <a:rPr lang="zh-CN" altLang="en-US" sz="2000" dirty="0">
                <a:sym typeface="+mn-ea"/>
              </a:rPr>
              <a:t>效果好一些，但</a:t>
            </a:r>
            <a:r>
              <a:rPr lang="zh-CN" altLang="en-US" sz="2000" dirty="0">
                <a:sym typeface="+mn-ea"/>
              </a:rPr>
              <a:t>差不多</a:t>
            </a:r>
            <a:endParaRPr lang="zh-CN" altLang="en-US" sz="2000" dirty="0">
              <a:sym typeface="+mn-ea"/>
            </a:endParaRPr>
          </a:p>
        </p:txBody>
      </p:sp>
      <p:sp>
        <p:nvSpPr>
          <p:cNvPr id="7" name="矩形 6"/>
          <p:cNvSpPr/>
          <p:nvPr>
            <p:custDataLst>
              <p:tags r:id="rId2"/>
            </p:custDataLst>
          </p:nvPr>
        </p:nvSpPr>
        <p:spPr>
          <a:xfrm>
            <a:off x="591820" y="3823335"/>
            <a:ext cx="4509135" cy="2527935"/>
          </a:xfrm>
          <a:prstGeom prst="rect">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8" name="矩形 7"/>
          <p:cNvSpPr/>
          <p:nvPr>
            <p:custDataLst>
              <p:tags r:id="rId3"/>
            </p:custDataLst>
          </p:nvPr>
        </p:nvSpPr>
        <p:spPr>
          <a:xfrm>
            <a:off x="1901190" y="3823335"/>
            <a:ext cx="1951355" cy="447040"/>
          </a:xfrm>
          <a:prstGeom prst="rect">
            <a:avLst/>
          </a:prstGeom>
          <a:solidFill>
            <a:schemeClr val="tx2">
              <a:lumMod val="50000"/>
              <a:lumOff val="5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t>Jungs </a:t>
            </a:r>
            <a:r>
              <a:rPr lang="zh-CN" altLang="en-US"/>
              <a:t>训练集</a:t>
            </a:r>
            <a:endParaRPr lang="zh-CN" altLang="en-US"/>
          </a:p>
        </p:txBody>
      </p:sp>
      <p:sp>
        <p:nvSpPr>
          <p:cNvPr id="26" name="文本框 25"/>
          <p:cNvSpPr txBox="1"/>
          <p:nvPr>
            <p:custDataLst>
              <p:tags r:id="rId4"/>
            </p:custDataLst>
          </p:nvPr>
        </p:nvSpPr>
        <p:spPr>
          <a:xfrm>
            <a:off x="854075" y="4624705"/>
            <a:ext cx="4109085" cy="368300"/>
          </a:xfrm>
          <a:prstGeom prst="rect">
            <a:avLst/>
          </a:prstGeom>
          <a:noFill/>
        </p:spPr>
        <p:txBody>
          <a:bodyPr wrap="square" rtlCol="0">
            <a:spAutoFit/>
          </a:bodyPr>
          <a:p>
            <a:pPr algn="ctr"/>
            <a:r>
              <a:rPr lang="en-US" altLang="zh-CN"/>
              <a:t>Python-Edu </a:t>
            </a:r>
            <a:r>
              <a:rPr lang="zh-CN" altLang="en-US"/>
              <a:t>数据集</a:t>
            </a:r>
            <a:r>
              <a:rPr lang="en-US" altLang="zh-CN"/>
              <a:t> </a:t>
            </a:r>
            <a:r>
              <a:rPr lang="en-US" altLang="zh-CN"/>
              <a:t>Code</a:t>
            </a:r>
            <a:endParaRPr lang="en-US" altLang="zh-CN"/>
          </a:p>
        </p:txBody>
      </p:sp>
      <p:sp>
        <p:nvSpPr>
          <p:cNvPr id="33" name="矩形 32"/>
          <p:cNvSpPr/>
          <p:nvPr>
            <p:custDataLst>
              <p:tags r:id="rId5"/>
            </p:custDataLst>
          </p:nvPr>
        </p:nvSpPr>
        <p:spPr>
          <a:xfrm>
            <a:off x="6376035" y="3823335"/>
            <a:ext cx="4509135" cy="2527935"/>
          </a:xfrm>
          <a:prstGeom prst="rect">
            <a:avLst/>
          </a:prstGeom>
          <a:noFill/>
          <a:ln>
            <a:solidFill>
              <a:schemeClr val="accent2"/>
            </a:solidFill>
          </a:ln>
          <a:extLst>
            <a:ext uri="{909E8E84-426E-40DD-AFC4-6F175D3DCCD1}">
              <a14:hiddenFill xmlns:a14="http://schemas.microsoft.com/office/drawing/2010/main">
                <a:solidFill>
                  <a:schemeClr val="accent2">
                    <a:lumMod val="40000"/>
                    <a:lumOff val="60000"/>
                  </a:schemeClr>
                </a:solidFill>
              </a14:hiddenFill>
            </a:ext>
          </a:extLst>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34" name="矩形 33"/>
          <p:cNvSpPr/>
          <p:nvPr>
            <p:custDataLst>
              <p:tags r:id="rId6"/>
            </p:custDataLst>
          </p:nvPr>
        </p:nvSpPr>
        <p:spPr>
          <a:xfrm>
            <a:off x="7741285" y="3823335"/>
            <a:ext cx="1860550" cy="447040"/>
          </a:xfrm>
          <a:prstGeom prst="rect">
            <a:avLst/>
          </a:prstGeom>
          <a:solidFill>
            <a:schemeClr val="accent2">
              <a:lumMod val="60000"/>
              <a:lumOff val="40000"/>
            </a:schemeClr>
          </a:solidFill>
          <a:ln>
            <a:solidFill>
              <a:schemeClr val="accent2"/>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t>CodeI/O </a:t>
            </a:r>
            <a:r>
              <a:rPr lang="zh-CN" altLang="en-US"/>
              <a:t>训练集</a:t>
            </a:r>
            <a:endParaRPr lang="zh-CN" altLang="en-US"/>
          </a:p>
        </p:txBody>
      </p:sp>
      <p:sp>
        <p:nvSpPr>
          <p:cNvPr id="35" name="文本框 34"/>
          <p:cNvSpPr txBox="1"/>
          <p:nvPr>
            <p:custDataLst>
              <p:tags r:id="rId7"/>
            </p:custDataLst>
          </p:nvPr>
        </p:nvSpPr>
        <p:spPr>
          <a:xfrm>
            <a:off x="6700520" y="4624705"/>
            <a:ext cx="4109085" cy="368300"/>
          </a:xfrm>
          <a:prstGeom prst="rect">
            <a:avLst/>
          </a:prstGeom>
          <a:noFill/>
          <a:ln>
            <a:noFill/>
          </a:ln>
          <a:extLst>
            <a:ext uri="{909E8E84-426E-40DD-AFC4-6F175D3DCCD1}">
              <a14:hiddenFill xmlns:a14="http://schemas.microsoft.com/office/drawing/2010/main">
                <a:solidFill>
                  <a:schemeClr val="accent2">
                    <a:lumMod val="40000"/>
                    <a:lumOff val="60000"/>
                  </a:schemeClr>
                </a:solidFill>
              </a14:hiddenFill>
            </a:ext>
          </a:extLst>
        </p:spPr>
        <p:txBody>
          <a:bodyPr wrap="square" rtlCol="0">
            <a:spAutoFit/>
          </a:bodyPr>
          <a:p>
            <a:pPr algn="ctr"/>
            <a:r>
              <a:rPr lang="zh-CN" altLang="en-US"/>
              <a:t>类似数据集</a:t>
            </a:r>
            <a:r>
              <a:rPr lang="en-US" altLang="zh-CN"/>
              <a:t> </a:t>
            </a:r>
            <a:r>
              <a:rPr lang="en-US" altLang="zh-CN"/>
              <a:t>Code</a:t>
            </a:r>
            <a:endParaRPr lang="en-US" altLang="zh-CN"/>
          </a:p>
        </p:txBody>
      </p:sp>
      <p:sp>
        <p:nvSpPr>
          <p:cNvPr id="43" name="文本框 42"/>
          <p:cNvSpPr txBox="1"/>
          <p:nvPr>
            <p:custDataLst>
              <p:tags r:id="rId8"/>
            </p:custDataLst>
          </p:nvPr>
        </p:nvSpPr>
        <p:spPr>
          <a:xfrm>
            <a:off x="2558415" y="4796155"/>
            <a:ext cx="575945" cy="706755"/>
          </a:xfrm>
          <a:prstGeom prst="rect">
            <a:avLst/>
          </a:prstGeom>
          <a:noFill/>
        </p:spPr>
        <p:txBody>
          <a:bodyPr wrap="square" rtlCol="0">
            <a:spAutoFit/>
            <a:scene3d>
              <a:camera prst="orthographicFront"/>
              <a:lightRig rig="threePt" dir="t"/>
            </a:scene3d>
          </a:bodyPr>
          <a:p>
            <a:pPr algn="ctr"/>
            <a:r>
              <a:rPr lang="en-US" sz="4000">
                <a:ln w="22225">
                  <a:solidFill>
                    <a:srgbClr val="0070C0"/>
                  </a:solidFill>
                  <a:prstDash val="solid"/>
                </a:ln>
                <a:solidFill>
                  <a:schemeClr val="accent1">
                    <a:lumMod val="40000"/>
                    <a:lumOff val="60000"/>
                  </a:schemeClr>
                </a:solidFill>
                <a:effectLst/>
              </a:rPr>
              <a:t>+</a:t>
            </a:r>
            <a:endParaRPr lang="en-US" sz="4000">
              <a:ln w="22225">
                <a:solidFill>
                  <a:srgbClr val="0070C0"/>
                </a:solidFill>
                <a:prstDash val="solid"/>
              </a:ln>
              <a:solidFill>
                <a:schemeClr val="accent1">
                  <a:lumMod val="40000"/>
                  <a:lumOff val="60000"/>
                </a:schemeClr>
              </a:solidFill>
              <a:effectLst/>
            </a:endParaRPr>
          </a:p>
        </p:txBody>
      </p:sp>
      <p:sp>
        <p:nvSpPr>
          <p:cNvPr id="44" name="文本框 43"/>
          <p:cNvSpPr txBox="1"/>
          <p:nvPr>
            <p:custDataLst>
              <p:tags r:id="rId9"/>
            </p:custDataLst>
          </p:nvPr>
        </p:nvSpPr>
        <p:spPr>
          <a:xfrm>
            <a:off x="791845" y="5318125"/>
            <a:ext cx="4109085" cy="368300"/>
          </a:xfrm>
          <a:prstGeom prst="rect">
            <a:avLst/>
          </a:prstGeom>
          <a:noFill/>
        </p:spPr>
        <p:txBody>
          <a:bodyPr wrap="square" rtlCol="0">
            <a:spAutoFit/>
          </a:bodyPr>
          <a:p>
            <a:pPr algn="ctr"/>
            <a:r>
              <a:rPr lang="en-US" altLang="zh-CN"/>
              <a:t>code+question——</a:t>
            </a:r>
            <a:r>
              <a:rPr lang="en-US" altLang="zh-CN"/>
              <a:t>AI——&gt;COT</a:t>
            </a:r>
            <a:endParaRPr lang="en-US" altLang="zh-CN"/>
          </a:p>
        </p:txBody>
      </p:sp>
      <p:sp>
        <p:nvSpPr>
          <p:cNvPr id="45" name="文本框 44"/>
          <p:cNvSpPr txBox="1"/>
          <p:nvPr>
            <p:custDataLst>
              <p:tags r:id="rId10"/>
            </p:custDataLst>
          </p:nvPr>
        </p:nvSpPr>
        <p:spPr>
          <a:xfrm>
            <a:off x="8383270" y="4796155"/>
            <a:ext cx="575945" cy="706755"/>
          </a:xfrm>
          <a:prstGeom prst="rect">
            <a:avLst/>
          </a:prstGeom>
          <a:noFill/>
        </p:spPr>
        <p:txBody>
          <a:bodyPr wrap="square" rtlCol="0">
            <a:spAutoFit/>
            <a:scene3d>
              <a:camera prst="orthographicFront"/>
              <a:lightRig rig="threePt" dir="t"/>
            </a:scene3d>
          </a:bodyPr>
          <a:p>
            <a:pPr algn="ctr"/>
            <a:r>
              <a:rPr lang="en-US" sz="4000">
                <a:ln w="22225">
                  <a:solidFill>
                    <a:schemeClr val="accent2"/>
                  </a:solidFill>
                  <a:prstDash val="solid"/>
                </a:ln>
                <a:solidFill>
                  <a:schemeClr val="accent2">
                    <a:lumMod val="40000"/>
                    <a:lumOff val="60000"/>
                  </a:schemeClr>
                </a:solidFill>
                <a:effectLst/>
              </a:rPr>
              <a:t>+</a:t>
            </a:r>
            <a:endParaRPr lang="en-US" sz="4000">
              <a:ln w="22225">
                <a:solidFill>
                  <a:schemeClr val="accent2"/>
                </a:solidFill>
                <a:prstDash val="solid"/>
              </a:ln>
              <a:solidFill>
                <a:schemeClr val="accent2">
                  <a:lumMod val="40000"/>
                  <a:lumOff val="60000"/>
                </a:schemeClr>
              </a:solidFill>
              <a:effectLst/>
            </a:endParaRPr>
          </a:p>
        </p:txBody>
      </p:sp>
      <p:sp>
        <p:nvSpPr>
          <p:cNvPr id="46" name="文本框 45"/>
          <p:cNvSpPr txBox="1"/>
          <p:nvPr>
            <p:custDataLst>
              <p:tags r:id="rId11"/>
            </p:custDataLst>
          </p:nvPr>
        </p:nvSpPr>
        <p:spPr>
          <a:xfrm>
            <a:off x="6616700" y="5318125"/>
            <a:ext cx="4109085" cy="368300"/>
          </a:xfrm>
          <a:prstGeom prst="rect">
            <a:avLst/>
          </a:prstGeom>
          <a:noFill/>
        </p:spPr>
        <p:txBody>
          <a:bodyPr wrap="square" rtlCol="0">
            <a:spAutoFit/>
          </a:bodyPr>
          <a:p>
            <a:pPr algn="ctr"/>
            <a:r>
              <a:rPr lang="en-US" altLang="zh-CN"/>
              <a:t>code+trace——</a:t>
            </a:r>
            <a:r>
              <a:rPr lang="en-US" altLang="zh-CN"/>
              <a:t>AI——&gt;COT</a:t>
            </a:r>
            <a:endParaRPr lang="en-US" altLang="zh-CN"/>
          </a:p>
        </p:txBody>
      </p:sp>
    </p:spTree>
  </p:cSld>
  <p:clrMapOvr>
    <a:masterClrMapping/>
  </p:clrMapOvr>
</p:sld>
</file>

<file path=ppt/tags/tag1.xml><?xml version="1.0" encoding="utf-8"?>
<p:tagLst xmlns:p="http://schemas.openxmlformats.org/presentationml/2006/main">
  <p:tag name="TABLE_ENDDRAG_ORIGIN_RECT" val="941*443"/>
  <p:tag name="TABLE_ENDDRAG_RECT" val="15*89*941*443"/>
</p:tagLst>
</file>

<file path=ppt/tags/tag2.xml><?xml version="1.0" encoding="utf-8"?>
<p:tagLst xmlns:p="http://schemas.openxmlformats.org/presentationml/2006/main">
  <p:tag name="KSO_WM_DIAGRAM_VIRTUALLY_FRAME" val="{&quot;height&quot;:199.05,&quot;left&quot;:46.6,&quot;top&quot;:301.05,&quot;width&quot;:810.5}"/>
</p:tagLst>
</file>

<file path=ppt/tags/tag3.xml><?xml version="1.0" encoding="utf-8"?>
<p:tagLst xmlns:p="http://schemas.openxmlformats.org/presentationml/2006/main">
  <p:tag name="KSO_WM_DIAGRAM_VIRTUALLY_FRAME" val="{&quot;height&quot;:199.05,&quot;left&quot;:46.6,&quot;top&quot;:301.05,&quot;width&quot;:810.5}"/>
</p:tagLst>
</file>

<file path=ppt/tags/tag4.xml><?xml version="1.0" encoding="utf-8"?>
<p:tagLst xmlns:p="http://schemas.openxmlformats.org/presentationml/2006/main">
  <p:tag name="KSO_WM_DIAGRAM_VIRTUALLY_FRAME" val="{&quot;height&quot;:199.05,&quot;left&quot;:46.6,&quot;top&quot;:301.05,&quot;width&quot;:810.5}"/>
</p:tagLst>
</file>

<file path=ppt/tags/tag5.xml><?xml version="1.0" encoding="utf-8"?>
<p:tagLst xmlns:p="http://schemas.openxmlformats.org/presentationml/2006/main">
  <p:tag name="KSO_WM_DIAGRAM_VIRTUALLY_FRAME" val="{&quot;height&quot;:199.05,&quot;left&quot;:46.6,&quot;top&quot;:301.05,&quot;width&quot;:810.5}"/>
</p:tagLst>
</file>

<file path=ppt/tags/tag6.xml><?xml version="1.0" encoding="utf-8"?>
<p:tagLst xmlns:p="http://schemas.openxmlformats.org/presentationml/2006/main">
  <p:tag name="KSO_WM_DIAGRAM_VIRTUALLY_FRAME" val="{&quot;height&quot;:199.05,&quot;left&quot;:46.6,&quot;top&quot;:301.05,&quot;width&quot;:810.5}"/>
</p:tagLst>
</file>

<file path=ppt/tags/tag7.xml><?xml version="1.0" encoding="utf-8"?>
<p:tagLst xmlns:p="http://schemas.openxmlformats.org/presentationml/2006/main">
  <p:tag name="KSO_WM_DIAGRAM_VIRTUALLY_FRAME" val="{&quot;height&quot;:199.05,&quot;left&quot;:46.6,&quot;top&quot;:301.05,&quot;width&quot;:810.5}"/>
</p:tagLst>
</file>

<file path=ppt/tags/tag8.xml><?xml version="1.0" encoding="utf-8"?>
<p:tagLst xmlns:p="http://schemas.openxmlformats.org/presentationml/2006/main">
  <p:tag name="KSO_WM_DIAGRAM_VIRTUALLY_FRAME" val="{&quot;height&quot;:199.05,&quot;left&quot;:46.6,&quot;top&quot;:301.05,&quot;width&quot;:810.5}"/>
</p:tagLst>
</file>

<file path=ppt/tags/tag9.xml><?xml version="1.0" encoding="utf-8"?>
<p:tagLst xmlns:p="http://schemas.openxmlformats.org/presentationml/2006/main">
  <p:tag name="KSO_WM_DIAGRAM_VIRTUALLY_FRAME" val="{&quot;height&quot;:199.05,&quot;left&quot;:46.6,&quot;top&quot;:301.05,&quot;width&quot;:810.5}"/>
</p:tagLst>
</file>

<file path=ppt/tags/tag10.xml><?xml version="1.0" encoding="utf-8"?>
<p:tagLst xmlns:p="http://schemas.openxmlformats.org/presentationml/2006/main">
  <p:tag name="KSO_WM_DIAGRAM_VIRTUALLY_FRAME" val="{&quot;height&quot;:199.05,&quot;left&quot;:46.6,&quot;top&quot;:301.05,&quot;width&quot;:810.5}"/>
</p:tagLst>
</file>

<file path=ppt/tags/tag11.xml><?xml version="1.0" encoding="utf-8"?>
<p:tagLst xmlns:p="http://schemas.openxmlformats.org/presentationml/2006/main">
  <p:tag name="KSO_WM_DIAGRAM_VIRTUALLY_FRAME" val="{&quot;height&quot;:199.05,&quot;left&quot;:46.6,&quot;top&quot;:301.05,&quot;width&quot;:810.5}"/>
</p:tagLst>
</file>

<file path=ppt/tags/tag12.xml><?xml version="1.0" encoding="utf-8"?>
<p:tagLst xmlns:p="http://schemas.openxmlformats.org/presentationml/2006/main">
  <p:tag name="RESOURCE_RECORD_KEY" val="{&quot;10&quot;:[20179637,20211662,50039266,21564682]}"/>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3159</Words>
  <Application>WPS 演示</Application>
  <PresentationFormat>宽屏</PresentationFormat>
  <Paragraphs>185</Paragraphs>
  <Slides>18</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18</vt:i4>
      </vt:variant>
    </vt:vector>
  </HeadingPairs>
  <TitlesOfParts>
    <vt:vector size="29" baseType="lpstr">
      <vt:lpstr>Arial</vt:lpstr>
      <vt:lpstr>宋体</vt:lpstr>
      <vt:lpstr>Wingdings</vt:lpstr>
      <vt:lpstr>黑体</vt:lpstr>
      <vt:lpstr>Lucida Grande</vt:lpstr>
      <vt:lpstr>等线</vt:lpstr>
      <vt:lpstr>微软雅黑</vt:lpstr>
      <vt:lpstr>Arial Unicode MS</vt:lpstr>
      <vt:lpstr>等线 Light</vt:lpstr>
      <vt:lpstr>Calibri</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caoye541@gmail.com</dc:creator>
  <cp:lastModifiedBy>曹烨(2021012167)</cp:lastModifiedBy>
  <cp:revision>93</cp:revision>
  <dcterms:created xsi:type="dcterms:W3CDTF">2025-10-01T20:32:00Z</dcterms:created>
  <dcterms:modified xsi:type="dcterms:W3CDTF">2025-11-13T12:33:53Z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0EF9495A275B44739829F704D14D350D_13</vt:lpwstr>
  </property>
  <property fmtid="{D5CDD505-2E9C-101B-9397-08002B2CF9AE}" pid="3" name="KSOProductBuildVer">
    <vt:lpwstr>2052-12.1.0.19302</vt:lpwstr>
  </property>
</Properties>
</file>