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67" r:id="rId2"/>
    <p:sldId id="257" r:id="rId3"/>
    <p:sldId id="327" r:id="rId4"/>
    <p:sldId id="368" r:id="rId5"/>
    <p:sldId id="348" r:id="rId6"/>
    <p:sldId id="369" r:id="rId7"/>
    <p:sldId id="356" r:id="rId8"/>
    <p:sldId id="370" r:id="rId9"/>
    <p:sldId id="371" r:id="rId10"/>
    <p:sldId id="372" r:id="rId11"/>
    <p:sldId id="373" r:id="rId12"/>
    <p:sldId id="381" r:id="rId13"/>
    <p:sldId id="382" r:id="rId14"/>
    <p:sldId id="374" r:id="rId15"/>
    <p:sldId id="380" r:id="rId16"/>
    <p:sldId id="375" r:id="rId17"/>
    <p:sldId id="376" r:id="rId18"/>
    <p:sldId id="377" r:id="rId19"/>
    <p:sldId id="378" r:id="rId20"/>
    <p:sldId id="379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5F6"/>
    <a:srgbClr val="FFFFFF"/>
    <a:srgbClr val="FBE3D6"/>
    <a:srgbClr val="F2CFEE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886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本周记录：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1120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8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6690" y="1128629"/>
            <a:ext cx="11818620" cy="373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完成了</a:t>
            </a:r>
            <a:r>
              <a:rPr lang="en-US" altLang="zh-CN" sz="2000" dirty="0">
                <a:sym typeface="+mn-ea"/>
              </a:rPr>
              <a:t>2025</a:t>
            </a:r>
            <a:r>
              <a:rPr lang="zh-CN" altLang="en-US" sz="2000" dirty="0">
                <a:sym typeface="+mn-ea"/>
              </a:rPr>
              <a:t>个新训练数据集的生成，难度分布</a:t>
            </a:r>
            <a:r>
              <a:rPr lang="en-US" altLang="zh-CN" sz="2000" dirty="0">
                <a:sym typeface="+mn-ea"/>
              </a:rPr>
              <a:t>70%</a:t>
            </a:r>
            <a:r>
              <a:rPr lang="zh-CN" altLang="en-US" sz="2000" dirty="0">
                <a:sym typeface="+mn-ea"/>
              </a:rPr>
              <a:t>高难度，且确保了完全可运行与答案正确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设计了纯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思路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，结合数据集特色设计创新流程，生成了</a:t>
            </a:r>
            <a:r>
              <a:rPr lang="en-US" altLang="zh-CN" sz="2000" dirty="0">
                <a:sym typeface="+mn-ea"/>
              </a:rPr>
              <a:t>2025</a:t>
            </a:r>
            <a:r>
              <a:rPr lang="zh-CN" altLang="en-US" sz="2000" dirty="0">
                <a:sym typeface="+mn-ea"/>
              </a:rPr>
              <a:t>个带</a:t>
            </a:r>
            <a:r>
              <a:rPr lang="en-US" altLang="zh-CN" sz="2000" dirty="0">
                <a:sym typeface="+mn-ea"/>
              </a:rPr>
              <a:t>ai cot</a:t>
            </a:r>
            <a:r>
              <a:rPr lang="zh-CN" altLang="en-US" sz="2000" dirty="0">
                <a:sym typeface="+mn-ea"/>
              </a:rPr>
              <a:t>的训练数据集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完成一些细节问题的修改与优化：耦合框架、格式优化、复杂函数追踪处理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调通</a:t>
            </a:r>
            <a:r>
              <a:rPr lang="en-US" altLang="zh-CN" sz="2000" dirty="0" err="1">
                <a:sym typeface="+mn-ea"/>
              </a:rPr>
              <a:t>CoRe</a:t>
            </a:r>
            <a:r>
              <a:rPr lang="zh-CN" altLang="en-US" sz="2000" dirty="0">
                <a:sym typeface="+mn-ea"/>
              </a:rPr>
              <a:t>评估代码，使用</a:t>
            </a:r>
            <a:r>
              <a:rPr lang="en-US" altLang="zh-CN" sz="2000" dirty="0">
                <a:sym typeface="+mn-ea"/>
              </a:rPr>
              <a:t>2025</a:t>
            </a:r>
            <a:r>
              <a:rPr lang="zh-CN" altLang="en-US" sz="2000" dirty="0">
                <a:sym typeface="+mn-ea"/>
              </a:rPr>
              <a:t>条</a:t>
            </a:r>
            <a:r>
              <a:rPr lang="en-US" altLang="zh-CN" sz="2000" dirty="0" err="1">
                <a:sym typeface="+mn-ea"/>
              </a:rPr>
              <a:t>ai_CoT</a:t>
            </a:r>
            <a:r>
              <a:rPr lang="zh-CN" altLang="en-US" sz="2000" dirty="0">
                <a:sym typeface="+mn-ea"/>
              </a:rPr>
              <a:t>数据进行微调，效果一般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5. </a:t>
            </a:r>
            <a:r>
              <a:rPr lang="zh-CN" altLang="en-US" sz="2000" dirty="0">
                <a:sym typeface="+mn-ea"/>
              </a:rPr>
              <a:t>补充技术点</a:t>
            </a:r>
            <a:r>
              <a:rPr lang="en-US" altLang="zh-CN" sz="2000" dirty="0">
                <a:sym typeface="+mn-ea"/>
              </a:rPr>
              <a:t>PPT</a:t>
            </a:r>
            <a:r>
              <a:rPr lang="zh-CN" altLang="en-US" sz="2000" dirty="0">
                <a:sym typeface="+mn-ea"/>
              </a:rPr>
              <a:t>，总结</a:t>
            </a:r>
            <a:r>
              <a:rPr lang="en-US" altLang="zh-CN" sz="2000" dirty="0">
                <a:sym typeface="+mn-ea"/>
              </a:rPr>
              <a:t>MISRA </a:t>
            </a:r>
            <a:r>
              <a:rPr lang="en-US" altLang="zh-CN" sz="2000" dirty="0" err="1">
                <a:sym typeface="+mn-ea"/>
              </a:rPr>
              <a:t>C:2012</a:t>
            </a:r>
            <a:r>
              <a:rPr lang="zh-CN" altLang="en-US" sz="2000" dirty="0">
                <a:sym typeface="+mn-ea"/>
              </a:rPr>
              <a:t>代码规范，并生成</a:t>
            </a:r>
            <a:r>
              <a:rPr lang="en-US" altLang="zh-CN" sz="2000" dirty="0">
                <a:sym typeface="+mn-ea"/>
              </a:rPr>
              <a:t>40</a:t>
            </a:r>
            <a:r>
              <a:rPr lang="zh-CN" altLang="en-US" sz="2000" dirty="0">
                <a:sym typeface="+mn-ea"/>
              </a:rPr>
              <a:t>个测试代码文件，每个代码文件违反多处代码规范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6. Reduced-cot</a:t>
            </a:r>
            <a:r>
              <a:rPr lang="zh-CN" altLang="en-US" sz="2000" dirty="0">
                <a:sym typeface="+mn-ea"/>
              </a:rPr>
              <a:t>生成部分，出现少量</a:t>
            </a:r>
            <a:r>
              <a:rPr lang="en-US" altLang="zh-CN" sz="2000" dirty="0">
                <a:sym typeface="+mn-ea"/>
              </a:rPr>
              <a:t>case</a:t>
            </a:r>
            <a:r>
              <a:rPr lang="zh-CN" altLang="en-US" sz="2000" dirty="0">
                <a:sym typeface="+mn-ea"/>
              </a:rPr>
              <a:t>有问题，预期下周处理好且完全生成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7. </a:t>
            </a:r>
            <a:r>
              <a:rPr lang="zh-CN" altLang="en-US" sz="2000" dirty="0">
                <a:sym typeface="+mn-ea"/>
              </a:rPr>
              <a:t>课程大作业框架设计完成，待做细节打磨和文档</a:t>
            </a:r>
            <a:r>
              <a:rPr lang="en-US" altLang="zh-CN" sz="2000" dirty="0">
                <a:sym typeface="+mn-ea"/>
              </a:rPr>
              <a:t>ppt</a:t>
            </a:r>
            <a:r>
              <a:rPr lang="zh-CN" altLang="en-US" sz="2000" dirty="0">
                <a:sym typeface="+mn-ea"/>
              </a:rPr>
              <a:t>制作</a:t>
            </a:r>
            <a:endParaRPr lang="en-US" altLang="zh-CN" sz="20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886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上周回顾：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1113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7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526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优化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语言结构，做了中英可选切换重构；迁移并接入了目前的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生成框架到数据集增广架构；生产了</a:t>
            </a:r>
            <a:r>
              <a:rPr lang="en-US" altLang="zh-CN" sz="2000" dirty="0">
                <a:sym typeface="+mn-ea"/>
              </a:rPr>
              <a:t>500</a:t>
            </a:r>
            <a:r>
              <a:rPr lang="zh-CN" altLang="en-US" sz="2000" dirty="0">
                <a:sym typeface="+mn-ea"/>
              </a:rPr>
              <a:t>个新的粗糙的带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python</a:t>
            </a:r>
            <a:r>
              <a:rPr lang="zh-CN" altLang="en-US" sz="2000" dirty="0">
                <a:sym typeface="+mn-ea"/>
              </a:rPr>
              <a:t>数据集</a:t>
            </a: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尝试在独立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项目里实现了</a:t>
            </a:r>
            <a:r>
              <a:rPr lang="en-US" altLang="zh-CN" sz="2000" dirty="0">
                <a:sym typeface="+mn-ea"/>
              </a:rPr>
              <a:t>ai+</a:t>
            </a:r>
            <a:r>
              <a:rPr lang="zh-CN" altLang="en-US" sz="2000" dirty="0">
                <a:sym typeface="+mn-ea"/>
              </a:rPr>
              <a:t>倒叙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的能力</a:t>
            </a: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分享了一个和我们思路相近的一个工作：</a:t>
            </a:r>
            <a:r>
              <a:rPr lang="en-US" altLang="zh-CN" sz="2000" dirty="0">
                <a:sym typeface="+mn-ea"/>
              </a:rPr>
              <a:t>code+</a:t>
            </a:r>
            <a:r>
              <a:rPr lang="zh-CN" altLang="en-US" sz="2000" dirty="0">
                <a:sym typeface="+mn-ea"/>
              </a:rPr>
              <a:t>执行轨迹</a:t>
            </a:r>
            <a:r>
              <a:rPr lang="en-US" altLang="zh-CN" sz="2000" dirty="0">
                <a:sym typeface="+mn-ea"/>
              </a:rPr>
              <a:t>—&gt;AI—&gt;</a:t>
            </a:r>
            <a:r>
              <a:rPr lang="zh-CN" altLang="en-US" sz="2000" dirty="0">
                <a:sym typeface="+mn-ea"/>
              </a:rPr>
              <a:t>自然语言</a:t>
            </a:r>
            <a:r>
              <a:rPr lang="en-US" altLang="zh-CN" sz="2000" dirty="0">
                <a:sym typeface="+mn-ea"/>
              </a:rPr>
              <a:t>cot</a:t>
            </a: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框架迁移的时候有的功能没耦合好，本周再优化；并逐个例子做细节优化</a:t>
            </a: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5. </a:t>
            </a:r>
            <a:r>
              <a:rPr lang="zh-CN" altLang="en-US" sz="2000" dirty="0">
                <a:sym typeface="+mn-ea"/>
              </a:rPr>
              <a:t>重构</a:t>
            </a:r>
            <a:r>
              <a:rPr lang="en-US" altLang="zh-CN" sz="2000" dirty="0">
                <a:sym typeface="+mn-ea"/>
              </a:rPr>
              <a:t>SURGE</a:t>
            </a:r>
            <a:r>
              <a:rPr lang="zh-CN" altLang="en-US" sz="2000" dirty="0">
                <a:sym typeface="+mn-ea"/>
              </a:rPr>
              <a:t>评估代码，对粗糙的带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python</a:t>
            </a:r>
            <a:r>
              <a:rPr lang="zh-CN" altLang="en-US" sz="2000" dirty="0">
                <a:sym typeface="+mn-ea"/>
              </a:rPr>
              <a:t>数据集进行评估，发现效果与直接</a:t>
            </a:r>
            <a:r>
              <a:rPr lang="en-US" altLang="zh-CN" sz="2000" dirty="0">
                <a:sym typeface="+mn-ea"/>
              </a:rPr>
              <a:t>ai-cot</a:t>
            </a:r>
            <a:r>
              <a:rPr lang="zh-CN" altLang="en-US" sz="2000" dirty="0">
                <a:sym typeface="+mn-ea"/>
              </a:rPr>
              <a:t>差不多</a:t>
            </a: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6. </a:t>
            </a:r>
            <a:r>
              <a:rPr lang="zh-CN" altLang="en-US" sz="2000" dirty="0">
                <a:sym typeface="+mn-ea"/>
              </a:rPr>
              <a:t>分享两个新的评估基准：</a:t>
            </a:r>
            <a:r>
              <a:rPr lang="en-US" altLang="zh-CN" sz="2000" dirty="0">
                <a:sym typeface="+mn-ea"/>
              </a:rPr>
              <a:t>CRUXEval-X</a:t>
            </a:r>
            <a:r>
              <a:rPr lang="zh-CN" altLang="en-US" sz="2000" dirty="0">
                <a:sym typeface="+mn-ea"/>
              </a:rPr>
              <a:t>和</a:t>
            </a:r>
            <a:r>
              <a:rPr lang="en-US" altLang="zh-CN" sz="2000" dirty="0">
                <a:sym typeface="+mn-ea"/>
              </a:rPr>
              <a:t>CoRe</a:t>
            </a:r>
            <a:r>
              <a:rPr lang="zh-CN" altLang="en-US" sz="2000" dirty="0">
                <a:sym typeface="+mn-ea"/>
              </a:rPr>
              <a:t>（分析信息流）</a:t>
            </a: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7. </a:t>
            </a:r>
            <a:r>
              <a:rPr lang="zh-CN" altLang="en-US" sz="2000" dirty="0">
                <a:sym typeface="+mn-ea"/>
              </a:rPr>
              <a:t>本周尝试产出三类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的数据集：</a:t>
            </a:r>
            <a:r>
              <a:rPr lang="en-US" altLang="zh-CN" sz="2000" dirty="0">
                <a:sym typeface="+mn-ea"/>
              </a:rPr>
              <a:t>TreecEva_simple_ai_cot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TreecEva_reduced_formated_cot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TreecEva_reduced_natural_cot</a:t>
            </a:r>
            <a:r>
              <a:rPr lang="zh-CN" altLang="en-US" sz="2000" dirty="0">
                <a:sym typeface="+mn-ea"/>
              </a:rPr>
              <a:t>。且足量</a:t>
            </a: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8. </a:t>
            </a:r>
            <a:r>
              <a:rPr lang="zh-CN" altLang="en-US" sz="2000" dirty="0">
                <a:sym typeface="+mn-ea"/>
              </a:rPr>
              <a:t>本周尝试跑通</a:t>
            </a:r>
            <a:r>
              <a:rPr lang="en-US" altLang="zh-CN" sz="2000" dirty="0">
                <a:sym typeface="+mn-ea"/>
              </a:rPr>
              <a:t>CoRe</a:t>
            </a:r>
            <a:r>
              <a:rPr lang="zh-CN" altLang="en-US" sz="2000" dirty="0">
                <a:sym typeface="+mn-ea"/>
              </a:rPr>
              <a:t>评估基准，并用新的训练数据进行微调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7640" y="8362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2267005"/>
              </p:ext>
            </p:extLst>
          </p:nvPr>
        </p:nvGraphicFramePr>
        <p:xfrm>
          <a:off x="120015" y="782696"/>
          <a:ext cx="11951970" cy="59068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89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细节进展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完成了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个新训练数据集的生成，难度分布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70%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高难度，且确保了完全可运行与答案正确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设计了纯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思路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，结合数据集特色设计创新流程，生成了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个带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ai 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的训练数据集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[FIX]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完成了上周重点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Todo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：耦合好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reduced 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生成框架，已经可以正常运行和生成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[FIX]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完成了一些细节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Todo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：做格式优化（去除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[explain]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信息、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define at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语句运用）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[FIX]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代码追踪和剪枝流程对复杂函数处理很差，做了优化，目前已经能正常运行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根据目前的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生成框架，生成了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250/2025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个的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，但发现少量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有问题，做针对性改进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助教工作完成粗糙版框架，支持对话、文件传输显示、答案提交、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prompt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改造、个性化设计等功能。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79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总结与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Todo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助教工作的框架已经基本满足需求了，本周五会依照需求与建议，再优化大作业设计，并产出文档与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PPT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整体的三类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生成的思路细节与技术代码已经实现了，稳步推进。预期下周完全完成三类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数据集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模型评估侧反馈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的文本质量对一般，认为主要原因是清华本地部署的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ai 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比较差，可以讨论后续切换到国际论文一般都在调用的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gpt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or 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claude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这一事宜的必要性与可行性方案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6B1C-FC14-E693-8472-0C39FCB7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9293E2-51FC-9941-1A25-E6C47091B8F0}"/>
              </a:ext>
            </a:extLst>
          </p:cNvPr>
          <p:cNvSpPr txBox="1"/>
          <p:nvPr/>
        </p:nvSpPr>
        <p:spPr>
          <a:xfrm>
            <a:off x="344806" y="302895"/>
            <a:ext cx="6465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进展分享一：统一数据集并且构建</a:t>
            </a:r>
            <a:r>
              <a:rPr lang="en-US" altLang="zh-CN" sz="2400" dirty="0"/>
              <a:t>2025</a:t>
            </a:r>
            <a:r>
              <a:rPr lang="zh-CN" altLang="en-US" sz="2400" dirty="0"/>
              <a:t>条数据</a:t>
            </a:r>
            <a:endParaRPr lang="zh-CN" altLang="en-US" sz="2400" dirty="0"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CCECD3-6871-DA17-1E1B-DF3FE3AA5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176" y="1466850"/>
            <a:ext cx="7526352" cy="415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EE3E23-48FD-A750-0965-B2A54AD2D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1" y="1466850"/>
            <a:ext cx="3981449" cy="41635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2781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进展分享二：数据集</a:t>
            </a:r>
            <a:r>
              <a:rPr lang="en-US" altLang="zh-CN" sz="2400" dirty="0"/>
              <a:t>—&gt;</a:t>
            </a:r>
            <a:r>
              <a:rPr lang="zh-CN" altLang="en-US" sz="2400" dirty="0"/>
              <a:t>三类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生成思路</a:t>
            </a:r>
            <a:endParaRPr lang="zh-CN" altLang="en-US" sz="2400" dirty="0">
              <a:sym typeface="+mn-ea"/>
            </a:endParaRPr>
          </a:p>
        </p:txBody>
      </p:sp>
      <p:sp>
        <p:nvSpPr>
          <p:cNvPr id="3" name="流程图: 多文档 2">
            <a:extLst>
              <a:ext uri="{FF2B5EF4-FFF2-40B4-BE49-F238E27FC236}">
                <a16:creationId xmlns:a16="http://schemas.microsoft.com/office/drawing/2014/main" id="{F4E3C4EB-C6CB-71AA-1E21-50BA8A4497A0}"/>
              </a:ext>
            </a:extLst>
          </p:cNvPr>
          <p:cNvSpPr/>
          <p:nvPr/>
        </p:nvSpPr>
        <p:spPr>
          <a:xfrm>
            <a:off x="436788" y="2652141"/>
            <a:ext cx="2085976" cy="2038350"/>
          </a:xfrm>
          <a:prstGeom prst="flowChartMultidocumen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Description: ***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Code: ***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Answer: ***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626FDA-F8B0-A36B-93F7-7C52299B6AC1}"/>
              </a:ext>
            </a:extLst>
          </p:cNvPr>
          <p:cNvSpPr/>
          <p:nvPr/>
        </p:nvSpPr>
        <p:spPr>
          <a:xfrm>
            <a:off x="2881723" y="1556766"/>
            <a:ext cx="314323" cy="43624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43FBB587-801F-2667-1686-A764C5EAAA87}"/>
              </a:ext>
            </a:extLst>
          </p:cNvPr>
          <p:cNvSpPr/>
          <p:nvPr/>
        </p:nvSpPr>
        <p:spPr>
          <a:xfrm>
            <a:off x="3196046" y="1436528"/>
            <a:ext cx="748937" cy="48463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5B25B701-D6B3-2E45-19A8-3E7C8327A210}"/>
              </a:ext>
            </a:extLst>
          </p:cNvPr>
          <p:cNvSpPr/>
          <p:nvPr/>
        </p:nvSpPr>
        <p:spPr>
          <a:xfrm>
            <a:off x="2690132" y="3429000"/>
            <a:ext cx="1245326" cy="48463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CA367A6E-66B9-7051-521C-B7DCC23337A5}"/>
              </a:ext>
            </a:extLst>
          </p:cNvPr>
          <p:cNvSpPr/>
          <p:nvPr/>
        </p:nvSpPr>
        <p:spPr>
          <a:xfrm>
            <a:off x="3196046" y="5554822"/>
            <a:ext cx="748937" cy="48463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剪去对角 20">
            <a:extLst>
              <a:ext uri="{FF2B5EF4-FFF2-40B4-BE49-F238E27FC236}">
                <a16:creationId xmlns:a16="http://schemas.microsoft.com/office/drawing/2014/main" id="{D1A7A2A6-4017-13AD-0DF8-9149F8C56868}"/>
              </a:ext>
            </a:extLst>
          </p:cNvPr>
          <p:cNvSpPr/>
          <p:nvPr/>
        </p:nvSpPr>
        <p:spPr>
          <a:xfrm>
            <a:off x="3984716" y="960987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方案一：</a:t>
            </a:r>
            <a:r>
              <a:rPr lang="en-US" altLang="zh-CN" dirty="0">
                <a:solidFill>
                  <a:schemeClr val="tx1"/>
                </a:solidFill>
              </a:rPr>
              <a:t>simple_ai_cot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 </a:t>
            </a:r>
            <a:r>
              <a:rPr lang="zh-CN" altLang="en-US" dirty="0">
                <a:solidFill>
                  <a:schemeClr val="tx1"/>
                </a:solidFill>
              </a:rPr>
              <a:t>读取提问与代码，生成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且预测答案，直到预测的答案符合正确答案为止，选用最终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。（第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次告知正确答案）</a:t>
            </a:r>
          </a:p>
        </p:txBody>
      </p:sp>
      <p:sp>
        <p:nvSpPr>
          <p:cNvPr id="22" name="矩形: 剪去对角 21">
            <a:extLst>
              <a:ext uri="{FF2B5EF4-FFF2-40B4-BE49-F238E27FC236}">
                <a16:creationId xmlns:a16="http://schemas.microsoft.com/office/drawing/2014/main" id="{4202AF47-04F7-8F23-9CE2-8DC8DF1A9B55}"/>
              </a:ext>
            </a:extLst>
          </p:cNvPr>
          <p:cNvSpPr/>
          <p:nvPr/>
        </p:nvSpPr>
        <p:spPr>
          <a:xfrm>
            <a:off x="3975326" y="2932309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方案二：</a:t>
            </a:r>
            <a:r>
              <a:rPr lang="en-US" altLang="zh-CN" dirty="0">
                <a:solidFill>
                  <a:schemeClr val="tx1"/>
                </a:solidFill>
              </a:rPr>
              <a:t>reduced_formated_cot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根据提问与代码，判断行号和目标变量；利用代码执行追踪、智能回溯与剪枝、模板化匹配算法；得到最终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</a:p>
        </p:txBody>
      </p:sp>
      <p:sp>
        <p:nvSpPr>
          <p:cNvPr id="23" name="矩形: 剪去对角 22">
            <a:extLst>
              <a:ext uri="{FF2B5EF4-FFF2-40B4-BE49-F238E27FC236}">
                <a16:creationId xmlns:a16="http://schemas.microsoft.com/office/drawing/2014/main" id="{66EEE4E6-214D-9956-E2AC-FF54A3847177}"/>
              </a:ext>
            </a:extLst>
          </p:cNvPr>
          <p:cNvSpPr/>
          <p:nvPr/>
        </p:nvSpPr>
        <p:spPr>
          <a:xfrm>
            <a:off x="3975326" y="4901380"/>
            <a:ext cx="6618514" cy="1791516"/>
          </a:xfrm>
          <a:prstGeom prst="snip2DiagRect">
            <a:avLst>
              <a:gd name="adj1" fmla="val 0"/>
              <a:gd name="adj2" fmla="val 23737"/>
            </a:avLst>
          </a:prstGeom>
          <a:solidFill>
            <a:srgbClr val="F2CFEE">
              <a:alpha val="54902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方案三：</a:t>
            </a:r>
            <a:r>
              <a:rPr lang="en-US" altLang="zh-CN" dirty="0">
                <a:solidFill>
                  <a:schemeClr val="tx1"/>
                </a:solidFill>
              </a:rPr>
              <a:t>reduced_natural_cot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根据提问与代码，判断行号和目标变量；利用代码执行追踪、智能回溯与剪枝，得到剪枝的执行流程；将执行流程、提问与代码提供给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，让他产生合适的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3F84-C3CA-894D-C419-A988EC47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900DB5-E175-915B-B08C-566DBE05A48C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进展分享二：数据集</a:t>
            </a:r>
            <a:r>
              <a:rPr lang="en-US" altLang="zh-CN" sz="2400" dirty="0"/>
              <a:t>—&gt;</a:t>
            </a:r>
            <a:r>
              <a:rPr lang="zh-CN" altLang="en-US" sz="2400" dirty="0"/>
              <a:t>三类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生成思路进展</a:t>
            </a:r>
            <a:endParaRPr lang="zh-CN" altLang="en-US" sz="2400" dirty="0">
              <a:sym typeface="+mn-ea"/>
            </a:endParaRPr>
          </a:p>
        </p:txBody>
      </p:sp>
      <p:sp>
        <p:nvSpPr>
          <p:cNvPr id="21" name="矩形: 剪去对角 20">
            <a:extLst>
              <a:ext uri="{FF2B5EF4-FFF2-40B4-BE49-F238E27FC236}">
                <a16:creationId xmlns:a16="http://schemas.microsoft.com/office/drawing/2014/main" id="{1630E16F-40C9-5B7F-456D-862B44F1D626}"/>
              </a:ext>
            </a:extLst>
          </p:cNvPr>
          <p:cNvSpPr/>
          <p:nvPr/>
        </p:nvSpPr>
        <p:spPr>
          <a:xfrm>
            <a:off x="354195" y="943570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方案一：</a:t>
            </a:r>
            <a:r>
              <a:rPr lang="en-US" altLang="zh-CN" dirty="0">
                <a:solidFill>
                  <a:schemeClr val="tx1"/>
                </a:solidFill>
              </a:rPr>
              <a:t>simple_ai_cot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 </a:t>
            </a:r>
            <a:r>
              <a:rPr lang="zh-CN" altLang="en-US" dirty="0">
                <a:solidFill>
                  <a:schemeClr val="tx1"/>
                </a:solidFill>
              </a:rPr>
              <a:t>读取提问与代码，生成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且预测答案，直到预测的答案符合正确答案为止，选用最终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。（第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次告知正确答案）</a:t>
            </a:r>
          </a:p>
        </p:txBody>
      </p:sp>
      <p:sp>
        <p:nvSpPr>
          <p:cNvPr id="22" name="矩形: 剪去对角 21">
            <a:extLst>
              <a:ext uri="{FF2B5EF4-FFF2-40B4-BE49-F238E27FC236}">
                <a16:creationId xmlns:a16="http://schemas.microsoft.com/office/drawing/2014/main" id="{49619E56-957D-A882-503C-FEF170A9E4F1}"/>
              </a:ext>
            </a:extLst>
          </p:cNvPr>
          <p:cNvSpPr/>
          <p:nvPr/>
        </p:nvSpPr>
        <p:spPr>
          <a:xfrm>
            <a:off x="344805" y="2914892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方案二：</a:t>
            </a:r>
            <a:r>
              <a:rPr lang="en-US" altLang="zh-CN" dirty="0">
                <a:solidFill>
                  <a:schemeClr val="tx1"/>
                </a:solidFill>
              </a:rPr>
              <a:t>reduced_formated_cot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根据提问与代码，判断行号和目标变量；利用代码执行追踪、智能回溯与剪枝、模板化匹配算法；得到最终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</a:p>
        </p:txBody>
      </p:sp>
      <p:sp>
        <p:nvSpPr>
          <p:cNvPr id="23" name="矩形: 剪去对角 22">
            <a:extLst>
              <a:ext uri="{FF2B5EF4-FFF2-40B4-BE49-F238E27FC236}">
                <a16:creationId xmlns:a16="http://schemas.microsoft.com/office/drawing/2014/main" id="{2D97D54D-3587-01EF-5324-E8F97B33F4B8}"/>
              </a:ext>
            </a:extLst>
          </p:cNvPr>
          <p:cNvSpPr/>
          <p:nvPr/>
        </p:nvSpPr>
        <p:spPr>
          <a:xfrm>
            <a:off x="344805" y="4883963"/>
            <a:ext cx="6618514" cy="1791516"/>
          </a:xfrm>
          <a:prstGeom prst="snip2DiagRect">
            <a:avLst>
              <a:gd name="adj1" fmla="val 0"/>
              <a:gd name="adj2" fmla="val 23737"/>
            </a:avLst>
          </a:prstGeom>
          <a:solidFill>
            <a:srgbClr val="F2CFEE">
              <a:alpha val="54902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方案三：</a:t>
            </a:r>
            <a:r>
              <a:rPr lang="en-US" altLang="zh-CN" dirty="0">
                <a:solidFill>
                  <a:schemeClr val="tx1"/>
                </a:solidFill>
              </a:rPr>
              <a:t>reduced_natural_cot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根据提问与代码，判断行号和目标变量；利用代码执行追踪、智能回溯与剪枝，得到剪枝的执行流程；将执行流程、提问与代码提供给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，让他产生合适的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</a:p>
        </p:txBody>
      </p:sp>
      <p:sp>
        <p:nvSpPr>
          <p:cNvPr id="4" name="矩形: 剪去对角 3">
            <a:extLst>
              <a:ext uri="{FF2B5EF4-FFF2-40B4-BE49-F238E27FC236}">
                <a16:creationId xmlns:a16="http://schemas.microsoft.com/office/drawing/2014/main" id="{E5E12618-49C1-FE34-BF5E-8E8180FBE1E4}"/>
              </a:ext>
            </a:extLst>
          </p:cNvPr>
          <p:cNvSpPr/>
          <p:nvPr/>
        </p:nvSpPr>
        <p:spPr>
          <a:xfrm>
            <a:off x="7683002" y="943569"/>
            <a:ext cx="3803604" cy="1478013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已经完成所有数据处理与整理；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提交给佳宝并完成</a:t>
            </a:r>
            <a:r>
              <a:rPr lang="zh-CN" altLang="en-US" b="1" dirty="0">
                <a:solidFill>
                  <a:schemeClr val="tx1"/>
                </a:solidFill>
              </a:rPr>
              <a:t>训练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zh-CN" altLang="en-US" b="1" dirty="0">
                <a:solidFill>
                  <a:schemeClr val="tx1"/>
                </a:solidFill>
              </a:rPr>
              <a:t>部分评估</a:t>
            </a:r>
          </a:p>
        </p:txBody>
      </p:sp>
      <p:sp>
        <p:nvSpPr>
          <p:cNvPr id="7" name="矩形: 剪去对角 6">
            <a:extLst>
              <a:ext uri="{FF2B5EF4-FFF2-40B4-BE49-F238E27FC236}">
                <a16:creationId xmlns:a16="http://schemas.microsoft.com/office/drawing/2014/main" id="{FAE3D8B0-2C85-0D73-1A7F-9068A469085E}"/>
              </a:ext>
            </a:extLst>
          </p:cNvPr>
          <p:cNvSpPr/>
          <p:nvPr/>
        </p:nvSpPr>
        <p:spPr>
          <a:xfrm>
            <a:off x="7683002" y="2914891"/>
            <a:ext cx="3803604" cy="1478013"/>
          </a:xfrm>
          <a:prstGeom prst="snip2Diag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chemeClr val="bg1"/>
              </a:gs>
              <a:gs pos="53000">
                <a:srgbClr val="FBE3D6"/>
              </a:gs>
            </a:gsLst>
            <a:lin ang="10800000" scaled="1"/>
            <a:tileRect/>
          </a:gra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已经完成新框架搭建与验证；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开始生成，数据处理进度</a:t>
            </a:r>
            <a:r>
              <a:rPr lang="en-US" altLang="zh-CN" dirty="0">
                <a:solidFill>
                  <a:schemeClr val="tx1"/>
                </a:solidFill>
              </a:rPr>
              <a:t>250/2025</a:t>
            </a:r>
          </a:p>
        </p:txBody>
      </p:sp>
      <p:sp>
        <p:nvSpPr>
          <p:cNvPr id="9" name="矩形: 剪去对角 8">
            <a:extLst>
              <a:ext uri="{FF2B5EF4-FFF2-40B4-BE49-F238E27FC236}">
                <a16:creationId xmlns:a16="http://schemas.microsoft.com/office/drawing/2014/main" id="{C51F534A-8C66-71E0-2CA4-9F0B595CB63B}"/>
              </a:ext>
            </a:extLst>
          </p:cNvPr>
          <p:cNvSpPr/>
          <p:nvPr/>
        </p:nvSpPr>
        <p:spPr>
          <a:xfrm>
            <a:off x="7683002" y="4883963"/>
            <a:ext cx="3803604" cy="1791516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100000">
                <a:srgbClr val="F8E5F6"/>
              </a:gs>
            </a:gsLst>
            <a:lin ang="10800000" scaled="1"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框架调试中，待开始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31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F04FD-BD4E-A8CB-06B0-4E6846668CEB}"/>
              </a:ext>
            </a:extLst>
          </p:cNvPr>
          <p:cNvSpPr txBox="1"/>
          <p:nvPr/>
        </p:nvSpPr>
        <p:spPr>
          <a:xfrm>
            <a:off x="186690" y="1045210"/>
            <a:ext cx="11818620" cy="49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zh-CN" altLang="en-US" sz="2000" dirty="0">
                <a:sym typeface="+mn-ea"/>
              </a:rPr>
              <a:t>完成了以下需求的实现：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b="1" dirty="0">
                <a:sym typeface="+mn-ea"/>
              </a:rPr>
              <a:t>便捷交互网站设计</a:t>
            </a:r>
            <a:r>
              <a:rPr lang="zh-CN" altLang="en-US" sz="2000" dirty="0">
                <a:sym typeface="+mn-ea"/>
              </a:rPr>
              <a:t>：包含</a:t>
            </a:r>
            <a:r>
              <a:rPr lang="en-US" altLang="zh-CN" sz="2000" dirty="0">
                <a:sym typeface="+mn-ea"/>
              </a:rPr>
              <a:t>【</a:t>
            </a:r>
            <a:r>
              <a:rPr lang="zh-CN" altLang="en-US" sz="2000" dirty="0">
                <a:sym typeface="+mn-ea"/>
              </a:rPr>
              <a:t>分析代码展示区</a:t>
            </a:r>
            <a:r>
              <a:rPr lang="en-US" altLang="zh-CN" sz="2000" dirty="0">
                <a:sym typeface="+mn-ea"/>
              </a:rPr>
              <a:t>】【</a:t>
            </a:r>
            <a:r>
              <a:rPr lang="zh-CN" altLang="en-US" sz="2000" dirty="0">
                <a:sym typeface="+mn-ea"/>
              </a:rPr>
              <a:t>答案提交区</a:t>
            </a:r>
            <a:r>
              <a:rPr lang="en-US" altLang="zh-CN" sz="2000" dirty="0">
                <a:sym typeface="+mn-ea"/>
              </a:rPr>
              <a:t>】【ai</a:t>
            </a:r>
            <a:r>
              <a:rPr lang="zh-CN" altLang="en-US" sz="2000" dirty="0">
                <a:sym typeface="+mn-ea"/>
              </a:rPr>
              <a:t>对话区</a:t>
            </a:r>
            <a:r>
              <a:rPr lang="en-US" altLang="zh-CN" sz="2000" dirty="0">
                <a:sym typeface="+mn-ea"/>
              </a:rPr>
              <a:t>】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b="1" dirty="0">
                <a:sym typeface="+mn-ea"/>
              </a:rPr>
              <a:t>提供个性化设计</a:t>
            </a:r>
            <a:r>
              <a:rPr lang="zh-CN" altLang="en-US" sz="2000" dirty="0">
                <a:sym typeface="+mn-ea"/>
              </a:rPr>
              <a:t>：网页配色提供</a:t>
            </a:r>
            <a:r>
              <a:rPr lang="en-US" altLang="zh-CN" sz="2000" dirty="0">
                <a:sym typeface="+mn-ea"/>
              </a:rPr>
              <a:t>6</a:t>
            </a:r>
            <a:r>
              <a:rPr lang="zh-CN" altLang="en-US" sz="2000" dirty="0">
                <a:sym typeface="+mn-ea"/>
              </a:rPr>
              <a:t>种方案（蓝、紫、绿、橙、灰、自定义）；同时指引同学们更改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平台名称，设计个性化的名称（默认“代码分析助手”）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b="1" dirty="0">
                <a:sym typeface="+mn-ea"/>
              </a:rPr>
              <a:t>完成</a:t>
            </a:r>
            <a:r>
              <a:rPr lang="en-US" altLang="zh-CN" sz="2000" b="1" dirty="0">
                <a:sym typeface="+mn-ea"/>
              </a:rPr>
              <a:t>AI</a:t>
            </a:r>
            <a:r>
              <a:rPr lang="zh-CN" altLang="en-US" sz="2000" b="1" dirty="0">
                <a:sym typeface="+mn-ea"/>
              </a:rPr>
              <a:t>调用功能</a:t>
            </a:r>
            <a:r>
              <a:rPr lang="zh-CN" altLang="en-US" sz="2000" dirty="0">
                <a:sym typeface="+mn-ea"/>
              </a:rPr>
              <a:t>：利用清华大学算力平台的</a:t>
            </a:r>
            <a:r>
              <a:rPr lang="en-US" altLang="zh-CN" sz="2000" dirty="0">
                <a:sym typeface="+mn-ea"/>
              </a:rPr>
              <a:t>API</a:t>
            </a:r>
            <a:r>
              <a:rPr lang="zh-CN" altLang="en-US" sz="2000" dirty="0">
                <a:sym typeface="+mn-ea"/>
              </a:rPr>
              <a:t>服务完成了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调用功能（调用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API</a:t>
            </a:r>
            <a:r>
              <a:rPr lang="zh-CN" altLang="en-US" sz="2000" dirty="0">
                <a:sym typeface="+mn-ea"/>
              </a:rPr>
              <a:t>的教学意义）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b="1" dirty="0">
                <a:sym typeface="+mn-ea"/>
              </a:rPr>
              <a:t>完成</a:t>
            </a:r>
            <a:r>
              <a:rPr lang="en-US" altLang="zh-CN" sz="2000" b="1" dirty="0">
                <a:sym typeface="+mn-ea"/>
              </a:rPr>
              <a:t>prompt</a:t>
            </a:r>
            <a:r>
              <a:rPr lang="zh-CN" altLang="en-US" sz="2000" b="1" dirty="0">
                <a:sym typeface="+mn-ea"/>
              </a:rPr>
              <a:t>功能思路的留白与提示</a:t>
            </a:r>
            <a:r>
              <a:rPr lang="zh-CN" altLang="en-US" sz="2000" dirty="0">
                <a:sym typeface="+mn-ea"/>
              </a:rPr>
              <a:t>：在代码中合适的位置进行了留空与提示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b="1" dirty="0">
                <a:sym typeface="+mn-ea"/>
              </a:rPr>
              <a:t>完成</a:t>
            </a:r>
            <a:r>
              <a:rPr lang="en-US" altLang="zh-CN" sz="2000" b="1" dirty="0">
                <a:sym typeface="+mn-ea"/>
              </a:rPr>
              <a:t>rag</a:t>
            </a:r>
            <a:r>
              <a:rPr lang="zh-CN" altLang="en-US" sz="2000" b="1" dirty="0">
                <a:sym typeface="+mn-ea"/>
              </a:rPr>
              <a:t>文件的创建、链接后端与提示</a:t>
            </a:r>
            <a:r>
              <a:rPr lang="zh-CN" altLang="en-US" sz="2000" dirty="0">
                <a:sym typeface="+mn-ea"/>
              </a:rPr>
              <a:t>：在</a:t>
            </a:r>
            <a:r>
              <a:rPr lang="en-US" altLang="zh-CN" sz="2000" dirty="0">
                <a:sym typeface="+mn-ea"/>
              </a:rPr>
              <a:t>rag</a:t>
            </a:r>
            <a:r>
              <a:rPr lang="zh-CN" altLang="en-US" sz="2000" dirty="0">
                <a:sym typeface="+mn-ea"/>
              </a:rPr>
              <a:t>文件中，讲了示例思路的实现流程，但留给学生实现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说明：关于</a:t>
            </a:r>
            <a:r>
              <a:rPr lang="en-US" altLang="zh-CN" sz="2000" dirty="0">
                <a:sym typeface="+mn-ea"/>
              </a:rPr>
              <a:t>agent</a:t>
            </a:r>
            <a:r>
              <a:rPr lang="zh-CN" altLang="en-US" sz="2000" dirty="0">
                <a:sym typeface="+mn-ea"/>
              </a:rPr>
              <a:t>，这个太多样化了，我的思路是就留给学生自行发挥了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A4E1-E0B9-B22D-AEB3-2C4B8A04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916C2F-1E6D-2CCD-43F4-7DCF6043C984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6B2A1C-9A85-8B07-CCF4-8BC9E72F3D31}"/>
              </a:ext>
            </a:extLst>
          </p:cNvPr>
          <p:cNvSpPr txBox="1"/>
          <p:nvPr/>
        </p:nvSpPr>
        <p:spPr>
          <a:xfrm>
            <a:off x="186690" y="1045210"/>
            <a:ext cx="11818620" cy="597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目前的项目结构：</a:t>
            </a:r>
            <a:endParaRPr lang="en-US" altLang="zh-CN" sz="2000" dirty="0"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 dirty="0">
                <a:sym typeface="+mn-ea"/>
              </a:rPr>
              <a:t>codePrism/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 dirty="0">
                <a:sym typeface="+mn-ea"/>
              </a:rPr>
              <a:t>├── backend.py                      Flask</a:t>
            </a:r>
            <a:r>
              <a:rPr lang="zh-CN" altLang="en-US" sz="2000" dirty="0">
                <a:sym typeface="+mn-ea"/>
              </a:rPr>
              <a:t>后端主程序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ai_module.py                   AI</a:t>
            </a:r>
            <a:r>
              <a:rPr lang="zh-CN" altLang="en-US" sz="2000" dirty="0">
                <a:sym typeface="+mn-ea"/>
              </a:rPr>
              <a:t>调用模块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rag_module.py                RAG</a:t>
            </a:r>
            <a:r>
              <a:rPr lang="zh-CN" altLang="en-US" sz="2000" dirty="0">
                <a:sym typeface="+mn-ea"/>
              </a:rPr>
              <a:t>实现框架（待完善）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static/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 dirty="0">
                <a:sym typeface="+mn-ea"/>
              </a:rPr>
              <a:t>│   ├── css/style.css              </a:t>
            </a:r>
            <a:r>
              <a:rPr lang="zh-CN" altLang="en-US" sz="2000" dirty="0">
                <a:sym typeface="+mn-ea"/>
              </a:rPr>
              <a:t>样式文件（含多套配色方案）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│   └── </a:t>
            </a:r>
            <a:r>
              <a:rPr lang="en-US" altLang="zh-CN" sz="2000" dirty="0">
                <a:sym typeface="+mn-ea"/>
              </a:rPr>
              <a:t>js/main.js                  </a:t>
            </a:r>
            <a:r>
              <a:rPr lang="zh-CN" altLang="en-US" sz="2000" dirty="0">
                <a:sym typeface="+mn-ea"/>
              </a:rPr>
              <a:t>前端交互逻辑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templates/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 dirty="0">
                <a:sym typeface="+mn-ea"/>
              </a:rPr>
              <a:t>│   └── index.html                 </a:t>
            </a:r>
            <a:r>
              <a:rPr lang="zh-CN" altLang="en-US" sz="2000" dirty="0">
                <a:sym typeface="+mn-ea"/>
              </a:rPr>
              <a:t>主页面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code_specifications/        </a:t>
            </a:r>
            <a:r>
              <a:rPr lang="zh-CN" altLang="en-US" sz="2000" dirty="0">
                <a:sym typeface="+mn-ea"/>
              </a:rPr>
              <a:t>编码规范文件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data/                               </a:t>
            </a:r>
            <a:r>
              <a:rPr lang="zh-CN" altLang="en-US" sz="2000" dirty="0">
                <a:sym typeface="+mn-ea"/>
              </a:rPr>
              <a:t>数据存储（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对话记录）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knowledge_base/             RAG</a:t>
            </a:r>
            <a:r>
              <a:rPr lang="zh-CN" altLang="en-US" sz="2000" dirty="0">
                <a:sym typeface="+mn-ea"/>
              </a:rPr>
              <a:t>知识库（示例代码）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├── </a:t>
            </a:r>
            <a:r>
              <a:rPr lang="en-US" altLang="zh-CN" sz="2000" dirty="0">
                <a:sym typeface="+mn-ea"/>
              </a:rPr>
              <a:t>test_code/                       </a:t>
            </a:r>
            <a:r>
              <a:rPr lang="zh-CN" altLang="en-US" sz="2000" dirty="0">
                <a:sym typeface="+mn-ea"/>
              </a:rPr>
              <a:t>测试代码（</a:t>
            </a:r>
            <a:r>
              <a:rPr lang="en-US" altLang="zh-CN" sz="2000" dirty="0" err="1">
                <a:sym typeface="+mn-ea"/>
              </a:rPr>
              <a:t>test1-test40</a:t>
            </a:r>
            <a:r>
              <a:rPr lang="zh-CN" altLang="en-US" sz="2000" dirty="0">
                <a:sym typeface="+mn-ea"/>
              </a:rPr>
              <a:t>）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└── </a:t>
            </a:r>
            <a:r>
              <a:rPr lang="en-US" altLang="zh-CN" sz="2000" dirty="0">
                <a:sym typeface="+mn-ea"/>
              </a:rPr>
              <a:t>README.txt                     </a:t>
            </a:r>
            <a:r>
              <a:rPr lang="zh-CN" altLang="en-US" sz="2000" dirty="0">
                <a:sym typeface="+mn-ea"/>
              </a:rPr>
              <a:t>项目说明</a:t>
            </a:r>
            <a:endParaRPr lang="en-US" altLang="zh-CN" sz="2000" dirty="0"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endParaRPr lang="zh-CN" altLang="en-US" sz="20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454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C96BC-5DB6-0A82-4F1C-F4176957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19DAEB-4722-AF25-40D9-578286721A91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C76ED2-24C3-A101-DC89-9246ECD54818}"/>
              </a:ext>
            </a:extLst>
          </p:cNvPr>
          <p:cNvSpPr txBox="1"/>
          <p:nvPr/>
        </p:nvSpPr>
        <p:spPr>
          <a:xfrm>
            <a:off x="28875" y="1045210"/>
            <a:ext cx="1337912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网页展示：</a:t>
            </a:r>
            <a:endParaRPr lang="en-US" altLang="zh-CN" sz="2000" dirty="0"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C0A62F-AAE0-2B01-50EB-62BB7F75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022" y="1131837"/>
            <a:ext cx="10452082" cy="528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75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1583D-E0D0-5A60-3A6C-188F9C4D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626266-5108-3318-B663-87DBD53A1604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A2DEB0-E91E-2B0A-DC08-1F9F2E1287CF}"/>
              </a:ext>
            </a:extLst>
          </p:cNvPr>
          <p:cNvSpPr txBox="1"/>
          <p:nvPr/>
        </p:nvSpPr>
        <p:spPr>
          <a:xfrm>
            <a:off x="28875" y="1045210"/>
            <a:ext cx="1337912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分析界面：</a:t>
            </a:r>
            <a:endParaRPr lang="en-US" altLang="zh-CN" sz="2000" dirty="0"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7FBDB4-D295-4927-210F-9351CC5E4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57" y="1045210"/>
            <a:ext cx="10568961" cy="536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7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A2A3-9EA8-C906-7282-7EC2137D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0621C3-E859-1DA5-119C-F6F74DD33B5B}"/>
              </a:ext>
            </a:extLst>
          </p:cNvPr>
          <p:cNvSpPr txBox="1"/>
          <p:nvPr/>
        </p:nvSpPr>
        <p:spPr>
          <a:xfrm>
            <a:off x="366707" y="246263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97E726-CF5E-A390-9135-3C1075DCB426}"/>
              </a:ext>
            </a:extLst>
          </p:cNvPr>
          <p:cNvSpPr txBox="1"/>
          <p:nvPr/>
        </p:nvSpPr>
        <p:spPr>
          <a:xfrm>
            <a:off x="28875" y="1045210"/>
            <a:ext cx="1337912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对话界面：</a:t>
            </a:r>
            <a:endParaRPr lang="en-US" altLang="zh-CN" sz="2000" dirty="0"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6BCF77-B132-96AC-3891-7BDF8691C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495" y="1133418"/>
            <a:ext cx="10088522" cy="524813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A8365E8-DFCF-30C6-53F6-BF90347ADBC2}"/>
              </a:ext>
            </a:extLst>
          </p:cNvPr>
          <p:cNvSpPr/>
          <p:nvPr/>
        </p:nvSpPr>
        <p:spPr>
          <a:xfrm>
            <a:off x="1393495" y="4988134"/>
            <a:ext cx="3129226" cy="14455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46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81558-0398-75DB-223E-7E3961B8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9AD4DC3-93DB-7C19-8E67-E1EB7C727330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C8F3FE-2182-194C-948D-2F1F49ABF697}"/>
              </a:ext>
            </a:extLst>
          </p:cNvPr>
          <p:cNvSpPr/>
          <p:nvPr/>
        </p:nvSpPr>
        <p:spPr>
          <a:xfrm>
            <a:off x="1724768" y="1708776"/>
            <a:ext cx="3635698" cy="400255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FDEBB1-D449-D9F4-95AF-86DD8206864D}"/>
              </a:ext>
            </a:extLst>
          </p:cNvPr>
          <p:cNvSpPr/>
          <p:nvPr/>
        </p:nvSpPr>
        <p:spPr>
          <a:xfrm>
            <a:off x="5360466" y="1708776"/>
            <a:ext cx="4126662" cy="4002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C16FA6-CD02-0144-A7AD-E78949E2C254}"/>
              </a:ext>
            </a:extLst>
          </p:cNvPr>
          <p:cNvSpPr/>
          <p:nvPr/>
        </p:nvSpPr>
        <p:spPr>
          <a:xfrm>
            <a:off x="5391505" y="1763095"/>
            <a:ext cx="4070072" cy="1199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AEFC3E-8037-260C-FD0C-B56A59429A37}"/>
              </a:ext>
            </a:extLst>
          </p:cNvPr>
          <p:cNvSpPr/>
          <p:nvPr/>
        </p:nvSpPr>
        <p:spPr>
          <a:xfrm>
            <a:off x="5590434" y="5239529"/>
            <a:ext cx="3871143" cy="3230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输入框 </a:t>
            </a:r>
            <a:r>
              <a:rPr lang="en-US" altLang="zh-CN" dirty="0" err="1"/>
              <a:t>bangwofenxi</a:t>
            </a:r>
            <a:endParaRPr lang="zh-CN" altLang="en-US" dirty="0"/>
          </a:p>
        </p:txBody>
      </p:sp>
      <p:sp>
        <p:nvSpPr>
          <p:cNvPr id="12" name="不完整圆 11">
            <a:extLst>
              <a:ext uri="{FF2B5EF4-FFF2-40B4-BE49-F238E27FC236}">
                <a16:creationId xmlns:a16="http://schemas.microsoft.com/office/drawing/2014/main" id="{A876CE3B-8FA9-1414-1095-05099EDEAD59}"/>
              </a:ext>
            </a:extLst>
          </p:cNvPr>
          <p:cNvSpPr/>
          <p:nvPr/>
        </p:nvSpPr>
        <p:spPr>
          <a:xfrm>
            <a:off x="9083291" y="5293336"/>
            <a:ext cx="229148" cy="215436"/>
          </a:xfrm>
          <a:prstGeom prst="p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F61DB3-BB58-35DE-B21B-11F6946C10E2}"/>
              </a:ext>
            </a:extLst>
          </p:cNvPr>
          <p:cNvSpPr/>
          <p:nvPr/>
        </p:nvSpPr>
        <p:spPr>
          <a:xfrm>
            <a:off x="1837016" y="1874867"/>
            <a:ext cx="3392028" cy="36339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codasdasdasdde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6A35C7-17DE-F1AE-C500-C6383D916D1B}"/>
              </a:ext>
            </a:extLst>
          </p:cNvPr>
          <p:cNvSpPr/>
          <p:nvPr/>
        </p:nvSpPr>
        <p:spPr>
          <a:xfrm>
            <a:off x="5694467" y="1938309"/>
            <a:ext cx="1352436" cy="180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Rule1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BF21E2-5E8F-5D1C-ED5B-5070A11DB880}"/>
              </a:ext>
            </a:extLst>
          </p:cNvPr>
          <p:cNvSpPr/>
          <p:nvPr/>
        </p:nvSpPr>
        <p:spPr>
          <a:xfrm>
            <a:off x="7007662" y="1938309"/>
            <a:ext cx="1352436" cy="180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line2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2604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129A-EA6B-F56A-CEDA-15BD477B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A26D62-6654-B03A-6773-FC9CDFAD6B22}"/>
              </a:ext>
            </a:extLst>
          </p:cNvPr>
          <p:cNvSpPr txBox="1"/>
          <p:nvPr/>
        </p:nvSpPr>
        <p:spPr>
          <a:xfrm>
            <a:off x="492642" y="264567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F570DF-84F0-D0E8-763B-6DC3D5E259B7}"/>
              </a:ext>
            </a:extLst>
          </p:cNvPr>
          <p:cNvSpPr/>
          <p:nvPr/>
        </p:nvSpPr>
        <p:spPr>
          <a:xfrm>
            <a:off x="3043437" y="1215549"/>
            <a:ext cx="6844312" cy="26774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27858B-F82E-593A-2A60-FFBEB4A91DB0}"/>
              </a:ext>
            </a:extLst>
          </p:cNvPr>
          <p:cNvSpPr/>
          <p:nvPr/>
        </p:nvSpPr>
        <p:spPr>
          <a:xfrm>
            <a:off x="3416680" y="1489321"/>
            <a:ext cx="2091622" cy="47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Rule1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3EA414-B486-B743-D91E-EF55F9D863D8}"/>
              </a:ext>
            </a:extLst>
          </p:cNvPr>
          <p:cNvSpPr/>
          <p:nvPr/>
        </p:nvSpPr>
        <p:spPr>
          <a:xfrm>
            <a:off x="5508302" y="1489321"/>
            <a:ext cx="2053293" cy="47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line2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62DF8E-CC0B-63A5-25A3-6FC9E0A36F1B}"/>
              </a:ext>
            </a:extLst>
          </p:cNvPr>
          <p:cNvSpPr/>
          <p:nvPr/>
        </p:nvSpPr>
        <p:spPr>
          <a:xfrm>
            <a:off x="7561595" y="1489321"/>
            <a:ext cx="2053293" cy="47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info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9154F3-9AA8-5B91-4927-7B5CAFB58B4C}"/>
              </a:ext>
            </a:extLst>
          </p:cNvPr>
          <p:cNvSpPr txBox="1"/>
          <p:nvPr/>
        </p:nvSpPr>
        <p:spPr>
          <a:xfrm>
            <a:off x="1002007" y="4198986"/>
            <a:ext cx="76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你需要输出一个</a:t>
            </a:r>
            <a:r>
              <a:rPr lang="en-US" altLang="zh-CN" dirty="0" err="1"/>
              <a:t>json</a:t>
            </a:r>
            <a:r>
              <a:rPr lang="zh-CN" altLang="en-US" dirty="0"/>
              <a:t>格式文本，</a:t>
            </a:r>
            <a:r>
              <a:rPr lang="en-US" altLang="zh-CN" dirty="0"/>
              <a:t>{</a:t>
            </a:r>
            <a:r>
              <a:rPr lang="en-US" altLang="zh-CN" dirty="0" err="1"/>
              <a:t>Rule:111;line:2;info</a:t>
            </a:r>
            <a:r>
              <a:rPr lang="en-US" altLang="zh-CN" dirty="0"/>
              <a:t>:”ze”}</a:t>
            </a:r>
            <a:r>
              <a:rPr lang="zh-CN" altLang="en-US" dirty="0"/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ED9B59-E014-1C9D-55CB-5AAC6C449FFE}"/>
              </a:ext>
            </a:extLst>
          </p:cNvPr>
          <p:cNvSpPr/>
          <p:nvPr/>
        </p:nvSpPr>
        <p:spPr>
          <a:xfrm>
            <a:off x="3416680" y="2107134"/>
            <a:ext cx="2091622" cy="47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Rule1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644EF1-E17D-92D2-EEDF-7E57B03B92AF}"/>
              </a:ext>
            </a:extLst>
          </p:cNvPr>
          <p:cNvSpPr/>
          <p:nvPr/>
        </p:nvSpPr>
        <p:spPr>
          <a:xfrm>
            <a:off x="5508302" y="2107134"/>
            <a:ext cx="2053293" cy="47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line2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F68531-A99F-1152-E5C3-627B5F7951AD}"/>
              </a:ext>
            </a:extLst>
          </p:cNvPr>
          <p:cNvSpPr/>
          <p:nvPr/>
        </p:nvSpPr>
        <p:spPr>
          <a:xfrm>
            <a:off x="7561595" y="2107134"/>
            <a:ext cx="2053293" cy="47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info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D347AB-AD87-D58A-2864-D91D3CB37041}"/>
              </a:ext>
            </a:extLst>
          </p:cNvPr>
          <p:cNvSpPr/>
          <p:nvPr/>
        </p:nvSpPr>
        <p:spPr>
          <a:xfrm>
            <a:off x="9704321" y="1632720"/>
            <a:ext cx="93995" cy="47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516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1884-AE57-F95C-9E52-67507C12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45564E-FE6A-2DD2-762B-8234A65879B3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A45E09-A1AD-0984-66AB-E620E5A6761A}"/>
              </a:ext>
            </a:extLst>
          </p:cNvPr>
          <p:cNvSpPr txBox="1"/>
          <p:nvPr/>
        </p:nvSpPr>
        <p:spPr>
          <a:xfrm>
            <a:off x="231006" y="1045210"/>
            <a:ext cx="1337912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答案提交：</a:t>
            </a:r>
            <a:endParaRPr lang="en-US" altLang="zh-CN" sz="2000" dirty="0"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E0C227-D825-C98D-5C1D-8F0C4F553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038" y="1045210"/>
            <a:ext cx="6351837" cy="23837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7D3EBE-3927-EA52-F578-0E0C678A4890}"/>
              </a:ext>
            </a:extLst>
          </p:cNvPr>
          <p:cNvSpPr txBox="1"/>
          <p:nvPr/>
        </p:nvSpPr>
        <p:spPr>
          <a:xfrm>
            <a:off x="231006" y="3546174"/>
            <a:ext cx="6593306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自动更新到</a:t>
            </a:r>
            <a:r>
              <a:rPr lang="en-US" altLang="zh-CN" sz="2000" dirty="0">
                <a:sym typeface="+mn-ea"/>
              </a:rPr>
              <a:t>”your_answer.json”</a:t>
            </a:r>
            <a:r>
              <a:rPr lang="zh-CN" altLang="en-US" sz="2000" dirty="0">
                <a:sym typeface="+mn-ea"/>
              </a:rPr>
              <a:t>，便于我们打分</a:t>
            </a:r>
            <a:endParaRPr lang="en-US" altLang="zh-CN" sz="2000" dirty="0"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424731D-D17C-5A65-342E-5F9E0EBCC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038" y="4330984"/>
            <a:ext cx="4258745" cy="232220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4434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9C48-1108-A0F7-4344-CC12A4EC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8BFA7F-3F19-8613-5C51-0D43B0EDE053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3BB4AE-A4CD-F392-94B1-239398C4D3BD}"/>
              </a:ext>
            </a:extLst>
          </p:cNvPr>
          <p:cNvSpPr txBox="1"/>
          <p:nvPr/>
        </p:nvSpPr>
        <p:spPr>
          <a:xfrm>
            <a:off x="1790307" y="1468386"/>
            <a:ext cx="2050182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多种配色方案：</a:t>
            </a:r>
            <a:endParaRPr lang="en-US" altLang="zh-CN" sz="2000" dirty="0"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4C448C-F9AD-00B8-4894-5EFD0E1A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361" y="925488"/>
            <a:ext cx="3773107" cy="17882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3C7008C-E5C5-201E-955A-3CC7BFBA3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307" y="2760292"/>
            <a:ext cx="3801976" cy="18019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A98B656-8090-CFD5-7EDB-CB0F1F893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361" y="2822722"/>
            <a:ext cx="3773107" cy="178829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3A6ED28-2BBD-6AF7-5902-78D255A2C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307" y="4753126"/>
            <a:ext cx="3801977" cy="180197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0D697BC-C1E6-2B1F-0B2E-60CA4DEA4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5361" y="4759968"/>
            <a:ext cx="3773108" cy="178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29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A6AE-A71E-D0A1-4404-3B3EFBF5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5BEC5A-CFFA-A466-EC29-7CD33EDACDAD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175E07-C7A1-E29E-5503-CBA368F82DF4}"/>
              </a:ext>
            </a:extLst>
          </p:cNvPr>
          <p:cNvSpPr txBox="1"/>
          <p:nvPr/>
        </p:nvSpPr>
        <p:spPr>
          <a:xfrm>
            <a:off x="344805" y="1041963"/>
            <a:ext cx="8855242" cy="807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2000" dirty="0">
                <a:sym typeface="+mn-ea"/>
              </a:rPr>
              <a:t>Prompt</a:t>
            </a:r>
            <a:r>
              <a:rPr lang="zh-CN" altLang="en-US" sz="2000" dirty="0">
                <a:sym typeface="+mn-ea"/>
              </a:rPr>
              <a:t>工程的代码实现，存放在“</a:t>
            </a:r>
            <a:r>
              <a:rPr lang="en-US" altLang="zh-CN" sz="2000" dirty="0">
                <a:sym typeface="+mn-ea"/>
              </a:rPr>
              <a:t>ai_module.py</a:t>
            </a:r>
            <a:r>
              <a:rPr lang="zh-CN" altLang="en-US" sz="2000" dirty="0">
                <a:sym typeface="+mn-ea"/>
              </a:rPr>
              <a:t>”中，做了示例与思路提示。</a:t>
            </a:r>
            <a:endParaRPr lang="en-US" altLang="zh-CN" sz="2000" dirty="0"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2000" dirty="0">
                <a:sym typeface="+mn-ea"/>
              </a:rPr>
              <a:t>担忧这个过于详细了，思考可以删减一些。</a:t>
            </a:r>
            <a:endParaRPr lang="en-US" altLang="zh-CN" sz="2000" dirty="0"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265CD9-BE46-6E03-9A8C-53698A9D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" y="2127865"/>
            <a:ext cx="9915726" cy="418642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8623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0C0F-ECBD-3895-BE48-0C5CB569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D834A1-B8D9-E2F3-C581-C310CEF9F784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A64C16-0FAE-6307-AED1-36F760CD9FD6}"/>
              </a:ext>
            </a:extLst>
          </p:cNvPr>
          <p:cNvSpPr txBox="1"/>
          <p:nvPr/>
        </p:nvSpPr>
        <p:spPr>
          <a:xfrm>
            <a:off x="301001" y="951968"/>
            <a:ext cx="8855242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2000" dirty="0">
                <a:sym typeface="+mn-ea"/>
              </a:rPr>
              <a:t>RAG</a:t>
            </a:r>
            <a:r>
              <a:rPr lang="zh-CN" altLang="en-US" sz="2000" dirty="0">
                <a:sym typeface="+mn-ea"/>
              </a:rPr>
              <a:t>采用留空文件的方案，提供思路。鼓励学生写清楚思路和需求，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实现</a:t>
            </a:r>
            <a:endParaRPr lang="en-US" altLang="zh-CN" sz="2000" dirty="0"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B269B7-6FA4-6321-D0A0-03C06B382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5" y="1486300"/>
            <a:ext cx="4952480" cy="52794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FCF9AE4-B842-8162-72C6-871266BD5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213" y="1578544"/>
            <a:ext cx="5698322" cy="527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54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6526B-5171-9946-3C9C-79F97679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D89621-BE1B-6551-A1A6-81F70884CB6D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2D4954-2335-1FA7-13F0-A57586859BB3}"/>
              </a:ext>
            </a:extLst>
          </p:cNvPr>
          <p:cNvSpPr txBox="1"/>
          <p:nvPr/>
        </p:nvSpPr>
        <p:spPr>
          <a:xfrm>
            <a:off x="344805" y="1263344"/>
            <a:ext cx="8855242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2000" dirty="0">
                <a:sym typeface="+mn-ea"/>
              </a:rPr>
              <a:t>Agent</a:t>
            </a:r>
            <a:r>
              <a:rPr lang="zh-CN" altLang="en-US" sz="2000" dirty="0">
                <a:sym typeface="+mn-ea"/>
              </a:rPr>
              <a:t>方案完全留白，鼓励学生描述思路和需求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实现</a:t>
            </a:r>
            <a:endParaRPr lang="en-US" altLang="zh-CN" sz="20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2908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5B8D-FFA7-6CE1-D0F8-F78BC881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6D5F1C-104A-3E80-2FE4-F6BE8B584E80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BC4ACA-6B94-DFD8-3CA2-02B7371836E2}"/>
              </a:ext>
            </a:extLst>
          </p:cNvPr>
          <p:cNvSpPr txBox="1"/>
          <p:nvPr/>
        </p:nvSpPr>
        <p:spPr>
          <a:xfrm>
            <a:off x="344805" y="1195967"/>
            <a:ext cx="8855242" cy="2815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2000" dirty="0">
                <a:sym typeface="+mn-ea"/>
              </a:rPr>
              <a:t>最后需要提交的作业：</a:t>
            </a:r>
            <a:endParaRPr lang="en-US" altLang="zh-CN" sz="20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1. Poster</a:t>
            </a:r>
            <a:r>
              <a:rPr lang="zh-CN" altLang="en-US" sz="2000" dirty="0">
                <a:sym typeface="+mn-ea"/>
              </a:rPr>
              <a:t>（学生自行实现）</a:t>
            </a:r>
            <a:endParaRPr lang="en-US" altLang="zh-CN" sz="20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2. </a:t>
            </a:r>
            <a:r>
              <a:rPr lang="en-US" altLang="zh-CN" sz="2000" dirty="0" err="1">
                <a:sym typeface="+mn-ea"/>
              </a:rPr>
              <a:t>answer.json</a:t>
            </a:r>
            <a:endParaRPr lang="en-US" altLang="zh-CN" sz="20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      -    </a:t>
            </a:r>
            <a:r>
              <a:rPr lang="zh-CN" altLang="en-US" sz="2000" dirty="0">
                <a:sym typeface="+mn-ea"/>
              </a:rPr>
              <a:t>学生最终完整版的</a:t>
            </a:r>
            <a:r>
              <a:rPr lang="en-US" altLang="zh-CN" sz="2000" dirty="0" err="1">
                <a:sym typeface="+mn-ea"/>
              </a:rPr>
              <a:t>answer.json</a:t>
            </a:r>
            <a:endParaRPr lang="en-US" altLang="zh-CN" sz="20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3. code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+mn-ea"/>
              </a:rPr>
              <a:t>      -    </a:t>
            </a:r>
            <a:r>
              <a:rPr lang="zh-CN" altLang="en-US" sz="2000" dirty="0">
                <a:sym typeface="+mn-ea"/>
              </a:rPr>
              <a:t>存放整个项目文件</a:t>
            </a:r>
            <a:r>
              <a:rPr lang="en-US" altLang="zh-CN" sz="2000" dirty="0">
                <a:sym typeface="+mn-ea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31854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F6E0A-B341-7676-0F9F-E43DFBCA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E33251-0DEB-7F8A-FF3C-93672FF97F2F}"/>
              </a:ext>
            </a:extLst>
          </p:cNvPr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56F793-A72B-1617-BCB1-9F91C37CA437}"/>
              </a:ext>
            </a:extLst>
          </p:cNvPr>
          <p:cNvSpPr txBox="1"/>
          <p:nvPr/>
        </p:nvSpPr>
        <p:spPr>
          <a:xfrm>
            <a:off x="383134" y="763270"/>
            <a:ext cx="10819636" cy="554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zh-CN" altLang="en-US" sz="2000" dirty="0">
                <a:sym typeface="+mn-ea"/>
              </a:rPr>
              <a:t>助教提供的文档思路与</a:t>
            </a:r>
            <a:r>
              <a:rPr lang="en-US" altLang="zh-CN" sz="2000" dirty="0">
                <a:sym typeface="+mn-ea"/>
              </a:rPr>
              <a:t>ppt</a:t>
            </a:r>
            <a:r>
              <a:rPr lang="zh-CN" altLang="en-US" sz="2000" dirty="0">
                <a:sym typeface="+mn-ea"/>
              </a:rPr>
              <a:t>思路：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000" dirty="0">
                <a:sym typeface="+mn-ea"/>
              </a:rPr>
              <a:t>如何安装环境（如何利用清华算力平台获取</a:t>
            </a:r>
            <a:r>
              <a:rPr lang="en-US" altLang="zh-CN" sz="2000" dirty="0" err="1">
                <a:sym typeface="+mn-ea"/>
              </a:rPr>
              <a:t>api</a:t>
            </a:r>
            <a:r>
              <a:rPr lang="en-US" altLang="zh-CN" sz="2000" dirty="0">
                <a:sym typeface="+mn-ea"/>
              </a:rPr>
              <a:t> key</a:t>
            </a:r>
            <a:r>
              <a:rPr lang="zh-CN" altLang="en-US" sz="2000" dirty="0">
                <a:sym typeface="+mn-ea"/>
              </a:rPr>
              <a:t>）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000" dirty="0">
                <a:sym typeface="+mn-ea"/>
              </a:rPr>
              <a:t>基本功能介绍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代码框架介绍（如果要改需要改哪里</a:t>
            </a:r>
            <a:r>
              <a:rPr lang="en-US" altLang="zh-CN" sz="2000" dirty="0">
                <a:sym typeface="+mn-ea"/>
              </a:rPr>
              <a:t>[</a:t>
            </a:r>
            <a:r>
              <a:rPr lang="zh-CN" altLang="en-US" sz="2000" dirty="0">
                <a:sym typeface="+mn-ea"/>
              </a:rPr>
              <a:t>实现位置</a:t>
            </a:r>
            <a:r>
              <a:rPr lang="en-US" altLang="zh-CN" sz="2000" dirty="0">
                <a:sym typeface="+mn-ea"/>
              </a:rPr>
              <a:t>]</a:t>
            </a:r>
            <a:r>
              <a:rPr lang="zh-CN" altLang="en-US" sz="2000" dirty="0">
                <a:sym typeface="+mn-ea"/>
              </a:rPr>
              <a:t>）（</a:t>
            </a:r>
            <a:r>
              <a:rPr lang="en-US" altLang="zh-CN" sz="2000" dirty="0">
                <a:sym typeface="+mn-ea"/>
              </a:rPr>
              <a:t>4</a:t>
            </a:r>
            <a:r>
              <a:rPr lang="zh-CN" altLang="en-US" sz="2000" dirty="0">
                <a:sym typeface="+mn-ea"/>
              </a:rPr>
              <a:t>个 三步</a:t>
            </a:r>
            <a:r>
              <a:rPr lang="en-US" altLang="zh-CN" sz="2000" dirty="0">
                <a:sym typeface="+mn-ea"/>
              </a:rPr>
              <a:t>+</a:t>
            </a:r>
            <a:r>
              <a:rPr lang="zh-CN" altLang="en-US" sz="2000" dirty="0">
                <a:sym typeface="+mn-ea"/>
              </a:rPr>
              <a:t>个性化）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思路：如何修改</a:t>
            </a:r>
            <a:r>
              <a:rPr lang="en-US" altLang="zh-CN" sz="2000" dirty="0">
                <a:sym typeface="+mn-ea"/>
              </a:rPr>
              <a:t>prompt</a:t>
            </a:r>
            <a:r>
              <a:rPr lang="zh-CN" altLang="en-US" sz="2000" dirty="0">
                <a:sym typeface="+mn-ea"/>
              </a:rPr>
              <a:t>，和简单思路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思路：</a:t>
            </a:r>
            <a:r>
              <a:rPr lang="en-US" altLang="zh-CN" sz="2000" dirty="0">
                <a:sym typeface="+mn-ea"/>
              </a:rPr>
              <a:t>Rag</a:t>
            </a:r>
            <a:r>
              <a:rPr lang="zh-CN" altLang="en-US" sz="2000" dirty="0">
                <a:sym typeface="+mn-ea"/>
              </a:rPr>
              <a:t>的实现思路介绍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思路：</a:t>
            </a:r>
            <a:r>
              <a:rPr lang="en-US" altLang="zh-CN" sz="2000" dirty="0">
                <a:sym typeface="+mn-ea"/>
              </a:rPr>
              <a:t>Agent</a:t>
            </a:r>
            <a:r>
              <a:rPr lang="zh-CN" altLang="en-US" sz="2000" dirty="0">
                <a:sym typeface="+mn-ea"/>
              </a:rPr>
              <a:t>一些常见思路介绍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作业验收：海报、展示；小组互评 </a:t>
            </a:r>
            <a:r>
              <a:rPr lang="en-US" altLang="zh-CN" sz="2000" dirty="0">
                <a:sym typeface="+mn-ea"/>
              </a:rPr>
              <a:t>2+3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展示需求：</a:t>
            </a:r>
            <a:r>
              <a:rPr lang="en-US" altLang="zh-CN" sz="2000" dirty="0">
                <a:sym typeface="+mn-ea"/>
              </a:rPr>
              <a:t>PPT</a:t>
            </a:r>
            <a:r>
              <a:rPr lang="zh-CN" altLang="en-US" sz="2000" dirty="0">
                <a:sym typeface="+mn-ea"/>
              </a:rPr>
              <a:t>演示</a:t>
            </a:r>
            <a:r>
              <a:rPr lang="en-US" altLang="zh-CN" sz="2000" dirty="0">
                <a:sym typeface="+mn-ea"/>
              </a:rPr>
              <a:t>+</a:t>
            </a:r>
            <a:r>
              <a:rPr lang="zh-CN" altLang="en-US" sz="2000" dirty="0">
                <a:sym typeface="+mn-ea"/>
              </a:rPr>
              <a:t>系统演示</a:t>
            </a:r>
            <a:r>
              <a:rPr lang="en-US" altLang="zh-CN" sz="2000" dirty="0">
                <a:sym typeface="+mn-ea"/>
              </a:rPr>
              <a:t>+</a:t>
            </a:r>
            <a:r>
              <a:rPr lang="zh-CN" altLang="en-US" sz="2000" dirty="0">
                <a:sym typeface="+mn-ea"/>
              </a:rPr>
              <a:t>评委验收</a:t>
            </a:r>
            <a:r>
              <a:rPr lang="en-US" altLang="zh-CN" sz="2000" dirty="0">
                <a:sym typeface="+mn-ea"/>
              </a:rPr>
              <a:t>[</a:t>
            </a:r>
            <a:r>
              <a:rPr lang="zh-CN" altLang="en-US" sz="2000" dirty="0">
                <a:sym typeface="+mn-ea"/>
              </a:rPr>
              <a:t>每组</a:t>
            </a:r>
            <a:r>
              <a:rPr lang="en-US" altLang="zh-CN" sz="2000" dirty="0">
                <a:sym typeface="+mn-ea"/>
              </a:rPr>
              <a:t>5</a:t>
            </a:r>
            <a:r>
              <a:rPr lang="zh-CN" altLang="en-US" sz="2000" dirty="0">
                <a:sym typeface="+mn-ea"/>
              </a:rPr>
              <a:t>个</a:t>
            </a:r>
            <a:r>
              <a:rPr lang="en-US" altLang="zh-CN" sz="2000" dirty="0">
                <a:sym typeface="+mn-ea"/>
              </a:rPr>
              <a:t>]</a:t>
            </a: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 err="1">
                <a:sym typeface="+mn-ea"/>
              </a:rPr>
              <a:t>10min</a:t>
            </a:r>
            <a:r>
              <a:rPr lang="zh-CN" altLang="en-US" sz="2000" dirty="0">
                <a:sym typeface="+mn-ea"/>
              </a:rPr>
              <a:t>）</a:t>
            </a:r>
            <a:r>
              <a:rPr lang="en-US" altLang="zh-CN" sz="2000" dirty="0">
                <a:sym typeface="+mn-ea"/>
              </a:rPr>
              <a:t>+</a:t>
            </a:r>
            <a:r>
              <a:rPr lang="zh-CN" altLang="en-US" sz="2000" dirty="0">
                <a:sym typeface="+mn-ea"/>
              </a:rPr>
              <a:t>提问与建议 </a:t>
            </a:r>
            <a:endParaRPr lang="en-US" altLang="zh-CN" sz="20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45970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0179637,20211662,50039266,2156468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1*443"/>
  <p:tag name="TABLE_ENDDRAG_RECT" val="15*89*941*44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</TotalTime>
  <Words>1807</Words>
  <Application>Microsoft Office PowerPoint</Application>
  <PresentationFormat>宽屏</PresentationFormat>
  <Paragraphs>128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caoye541@gmail.com</cp:lastModifiedBy>
  <cp:revision>102</cp:revision>
  <dcterms:created xsi:type="dcterms:W3CDTF">2025-10-01T20:32:00Z</dcterms:created>
  <dcterms:modified xsi:type="dcterms:W3CDTF">2025-11-21T11:54:58Z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0EF9495A275B44739829F704D14D350D_13</vt:lpwstr>
  </property>
  <property fmtid="{D5CDD505-2E9C-101B-9397-08002B2CF9AE}" pid="3" name="KSOProductBuildVer">
    <vt:lpwstr>2052-12.1.0.19302</vt:lpwstr>
  </property>
</Properties>
</file>