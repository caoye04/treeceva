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92" r:id="rId3"/>
    <p:sldId id="257" r:id="rId4"/>
    <p:sldId id="327" r:id="rId5"/>
    <p:sldId id="368" r:id="rId6"/>
    <p:sldId id="348" r:id="rId7"/>
    <p:sldId id="369" r:id="rId8"/>
    <p:sldId id="390" r:id="rId9"/>
    <p:sldId id="391" r:id="rId10"/>
    <p:sldId id="356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F6"/>
    <a:srgbClr val="FFFFFF"/>
    <a:srgbClr val="FBE3D6"/>
    <a:srgbClr val="F2CFE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840E2-13A5-46A9-A265-C77FF1EECC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86F9-7E47-4853-B8F4-FBCF71CB48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68014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本周会议纪要：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1127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9</a:t>
            </a:r>
            <a:endParaRPr lang="en-US" altLang="zh-CN" sz="32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270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将数据集生产的模型从</a:t>
            </a:r>
            <a:r>
              <a:rPr lang="en-US" altLang="zh-CN" sz="2000" dirty="0">
                <a:sym typeface="+mn-ea"/>
              </a:rPr>
              <a:t>qwen</a:t>
            </a:r>
            <a:r>
              <a:rPr lang="zh-CN" altLang="en-US" sz="2000" dirty="0">
                <a:sym typeface="+mn-ea"/>
              </a:rPr>
              <a:t>更换为</a:t>
            </a:r>
            <a:r>
              <a:rPr lang="en-US" altLang="zh-CN" sz="2000" dirty="0">
                <a:sym typeface="+mn-ea"/>
              </a:rPr>
              <a:t>ds3.2</a:t>
            </a:r>
            <a:r>
              <a:rPr lang="zh-CN" altLang="en-US" sz="2000" dirty="0">
                <a:sym typeface="+mn-ea"/>
              </a:rPr>
              <a:t>，解决了训练模型与训练数据集产出模型一致的问题。共产出</a:t>
            </a:r>
            <a:r>
              <a:rPr lang="en-US" altLang="zh-CN" sz="2000" dirty="0">
                <a:sym typeface="+mn-ea"/>
              </a:rPr>
              <a:t>977</a:t>
            </a:r>
            <a:r>
              <a:rPr lang="zh-CN" altLang="en-US" sz="2000" dirty="0">
                <a:sym typeface="+mn-ea"/>
              </a:rPr>
              <a:t>个有效训练数据。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完善了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生产框架的细节问题，并为</a:t>
            </a:r>
            <a:r>
              <a:rPr lang="en-US" altLang="zh-CN" sz="2000" dirty="0">
                <a:sym typeface="+mn-ea"/>
              </a:rPr>
              <a:t>977</a:t>
            </a:r>
            <a:r>
              <a:rPr lang="zh-CN" altLang="en-US" sz="2000" dirty="0">
                <a:sym typeface="+mn-ea"/>
              </a:rPr>
              <a:t>个数据均生成了对应的三类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在</a:t>
            </a:r>
            <a:r>
              <a:rPr lang="en-US" altLang="zh-CN" sz="2000" dirty="0">
                <a:sym typeface="+mn-ea"/>
              </a:rPr>
              <a:t>7B</a:t>
            </a:r>
            <a:r>
              <a:rPr lang="zh-CN" altLang="en-US" sz="2000" dirty="0">
                <a:sym typeface="+mn-ea"/>
              </a:rPr>
              <a:t>模型上利用</a:t>
            </a:r>
            <a:r>
              <a:rPr lang="en-US" altLang="zh-CN" sz="2000" dirty="0">
                <a:sym typeface="+mn-ea"/>
              </a:rPr>
              <a:t>simple_ai_cot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reduced_formatted_cot</a:t>
            </a:r>
            <a:r>
              <a:rPr lang="zh-CN" altLang="en-US" sz="2000" dirty="0">
                <a:sym typeface="+mn-ea"/>
              </a:rPr>
              <a:t>进行微调，并进行部分测评，效果没有之前的好，下周预计尝试其他模型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9090" y="302697"/>
            <a:ext cx="59886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上周回顾：</a:t>
            </a:r>
            <a:r>
              <a:rPr lang="zh-CN" altLang="en-US" sz="3200" dirty="0">
                <a:sym typeface="+mn-ea"/>
              </a:rPr>
              <a:t>2025</a:t>
            </a:r>
            <a:r>
              <a:rPr lang="en-US" altLang="zh-CN" sz="3200" dirty="0">
                <a:sym typeface="+mn-ea"/>
              </a:rPr>
              <a:t>1120</a:t>
            </a:r>
            <a:r>
              <a:rPr lang="zh-CN" altLang="en-US" sz="3200" dirty="0">
                <a:sym typeface="+mn-ea"/>
              </a:rPr>
              <a:t> 会议纪要 </a:t>
            </a:r>
            <a:r>
              <a:rPr lang="en-US" altLang="zh-CN" sz="3200" dirty="0">
                <a:sym typeface="+mn-ea"/>
              </a:rPr>
              <a:t>8</a:t>
            </a:r>
            <a:endParaRPr lang="en-US" altLang="zh-CN" sz="3200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690" y="1167130"/>
            <a:ext cx="11818620" cy="3753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1. </a:t>
            </a:r>
            <a:r>
              <a:rPr lang="zh-CN" altLang="en-US" sz="2000" dirty="0">
                <a:sym typeface="+mn-ea"/>
              </a:rPr>
              <a:t>完成了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个新训练数据集的生成，难度分布</a:t>
            </a:r>
            <a:r>
              <a:rPr lang="en-US" altLang="zh-CN" sz="2000" dirty="0">
                <a:sym typeface="+mn-ea"/>
              </a:rPr>
              <a:t>70%</a:t>
            </a:r>
            <a:r>
              <a:rPr lang="zh-CN" altLang="en-US" sz="2000" dirty="0">
                <a:sym typeface="+mn-ea"/>
              </a:rPr>
              <a:t>高难度，且确保了完全可运行与答案正确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2. </a:t>
            </a:r>
            <a:r>
              <a:rPr lang="zh-CN" altLang="en-US" sz="2000" dirty="0">
                <a:sym typeface="+mn-ea"/>
              </a:rPr>
              <a:t>设计了纯</a:t>
            </a:r>
            <a:r>
              <a:rPr lang="en-US" altLang="zh-CN" sz="2000" dirty="0">
                <a:sym typeface="+mn-ea"/>
              </a:rPr>
              <a:t>AI</a:t>
            </a:r>
            <a:r>
              <a:rPr lang="zh-CN" altLang="en-US" sz="2000" dirty="0">
                <a:sym typeface="+mn-ea"/>
              </a:rPr>
              <a:t>思路</a:t>
            </a:r>
            <a:r>
              <a:rPr lang="en-US" altLang="zh-CN" sz="2000" dirty="0">
                <a:sym typeface="+mn-ea"/>
              </a:rPr>
              <a:t>cot</a:t>
            </a:r>
            <a:r>
              <a:rPr lang="zh-CN" altLang="en-US" sz="2000" dirty="0">
                <a:sym typeface="+mn-ea"/>
              </a:rPr>
              <a:t>，结合数据集特色设计创新流程，生成了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个带</a:t>
            </a:r>
            <a:r>
              <a:rPr lang="en-US" altLang="zh-CN" sz="2000" dirty="0">
                <a:sym typeface="+mn-ea"/>
              </a:rPr>
              <a:t>ai cot</a:t>
            </a:r>
            <a:r>
              <a:rPr lang="zh-CN" altLang="en-US" sz="2000" dirty="0">
                <a:sym typeface="+mn-ea"/>
              </a:rPr>
              <a:t>的训练数据集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3. </a:t>
            </a:r>
            <a:r>
              <a:rPr lang="zh-CN" altLang="en-US" sz="2000" dirty="0">
                <a:sym typeface="+mn-ea"/>
              </a:rPr>
              <a:t>完成一些细节问题的修改与优化：耦合框架、格式优化、复杂函数追踪处理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调通</a:t>
            </a:r>
            <a:r>
              <a:rPr lang="en-US" altLang="zh-CN" sz="2000" dirty="0">
                <a:sym typeface="+mn-ea"/>
              </a:rPr>
              <a:t>CoRe</a:t>
            </a:r>
            <a:r>
              <a:rPr lang="zh-CN" altLang="en-US" sz="2000" dirty="0">
                <a:sym typeface="+mn-ea"/>
              </a:rPr>
              <a:t>评估代码，使用</a:t>
            </a:r>
            <a:r>
              <a:rPr lang="en-US" altLang="zh-CN" sz="2000" dirty="0">
                <a:sym typeface="+mn-ea"/>
              </a:rPr>
              <a:t>2025</a:t>
            </a:r>
            <a:r>
              <a:rPr lang="zh-CN" altLang="en-US" sz="2000" dirty="0">
                <a:sym typeface="+mn-ea"/>
              </a:rPr>
              <a:t>条</a:t>
            </a:r>
            <a:r>
              <a:rPr lang="en-US" altLang="zh-CN" sz="2000" dirty="0">
                <a:sym typeface="+mn-ea"/>
              </a:rPr>
              <a:t>ai_CoT</a:t>
            </a:r>
            <a:r>
              <a:rPr lang="zh-CN" altLang="en-US" sz="2000" dirty="0">
                <a:sym typeface="+mn-ea"/>
              </a:rPr>
              <a:t>数据进行微调，效果一般，后续尽快出更好的结果，并且尝试</a:t>
            </a:r>
            <a:r>
              <a:rPr lang="en-US" altLang="zh-CN" sz="2000" dirty="0">
                <a:sym typeface="+mn-ea"/>
              </a:rPr>
              <a:t>7B</a:t>
            </a:r>
            <a:r>
              <a:rPr lang="zh-CN" altLang="en-US" sz="2000" dirty="0">
                <a:sym typeface="+mn-ea"/>
              </a:rPr>
              <a:t>模型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5. Reduced-cot</a:t>
            </a:r>
            <a:r>
              <a:rPr lang="zh-CN" altLang="en-US" sz="2000" dirty="0">
                <a:sym typeface="+mn-ea"/>
              </a:rPr>
              <a:t>生成部分，出现少量</a:t>
            </a:r>
            <a:r>
              <a:rPr lang="en-US" altLang="zh-CN" sz="2000" dirty="0">
                <a:sym typeface="+mn-ea"/>
              </a:rPr>
              <a:t>case</a:t>
            </a:r>
            <a:r>
              <a:rPr lang="zh-CN" altLang="en-US" sz="2000" dirty="0">
                <a:sym typeface="+mn-ea"/>
              </a:rPr>
              <a:t>有问题，预期下周处理好且完全生成</a:t>
            </a:r>
            <a:endParaRPr lang="zh-CN" altLang="en-US" sz="2000" dirty="0">
              <a:sym typeface="+mn-ea"/>
            </a:endParaRPr>
          </a:p>
          <a:p>
            <a:pPr indent="0">
              <a:lnSpc>
                <a:spcPct val="170000"/>
              </a:lnSpc>
              <a:buNone/>
            </a:pPr>
            <a:r>
              <a:rPr lang="en-US" altLang="zh-CN" sz="2000" dirty="0">
                <a:sym typeface="+mn-ea"/>
              </a:rPr>
              <a:t>6. </a:t>
            </a:r>
            <a:r>
              <a:rPr lang="zh-CN" altLang="en-US" sz="2000" dirty="0">
                <a:sym typeface="+mn-ea"/>
              </a:rPr>
              <a:t>反馈用</a:t>
            </a:r>
            <a:r>
              <a:rPr lang="en-US" altLang="zh-CN" sz="2000" dirty="0">
                <a:sym typeface="+mn-ea"/>
              </a:rPr>
              <a:t>qwen</a:t>
            </a:r>
            <a:r>
              <a:rPr lang="zh-CN" altLang="en-US" sz="2000" dirty="0">
                <a:sym typeface="+mn-ea"/>
              </a:rPr>
              <a:t>产出的数据集对</a:t>
            </a:r>
            <a:r>
              <a:rPr lang="en-US" altLang="zh-CN" sz="2000" dirty="0">
                <a:sym typeface="+mn-ea"/>
              </a:rPr>
              <a:t>qwen</a:t>
            </a:r>
            <a:r>
              <a:rPr lang="zh-CN" altLang="en-US" sz="2000" dirty="0">
                <a:sym typeface="+mn-ea"/>
              </a:rPr>
              <a:t>提升小，下周内更换为其他模型</a:t>
            </a:r>
            <a:r>
              <a:rPr lang="en-US" altLang="zh-CN" sz="2000" dirty="0">
                <a:sym typeface="+mn-ea"/>
              </a:rPr>
              <a:t>api</a:t>
            </a:r>
            <a:r>
              <a:rPr lang="zh-CN" altLang="en-US" sz="2000" dirty="0">
                <a:sym typeface="+mn-ea"/>
              </a:rPr>
              <a:t>产出的</a:t>
            </a:r>
            <a:r>
              <a:rPr lang="zh-CN" altLang="en-US" sz="2000" dirty="0">
                <a:sym typeface="+mn-ea"/>
              </a:rPr>
              <a:t>数据集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7640" y="8362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本周内容总结</a:t>
            </a:r>
            <a:endParaRPr lang="zh-CN" altLang="en-US" sz="32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0015" y="782696"/>
          <a:ext cx="11951970" cy="590686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37310"/>
                <a:gridCol w="10614660"/>
              </a:tblGrid>
              <a:tr h="37989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细节进展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[NEW]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将数据集生产的模型从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qwen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更换为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ds3.2</a:t>
                      </a:r>
                      <a:endParaRPr lang="en-US" altLang="zh-CN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</a:rPr>
                        <a:t>[NEW]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生产了新的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977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条代码推理训练数据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</a:rPr>
                        <a:t>[NEW]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生产了完整的三类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COT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simple_ai_cot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reduced_formated_cot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reduced_natural_cot</a:t>
                      </a:r>
                      <a:endParaRPr lang="en-US" altLang="zh-CN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</a:rPr>
                        <a:t>[DEBUG]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针对上周框架内的细节问题，做了完善与修复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</a:rPr>
                        <a:t>[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  <a:sym typeface="+mn-ea"/>
                        </a:rPr>
                        <a:t>TA WORK</a:t>
                      </a:r>
                      <a:r>
                        <a:rPr lang="en-US" altLang="zh-CN" sz="2000" b="0" dirty="0">
                          <a:solidFill>
                            <a:srgbClr val="0070C0"/>
                          </a:solidFill>
                        </a:rPr>
                        <a:t>]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系工课网站设计和大作业设计完成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079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总结与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</a:rPr>
                        <a:t>Todo</a:t>
                      </a:r>
                      <a:endParaRPr lang="en-US" altLang="zh-CN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所有数据集已经做完了，整个流程完全走通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buAutoNum type="arabicPeriod"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下周开始与佳宝一起学习微调与评估技术细节，协助分担训练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评估压力</a:t>
                      </a:r>
                      <a:endParaRPr lang="zh-CN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44806" y="302895"/>
            <a:ext cx="6465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进展一：将数据集生产模型从</a:t>
            </a:r>
            <a:r>
              <a:rPr lang="en-US" altLang="zh-CN" sz="2400" dirty="0"/>
              <a:t>qwen</a:t>
            </a:r>
            <a:r>
              <a:rPr lang="zh-CN" altLang="en-US" sz="2400" dirty="0"/>
              <a:t>更换为</a:t>
            </a:r>
            <a:r>
              <a:rPr lang="en-US" altLang="zh-CN" sz="2400" dirty="0"/>
              <a:t>ds3.2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44805" y="1256665"/>
            <a:ext cx="110636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/>
              <a:t>背景：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上周讨论中，认为我们微调的模型就是</a:t>
            </a:r>
            <a:r>
              <a:rPr lang="en-US" altLang="zh-CN" sz="2400"/>
              <a:t>qwen</a:t>
            </a:r>
            <a:r>
              <a:rPr lang="zh-CN" altLang="en-US" sz="2400"/>
              <a:t>，如果数据集的生产模型也是</a:t>
            </a:r>
            <a:r>
              <a:rPr lang="en-US" altLang="zh-CN" sz="2400"/>
              <a:t>qwen</a:t>
            </a:r>
            <a:r>
              <a:rPr lang="zh-CN" altLang="en-US" sz="2400"/>
              <a:t>的话，有一定的</a:t>
            </a:r>
            <a:r>
              <a:rPr lang="en-US" altLang="zh-CN" sz="2400"/>
              <a:t>“</a:t>
            </a:r>
            <a:r>
              <a:rPr lang="zh-CN" altLang="en-US" sz="2400"/>
              <a:t>学习价值低</a:t>
            </a:r>
            <a:r>
              <a:rPr lang="en-US" altLang="zh-CN" sz="2400"/>
              <a:t>”</a:t>
            </a:r>
            <a:r>
              <a:rPr lang="zh-CN" altLang="en-US" sz="2400"/>
              <a:t>等</a:t>
            </a:r>
            <a:r>
              <a:rPr lang="zh-CN" altLang="en-US" sz="2400"/>
              <a:t>问题。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本周切换到了</a:t>
            </a:r>
            <a:r>
              <a:rPr lang="en-US" altLang="zh-CN" sz="2400"/>
              <a:t>ds3.2</a:t>
            </a:r>
            <a:r>
              <a:rPr lang="zh-CN" altLang="en-US" sz="2400"/>
              <a:t>进行数据集产出与</a:t>
            </a:r>
            <a:r>
              <a:rPr lang="en-US" altLang="zh-CN" sz="2400"/>
              <a:t>cot</a:t>
            </a:r>
            <a:r>
              <a:rPr lang="zh-CN" altLang="en-US" sz="2400"/>
              <a:t>生产等</a:t>
            </a:r>
            <a:r>
              <a:rPr lang="zh-CN" altLang="en-US" sz="2400"/>
              <a:t>工作。</a:t>
            </a:r>
            <a:endParaRPr lang="zh-CN" altLang="en-US" sz="2400"/>
          </a:p>
        </p:txBody>
      </p:sp>
      <p:sp>
        <p:nvSpPr>
          <p:cNvPr id="3" name="下箭头 2"/>
          <p:cNvSpPr/>
          <p:nvPr/>
        </p:nvSpPr>
        <p:spPr>
          <a:xfrm rot="16200000">
            <a:off x="782320" y="4211320"/>
            <a:ext cx="824230" cy="1642745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流程图: 多文档 4"/>
          <p:cNvSpPr/>
          <p:nvPr/>
        </p:nvSpPr>
        <p:spPr>
          <a:xfrm>
            <a:off x="2354580" y="4454525"/>
            <a:ext cx="2027555" cy="1156970"/>
          </a:xfrm>
          <a:prstGeom prst="flowChartMultidocumen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TreecEva_data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57420" y="4371975"/>
            <a:ext cx="37928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977</a:t>
            </a:r>
            <a:r>
              <a:rPr lang="zh-CN" altLang="en-US" sz="2000"/>
              <a:t>条</a:t>
            </a:r>
            <a:endParaRPr lang="zh-CN" altLang="en-US" sz="2000"/>
          </a:p>
          <a:p>
            <a:r>
              <a:rPr lang="en-US" altLang="zh-CN" sz="2000"/>
              <a:t>- </a:t>
            </a:r>
            <a:r>
              <a:rPr lang="zh-CN" altLang="en-US" sz="2000"/>
              <a:t>可运行的真实代码</a:t>
            </a:r>
            <a:endParaRPr lang="zh-CN" altLang="en-US" sz="2000"/>
          </a:p>
          <a:p>
            <a:r>
              <a:rPr lang="en-US" altLang="zh-CN" sz="2000"/>
              <a:t>- </a:t>
            </a:r>
            <a:r>
              <a:rPr lang="zh-CN" altLang="en-US" sz="2000"/>
              <a:t>答案经验证</a:t>
            </a:r>
            <a:endParaRPr lang="zh-CN" altLang="en-US" sz="2000"/>
          </a:p>
          <a:p>
            <a:r>
              <a:rPr lang="en-US" altLang="zh-CN" sz="2000"/>
              <a:t>- ai</a:t>
            </a:r>
            <a:r>
              <a:rPr lang="zh-CN" altLang="en-US" sz="2000"/>
              <a:t>评估后高难约占</a:t>
            </a:r>
            <a:r>
              <a:rPr lang="en-US" altLang="zh-CN" sz="2000"/>
              <a:t>75%</a:t>
            </a:r>
            <a:endParaRPr lang="en-US" altLang="zh-CN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035" y="2747645"/>
            <a:ext cx="4439285" cy="3682365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</a:t>
            </a:r>
            <a:endParaRPr lang="zh-CN" altLang="en-US" sz="2400" dirty="0">
              <a:sym typeface="+mn-ea"/>
            </a:endParaRPr>
          </a:p>
        </p:txBody>
      </p:sp>
      <p:sp>
        <p:nvSpPr>
          <p:cNvPr id="3" name="流程图: 多文档 2"/>
          <p:cNvSpPr/>
          <p:nvPr/>
        </p:nvSpPr>
        <p:spPr>
          <a:xfrm>
            <a:off x="436788" y="2652141"/>
            <a:ext cx="2085976" cy="2038350"/>
          </a:xfrm>
          <a:prstGeom prst="flowChartMultidocumen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Description: ***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Code: ***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Answer: ***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81723" y="1556766"/>
            <a:ext cx="314323" cy="43624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>
            <a:off x="3196046" y="1436528"/>
            <a:ext cx="748937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/>
          <p:cNvSpPr/>
          <p:nvPr/>
        </p:nvSpPr>
        <p:spPr>
          <a:xfrm>
            <a:off x="2690132" y="3429000"/>
            <a:ext cx="1245326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/>
          <p:cNvSpPr/>
          <p:nvPr/>
        </p:nvSpPr>
        <p:spPr>
          <a:xfrm>
            <a:off x="3196046" y="5554822"/>
            <a:ext cx="748937" cy="484632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剪去对角 20"/>
          <p:cNvSpPr/>
          <p:nvPr/>
        </p:nvSpPr>
        <p:spPr>
          <a:xfrm>
            <a:off x="3984716" y="960987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方案一：</a:t>
            </a:r>
            <a:r>
              <a:rPr lang="en-US" altLang="zh-CN" dirty="0">
                <a:solidFill>
                  <a:schemeClr val="tx1"/>
                </a:solidFill>
              </a:rPr>
              <a:t>simple_ai_cot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读取提问与代码，生成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且预测答案，直到预测的答案符合正确答案为止，选用最终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。（第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次告知正确答案）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: 剪去对角 21"/>
          <p:cNvSpPr/>
          <p:nvPr/>
        </p:nvSpPr>
        <p:spPr>
          <a:xfrm>
            <a:off x="3975326" y="2932309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方案二：</a:t>
            </a:r>
            <a:r>
              <a:rPr lang="en-US" altLang="zh-CN" dirty="0">
                <a:solidFill>
                  <a:schemeClr val="tx1"/>
                </a:solidFill>
              </a:rPr>
              <a:t>reduced_formated_cot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根据提问与代码，判断行号和目标变量；利用代码执行追踪、智能回溯与剪枝、模板化匹配算法；得到最终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" name="矩形: 剪去对角 22"/>
          <p:cNvSpPr/>
          <p:nvPr/>
        </p:nvSpPr>
        <p:spPr>
          <a:xfrm>
            <a:off x="3975326" y="4901380"/>
            <a:ext cx="6618514" cy="1791516"/>
          </a:xfrm>
          <a:prstGeom prst="snip2DiagRect">
            <a:avLst>
              <a:gd name="adj1" fmla="val 0"/>
              <a:gd name="adj2" fmla="val 23737"/>
            </a:avLst>
          </a:prstGeom>
          <a:solidFill>
            <a:srgbClr val="F2CFEE">
              <a:alpha val="54902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方案三：</a:t>
            </a:r>
            <a:r>
              <a:rPr lang="en-US" altLang="zh-CN" dirty="0">
                <a:solidFill>
                  <a:schemeClr val="tx1"/>
                </a:solidFill>
              </a:rPr>
              <a:t>reduced_natural_cot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根据提问与代码，判断行号和目标变量；利用代码执行追踪、智能回溯与剪枝，得到剪枝的执行流程；将执行流程、提问与代码提供给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，让他产生合适的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</a:t>
            </a:r>
            <a:endParaRPr lang="zh-CN" altLang="en-US" sz="2400" dirty="0">
              <a:sym typeface="+mn-ea"/>
            </a:endParaRPr>
          </a:p>
        </p:txBody>
      </p:sp>
      <p:sp>
        <p:nvSpPr>
          <p:cNvPr id="21" name="矩形: 剪去对角 20"/>
          <p:cNvSpPr/>
          <p:nvPr/>
        </p:nvSpPr>
        <p:spPr>
          <a:xfrm>
            <a:off x="354195" y="943570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方案一：</a:t>
            </a:r>
            <a:r>
              <a:rPr lang="en-US" altLang="zh-CN" dirty="0">
                <a:solidFill>
                  <a:schemeClr val="tx1"/>
                </a:solidFill>
              </a:rPr>
              <a:t>simple_ai_cot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读取提问与代码，生成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且预测答案，直到预测的答案符合正确答案为止，选用最终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r>
              <a:rPr lang="zh-CN" altLang="en-US" dirty="0">
                <a:solidFill>
                  <a:schemeClr val="tx1"/>
                </a:solidFill>
              </a:rPr>
              <a:t>。（第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次告知正确答案）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: 剪去对角 21"/>
          <p:cNvSpPr/>
          <p:nvPr/>
        </p:nvSpPr>
        <p:spPr>
          <a:xfrm>
            <a:off x="344805" y="2914892"/>
            <a:ext cx="6618514" cy="1478013"/>
          </a:xfrm>
          <a:prstGeom prst="snip2DiagRect">
            <a:avLst>
              <a:gd name="adj1" fmla="val 0"/>
              <a:gd name="adj2" fmla="val 2373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方案二：</a:t>
            </a:r>
            <a:r>
              <a:rPr lang="en-US" altLang="zh-CN" dirty="0">
                <a:solidFill>
                  <a:schemeClr val="tx1"/>
                </a:solidFill>
              </a:rPr>
              <a:t>reduced_formated_cot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根据提问与代码，判断行号和目标变量；利用代码执行追踪、智能回溯与剪枝、模板化匹配算法；得到最终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" name="矩形: 剪去对角 22"/>
          <p:cNvSpPr/>
          <p:nvPr/>
        </p:nvSpPr>
        <p:spPr>
          <a:xfrm>
            <a:off x="344805" y="4883963"/>
            <a:ext cx="6618514" cy="1791516"/>
          </a:xfrm>
          <a:prstGeom prst="snip2DiagRect">
            <a:avLst>
              <a:gd name="adj1" fmla="val 0"/>
              <a:gd name="adj2" fmla="val 23737"/>
            </a:avLst>
          </a:prstGeom>
          <a:solidFill>
            <a:srgbClr val="F2CFEE">
              <a:alpha val="54902"/>
            </a:srgb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方案三：</a:t>
            </a:r>
            <a:r>
              <a:rPr lang="en-US" altLang="zh-CN" dirty="0">
                <a:solidFill>
                  <a:schemeClr val="tx1"/>
                </a:solidFill>
              </a:rPr>
              <a:t>reduced_natural_cot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根据提问与代码，判断行号和目标变量；利用代码执行追踪、智能回溯与剪枝，得到剪枝的执行流程；将执行流程、提问与代码提供给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，让他产生合适的</a:t>
            </a:r>
            <a:r>
              <a:rPr lang="en-US" altLang="zh-CN" dirty="0">
                <a:solidFill>
                  <a:schemeClr val="tx1"/>
                </a:solidFill>
              </a:rPr>
              <a:t>cot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矩形: 剪去对角 3"/>
          <p:cNvSpPr/>
          <p:nvPr/>
        </p:nvSpPr>
        <p:spPr>
          <a:xfrm>
            <a:off x="7683002" y="943569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</a:rPr>
              <a:t>训练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b="1" dirty="0">
                <a:solidFill>
                  <a:schemeClr val="tx1"/>
                </a:solidFill>
              </a:rPr>
              <a:t>部分评估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: 剪去对角 6"/>
          <p:cNvSpPr/>
          <p:nvPr/>
        </p:nvSpPr>
        <p:spPr>
          <a:xfrm>
            <a:off x="7683002" y="2914891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训练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部分评估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矩形: 剪去对角 8"/>
          <p:cNvSpPr/>
          <p:nvPr/>
        </p:nvSpPr>
        <p:spPr>
          <a:xfrm>
            <a:off x="7683002" y="4883963"/>
            <a:ext cx="3803604" cy="1791516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F8E5F6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训练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部分评估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</a:t>
            </a:r>
            <a:endParaRPr lang="zh-CN" altLang="en-US" sz="2400" dirty="0">
              <a:sym typeface="+mn-ea"/>
            </a:endParaRPr>
          </a:p>
        </p:txBody>
      </p:sp>
      <p:sp>
        <p:nvSpPr>
          <p:cNvPr id="4" name="矩形: 剪去对角 3"/>
          <p:cNvSpPr/>
          <p:nvPr/>
        </p:nvSpPr>
        <p:spPr>
          <a:xfrm>
            <a:off x="449717" y="944204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</a:rPr>
              <a:t>训练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b="1" dirty="0">
                <a:solidFill>
                  <a:schemeClr val="tx1"/>
                </a:solidFill>
              </a:rPr>
              <a:t>部分评估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: 剪去对角 6"/>
          <p:cNvSpPr/>
          <p:nvPr/>
        </p:nvSpPr>
        <p:spPr>
          <a:xfrm>
            <a:off x="449717" y="2915526"/>
            <a:ext cx="3803604" cy="1478013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训练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部分评估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矩形: 剪去对角 8"/>
          <p:cNvSpPr/>
          <p:nvPr/>
        </p:nvSpPr>
        <p:spPr>
          <a:xfrm>
            <a:off x="449717" y="4884598"/>
            <a:ext cx="3803604" cy="1791516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F8E5F6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进展</a:t>
            </a:r>
            <a:r>
              <a:rPr lang="en-US" altLang="zh-CN" dirty="0">
                <a:solidFill>
                  <a:schemeClr val="tx1"/>
                </a:solidFill>
              </a:rPr>
              <a:t>】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已经完成所有数据处理与整理；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提交给佳宝并完成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训练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部分评估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015" y="944245"/>
            <a:ext cx="5022215" cy="14782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165" y="3314065"/>
            <a:ext cx="6143625" cy="3241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/>
              <a:t>进展分享二：数据集</a:t>
            </a:r>
            <a:r>
              <a:rPr lang="en-US" altLang="zh-CN" sz="2400" dirty="0"/>
              <a:t>—&gt;</a:t>
            </a:r>
            <a:r>
              <a:rPr lang="zh-CN" altLang="en-US" sz="2400" dirty="0"/>
              <a:t>三类</a:t>
            </a:r>
            <a:r>
              <a:rPr lang="en-US" altLang="zh-CN" sz="2400" dirty="0"/>
              <a:t>cot</a:t>
            </a:r>
            <a:r>
              <a:rPr lang="zh-CN" altLang="en-US" sz="2400" dirty="0"/>
              <a:t>生成</a:t>
            </a:r>
            <a:endParaRPr lang="zh-CN" altLang="en-US" sz="2400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928370"/>
            <a:ext cx="9961880" cy="2292350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52028"/>
          <a:stretch>
            <a:fillRect/>
          </a:stretch>
        </p:blipFill>
        <p:spPr>
          <a:xfrm>
            <a:off x="429895" y="3307715"/>
            <a:ext cx="2822575" cy="3420110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3462655" y="3472815"/>
            <a:ext cx="62642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长度分析：</a:t>
            </a:r>
            <a:endParaRPr lang="zh-CN" altLang="en-US" sz="2000"/>
          </a:p>
          <a:p>
            <a:r>
              <a:rPr lang="en-US" altLang="zh-CN" sz="2000"/>
              <a:t>1. Simple AI COT : 65 lines</a:t>
            </a:r>
            <a:endParaRPr lang="en-US" altLang="zh-CN" sz="2000"/>
          </a:p>
          <a:p>
            <a:r>
              <a:rPr lang="en-US" altLang="zh-CN" sz="2000"/>
              <a:t>2. Reduced Formatted COT : 20 lines</a:t>
            </a:r>
            <a:endParaRPr lang="en-US" altLang="zh-CN" sz="2000"/>
          </a:p>
          <a:p>
            <a:r>
              <a:rPr lang="en-US" altLang="zh-CN" sz="2000"/>
              <a:t>3. </a:t>
            </a:r>
            <a:r>
              <a:rPr lang="en-US" altLang="zh-CN" sz="2000">
                <a:sym typeface="+mn-ea"/>
              </a:rPr>
              <a:t>Reduced Natural COT : </a:t>
            </a:r>
            <a:r>
              <a:rPr lang="en-US" altLang="zh-CN" sz="2000"/>
              <a:t>36 lines</a:t>
            </a:r>
            <a:endParaRPr lang="en-US" altLang="zh-CN" sz="2000"/>
          </a:p>
        </p:txBody>
      </p:sp>
      <p:sp>
        <p:nvSpPr>
          <p:cNvPr id="13" name="文本框 12"/>
          <p:cNvSpPr txBox="1"/>
          <p:nvPr/>
        </p:nvSpPr>
        <p:spPr>
          <a:xfrm>
            <a:off x="3462655" y="5041265"/>
            <a:ext cx="866267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ym typeface="+mn-ea"/>
              </a:rPr>
              <a:t>结论：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1. </a:t>
            </a:r>
            <a:r>
              <a:rPr lang="zh-CN" altLang="en-US" sz="2000">
                <a:sym typeface="+mn-ea"/>
              </a:rPr>
              <a:t>直接</a:t>
            </a:r>
            <a:r>
              <a:rPr lang="en-US" altLang="zh-CN" sz="2000">
                <a:sym typeface="+mn-ea"/>
              </a:rPr>
              <a:t>AIcot</a:t>
            </a:r>
            <a:r>
              <a:rPr lang="zh-CN" altLang="en-US" sz="2000">
                <a:sym typeface="+mn-ea"/>
              </a:rPr>
              <a:t>有过度啰嗦的问题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2. </a:t>
            </a:r>
            <a:r>
              <a:rPr lang="zh-CN" altLang="en-US" sz="2000">
                <a:sym typeface="+mn-ea"/>
              </a:rPr>
              <a:t>直接模板匹配产出的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，可能有一些边界情况不好处理、过度简介教学意义低问题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3. </a:t>
            </a:r>
            <a:r>
              <a:rPr lang="zh-CN" altLang="en-US" sz="2000">
                <a:sym typeface="+mn-ea"/>
              </a:rPr>
              <a:t>认为将剪枝流程给</a:t>
            </a:r>
            <a:r>
              <a:rPr lang="en-US" altLang="zh-CN" sz="2000">
                <a:sym typeface="+mn-ea"/>
              </a:rPr>
              <a:t>ai</a:t>
            </a:r>
            <a:r>
              <a:rPr lang="zh-CN" altLang="en-US" sz="2000">
                <a:sym typeface="+mn-ea"/>
              </a:rPr>
              <a:t>产出合适的</a:t>
            </a:r>
            <a:r>
              <a:rPr lang="en-US" altLang="zh-CN" sz="2000">
                <a:sym typeface="+mn-ea"/>
              </a:rPr>
              <a:t>cot</a:t>
            </a:r>
            <a:r>
              <a:rPr lang="zh-CN" altLang="en-US" sz="2000">
                <a:sym typeface="+mn-ea"/>
              </a:rPr>
              <a:t>，做到了二者取其优的效果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4805" y="302895"/>
            <a:ext cx="1025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进展分享三：</a:t>
            </a:r>
            <a:r>
              <a:rPr lang="en-US" altLang="zh-CN" sz="2400" dirty="0"/>
              <a:t>[</a:t>
            </a:r>
            <a:r>
              <a:rPr lang="en-US" altLang="zh-CN" sz="2400" dirty="0">
                <a:sym typeface="+mn-ea"/>
              </a:rPr>
              <a:t>TA WORK] </a:t>
            </a:r>
            <a:r>
              <a:rPr lang="zh-CN" altLang="en-US" sz="2400" dirty="0">
                <a:sym typeface="+mn-ea"/>
              </a:rPr>
              <a:t>代码规范检查助手 项目介绍 </a:t>
            </a:r>
            <a:endParaRPr lang="zh-CN" altLang="en-US" sz="24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100" y="1045210"/>
            <a:ext cx="1181862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zh-CN" altLang="en-US" sz="2400" dirty="0">
                <a:sym typeface="+mn-ea"/>
              </a:rPr>
              <a:t>根据上周提的需求，完成了以下改进，并在课堂中进行了展示：</a:t>
            </a:r>
            <a:endParaRPr lang="zh-CN" altLang="en-US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 sz="2400" dirty="0">
                <a:sym typeface="+mn-ea"/>
              </a:rPr>
              <a:t>ai</a:t>
            </a:r>
            <a:r>
              <a:rPr lang="zh-CN" altLang="en-US" sz="2400" dirty="0">
                <a:sym typeface="+mn-ea"/>
              </a:rPr>
              <a:t>对话</a:t>
            </a:r>
            <a:r>
              <a:rPr lang="zh-CN" altLang="en-US" sz="2400" dirty="0">
                <a:sym typeface="+mn-ea"/>
              </a:rPr>
              <a:t>去除</a:t>
            </a:r>
            <a:endParaRPr lang="zh-CN" altLang="en-US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 sz="2400" dirty="0">
                <a:sym typeface="+mn-ea"/>
              </a:rPr>
              <a:t>json</a:t>
            </a:r>
            <a:r>
              <a:rPr lang="zh-CN" altLang="en-US" sz="2400" dirty="0">
                <a:sym typeface="+mn-ea"/>
              </a:rPr>
              <a:t>格式需求，与网页自动</a:t>
            </a:r>
            <a:r>
              <a:rPr lang="zh-CN" altLang="en-US" sz="2400" dirty="0">
                <a:sym typeface="+mn-ea"/>
              </a:rPr>
              <a:t>提取</a:t>
            </a:r>
            <a:endParaRPr lang="zh-CN" altLang="en-US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结果条目美化与点击跳转</a:t>
            </a:r>
            <a:r>
              <a:rPr lang="zh-CN" altLang="en-US" sz="2400" dirty="0">
                <a:sym typeface="+mn-ea"/>
              </a:rPr>
              <a:t>功能</a:t>
            </a:r>
            <a:endParaRPr lang="zh-CN" altLang="en-US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环境配置、功能接入方法的</a:t>
            </a:r>
            <a:r>
              <a:rPr lang="zh-CN" altLang="en-US" sz="2400" dirty="0">
                <a:sym typeface="+mn-ea"/>
              </a:rPr>
              <a:t>说明</a:t>
            </a:r>
            <a:endParaRPr lang="zh-CN" altLang="en-US" sz="24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6025" y="3110230"/>
            <a:ext cx="7073265" cy="35909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1*443"/>
  <p:tag name="TABLE_ENDDRAG_RECT" val="15*89*941*443"/>
</p:tagLst>
</file>

<file path=ppt/tags/tag2.xml><?xml version="1.0" encoding="utf-8"?>
<p:tagLst xmlns:p="http://schemas.openxmlformats.org/presentationml/2006/main">
  <p:tag name="RESOURCE_RECORD_KEY" val="{&quot;10&quot;:[20179637,20211662,50039266,2156468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2013</Words>
  <Application>WPS 演示</Application>
  <PresentationFormat>宽屏</PresentationFormat>
  <Paragraphs>115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曹烨(2021012167)</cp:lastModifiedBy>
  <cp:revision>110</cp:revision>
  <dcterms:created xsi:type="dcterms:W3CDTF">2025-10-01T20:32:00Z</dcterms:created>
  <dcterms:modified xsi:type="dcterms:W3CDTF">2025-11-27T11:59:22Z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98BE3F34BB164CF089D90C530B2EF255_13</vt:lpwstr>
  </property>
  <property fmtid="{D5CDD505-2E9C-101B-9397-08002B2CF9AE}" pid="3" name="KSOProductBuildVer">
    <vt:lpwstr>2052-12.1.0.19302</vt:lpwstr>
  </property>
</Properties>
</file>