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92" r:id="rId3"/>
    <p:sldId id="397" r:id="rId4"/>
    <p:sldId id="327" r:id="rId5"/>
    <p:sldId id="368" r:id="rId7"/>
    <p:sldId id="393" r:id="rId8"/>
    <p:sldId id="356" r:id="rId9"/>
    <p:sldId id="394" r:id="rId10"/>
    <p:sldId id="396" r:id="rId11"/>
    <p:sldId id="395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5F6"/>
    <a:srgbClr val="FFFFFF"/>
    <a:srgbClr val="FBE3D6"/>
    <a:srgbClr val="F2CFEE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3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8014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上周会议纪要：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1127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9</a:t>
            </a:r>
            <a:endParaRPr lang="en-US" altLang="zh-CN" sz="32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3753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将数据集生产的模型从</a:t>
            </a:r>
            <a:r>
              <a:rPr lang="en-US" altLang="zh-CN" sz="2000" dirty="0">
                <a:sym typeface="+mn-ea"/>
              </a:rPr>
              <a:t>qwen</a:t>
            </a:r>
            <a:r>
              <a:rPr lang="zh-CN" altLang="en-US" sz="2000" dirty="0">
                <a:sym typeface="+mn-ea"/>
              </a:rPr>
              <a:t>更换为</a:t>
            </a:r>
            <a:r>
              <a:rPr lang="en-US" altLang="zh-CN" sz="2000" dirty="0">
                <a:sym typeface="+mn-ea"/>
              </a:rPr>
              <a:t>ds3.2</a:t>
            </a:r>
            <a:r>
              <a:rPr lang="zh-CN" altLang="en-US" sz="2000" dirty="0">
                <a:sym typeface="+mn-ea"/>
              </a:rPr>
              <a:t>，解决了训练模型与训练数据集产出模型一致的问题。共产出</a:t>
            </a:r>
            <a:r>
              <a:rPr lang="en-US" altLang="zh-CN" sz="2000" dirty="0">
                <a:sym typeface="+mn-ea"/>
              </a:rPr>
              <a:t>977</a:t>
            </a:r>
            <a:r>
              <a:rPr lang="zh-CN" altLang="en-US" sz="2000" dirty="0">
                <a:sym typeface="+mn-ea"/>
              </a:rPr>
              <a:t>个有效训练数据。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完善了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生产框架的细节问题，并为</a:t>
            </a:r>
            <a:r>
              <a:rPr lang="en-US" altLang="zh-CN" sz="2000" dirty="0">
                <a:sym typeface="+mn-ea"/>
              </a:rPr>
              <a:t>977</a:t>
            </a:r>
            <a:r>
              <a:rPr lang="zh-CN" altLang="en-US" sz="2000" dirty="0">
                <a:sym typeface="+mn-ea"/>
              </a:rPr>
              <a:t>个数据均生成了对应的三类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。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在</a:t>
            </a:r>
            <a:r>
              <a:rPr lang="en-US" altLang="zh-CN" sz="2000" dirty="0">
                <a:sym typeface="+mn-ea"/>
              </a:rPr>
              <a:t>7B</a:t>
            </a:r>
            <a:r>
              <a:rPr lang="zh-CN" altLang="en-US" sz="2000" dirty="0">
                <a:sym typeface="+mn-ea"/>
              </a:rPr>
              <a:t>模型上利用</a:t>
            </a:r>
            <a:r>
              <a:rPr lang="en-US" altLang="zh-CN" sz="2000" dirty="0">
                <a:sym typeface="+mn-ea"/>
              </a:rPr>
              <a:t>simple_ai_cot</a:t>
            </a:r>
            <a:r>
              <a:rPr lang="zh-CN" altLang="en-US" sz="2000" dirty="0">
                <a:sym typeface="+mn-ea"/>
              </a:rPr>
              <a:t>和</a:t>
            </a:r>
            <a:r>
              <a:rPr lang="en-US" altLang="zh-CN" sz="2000" dirty="0">
                <a:sym typeface="+mn-ea"/>
              </a:rPr>
              <a:t>reduced_formatted_cot</a:t>
            </a:r>
            <a:r>
              <a:rPr lang="zh-CN" altLang="en-US" sz="2000" dirty="0">
                <a:sym typeface="+mn-ea"/>
              </a:rPr>
              <a:t>进行微调，并进行部分测评，效果没有之前的好，下周预计尝试其他模型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下周</a:t>
            </a:r>
            <a:r>
              <a:rPr lang="en-US" altLang="zh-CN" sz="2000" dirty="0">
                <a:sym typeface="+mn-ea"/>
              </a:rPr>
              <a:t>TODO</a:t>
            </a:r>
            <a:r>
              <a:rPr lang="zh-CN" altLang="en-US" sz="2000" dirty="0">
                <a:sym typeface="+mn-ea"/>
              </a:rPr>
              <a:t>：重点工作就是做实验，各种大小的模型，各种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数据，各种参数，都要尽可能的对比出来，并且做必要的分析。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7015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本周会议纪要：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1204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10</a:t>
            </a:r>
            <a:endParaRPr lang="en-US" altLang="zh-CN" sz="32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1.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根据需求新增了新的一类的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COT“before_reduced_natural_cot”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，并进行评估</a:t>
            </a:r>
            <a:endParaRPr lang="en-US" altLang="zh-CN" sz="20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2.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尝试用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claude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生产了一批同规模数据集，且已经生产了对应的两类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cot</a:t>
            </a:r>
            <a:endParaRPr lang="en-US" altLang="zh-CN" sz="20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3. 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对三个模型在</a:t>
            </a: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4</a:t>
            </a:r>
            <a:r>
              <a:rPr lang="zh-CN" altLang="en-US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个数据集上进行训练。再进行评估</a:t>
            </a:r>
            <a:endParaRPr lang="zh-CN" altLang="en-US" sz="2000" dirty="0">
              <a:solidFill>
                <a:schemeClr val="tx2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下周尝试：【全参</a:t>
            </a:r>
            <a:r>
              <a:rPr lang="en-US" altLang="zh-CN" sz="2000" dirty="0">
                <a:sym typeface="+mn-ea"/>
              </a:rPr>
              <a:t> VS lora</a:t>
            </a:r>
            <a:r>
              <a:rPr lang="zh-CN" altLang="en-US" sz="2000" dirty="0">
                <a:sym typeface="+mn-ea"/>
              </a:rPr>
              <a:t>参数对比】</a:t>
            </a:r>
            <a:r>
              <a:rPr lang="en-US" altLang="zh-CN" sz="2000" dirty="0">
                <a:sym typeface="+mn-ea"/>
              </a:rPr>
              <a:t>Deepseek R1 distill qwen 7B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14B</a:t>
            </a: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32B</a:t>
            </a:r>
            <a:r>
              <a:rPr lang="zh-CN" altLang="en-US" sz="2000" dirty="0">
                <a:sym typeface="+mn-ea"/>
              </a:rPr>
              <a:t>）</a:t>
            </a:r>
            <a:r>
              <a:rPr lang="en-US" altLang="zh-CN" sz="2000" dirty="0">
                <a:sym typeface="+mn-ea"/>
              </a:rPr>
              <a:t>  claude</a:t>
            </a:r>
            <a:r>
              <a:rPr lang="zh-CN" altLang="en-US" sz="2000" dirty="0">
                <a:sym typeface="+mn-ea"/>
              </a:rPr>
              <a:t>数据集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ym typeface="+mn-ea"/>
              </a:rPr>
              <a:t>5. </a:t>
            </a:r>
            <a:r>
              <a:rPr lang="zh-CN" altLang="en-US" sz="2000" dirty="0">
                <a:sym typeface="+mn-ea"/>
              </a:rPr>
              <a:t>下周尝试：【大模型训练实验】</a:t>
            </a:r>
            <a:r>
              <a:rPr lang="en-US" altLang="zh-CN" sz="2000" dirty="0">
                <a:sym typeface="+mn-ea"/>
              </a:rPr>
              <a:t>qwen 32B </a:t>
            </a:r>
            <a:r>
              <a:rPr lang="zh-CN" altLang="en-US" sz="2000" dirty="0">
                <a:sym typeface="+mn-ea"/>
              </a:rPr>
              <a:t>尝试四个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数据集的对比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en-US" altLang="zh-CN" sz="2000" dirty="0">
                <a:sym typeface="+mn-ea"/>
              </a:rPr>
              <a:t>6. </a:t>
            </a:r>
            <a:r>
              <a:rPr lang="zh-CN" altLang="en-US" sz="2000" dirty="0">
                <a:sym typeface="+mn-ea"/>
              </a:rPr>
              <a:t>后续</a:t>
            </a:r>
            <a:r>
              <a:rPr lang="zh-CN" altLang="en-US" sz="2000" dirty="0">
                <a:sym typeface="+mn-ea"/>
              </a:rPr>
              <a:t>更改问答对设置：之前</a:t>
            </a:r>
            <a:r>
              <a:rPr lang="en-US" altLang="zh-CN" sz="2000" dirty="0">
                <a:sym typeface="+mn-ea"/>
              </a:rPr>
              <a:t>-&lt;</a:t>
            </a:r>
            <a:r>
              <a:rPr lang="zh-CN" altLang="en-US" sz="2000" dirty="0">
                <a:sym typeface="+mn-ea"/>
              </a:rPr>
              <a:t>描述</a:t>
            </a:r>
            <a:r>
              <a:rPr lang="en-US" altLang="zh-CN" sz="2000" dirty="0">
                <a:sym typeface="+mn-ea"/>
              </a:rPr>
              <a:t>+CODE&gt;-&lt;cot&gt;</a:t>
            </a:r>
            <a:r>
              <a:rPr lang="zh-CN" altLang="en-US" sz="2000" dirty="0">
                <a:sym typeface="+mn-ea"/>
              </a:rPr>
              <a:t>；后续：着重推理模型训练：</a:t>
            </a:r>
            <a:r>
              <a:rPr lang="en-US" altLang="zh-CN" sz="2000" dirty="0">
                <a:sym typeface="+mn-ea"/>
              </a:rPr>
              <a:t>&lt;</a:t>
            </a:r>
            <a:r>
              <a:rPr lang="zh-CN" altLang="en-US" sz="2000" dirty="0">
                <a:sym typeface="+mn-ea"/>
              </a:rPr>
              <a:t>描述</a:t>
            </a:r>
            <a:r>
              <a:rPr lang="en-US" altLang="zh-CN" sz="2000" dirty="0">
                <a:sym typeface="+mn-ea"/>
              </a:rPr>
              <a:t>+CODE&gt;-&lt;cot+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answer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简要过程</a:t>
            </a:r>
            <a:r>
              <a:rPr lang="en-US" altLang="zh-CN" sz="2000" dirty="0">
                <a:sym typeface="+mn-ea"/>
              </a:rPr>
              <a:t>&gt;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pPr indent="0" algn="l">
              <a:lnSpc>
                <a:spcPct val="150000"/>
              </a:lnSpc>
              <a:buNone/>
            </a:pPr>
            <a:endParaRPr lang="en-US" altLang="zh-CN" sz="2000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7640" y="8362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  <a:endParaRPr lang="zh-CN" altLang="en-US" sz="32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6850" y="668655"/>
          <a:ext cx="11798300" cy="60267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10310"/>
                <a:gridCol w="10587990"/>
              </a:tblGrid>
              <a:tr h="14535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细节进展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根据需求新增了新的一类的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COT“before_reduced_natural_cot”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，并进行评估</a:t>
                      </a:r>
                      <a:endParaRPr lang="en-US" altLang="zh-CN" sz="1800" b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[NEW] 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尝试用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claude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生产了一批同规模数据集，且已经生产了对应的两类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cot</a:t>
                      </a:r>
                      <a:endParaRPr lang="en-US" altLang="zh-CN" sz="1800" b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[NEW] 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对三个模型在</a:t>
                      </a:r>
                      <a:r>
                        <a:rPr lang="en-US" altLang="zh-CN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  <a:r>
                        <a:rPr lang="zh-CN" altLang="en-US" sz="18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个数据集上进行训练。再进行评估</a:t>
                      </a:r>
                      <a:endParaRPr lang="zh-CN" altLang="en-US" sz="1800" b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0542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总结与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Todo</a:t>
                      </a:r>
                      <a:endParaRPr lang="en-US" altLang="zh-CN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相对于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codeIO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有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10G 350w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条数据和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Dongwon Jung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有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1w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条数据，我们的数据量较少，可能需要抉择是否提量与提量到多少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dirty="0">
                          <a:sym typeface="+mn-ea"/>
                        </a:rPr>
                        <a:t>实验结果发现</a:t>
                      </a:r>
                      <a:r>
                        <a:rPr lang="en-US" altLang="zh-CN" sz="1800" dirty="0">
                          <a:sym typeface="+mn-ea"/>
                        </a:rPr>
                        <a:t>deepseek-llama</a:t>
                      </a:r>
                      <a:r>
                        <a:rPr lang="zh-CN" altLang="en-US" sz="1800" dirty="0">
                          <a:sym typeface="+mn-ea"/>
                        </a:rPr>
                        <a:t>的模型学</a:t>
                      </a:r>
                      <a:r>
                        <a:rPr lang="en-US" altLang="zh-CN" sz="1800" dirty="0">
                          <a:sym typeface="+mn-ea"/>
                        </a:rPr>
                        <a:t>simpleai</a:t>
                      </a:r>
                      <a:r>
                        <a:rPr lang="zh-CN" altLang="en-US" sz="1800" dirty="0">
                          <a:sym typeface="+mn-ea"/>
                        </a:rPr>
                        <a:t>提升最高；</a:t>
                      </a:r>
                      <a:r>
                        <a:rPr lang="en-US" altLang="zh-CN" sz="1800" dirty="0">
                          <a:sym typeface="+mn-ea"/>
                        </a:rPr>
                        <a:t>qwentrace</a:t>
                      </a:r>
                      <a:r>
                        <a:rPr lang="zh-CN" altLang="en-US" sz="1800" dirty="0">
                          <a:sym typeface="+mn-ea"/>
                        </a:rPr>
                        <a:t>和剪枝类型的数据集提升比</a:t>
                      </a:r>
                      <a:r>
                        <a:rPr lang="en-US" altLang="zh-CN" sz="1800" dirty="0">
                          <a:sym typeface="+mn-ea"/>
                        </a:rPr>
                        <a:t>simpleai</a:t>
                      </a:r>
                      <a:r>
                        <a:rPr lang="zh-CN" altLang="en-US" sz="1800" dirty="0">
                          <a:sym typeface="+mn-ea"/>
                        </a:rPr>
                        <a:t>高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后续考虑选一个好的方案去对比其他数据集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863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评价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下周尝试：【全参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VS lora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参数对比】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Deepseek R1 distill qwen 7B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14B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32B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  claude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数据集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下周尝试：【大模型训练实验】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qwen 32B 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尝试四个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数据集的对比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问答对设置：之前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-&lt;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描述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</a:rPr>
                        <a:t>+CODE&gt;-&lt;cot&gt;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；</a:t>
                      </a:r>
                      <a:r>
                        <a:rPr lang="zh-CN" altLang="en-US" sz="1800" b="0" dirty="0">
                          <a:solidFill>
                            <a:schemeClr val="tx1"/>
                          </a:solidFill>
                        </a:rPr>
                        <a:t>后续：着重推理模型训练：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sym typeface="+mn-ea"/>
                        </a:rPr>
                        <a:t>&lt;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描述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sym typeface="+mn-ea"/>
                        </a:rPr>
                        <a:t>+CODE&gt;-&lt;cot+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sym typeface="+mn-ea"/>
                        </a:rPr>
                        <a:t>answer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sym typeface="+mn-ea"/>
                        </a:rPr>
                        <a:t>简要过程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进展一：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根据需求新增了新的一类的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COT“before_reduced_natural_cot”</a:t>
            </a:r>
            <a:endParaRPr lang="en-US" altLang="zh-CN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1219835"/>
            <a:ext cx="12228195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200"/>
              <a:t>背景：</a:t>
            </a:r>
            <a:endParaRPr lang="zh-CN" altLang="en-US" sz="2200"/>
          </a:p>
          <a:p>
            <a:pPr>
              <a:lnSpc>
                <a:spcPct val="150000"/>
              </a:lnSpc>
            </a:pPr>
            <a:r>
              <a:rPr lang="zh-CN" altLang="en-US" sz="2200"/>
              <a:t>之前提到的一篇</a:t>
            </a:r>
            <a:r>
              <a:rPr lang="en-US" altLang="zh-CN" sz="2200"/>
              <a:t> </a:t>
            </a:r>
            <a:r>
              <a:rPr lang="en-US" altLang="zh-CN" sz="2200">
                <a:solidFill>
                  <a:srgbClr val="000000"/>
                </a:solidFill>
                <a:latin typeface="Lucida Grande"/>
                <a:ea typeface="Lucida Grande"/>
                <a:sym typeface="+mn-ea"/>
              </a:rPr>
              <a:t>EMNLP 2025 </a:t>
            </a:r>
            <a:r>
              <a:rPr lang="zh-CN" altLang="en-US" sz="2200"/>
              <a:t>文章</a:t>
            </a:r>
            <a:r>
              <a:rPr lang="en-US" altLang="zh-CN" sz="2200"/>
              <a:t>“Code Execution as Grounded Supervision for LLM Reasoning”</a:t>
            </a:r>
            <a:endParaRPr lang="en-US" altLang="zh-CN" sz="2200"/>
          </a:p>
          <a:p>
            <a:pPr>
              <a:lnSpc>
                <a:spcPct val="150000"/>
              </a:lnSpc>
            </a:pPr>
            <a:endParaRPr lang="en-US" altLang="zh-CN" sz="2200"/>
          </a:p>
          <a:p>
            <a:pPr>
              <a:lnSpc>
                <a:spcPct val="150000"/>
              </a:lnSpc>
            </a:pPr>
            <a:r>
              <a:rPr lang="zh-CN" altLang="en-US" sz="2200"/>
              <a:t>它的数据集方案是：</a:t>
            </a:r>
            <a:r>
              <a:rPr lang="en-US" altLang="zh-CN" sz="2200"/>
              <a:t>code trace+AI</a:t>
            </a:r>
            <a:r>
              <a:rPr lang="zh-CN" altLang="en-US" sz="2200"/>
              <a:t>生产</a:t>
            </a:r>
            <a:r>
              <a:rPr lang="en-US" altLang="zh-CN" sz="2200"/>
              <a:t>cot</a:t>
            </a:r>
            <a:endParaRPr lang="en-US" altLang="zh-CN" sz="2200"/>
          </a:p>
          <a:p>
            <a:pPr>
              <a:lnSpc>
                <a:spcPct val="150000"/>
              </a:lnSpc>
            </a:pPr>
            <a:r>
              <a:rPr lang="zh-CN" altLang="en-US" sz="2200"/>
              <a:t>我们相较的区别是：</a:t>
            </a:r>
            <a:r>
              <a:rPr lang="en-US" altLang="zh-CN" sz="2200"/>
              <a:t>code trace -&gt; </a:t>
            </a:r>
            <a:r>
              <a:rPr lang="zh-CN" altLang="en-US" sz="2200"/>
              <a:t>剪枝</a:t>
            </a:r>
            <a:r>
              <a:rPr lang="en-US" altLang="zh-CN" sz="2200"/>
              <a:t> -&gt; format/AI</a:t>
            </a:r>
            <a:r>
              <a:rPr lang="zh-CN" altLang="en-US" sz="2200"/>
              <a:t>生产</a:t>
            </a:r>
            <a:r>
              <a:rPr lang="en-US" altLang="zh-CN" sz="2200"/>
              <a:t>cot</a:t>
            </a:r>
            <a:endParaRPr lang="en-US" altLang="zh-CN" sz="2200"/>
          </a:p>
          <a:p>
            <a:pPr>
              <a:lnSpc>
                <a:spcPct val="150000"/>
              </a:lnSpc>
            </a:pPr>
            <a:endParaRPr lang="en-US" altLang="zh-CN" sz="2200"/>
          </a:p>
          <a:p>
            <a:pPr>
              <a:lnSpc>
                <a:spcPct val="150000"/>
              </a:lnSpc>
            </a:pPr>
            <a:r>
              <a:rPr lang="zh-CN" altLang="en-US" sz="2200"/>
              <a:t>认为需要补充消融实验，即直接那我们数据集的</a:t>
            </a:r>
            <a:r>
              <a:rPr lang="en-US" altLang="zh-CN" sz="2200"/>
              <a:t>code trace </a:t>
            </a:r>
            <a:r>
              <a:rPr lang="zh-CN" altLang="en-US" sz="2200"/>
              <a:t>生产</a:t>
            </a:r>
            <a:r>
              <a:rPr lang="en-US" altLang="zh-CN" sz="2200"/>
              <a:t>ai cot</a:t>
            </a:r>
            <a:r>
              <a:rPr lang="zh-CN" altLang="en-US" sz="2200"/>
              <a:t>。对比看剪枝有无</a:t>
            </a:r>
            <a:r>
              <a:rPr lang="zh-CN" altLang="en-US" sz="2200"/>
              <a:t>提升</a:t>
            </a:r>
            <a:endParaRPr lang="zh-CN" altLang="en-US" sz="2200"/>
          </a:p>
        </p:txBody>
      </p:sp>
      <p:sp>
        <p:nvSpPr>
          <p:cNvPr id="17" name="箭头: 右 16"/>
          <p:cNvSpPr/>
          <p:nvPr/>
        </p:nvSpPr>
        <p:spPr>
          <a:xfrm>
            <a:off x="729615" y="5388610"/>
            <a:ext cx="2300605" cy="1033780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355975" y="5674995"/>
            <a:ext cx="415417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400" dirty="0">
                <a:sym typeface="+mn-ea"/>
              </a:rPr>
              <a:t>before_reduced_natural_cot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5" y="302895"/>
            <a:ext cx="1050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进展二：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尝试生产一批同规模的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claude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生产数据集，待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评估</a:t>
            </a:r>
            <a:endParaRPr lang="zh-CN" altLang="en-US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4805" y="1140460"/>
            <a:ext cx="11587480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200"/>
              <a:t>背景：评估后认为效果不好的可能原因是训练集代码质量一般。猜测</a:t>
            </a:r>
            <a:r>
              <a:rPr lang="en-US" altLang="zh-CN" sz="2200"/>
              <a:t>claude</a:t>
            </a:r>
            <a:r>
              <a:rPr lang="zh-CN" altLang="en-US" sz="2200"/>
              <a:t>生产的</a:t>
            </a:r>
            <a:r>
              <a:rPr lang="en-US" altLang="zh-CN" sz="2200"/>
              <a:t>code</a:t>
            </a:r>
            <a:r>
              <a:rPr lang="zh-CN" altLang="en-US" sz="2200"/>
              <a:t>数据和</a:t>
            </a:r>
            <a:r>
              <a:rPr lang="en-US" altLang="zh-CN" sz="2200"/>
              <a:t>cot</a:t>
            </a:r>
            <a:r>
              <a:rPr lang="zh-CN" altLang="en-US" sz="2200"/>
              <a:t>数据会更好。尝试生产一批同规模做</a:t>
            </a:r>
            <a:r>
              <a:rPr lang="zh-CN" altLang="en-US" sz="2200"/>
              <a:t>对比试验。</a:t>
            </a:r>
            <a:endParaRPr lang="zh-CN" altLang="en-US" sz="2200"/>
          </a:p>
          <a:p>
            <a:pPr>
              <a:lnSpc>
                <a:spcPct val="150000"/>
              </a:lnSpc>
            </a:pPr>
            <a:endParaRPr lang="zh-CN" altLang="en-US" sz="2200"/>
          </a:p>
          <a:p>
            <a:pPr>
              <a:lnSpc>
                <a:spcPct val="150000"/>
              </a:lnSpc>
            </a:pPr>
            <a:r>
              <a:rPr lang="zh-CN" altLang="en-US" sz="2200"/>
              <a:t>进展：已经生产完两类数据，剩余预期周五</a:t>
            </a:r>
            <a:r>
              <a:rPr lang="zh-CN" altLang="en-US" sz="2200"/>
              <a:t>完成</a:t>
            </a:r>
            <a:endParaRPr lang="zh-CN" altLang="en-US" sz="2200"/>
          </a:p>
          <a:p>
            <a:pPr>
              <a:lnSpc>
                <a:spcPct val="150000"/>
              </a:lnSpc>
            </a:pPr>
            <a:endParaRPr lang="zh-CN" altLang="en-US" sz="2200"/>
          </a:p>
          <a:p>
            <a:pPr>
              <a:lnSpc>
                <a:spcPct val="150000"/>
              </a:lnSpc>
            </a:pPr>
            <a:r>
              <a:rPr lang="en-US" altLang="zh-CN" sz="2200"/>
              <a:t>insight</a:t>
            </a:r>
            <a:r>
              <a:rPr lang="zh-CN" altLang="en-US" sz="2200"/>
              <a:t>：价格上</a:t>
            </a:r>
            <a:r>
              <a:rPr lang="en-US" altLang="zh-CN" sz="2200"/>
              <a:t> claude3.7 </a:t>
            </a:r>
            <a:r>
              <a:rPr lang="zh-CN" altLang="en-US" sz="2200"/>
              <a:t>一条数据大概</a:t>
            </a:r>
            <a:r>
              <a:rPr lang="en-US" altLang="zh-CN" sz="2200"/>
              <a:t> </a:t>
            </a:r>
            <a:r>
              <a:rPr lang="zh-CN" altLang="en-US" sz="2200"/>
              <a:t>【生产】</a:t>
            </a:r>
            <a:r>
              <a:rPr lang="en-US" altLang="zh-CN" sz="2200"/>
              <a:t>0.15</a:t>
            </a:r>
            <a:r>
              <a:rPr lang="zh-CN" altLang="en-US" sz="2200"/>
              <a:t>元【</a:t>
            </a:r>
            <a:r>
              <a:rPr lang="en-US" altLang="zh-CN" sz="2200"/>
              <a:t>cot</a:t>
            </a:r>
            <a:r>
              <a:rPr lang="zh-CN" altLang="en-US" sz="2200"/>
              <a:t>】</a:t>
            </a:r>
            <a:r>
              <a:rPr lang="en-US" altLang="zh-CN" sz="2200"/>
              <a:t>0.19</a:t>
            </a:r>
            <a:r>
              <a:rPr lang="zh-CN" altLang="en-US" sz="2200"/>
              <a:t>元</a:t>
            </a:r>
            <a:endParaRPr lang="zh-CN" altLang="en-US" sz="2200"/>
          </a:p>
          <a:p>
            <a:pPr>
              <a:lnSpc>
                <a:spcPct val="150000"/>
              </a:lnSpc>
            </a:pPr>
            <a:r>
              <a:rPr lang="zh-CN" altLang="en-US" sz="2200"/>
              <a:t>对比来看价格是</a:t>
            </a:r>
            <a:r>
              <a:rPr lang="en-US" altLang="zh-CN" sz="2200"/>
              <a:t> ds v3.2 </a:t>
            </a:r>
            <a:r>
              <a:rPr lang="zh-CN" altLang="en-US" sz="2200"/>
              <a:t>一条数据大概</a:t>
            </a:r>
            <a:r>
              <a:rPr lang="en-US" altLang="zh-CN" sz="2200"/>
              <a:t> </a:t>
            </a:r>
            <a:r>
              <a:rPr lang="zh-CN" altLang="en-US" sz="2200"/>
              <a:t>【生产】</a:t>
            </a:r>
            <a:r>
              <a:rPr lang="en-US" altLang="zh-CN" sz="2200"/>
              <a:t>+ 3</a:t>
            </a:r>
            <a:r>
              <a:rPr lang="zh-CN" altLang="en-US" sz="2200"/>
              <a:t>个【</a:t>
            </a:r>
            <a:r>
              <a:rPr lang="en-US" altLang="zh-CN" sz="2200"/>
              <a:t>cot</a:t>
            </a:r>
            <a:r>
              <a:rPr lang="zh-CN" altLang="en-US" sz="2200"/>
              <a:t>】</a:t>
            </a:r>
            <a:r>
              <a:rPr lang="en-US" altLang="zh-CN" sz="2200"/>
              <a:t> 0.049</a:t>
            </a:r>
            <a:r>
              <a:rPr lang="zh-CN" altLang="en-US" sz="2200"/>
              <a:t>元</a:t>
            </a:r>
            <a:endParaRPr lang="zh-CN" altLang="en-US" sz="2200"/>
          </a:p>
        </p:txBody>
      </p:sp>
      <p:sp>
        <p:nvSpPr>
          <p:cNvPr id="17" name="箭头: 右 16"/>
          <p:cNvSpPr/>
          <p:nvPr/>
        </p:nvSpPr>
        <p:spPr>
          <a:xfrm>
            <a:off x="729615" y="5388610"/>
            <a:ext cx="2300605" cy="1033780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355975" y="5296535"/>
            <a:ext cx="634492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400" dirty="0">
                <a:sym typeface="+mn-ea"/>
              </a:rPr>
              <a:t>TreecEva_data_claude_simple_ai_cot</a:t>
            </a:r>
            <a:endParaRPr lang="en-US" altLang="zh-CN" sz="24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5975" y="5962015"/>
            <a:ext cx="634492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400" dirty="0">
                <a:sym typeface="+mn-ea"/>
              </a:rPr>
              <a:t>TreecEva_data_claude_reduced_formated_cot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6690" y="862965"/>
            <a:ext cx="11818620" cy="263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2200" dirty="0">
                <a:sym typeface="+mn-ea"/>
              </a:rPr>
              <a:t>表格展示了三种模型在四类</a:t>
            </a:r>
            <a:r>
              <a:rPr lang="en-US" altLang="zh-CN" sz="2200" dirty="0">
                <a:sym typeface="+mn-ea"/>
              </a:rPr>
              <a:t>cot</a:t>
            </a:r>
            <a:r>
              <a:rPr lang="zh-CN" altLang="en-US" sz="2200" dirty="0">
                <a:sym typeface="+mn-ea"/>
              </a:rPr>
              <a:t>数据集上对于输出预测任务的性能</a:t>
            </a:r>
            <a:r>
              <a:rPr lang="zh-CN" alt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提升</a:t>
            </a:r>
            <a:r>
              <a:rPr lang="zh-CN" altLang="en-US" sz="2200" dirty="0">
                <a:sym typeface="+mn-ea"/>
              </a:rPr>
              <a:t>，结论如下</a:t>
            </a:r>
            <a:endParaRPr lang="zh-CN" altLang="en-US" sz="2200" dirty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200" dirty="0">
                <a:sym typeface="+mn-ea"/>
              </a:rPr>
              <a:t>1. </a:t>
            </a:r>
            <a:r>
              <a:rPr lang="zh-CN" altLang="en-US" sz="2200" dirty="0">
                <a:sym typeface="+mn-ea"/>
              </a:rPr>
              <a:t>实验结果发现</a:t>
            </a:r>
            <a:r>
              <a:rPr lang="en-US" altLang="zh-CN" sz="2200" dirty="0">
                <a:sym typeface="+mn-ea"/>
              </a:rPr>
              <a:t>deepseek-llama</a:t>
            </a:r>
            <a:r>
              <a:rPr lang="zh-CN" altLang="en-US" sz="2200" dirty="0">
                <a:sym typeface="+mn-ea"/>
              </a:rPr>
              <a:t>的模型学</a:t>
            </a:r>
            <a:r>
              <a:rPr lang="en-US" altLang="zh-CN" sz="2200" dirty="0">
                <a:sym typeface="+mn-ea"/>
              </a:rPr>
              <a:t>simpleai</a:t>
            </a:r>
            <a:r>
              <a:rPr lang="zh-CN" altLang="en-US" sz="2200" dirty="0">
                <a:sym typeface="+mn-ea"/>
              </a:rPr>
              <a:t>提升最高；</a:t>
            </a:r>
            <a:r>
              <a:rPr lang="en-US" altLang="zh-CN" sz="2200" dirty="0">
                <a:sym typeface="+mn-ea"/>
              </a:rPr>
              <a:t>qwentrace</a:t>
            </a:r>
            <a:r>
              <a:rPr lang="zh-CN" altLang="en-US" sz="2200" dirty="0">
                <a:sym typeface="+mn-ea"/>
              </a:rPr>
              <a:t>和剪枝类型的数据集提升比</a:t>
            </a:r>
            <a:r>
              <a:rPr lang="en-US" altLang="zh-CN" sz="2200" dirty="0">
                <a:sym typeface="+mn-ea"/>
              </a:rPr>
              <a:t>simpleai</a:t>
            </a:r>
            <a:r>
              <a:rPr lang="zh-CN" altLang="en-US" sz="2200" dirty="0">
                <a:sym typeface="+mn-ea"/>
              </a:rPr>
              <a:t>高</a:t>
            </a:r>
            <a:endParaRPr lang="zh-CN" altLang="en-US" sz="2200" b="0" dirty="0">
              <a:solidFill>
                <a:schemeClr val="tx1"/>
              </a:solidFill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200" dirty="0">
                <a:sym typeface="+mn-ea"/>
              </a:rPr>
              <a:t>2. </a:t>
            </a:r>
            <a:r>
              <a:rPr lang="zh-CN" altLang="en-US" sz="2200" dirty="0">
                <a:sym typeface="+mn-ea"/>
              </a:rPr>
              <a:t>单纯的格式化</a:t>
            </a:r>
            <a:r>
              <a:rPr lang="en-US" altLang="zh-CN" sz="2200" dirty="0">
                <a:sym typeface="+mn-ea"/>
              </a:rPr>
              <a:t>cot</a:t>
            </a:r>
            <a:r>
              <a:rPr lang="zh-CN" altLang="en-US" sz="2200" dirty="0">
                <a:sym typeface="+mn-ea"/>
              </a:rPr>
              <a:t>过度依赖模板，学习难度大，会造成指令跟随能力下降</a:t>
            </a:r>
            <a:endParaRPr lang="zh-CN" altLang="en-US" sz="2200" dirty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en-US" altLang="zh-CN" sz="2200" dirty="0">
                <a:sym typeface="+mn-ea"/>
              </a:rPr>
              <a:t>3. </a:t>
            </a:r>
            <a:r>
              <a:rPr lang="zh-CN" altLang="en-US" sz="2200" dirty="0">
                <a:sym typeface="+mn-ea"/>
              </a:rPr>
              <a:t>猜测是因为数据集是</a:t>
            </a:r>
            <a:r>
              <a:rPr lang="en-US" altLang="zh-CN" sz="2200" dirty="0">
                <a:sym typeface="+mn-ea"/>
              </a:rPr>
              <a:t>deepseek v3.2</a:t>
            </a:r>
            <a:r>
              <a:rPr lang="zh-CN" altLang="en-US" sz="2200" dirty="0">
                <a:sym typeface="+mn-ea"/>
              </a:rPr>
              <a:t>生产的，所以</a:t>
            </a:r>
            <a:r>
              <a:rPr lang="en-US" altLang="zh-CN" sz="2200" dirty="0">
                <a:sym typeface="+mn-ea"/>
              </a:rPr>
              <a:t>14.7</a:t>
            </a:r>
            <a:r>
              <a:rPr lang="zh-CN" altLang="en-US" sz="2200" dirty="0">
                <a:sym typeface="+mn-ea"/>
              </a:rPr>
              <a:t>这里置信度</a:t>
            </a:r>
            <a:r>
              <a:rPr lang="zh-CN" altLang="en-US" sz="2200" dirty="0">
                <a:sym typeface="+mn-ea"/>
              </a:rPr>
              <a:t>不高</a:t>
            </a:r>
            <a:endParaRPr lang="zh-CN" altLang="en-US" sz="2200" dirty="0">
              <a:sym typeface="+mn-ea"/>
            </a:endParaRPr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342265" y="3592195"/>
          <a:ext cx="11242675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8535"/>
                <a:gridCol w="2248535"/>
                <a:gridCol w="2248535"/>
                <a:gridCol w="2248535"/>
                <a:gridCol w="2248535"/>
              </a:tblGrid>
              <a:tr h="781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MODEL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simple_ai_cot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reduced_formated_cot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before_reduced_natural_cot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reduced_natural_cot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694690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Qwen2.5-7B-Instruct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+1.3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+1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+2.25</a:t>
                      </a:r>
                      <a:endParaRPr lang="en-US" altLang="zh-CN"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+1.9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694055">
                <a:tc>
                  <a:txBody>
                    <a:bodyPr/>
                    <a:p>
                      <a:pPr algn="ctr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Qwen2.5-3B-Instruct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+2.3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+2.45</a:t>
                      </a:r>
                      <a:endParaRPr lang="en-US" altLang="zh-CN" sz="2000" b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+3.2</a:t>
                      </a:r>
                      <a:endParaRPr lang="en-US" altLang="zh-CN"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+2.35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  <a:tr h="751840">
                <a:tc>
                  <a:txBody>
                    <a:bodyPr/>
                    <a:p>
                      <a:pPr algn="ctr" fontAlgn="ctr"/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DeepSeek-R1-Distill-Llama-8B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+14.7</a:t>
                      </a:r>
                      <a:endParaRPr lang="en-US" altLang="zh-CN"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+4.25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+4.7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+6.3</a:t>
                      </a:r>
                      <a:endParaRPr lang="en-US" altLang="zh-CN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  <a:endParaRPr lang="zh-CN" altLang="en-US" sz="24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05" y="1492885"/>
            <a:ext cx="11382375" cy="3505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  <a:endParaRPr lang="zh-CN" altLang="en-US" sz="24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05" y="1948180"/>
            <a:ext cx="11458575" cy="28765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zh-CN" altLang="en-US" sz="2400" dirty="0">
                <a:sym typeface="+mn-ea"/>
              </a:rPr>
              <a:t>对三个模型在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个数据集上进行训练。再进行评估</a:t>
            </a:r>
            <a:endParaRPr lang="zh-CN" altLang="en-US" sz="24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20" y="1952625"/>
            <a:ext cx="11439525" cy="29527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9*505"/>
  <p:tag name="TABLE_ENDDRAG_RECT" val="21*141*929*505"/>
</p:tagLst>
</file>

<file path=ppt/tags/tag2.xml><?xml version="1.0" encoding="utf-8"?>
<p:tagLst xmlns:p="http://schemas.openxmlformats.org/presentationml/2006/main">
  <p:tag name="TABLE_ENDDRAG_ORIGIN_RECT" val="885*230"/>
  <p:tag name="TABLE_ENDDRAG_RECT" val="27*282*885*230"/>
</p:tagLst>
</file>

<file path=ppt/tags/tag3.xml><?xml version="1.0" encoding="utf-8"?>
<p:tagLst xmlns:p="http://schemas.openxmlformats.org/presentationml/2006/main">
  <p:tag name="RESOURCE_RECORD_KEY" val="{&quot;10&quot;:[20179637,20211662,50039266,2156468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WPS 演示</Application>
  <PresentationFormat>宽屏</PresentationFormat>
  <Paragraphs>115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Lucida Grande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116</cp:revision>
  <dcterms:created xsi:type="dcterms:W3CDTF">2025-10-01T20:32:00Z</dcterms:created>
  <dcterms:modified xsi:type="dcterms:W3CDTF">2025-12-08T04:30:39Z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A9D8EE090709422594ECCEF0F366ED29_13</vt:lpwstr>
  </property>
  <property fmtid="{D5CDD505-2E9C-101B-9397-08002B2CF9AE}" pid="3" name="KSOProductBuildVer">
    <vt:lpwstr>2052-12.1.0.23542</vt:lpwstr>
  </property>
</Properties>
</file>