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97" r:id="rId2"/>
    <p:sldId id="327" r:id="rId3"/>
    <p:sldId id="368" r:id="rId4"/>
    <p:sldId id="393" r:id="rId5"/>
    <p:sldId id="356" r:id="rId6"/>
    <p:sldId id="394" r:id="rId7"/>
    <p:sldId id="396" r:id="rId8"/>
    <p:sldId id="395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5F6"/>
    <a:srgbClr val="FFFFFF"/>
    <a:srgbClr val="FBE3D6"/>
    <a:srgbClr val="F2CFEE"/>
    <a:srgbClr val="FF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7087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上周会议纪要：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1204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10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6690" y="1167130"/>
            <a:ext cx="11818620" cy="3277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1. 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根据需求新增了新的一类的</a:t>
            </a:r>
            <a:r>
              <a:rPr lang="en-US" altLang="zh-CN" sz="2000" dirty="0" err="1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COT“before_reduced_natural_cot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”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，并进行评估</a:t>
            </a:r>
            <a:endParaRPr lang="en-US" altLang="zh-CN" sz="2000" b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2. 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尝试用</a:t>
            </a:r>
            <a:r>
              <a:rPr lang="en-US" altLang="zh-CN" sz="2000" dirty="0" err="1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claude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生产了一批同规模数据集，且已经生产了对应的两类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cot</a:t>
            </a:r>
            <a:endParaRPr lang="en-US" altLang="zh-CN" sz="2000" b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3. 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对三个模型在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4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个数据集上进行训练。再进行评估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4. </a:t>
            </a:r>
            <a:r>
              <a:rPr lang="zh-CN" altLang="en-US" sz="2000" dirty="0">
                <a:sym typeface="+mn-ea"/>
              </a:rPr>
              <a:t>下周尝试：【全参</a:t>
            </a:r>
            <a:r>
              <a:rPr lang="en-US" altLang="zh-CN" sz="2000" dirty="0">
                <a:sym typeface="+mn-ea"/>
              </a:rPr>
              <a:t> VS lora</a:t>
            </a:r>
            <a:r>
              <a:rPr lang="zh-CN" altLang="en-US" sz="2000" dirty="0">
                <a:sym typeface="+mn-ea"/>
              </a:rPr>
              <a:t>参数对比】</a:t>
            </a:r>
            <a:r>
              <a:rPr lang="en-US" altLang="zh-CN" sz="2000" dirty="0" err="1">
                <a:sym typeface="+mn-ea"/>
              </a:rPr>
              <a:t>Deepseek</a:t>
            </a:r>
            <a:r>
              <a:rPr lang="en-US" altLang="zh-CN" sz="2000" dirty="0">
                <a:sym typeface="+mn-ea"/>
              </a:rPr>
              <a:t> R1 distill </a:t>
            </a:r>
            <a:r>
              <a:rPr lang="en-US" altLang="zh-CN" sz="2000" dirty="0" err="1">
                <a:sym typeface="+mn-ea"/>
              </a:rPr>
              <a:t>qwen</a:t>
            </a:r>
            <a:r>
              <a:rPr lang="en-US" altLang="zh-CN" sz="2000" dirty="0">
                <a:sym typeface="+mn-ea"/>
              </a:rPr>
              <a:t> 7B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14B</a:t>
            </a: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32B</a:t>
            </a:r>
            <a:r>
              <a:rPr lang="zh-CN" altLang="en-US" sz="2000" dirty="0">
                <a:sym typeface="+mn-ea"/>
              </a:rPr>
              <a:t>）</a:t>
            </a:r>
            <a:r>
              <a:rPr lang="en-US" altLang="zh-CN" sz="2000" dirty="0">
                <a:sym typeface="+mn-ea"/>
              </a:rPr>
              <a:t>  </a:t>
            </a:r>
            <a:r>
              <a:rPr lang="en-US" altLang="zh-CN" sz="2000" dirty="0" err="1">
                <a:sym typeface="+mn-ea"/>
              </a:rPr>
              <a:t>claude</a:t>
            </a:r>
            <a:r>
              <a:rPr lang="zh-CN" altLang="en-US" sz="2000" dirty="0">
                <a:sym typeface="+mn-ea"/>
              </a:rPr>
              <a:t>数据集</a:t>
            </a:r>
            <a:endParaRPr lang="zh-CN" altLang="en-US" sz="2000" b="0" dirty="0">
              <a:solidFill>
                <a:schemeClr val="tx1"/>
              </a:solidFill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ym typeface="+mn-ea"/>
              </a:rPr>
              <a:t>5. </a:t>
            </a:r>
            <a:r>
              <a:rPr lang="zh-CN" altLang="en-US" sz="2000" dirty="0">
                <a:sym typeface="+mn-ea"/>
              </a:rPr>
              <a:t>下周尝试：【大模型训练实验】</a:t>
            </a:r>
            <a:r>
              <a:rPr lang="en-US" altLang="zh-CN" sz="2000" dirty="0" err="1">
                <a:sym typeface="+mn-ea"/>
              </a:rPr>
              <a:t>qwen</a:t>
            </a:r>
            <a:r>
              <a:rPr lang="en-US" altLang="zh-CN" sz="2000" dirty="0">
                <a:sym typeface="+mn-ea"/>
              </a:rPr>
              <a:t> 32B </a:t>
            </a:r>
            <a:r>
              <a:rPr lang="zh-CN" altLang="en-US" sz="2000" dirty="0">
                <a:sym typeface="+mn-ea"/>
              </a:rPr>
              <a:t>尝试四个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数据集的对比</a:t>
            </a:r>
            <a:endParaRPr lang="zh-CN" altLang="en-US" sz="2000" b="0" dirty="0">
              <a:solidFill>
                <a:schemeClr val="tx1"/>
              </a:solidFill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ym typeface="+mn-ea"/>
              </a:rPr>
              <a:t>6. </a:t>
            </a:r>
            <a:r>
              <a:rPr lang="zh-CN" altLang="en-US" sz="2000" dirty="0">
                <a:sym typeface="+mn-ea"/>
              </a:rPr>
              <a:t>后续更改问答对设置：之前</a:t>
            </a:r>
            <a:r>
              <a:rPr lang="en-US" altLang="zh-CN" sz="2000" dirty="0">
                <a:sym typeface="+mn-ea"/>
              </a:rPr>
              <a:t>-&lt;</a:t>
            </a:r>
            <a:r>
              <a:rPr lang="zh-CN" altLang="en-US" sz="2000" dirty="0">
                <a:sym typeface="+mn-ea"/>
              </a:rPr>
              <a:t>描述</a:t>
            </a:r>
            <a:r>
              <a:rPr lang="en-US" altLang="zh-CN" sz="2000" dirty="0">
                <a:sym typeface="+mn-ea"/>
              </a:rPr>
              <a:t>+CODE&gt;-&lt;cot&gt;</a:t>
            </a:r>
            <a:r>
              <a:rPr lang="zh-CN" altLang="en-US" sz="2000" dirty="0">
                <a:sym typeface="+mn-ea"/>
              </a:rPr>
              <a:t>；后续：着重推理模型训练：</a:t>
            </a:r>
            <a:r>
              <a:rPr lang="en-US" altLang="zh-CN" sz="2000" dirty="0">
                <a:sym typeface="+mn-ea"/>
              </a:rPr>
              <a:t>&lt;</a:t>
            </a:r>
            <a:r>
              <a:rPr lang="zh-CN" altLang="en-US" sz="2000" dirty="0">
                <a:sym typeface="+mn-ea"/>
              </a:rPr>
              <a:t>描述</a:t>
            </a:r>
            <a:r>
              <a:rPr lang="en-US" altLang="zh-CN" sz="2000" dirty="0">
                <a:sym typeface="+mn-ea"/>
              </a:rPr>
              <a:t>+CODE&gt;-&lt;</a:t>
            </a:r>
            <a:r>
              <a:rPr lang="en-US" altLang="zh-CN" sz="2000" dirty="0" err="1">
                <a:sym typeface="+mn-ea"/>
              </a:rPr>
              <a:t>cot+</a:t>
            </a:r>
            <a:r>
              <a:rPr lang="en-US" altLang="zh-CN" sz="2000" dirty="0" err="1">
                <a:highlight>
                  <a:srgbClr val="FFFF00"/>
                </a:highlight>
                <a:sym typeface="+mn-ea"/>
              </a:rPr>
              <a:t>answer</a:t>
            </a: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简要过程</a:t>
            </a:r>
            <a:r>
              <a:rPr lang="en-US" altLang="zh-CN" sz="2000" dirty="0">
                <a:sym typeface="+mn-ea"/>
              </a:rPr>
              <a:t>&gt;</a:t>
            </a:r>
            <a:endParaRPr lang="zh-CN" altLang="en-US" sz="20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7640" y="8362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本周内容总结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2244496"/>
              </p:ext>
            </p:extLst>
          </p:nvPr>
        </p:nvGraphicFramePr>
        <p:xfrm>
          <a:off x="196850" y="668655"/>
          <a:ext cx="11798300" cy="65433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0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7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35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细节进展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完成</a:t>
                      </a:r>
                      <a:r>
                        <a:rPr lang="en-US" altLang="zh-CN" sz="1800" b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claude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生产了一批同规模的四类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cot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数据集</a:t>
                      </a:r>
                      <a:endParaRPr lang="en-US" altLang="zh-CN" sz="1800" b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[NEW] 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完成了服务于推理模型三类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think-response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训练集</a:t>
                      </a:r>
                      <a:endParaRPr lang="en-US" altLang="zh-CN" sz="1800" b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[NEW] 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针对之前提到的相较于</a:t>
                      </a:r>
                      <a:r>
                        <a:rPr lang="en-US" altLang="zh-CN" sz="1800" b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codeIO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与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Jung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我们数据量较少的问题，正在扩充数据集规模，目前已经扩展到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4500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，后续预期到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1-2w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条左右</a:t>
                      </a:r>
                      <a:endParaRPr lang="en-US" altLang="zh-CN" sz="1800" b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[NEW] </a:t>
                      </a:r>
                      <a:endParaRPr lang="zh-CN" altLang="en-US" sz="1800" b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78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总结与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Todo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相对于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codeIO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有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10G 350w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条数据和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Dongwon Jung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有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1w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条数据，我们的数据量较少，可能需要抉择是否提量与提量到多少</a:t>
                      </a:r>
                    </a:p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dirty="0">
                          <a:sym typeface="+mn-ea"/>
                        </a:rPr>
                        <a:t>实验结果发现</a:t>
                      </a:r>
                      <a:r>
                        <a:rPr lang="en-US" altLang="zh-CN" sz="1800" dirty="0">
                          <a:sym typeface="+mn-ea"/>
                        </a:rPr>
                        <a:t>deepseek-llama</a:t>
                      </a:r>
                      <a:r>
                        <a:rPr lang="zh-CN" altLang="en-US" sz="1800" dirty="0">
                          <a:sym typeface="+mn-ea"/>
                        </a:rPr>
                        <a:t>的模型学</a:t>
                      </a:r>
                      <a:r>
                        <a:rPr lang="en-US" altLang="zh-CN" sz="1800" dirty="0">
                          <a:sym typeface="+mn-ea"/>
                        </a:rPr>
                        <a:t>simpleai</a:t>
                      </a:r>
                      <a:r>
                        <a:rPr lang="zh-CN" altLang="en-US" sz="1800" dirty="0">
                          <a:sym typeface="+mn-ea"/>
                        </a:rPr>
                        <a:t>提升最高；</a:t>
                      </a:r>
                      <a:r>
                        <a:rPr lang="en-US" altLang="zh-CN" sz="1800" dirty="0">
                          <a:sym typeface="+mn-ea"/>
                        </a:rPr>
                        <a:t>qwentrace</a:t>
                      </a:r>
                      <a:r>
                        <a:rPr lang="zh-CN" altLang="en-US" sz="1800" dirty="0">
                          <a:sym typeface="+mn-ea"/>
                        </a:rPr>
                        <a:t>和剪枝类型的数据集提升比</a:t>
                      </a:r>
                      <a:r>
                        <a:rPr lang="en-US" altLang="zh-CN" sz="1800" dirty="0">
                          <a:sym typeface="+mn-ea"/>
                        </a:rPr>
                        <a:t>simpleai</a:t>
                      </a:r>
                      <a:r>
                        <a:rPr lang="zh-CN" altLang="en-US" sz="1800" dirty="0">
                          <a:sym typeface="+mn-ea"/>
                        </a:rPr>
                        <a:t>高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后续考虑选一个好的方案去对比其他数据集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3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评价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4805" y="302895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进展一：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根据需求新增了新的一类的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COT“before_reduced_natural_cot”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9705" y="1219835"/>
            <a:ext cx="12228195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/>
              <a:t>背景：</a:t>
            </a:r>
          </a:p>
          <a:p>
            <a:pPr>
              <a:lnSpc>
                <a:spcPct val="150000"/>
              </a:lnSpc>
            </a:pPr>
            <a:r>
              <a:rPr lang="zh-CN" altLang="en-US" sz="2200"/>
              <a:t>之前提到的一篇</a:t>
            </a:r>
            <a:r>
              <a:rPr lang="en-US" altLang="zh-CN" sz="2200"/>
              <a:t> </a:t>
            </a:r>
            <a:r>
              <a:rPr lang="en-US" altLang="zh-CN" sz="2200">
                <a:solidFill>
                  <a:srgbClr val="000000"/>
                </a:solidFill>
                <a:latin typeface="Lucida Grande"/>
                <a:ea typeface="Lucida Grande"/>
                <a:sym typeface="+mn-ea"/>
              </a:rPr>
              <a:t>EMNLP 2025 </a:t>
            </a:r>
            <a:r>
              <a:rPr lang="zh-CN" altLang="en-US" sz="2200"/>
              <a:t>文章</a:t>
            </a:r>
            <a:r>
              <a:rPr lang="en-US" altLang="zh-CN" sz="2200"/>
              <a:t>“Code Execution as Grounded Supervision for LLM Reasoning”</a:t>
            </a:r>
          </a:p>
          <a:p>
            <a:pPr>
              <a:lnSpc>
                <a:spcPct val="150000"/>
              </a:lnSpc>
            </a:pPr>
            <a:endParaRPr lang="en-US" altLang="zh-CN" sz="2200"/>
          </a:p>
          <a:p>
            <a:pPr>
              <a:lnSpc>
                <a:spcPct val="150000"/>
              </a:lnSpc>
            </a:pPr>
            <a:r>
              <a:rPr lang="zh-CN" altLang="en-US" sz="2200"/>
              <a:t>它的数据集方案是：</a:t>
            </a:r>
            <a:r>
              <a:rPr lang="en-US" altLang="zh-CN" sz="2200"/>
              <a:t>code trace+AI</a:t>
            </a:r>
            <a:r>
              <a:rPr lang="zh-CN" altLang="en-US" sz="2200"/>
              <a:t>生产</a:t>
            </a:r>
            <a:r>
              <a:rPr lang="en-US" altLang="zh-CN" sz="2200"/>
              <a:t>cot</a:t>
            </a:r>
          </a:p>
          <a:p>
            <a:pPr>
              <a:lnSpc>
                <a:spcPct val="150000"/>
              </a:lnSpc>
            </a:pPr>
            <a:r>
              <a:rPr lang="zh-CN" altLang="en-US" sz="2200"/>
              <a:t>我们相较的区别是：</a:t>
            </a:r>
            <a:r>
              <a:rPr lang="en-US" altLang="zh-CN" sz="2200"/>
              <a:t>code trace -&gt; </a:t>
            </a:r>
            <a:r>
              <a:rPr lang="zh-CN" altLang="en-US" sz="2200"/>
              <a:t>剪枝</a:t>
            </a:r>
            <a:r>
              <a:rPr lang="en-US" altLang="zh-CN" sz="2200"/>
              <a:t> -&gt; format/AI</a:t>
            </a:r>
            <a:r>
              <a:rPr lang="zh-CN" altLang="en-US" sz="2200"/>
              <a:t>生产</a:t>
            </a:r>
            <a:r>
              <a:rPr lang="en-US" altLang="zh-CN" sz="2200"/>
              <a:t>cot</a:t>
            </a:r>
          </a:p>
          <a:p>
            <a:pPr>
              <a:lnSpc>
                <a:spcPct val="150000"/>
              </a:lnSpc>
            </a:pPr>
            <a:endParaRPr lang="en-US" altLang="zh-CN" sz="2200"/>
          </a:p>
          <a:p>
            <a:pPr>
              <a:lnSpc>
                <a:spcPct val="150000"/>
              </a:lnSpc>
            </a:pPr>
            <a:r>
              <a:rPr lang="zh-CN" altLang="en-US" sz="2200"/>
              <a:t>认为需要补充消融实验，即直接那我们数据集的</a:t>
            </a:r>
            <a:r>
              <a:rPr lang="en-US" altLang="zh-CN" sz="2200"/>
              <a:t>code trace </a:t>
            </a:r>
            <a:r>
              <a:rPr lang="zh-CN" altLang="en-US" sz="2200"/>
              <a:t>生产</a:t>
            </a:r>
            <a:r>
              <a:rPr lang="en-US" altLang="zh-CN" sz="2200"/>
              <a:t>ai cot</a:t>
            </a:r>
            <a:r>
              <a:rPr lang="zh-CN" altLang="en-US" sz="2200"/>
              <a:t>。对比看剪枝有无提升</a:t>
            </a:r>
          </a:p>
        </p:txBody>
      </p:sp>
      <p:sp>
        <p:nvSpPr>
          <p:cNvPr id="17" name="箭头: 右 16"/>
          <p:cNvSpPr/>
          <p:nvPr/>
        </p:nvSpPr>
        <p:spPr>
          <a:xfrm>
            <a:off x="729615" y="5388610"/>
            <a:ext cx="2300605" cy="1033780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355975" y="5674995"/>
            <a:ext cx="415417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400" dirty="0">
                <a:sym typeface="+mn-ea"/>
              </a:rPr>
              <a:t>before_reduced_natural_cot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4805" y="302895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进展二：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尝试生产一批同规模的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claude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生产数据集，待评估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44805" y="1140460"/>
            <a:ext cx="11587480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/>
              <a:t>背景：评估后认为效果不好的可能原因是训练集代码质量一般。猜测</a:t>
            </a:r>
            <a:r>
              <a:rPr lang="en-US" altLang="zh-CN" sz="2200"/>
              <a:t>claude</a:t>
            </a:r>
            <a:r>
              <a:rPr lang="zh-CN" altLang="en-US" sz="2200"/>
              <a:t>生产的</a:t>
            </a:r>
            <a:r>
              <a:rPr lang="en-US" altLang="zh-CN" sz="2200"/>
              <a:t>code</a:t>
            </a:r>
            <a:r>
              <a:rPr lang="zh-CN" altLang="en-US" sz="2200"/>
              <a:t>数据和</a:t>
            </a:r>
            <a:r>
              <a:rPr lang="en-US" altLang="zh-CN" sz="2200"/>
              <a:t>cot</a:t>
            </a:r>
            <a:r>
              <a:rPr lang="zh-CN" altLang="en-US" sz="2200"/>
              <a:t>数据会更好。尝试生产一批同规模做对比试验。</a:t>
            </a:r>
          </a:p>
          <a:p>
            <a:pPr>
              <a:lnSpc>
                <a:spcPct val="150000"/>
              </a:lnSpc>
            </a:pPr>
            <a:endParaRPr lang="zh-CN" altLang="en-US" sz="2200"/>
          </a:p>
          <a:p>
            <a:pPr>
              <a:lnSpc>
                <a:spcPct val="150000"/>
              </a:lnSpc>
            </a:pPr>
            <a:r>
              <a:rPr lang="zh-CN" altLang="en-US" sz="2200"/>
              <a:t>进展：已经生产完两类数据，剩余预期周五完成</a:t>
            </a:r>
          </a:p>
          <a:p>
            <a:pPr>
              <a:lnSpc>
                <a:spcPct val="150000"/>
              </a:lnSpc>
            </a:pPr>
            <a:endParaRPr lang="zh-CN" altLang="en-US" sz="2200"/>
          </a:p>
          <a:p>
            <a:pPr>
              <a:lnSpc>
                <a:spcPct val="150000"/>
              </a:lnSpc>
            </a:pPr>
            <a:r>
              <a:rPr lang="en-US" altLang="zh-CN" sz="2200"/>
              <a:t>insight</a:t>
            </a:r>
            <a:r>
              <a:rPr lang="zh-CN" altLang="en-US" sz="2200"/>
              <a:t>：价格上</a:t>
            </a:r>
            <a:r>
              <a:rPr lang="en-US" altLang="zh-CN" sz="2200"/>
              <a:t> claude3.7 </a:t>
            </a:r>
            <a:r>
              <a:rPr lang="zh-CN" altLang="en-US" sz="2200"/>
              <a:t>一条数据大概</a:t>
            </a:r>
            <a:r>
              <a:rPr lang="en-US" altLang="zh-CN" sz="2200"/>
              <a:t> </a:t>
            </a:r>
            <a:r>
              <a:rPr lang="zh-CN" altLang="en-US" sz="2200"/>
              <a:t>【生产】</a:t>
            </a:r>
            <a:r>
              <a:rPr lang="en-US" altLang="zh-CN" sz="2200"/>
              <a:t>0.15</a:t>
            </a:r>
            <a:r>
              <a:rPr lang="zh-CN" altLang="en-US" sz="2200"/>
              <a:t>元【</a:t>
            </a:r>
            <a:r>
              <a:rPr lang="en-US" altLang="zh-CN" sz="2200"/>
              <a:t>cot</a:t>
            </a:r>
            <a:r>
              <a:rPr lang="zh-CN" altLang="en-US" sz="2200"/>
              <a:t>】</a:t>
            </a:r>
            <a:r>
              <a:rPr lang="en-US" altLang="zh-CN" sz="2200"/>
              <a:t>0.19</a:t>
            </a:r>
            <a:r>
              <a:rPr lang="zh-CN" altLang="en-US" sz="2200"/>
              <a:t>元</a:t>
            </a:r>
          </a:p>
          <a:p>
            <a:pPr>
              <a:lnSpc>
                <a:spcPct val="150000"/>
              </a:lnSpc>
            </a:pPr>
            <a:r>
              <a:rPr lang="zh-CN" altLang="en-US" sz="2200"/>
              <a:t>对比来看价格是</a:t>
            </a:r>
            <a:r>
              <a:rPr lang="en-US" altLang="zh-CN" sz="2200"/>
              <a:t> ds v3.2 </a:t>
            </a:r>
            <a:r>
              <a:rPr lang="zh-CN" altLang="en-US" sz="2200"/>
              <a:t>一条数据大概</a:t>
            </a:r>
            <a:r>
              <a:rPr lang="en-US" altLang="zh-CN" sz="2200"/>
              <a:t> </a:t>
            </a:r>
            <a:r>
              <a:rPr lang="zh-CN" altLang="en-US" sz="2200"/>
              <a:t>【生产】</a:t>
            </a:r>
            <a:r>
              <a:rPr lang="en-US" altLang="zh-CN" sz="2200"/>
              <a:t>+ 3</a:t>
            </a:r>
            <a:r>
              <a:rPr lang="zh-CN" altLang="en-US" sz="2200"/>
              <a:t>个【</a:t>
            </a:r>
            <a:r>
              <a:rPr lang="en-US" altLang="zh-CN" sz="2200"/>
              <a:t>cot</a:t>
            </a:r>
            <a:r>
              <a:rPr lang="zh-CN" altLang="en-US" sz="2200"/>
              <a:t>】</a:t>
            </a:r>
            <a:r>
              <a:rPr lang="en-US" altLang="zh-CN" sz="2200"/>
              <a:t> 0.049</a:t>
            </a:r>
            <a:r>
              <a:rPr lang="zh-CN" altLang="en-US" sz="2200"/>
              <a:t>元</a:t>
            </a:r>
          </a:p>
        </p:txBody>
      </p:sp>
      <p:sp>
        <p:nvSpPr>
          <p:cNvPr id="17" name="箭头: 右 16"/>
          <p:cNvSpPr/>
          <p:nvPr/>
        </p:nvSpPr>
        <p:spPr>
          <a:xfrm>
            <a:off x="729615" y="5388610"/>
            <a:ext cx="2300605" cy="1033780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355975" y="5296535"/>
            <a:ext cx="634492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400" dirty="0">
                <a:sym typeface="+mn-ea"/>
              </a:rPr>
              <a:t>TreecEva_data_claude_simple_ai_cot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55975" y="5962015"/>
            <a:ext cx="634492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400" dirty="0">
                <a:sym typeface="+mn-ea"/>
              </a:rPr>
              <a:t>TreecEva_data_claude_reduced_formated_cot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zh-CN" altLang="en-US" sz="2400" dirty="0">
                <a:sym typeface="+mn-ea"/>
              </a:rPr>
              <a:t>对三个模型在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en-US" sz="2400" dirty="0">
                <a:sym typeface="+mn-ea"/>
              </a:rPr>
              <a:t>个数据集上进行训练。再进行评估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6690" y="862965"/>
            <a:ext cx="11818620" cy="2630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sz="2200" dirty="0">
                <a:sym typeface="+mn-ea"/>
              </a:rPr>
              <a:t>表格展示了三种模型在四类</a:t>
            </a:r>
            <a:r>
              <a:rPr lang="en-US" altLang="zh-CN" sz="2200" dirty="0">
                <a:sym typeface="+mn-ea"/>
              </a:rPr>
              <a:t>cot</a:t>
            </a:r>
            <a:r>
              <a:rPr lang="zh-CN" altLang="en-US" sz="2200" dirty="0">
                <a:sym typeface="+mn-ea"/>
              </a:rPr>
              <a:t>数据集上对于输出预测任务的性能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提升</a:t>
            </a:r>
            <a:r>
              <a:rPr lang="zh-CN" altLang="en-US" sz="2200" dirty="0">
                <a:sym typeface="+mn-ea"/>
              </a:rPr>
              <a:t>，结论如下</a:t>
            </a:r>
          </a:p>
          <a:p>
            <a:pPr indent="0">
              <a:lnSpc>
                <a:spcPct val="150000"/>
              </a:lnSpc>
              <a:buNone/>
            </a:pPr>
            <a:r>
              <a:rPr lang="en-US" altLang="zh-CN" sz="2200" dirty="0">
                <a:sym typeface="+mn-ea"/>
              </a:rPr>
              <a:t>1. </a:t>
            </a:r>
            <a:r>
              <a:rPr lang="zh-CN" altLang="en-US" sz="2200" dirty="0">
                <a:sym typeface="+mn-ea"/>
              </a:rPr>
              <a:t>实验结果发现</a:t>
            </a:r>
            <a:r>
              <a:rPr lang="en-US" altLang="zh-CN" sz="2200" dirty="0">
                <a:sym typeface="+mn-ea"/>
              </a:rPr>
              <a:t>deepseek-llama</a:t>
            </a:r>
            <a:r>
              <a:rPr lang="zh-CN" altLang="en-US" sz="2200" dirty="0">
                <a:sym typeface="+mn-ea"/>
              </a:rPr>
              <a:t>的模型学</a:t>
            </a:r>
            <a:r>
              <a:rPr lang="en-US" altLang="zh-CN" sz="2200" dirty="0">
                <a:sym typeface="+mn-ea"/>
              </a:rPr>
              <a:t>simpleai</a:t>
            </a:r>
            <a:r>
              <a:rPr lang="zh-CN" altLang="en-US" sz="2200" dirty="0">
                <a:sym typeface="+mn-ea"/>
              </a:rPr>
              <a:t>提升最高；</a:t>
            </a:r>
            <a:r>
              <a:rPr lang="en-US" altLang="zh-CN" sz="2200" dirty="0">
                <a:sym typeface="+mn-ea"/>
              </a:rPr>
              <a:t>qwentrace</a:t>
            </a:r>
            <a:r>
              <a:rPr lang="zh-CN" altLang="en-US" sz="2200" dirty="0">
                <a:sym typeface="+mn-ea"/>
              </a:rPr>
              <a:t>和剪枝类型的数据集提升比</a:t>
            </a:r>
            <a:r>
              <a:rPr lang="en-US" altLang="zh-CN" sz="2200" dirty="0">
                <a:sym typeface="+mn-ea"/>
              </a:rPr>
              <a:t>simpleai</a:t>
            </a:r>
            <a:r>
              <a:rPr lang="zh-CN" altLang="en-US" sz="2200" dirty="0">
                <a:sym typeface="+mn-ea"/>
              </a:rPr>
              <a:t>高</a:t>
            </a:r>
            <a:endParaRPr lang="zh-CN" altLang="en-US" sz="2200" b="0" dirty="0">
              <a:solidFill>
                <a:schemeClr val="tx1"/>
              </a:solidFill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2200" dirty="0">
                <a:sym typeface="+mn-ea"/>
              </a:rPr>
              <a:t>2. </a:t>
            </a:r>
            <a:r>
              <a:rPr lang="zh-CN" altLang="en-US" sz="2200" dirty="0">
                <a:sym typeface="+mn-ea"/>
              </a:rPr>
              <a:t>单纯的格式化</a:t>
            </a:r>
            <a:r>
              <a:rPr lang="en-US" altLang="zh-CN" sz="2200" dirty="0">
                <a:sym typeface="+mn-ea"/>
              </a:rPr>
              <a:t>cot</a:t>
            </a:r>
            <a:r>
              <a:rPr lang="zh-CN" altLang="en-US" sz="2200" dirty="0">
                <a:sym typeface="+mn-ea"/>
              </a:rPr>
              <a:t>过度依赖模板，学习难度大，会造成指令跟随能力下降</a:t>
            </a:r>
          </a:p>
          <a:p>
            <a:pPr indent="0">
              <a:lnSpc>
                <a:spcPct val="150000"/>
              </a:lnSpc>
              <a:buNone/>
            </a:pPr>
            <a:r>
              <a:rPr lang="en-US" altLang="zh-CN" sz="2200" dirty="0">
                <a:sym typeface="+mn-ea"/>
              </a:rPr>
              <a:t>3. </a:t>
            </a:r>
            <a:r>
              <a:rPr lang="zh-CN" altLang="en-US" sz="2200" dirty="0">
                <a:sym typeface="+mn-ea"/>
              </a:rPr>
              <a:t>猜测是因为数据集是</a:t>
            </a:r>
            <a:r>
              <a:rPr lang="en-US" altLang="zh-CN" sz="2200" dirty="0">
                <a:sym typeface="+mn-ea"/>
              </a:rPr>
              <a:t>deepseek v3.2</a:t>
            </a:r>
            <a:r>
              <a:rPr lang="zh-CN" altLang="en-US" sz="2200" dirty="0">
                <a:sym typeface="+mn-ea"/>
              </a:rPr>
              <a:t>生产的，所以</a:t>
            </a:r>
            <a:r>
              <a:rPr lang="en-US" altLang="zh-CN" sz="2200" dirty="0">
                <a:sym typeface="+mn-ea"/>
              </a:rPr>
              <a:t>14.7</a:t>
            </a:r>
            <a:r>
              <a:rPr lang="zh-CN" altLang="en-US" sz="2200" dirty="0">
                <a:sym typeface="+mn-ea"/>
              </a:rPr>
              <a:t>这里置信度不高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42265" y="3592195"/>
          <a:ext cx="11242675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8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8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8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16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simple_ai_cot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reduced_formated_cot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before_reduced_natural_cot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reduced_natural_cot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Qwen2.5-7B-Instruct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+2.25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+1.9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0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Qwen2.5-3B-Instruct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+2.45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+3.2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+2.35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DeepSeek-R1-Distill-Llama-8B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+14.7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+4.25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+6.3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zh-CN" altLang="en-US" sz="2400" dirty="0">
                <a:sym typeface="+mn-ea"/>
              </a:rPr>
              <a:t>对三个模型在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en-US" sz="2400" dirty="0">
                <a:sym typeface="+mn-ea"/>
              </a:rPr>
              <a:t>个数据集上进行训练。再进行评估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" y="1492885"/>
            <a:ext cx="11382375" cy="3505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zh-CN" altLang="en-US" sz="2400" dirty="0">
                <a:sym typeface="+mn-ea"/>
              </a:rPr>
              <a:t>对三个模型在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en-US" sz="2400" dirty="0">
                <a:sym typeface="+mn-ea"/>
              </a:rPr>
              <a:t>个数据集上进行训练。再进行评估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" y="1948180"/>
            <a:ext cx="11458575" cy="28765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zh-CN" altLang="en-US" sz="2400" dirty="0">
                <a:sym typeface="+mn-ea"/>
              </a:rPr>
              <a:t>对三个模型在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en-US" sz="2400" dirty="0">
                <a:sym typeface="+mn-ea"/>
              </a:rPr>
              <a:t>个数据集上进行训练。再进行评估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" y="1952625"/>
            <a:ext cx="11439525" cy="29527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0179637,20211662,50039266,2156468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29*505"/>
  <p:tag name="TABLE_ENDDRAG_RECT" val="21*141*929*50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5*230"/>
  <p:tag name="TABLE_ENDDRAG_RECT" val="27*282*885*23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745</Words>
  <Application>Microsoft Office PowerPoint</Application>
  <PresentationFormat>宽屏</PresentationFormat>
  <Paragraphs>65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Lucida Grande</vt:lpstr>
      <vt:lpstr>等线</vt:lpstr>
      <vt:lpstr>等线 Light</vt:lpstr>
      <vt:lpstr>宋体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caoye541@gmail.com</cp:lastModifiedBy>
  <cp:revision>117</cp:revision>
  <dcterms:created xsi:type="dcterms:W3CDTF">2025-10-01T20:32:00Z</dcterms:created>
  <dcterms:modified xsi:type="dcterms:W3CDTF">2025-12-10T09:30:36Z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A9D8EE090709422594ECCEF0F366ED29_13</vt:lpwstr>
  </property>
  <property fmtid="{D5CDD505-2E9C-101B-9397-08002B2CF9AE}" pid="3" name="KSOProductBuildVer">
    <vt:lpwstr>2052-12.1.0.23542</vt:lpwstr>
  </property>
</Properties>
</file>