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03" r:id="rId3"/>
    <p:sldId id="397" r:id="rId4"/>
    <p:sldId id="327" r:id="rId5"/>
    <p:sldId id="393" r:id="rId7"/>
    <p:sldId id="398" r:id="rId8"/>
    <p:sldId id="399" r:id="rId9"/>
    <p:sldId id="401" r:id="rId10"/>
    <p:sldId id="356" r:id="rId11"/>
    <p:sldId id="404" r:id="rId12"/>
    <p:sldId id="405" r:id="rId13"/>
    <p:sldId id="407" r:id="rId14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E5F6"/>
    <a:srgbClr val="FFFFFF"/>
    <a:srgbClr val="FBE3D6"/>
    <a:srgbClr val="F2CFEE"/>
    <a:srgbClr val="FFB7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4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840E2-13A5-46A9-A265-C77FF1EECC7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686F9-7E47-4853-B8F4-FBCF71CB48D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70154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本周会议纪要：</a:t>
            </a:r>
            <a:r>
              <a:rPr lang="zh-CN" altLang="en-US" sz="3200" dirty="0">
                <a:sym typeface="+mn-ea"/>
              </a:rPr>
              <a:t>2025</a:t>
            </a:r>
            <a:r>
              <a:rPr lang="en-US" altLang="zh-CN" sz="3200" dirty="0">
                <a:sym typeface="+mn-ea"/>
              </a:rPr>
              <a:t>1210</a:t>
            </a:r>
            <a:r>
              <a:rPr lang="zh-CN" altLang="en-US" sz="3200" dirty="0">
                <a:sym typeface="+mn-ea"/>
              </a:rPr>
              <a:t> 会议纪要 </a:t>
            </a:r>
            <a:r>
              <a:rPr lang="en-US" altLang="zh-CN" sz="3200" dirty="0">
                <a:sym typeface="+mn-ea"/>
              </a:rPr>
              <a:t>11</a:t>
            </a:r>
            <a:endParaRPr lang="en-US" altLang="zh-CN" sz="3200" dirty="0"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86690" y="1167130"/>
            <a:ext cx="11818620" cy="3322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完成</a:t>
            </a:r>
            <a:r>
              <a:rPr lang="en-US" altLang="zh-CN" sz="2000" dirty="0" err="1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claude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生产了一批同规模的四类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cot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数据集；完成了服务于推理模型三类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think-response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训练集；扩充数据集规模，目前已经扩展到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4500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，后续预期到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1-2w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条左右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是</a:t>
            </a:r>
            <a:endParaRPr lang="zh-CN" altLang="en-US" sz="2000" dirty="0">
              <a:solidFill>
                <a:schemeClr val="tx2">
                  <a:lumMod val="75000"/>
                  <a:lumOff val="25000"/>
                </a:schemeClr>
              </a:solidFill>
              <a:sym typeface="+mn-ea"/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2.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Qwen-2.5-32B-Instruct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模型进行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lora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微调和评估，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对比结果发现提升幅度更小</a:t>
            </a:r>
            <a:endParaRPr lang="zh-CN" altLang="en-US" sz="2000" dirty="0">
              <a:solidFill>
                <a:schemeClr val="tx2">
                  <a:lumMod val="75000"/>
                  <a:lumOff val="25000"/>
                </a:schemeClr>
              </a:solidFill>
              <a:sym typeface="+mn-ea"/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3.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DeepSeek-R1-Distill-7B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14B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模型进行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lora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微调和评估，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整体表现不错</a:t>
            </a:r>
            <a:endParaRPr lang="zh-CN" altLang="en-US" sz="2000" b="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1"/>
                </a:solidFill>
                <a:sym typeface="+mn-ea"/>
              </a:rPr>
              <a:t>4. [todo] </a:t>
            </a:r>
            <a:r>
              <a:rPr lang="zh-CN" altLang="en-US" sz="2000" dirty="0">
                <a:solidFill>
                  <a:schemeClr val="tx1"/>
                </a:solidFill>
                <a:sym typeface="+mn-ea"/>
              </a:rPr>
              <a:t>调研业界最新的论文是调哪个模型，确定模型类型（推理</a:t>
            </a:r>
            <a:r>
              <a:rPr lang="en-US" altLang="zh-CN" sz="2000" dirty="0">
                <a:solidFill>
                  <a:schemeClr val="tx1"/>
                </a:solidFill>
                <a:sym typeface="+mn-ea"/>
              </a:rPr>
              <a:t>/</a:t>
            </a:r>
            <a:r>
              <a:rPr lang="zh-CN" altLang="en-US" sz="2000" dirty="0">
                <a:solidFill>
                  <a:schemeClr val="tx1"/>
                </a:solidFill>
                <a:sym typeface="+mn-ea"/>
              </a:rPr>
              <a:t>非推理）与模型参数</a:t>
            </a:r>
            <a:endParaRPr lang="zh-CN" altLang="en-US" sz="2000" dirty="0">
              <a:solidFill>
                <a:schemeClr val="tx1"/>
              </a:solidFill>
              <a:sym typeface="+mn-ea"/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1"/>
                </a:solidFill>
                <a:sym typeface="+mn-ea"/>
              </a:rPr>
              <a:t>5. [todo] </a:t>
            </a:r>
            <a:r>
              <a:rPr lang="zh-CN" altLang="en-US" sz="2000" dirty="0">
                <a:solidFill>
                  <a:schemeClr val="tx1"/>
                </a:solidFill>
                <a:sym typeface="+mn-ea"/>
              </a:rPr>
              <a:t>分析【</a:t>
            </a:r>
            <a:r>
              <a:rPr lang="en-US" altLang="zh-CN" sz="2000" dirty="0">
                <a:solidFill>
                  <a:schemeClr val="tx1"/>
                </a:solidFill>
                <a:sym typeface="+mn-ea"/>
              </a:rPr>
              <a:t>qwq-32B</a:t>
            </a:r>
            <a:r>
              <a:rPr lang="zh-CN" altLang="en-US" sz="2000" dirty="0">
                <a:solidFill>
                  <a:schemeClr val="tx1"/>
                </a:solidFill>
                <a:sym typeface="+mn-ea"/>
              </a:rPr>
              <a:t>提升高】与【目前提升低】的差异原因</a:t>
            </a:r>
            <a:r>
              <a:rPr lang="en-US" altLang="zh-CN" sz="2000" dirty="0">
                <a:solidFill>
                  <a:schemeClr val="tx1"/>
                </a:solidFill>
                <a:sym typeface="+mn-ea"/>
              </a:rPr>
              <a:t> --- P0 ---</a:t>
            </a:r>
            <a:endParaRPr lang="zh-CN" altLang="en-US" sz="2000" dirty="0">
              <a:solidFill>
                <a:schemeClr val="tx1"/>
              </a:solidFill>
              <a:sym typeface="+mn-ea"/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1"/>
                </a:solidFill>
                <a:sym typeface="+mn-ea"/>
              </a:rPr>
              <a:t>6. [todo] </a:t>
            </a:r>
            <a:r>
              <a:rPr lang="zh-CN" altLang="en-US" sz="2000" dirty="0">
                <a:solidFill>
                  <a:schemeClr val="tx1"/>
                </a:solidFill>
                <a:sym typeface="+mn-ea"/>
              </a:rPr>
              <a:t>分析</a:t>
            </a:r>
            <a:r>
              <a:rPr lang="en-US" altLang="zh-CN" sz="2000" dirty="0">
                <a:solidFill>
                  <a:schemeClr val="tx1"/>
                </a:solidFill>
                <a:sym typeface="+mn-ea"/>
              </a:rPr>
              <a:t>Jung</a:t>
            </a:r>
            <a:r>
              <a:rPr lang="zh-CN" altLang="en-US" sz="2000" dirty="0">
                <a:solidFill>
                  <a:schemeClr val="tx1"/>
                </a:solidFill>
                <a:sym typeface="+mn-ea"/>
              </a:rPr>
              <a:t>他们的工作细节，看有没有对我们有帮助的</a:t>
            </a:r>
            <a:r>
              <a:rPr lang="zh-CN" altLang="en-US" sz="2000" dirty="0">
                <a:solidFill>
                  <a:schemeClr val="tx1"/>
                </a:solidFill>
                <a:sym typeface="+mn-ea"/>
              </a:rPr>
              <a:t>地方</a:t>
            </a:r>
            <a:endParaRPr lang="zh-CN" altLang="en-US" sz="2000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7087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上周会议纪要：</a:t>
            </a:r>
            <a:r>
              <a:rPr lang="zh-CN" altLang="en-US" sz="3200" dirty="0">
                <a:sym typeface="+mn-ea"/>
              </a:rPr>
              <a:t>2025</a:t>
            </a:r>
            <a:r>
              <a:rPr lang="en-US" altLang="zh-CN" sz="3200" dirty="0">
                <a:sym typeface="+mn-ea"/>
              </a:rPr>
              <a:t>1204</a:t>
            </a:r>
            <a:r>
              <a:rPr lang="zh-CN" altLang="en-US" sz="3200" dirty="0">
                <a:sym typeface="+mn-ea"/>
              </a:rPr>
              <a:t> 会议纪要 </a:t>
            </a:r>
            <a:r>
              <a:rPr lang="en-US" altLang="zh-CN" sz="3200" dirty="0">
                <a:sym typeface="+mn-ea"/>
              </a:rPr>
              <a:t>10</a:t>
            </a:r>
            <a:endParaRPr lang="en-US" altLang="zh-CN" sz="3200" dirty="0"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86690" y="1167130"/>
            <a:ext cx="11818620" cy="3322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1.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根据需求新增了新的一类的</a:t>
            </a:r>
            <a:r>
              <a:rPr lang="en-US" altLang="zh-CN" sz="2000" dirty="0" err="1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COT“before_reduced_natural_cot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”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，并进行评估</a:t>
            </a:r>
            <a:endParaRPr lang="en-US" altLang="zh-CN" sz="2000" b="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2.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尝试用</a:t>
            </a:r>
            <a:r>
              <a:rPr lang="en-US" altLang="zh-CN" sz="2000" dirty="0" err="1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claude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生产了一批同规模数据集，且已经生产了对应的两类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cot</a:t>
            </a:r>
            <a:endParaRPr lang="en-US" altLang="zh-CN" sz="2000" b="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3. 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对三个模型在</a:t>
            </a: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4</a:t>
            </a:r>
            <a:r>
              <a:rPr lang="zh-CN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个数据集上进行训练。再进行评估</a:t>
            </a:r>
            <a:endParaRPr lang="zh-CN" altLang="en-US" sz="2000" dirty="0">
              <a:solidFill>
                <a:schemeClr val="tx2">
                  <a:lumMod val="75000"/>
                  <a:lumOff val="25000"/>
                </a:schemeClr>
              </a:solidFill>
              <a:sym typeface="+mn-ea"/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+mn-ea"/>
              </a:rPr>
              <a:t>4. </a:t>
            </a:r>
            <a:r>
              <a:rPr lang="zh-CN" altLang="en-US" sz="2000" dirty="0">
                <a:sym typeface="+mn-ea"/>
              </a:rPr>
              <a:t>下周尝试：【全参</a:t>
            </a:r>
            <a:r>
              <a:rPr lang="en-US" altLang="zh-CN" sz="2000" dirty="0">
                <a:sym typeface="+mn-ea"/>
              </a:rPr>
              <a:t> VS lora</a:t>
            </a:r>
            <a:r>
              <a:rPr lang="zh-CN" altLang="en-US" sz="2000" dirty="0">
                <a:sym typeface="+mn-ea"/>
              </a:rPr>
              <a:t>参数对比】</a:t>
            </a:r>
            <a:r>
              <a:rPr lang="en-US" altLang="zh-CN" sz="2000" dirty="0" err="1">
                <a:sym typeface="+mn-ea"/>
              </a:rPr>
              <a:t>Deepseek</a:t>
            </a:r>
            <a:r>
              <a:rPr lang="en-US" altLang="zh-CN" sz="2000" dirty="0">
                <a:sym typeface="+mn-ea"/>
              </a:rPr>
              <a:t> R1 distill </a:t>
            </a:r>
            <a:r>
              <a:rPr lang="en-US" altLang="zh-CN" sz="2000" dirty="0" err="1">
                <a:sym typeface="+mn-ea"/>
              </a:rPr>
              <a:t>qwen</a:t>
            </a:r>
            <a:r>
              <a:rPr lang="en-US" altLang="zh-CN" sz="2000" dirty="0">
                <a:sym typeface="+mn-ea"/>
              </a:rPr>
              <a:t> 7B</a:t>
            </a:r>
            <a:r>
              <a:rPr lang="zh-CN" altLang="en-US" sz="2000" dirty="0">
                <a:sym typeface="+mn-ea"/>
              </a:rPr>
              <a:t>、</a:t>
            </a:r>
            <a:r>
              <a:rPr lang="en-US" altLang="zh-CN" sz="2000" dirty="0">
                <a:sym typeface="+mn-ea"/>
              </a:rPr>
              <a:t>14B</a:t>
            </a:r>
            <a:r>
              <a:rPr lang="zh-CN" altLang="en-US" sz="2000" dirty="0">
                <a:sym typeface="+mn-ea"/>
              </a:rPr>
              <a:t>（</a:t>
            </a:r>
            <a:r>
              <a:rPr lang="en-US" altLang="zh-CN" sz="2000" dirty="0">
                <a:sym typeface="+mn-ea"/>
              </a:rPr>
              <a:t>32B</a:t>
            </a:r>
            <a:r>
              <a:rPr lang="zh-CN" altLang="en-US" sz="2000" dirty="0">
                <a:sym typeface="+mn-ea"/>
              </a:rPr>
              <a:t>）</a:t>
            </a:r>
            <a:endParaRPr lang="zh-CN" altLang="en-US" sz="2000" b="0" dirty="0">
              <a:solidFill>
                <a:schemeClr val="tx1"/>
              </a:solidFill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5. </a:t>
            </a:r>
            <a:r>
              <a:rPr lang="zh-CN" altLang="en-US" sz="2000" dirty="0">
                <a:sym typeface="+mn-ea"/>
              </a:rPr>
              <a:t>下周尝试：【大模型训练实验】</a:t>
            </a:r>
            <a:r>
              <a:rPr lang="en-US" altLang="zh-CN" sz="2000" dirty="0" err="1">
                <a:sym typeface="+mn-ea"/>
              </a:rPr>
              <a:t>qwen</a:t>
            </a:r>
            <a:r>
              <a:rPr lang="en-US" altLang="zh-CN" sz="2000" dirty="0">
                <a:sym typeface="+mn-ea"/>
              </a:rPr>
              <a:t> 32B </a:t>
            </a:r>
            <a:r>
              <a:rPr lang="zh-CN" altLang="en-US" sz="2000" dirty="0">
                <a:sym typeface="+mn-ea"/>
              </a:rPr>
              <a:t>尝试四个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数据集的对比</a:t>
            </a:r>
            <a:endParaRPr lang="zh-CN" altLang="en-US" sz="2000" b="0" dirty="0">
              <a:solidFill>
                <a:schemeClr val="tx1"/>
              </a:solidFill>
            </a:endParaRPr>
          </a:p>
          <a:p>
            <a:pPr indent="0" algn="l">
              <a:lnSpc>
                <a:spcPct val="150000"/>
              </a:lnSpc>
              <a:buNone/>
            </a:pPr>
            <a:r>
              <a:rPr lang="en-US" altLang="zh-CN" sz="2000" dirty="0">
                <a:sym typeface="+mn-ea"/>
              </a:rPr>
              <a:t>6. </a:t>
            </a:r>
            <a:r>
              <a:rPr lang="zh-CN" altLang="en-US" sz="2000" dirty="0">
                <a:sym typeface="+mn-ea"/>
              </a:rPr>
              <a:t>后续更改问答对设置：之前</a:t>
            </a:r>
            <a:r>
              <a:rPr lang="en-US" altLang="zh-CN" sz="2000" dirty="0">
                <a:sym typeface="+mn-ea"/>
              </a:rPr>
              <a:t>-&lt;</a:t>
            </a:r>
            <a:r>
              <a:rPr lang="zh-CN" altLang="en-US" sz="2000" dirty="0">
                <a:sym typeface="+mn-ea"/>
              </a:rPr>
              <a:t>描述</a:t>
            </a:r>
            <a:r>
              <a:rPr lang="en-US" altLang="zh-CN" sz="2000" dirty="0">
                <a:sym typeface="+mn-ea"/>
              </a:rPr>
              <a:t>+CODE&gt;-&lt;cot&gt;</a:t>
            </a:r>
            <a:r>
              <a:rPr lang="zh-CN" altLang="en-US" sz="2000" dirty="0">
                <a:sym typeface="+mn-ea"/>
              </a:rPr>
              <a:t>；后续：着重推理模型训练：</a:t>
            </a:r>
            <a:r>
              <a:rPr lang="en-US" altLang="zh-CN" sz="2000" dirty="0">
                <a:sym typeface="+mn-ea"/>
              </a:rPr>
              <a:t>&lt;</a:t>
            </a:r>
            <a:r>
              <a:rPr lang="zh-CN" altLang="en-US" sz="2000" dirty="0">
                <a:sym typeface="+mn-ea"/>
              </a:rPr>
              <a:t>描述</a:t>
            </a:r>
            <a:r>
              <a:rPr lang="en-US" altLang="zh-CN" sz="2000" dirty="0">
                <a:sym typeface="+mn-ea"/>
              </a:rPr>
              <a:t>+CODE&gt;-&lt;</a:t>
            </a:r>
            <a:r>
              <a:rPr lang="en-US" altLang="zh-CN" sz="2000" dirty="0" err="1">
                <a:sym typeface="+mn-ea"/>
              </a:rPr>
              <a:t>cot+</a:t>
            </a:r>
            <a:r>
              <a:rPr lang="en-US" altLang="zh-CN" sz="2000" dirty="0" err="1">
                <a:highlight>
                  <a:srgbClr val="FFFF00"/>
                </a:highlight>
                <a:sym typeface="+mn-ea"/>
              </a:rPr>
              <a:t>answer</a:t>
            </a:r>
            <a:r>
              <a:rPr lang="zh-CN" altLang="en-US" sz="2000" dirty="0">
                <a:highlight>
                  <a:srgbClr val="FFFF00"/>
                </a:highlight>
                <a:sym typeface="+mn-ea"/>
              </a:rPr>
              <a:t>简要过程</a:t>
            </a:r>
            <a:r>
              <a:rPr lang="en-US" altLang="zh-CN" sz="2000" dirty="0">
                <a:sym typeface="+mn-ea"/>
              </a:rPr>
              <a:t>&gt;</a:t>
            </a:r>
            <a:endParaRPr lang="zh-CN" altLang="en-US" sz="2000" b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27640" y="83622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本周内容总结</a:t>
            </a:r>
            <a:endParaRPr lang="zh-CN" altLang="en-US" sz="3200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196850" y="668655"/>
          <a:ext cx="11798300" cy="60648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10310"/>
                <a:gridCol w="10587990"/>
              </a:tblGrid>
              <a:tr h="25603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细节进展</a:t>
                      </a:r>
                      <a:endParaRPr lang="zh-CN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[NEW] 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完成</a:t>
                      </a:r>
                      <a:r>
                        <a:rPr lang="en-US" altLang="zh-CN" sz="1800" b="0" dirty="0" err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claude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生产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的一批同规模的四类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cot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数据集</a:t>
                      </a:r>
                      <a:endParaRPr lang="en-US" altLang="zh-CN" sz="1800" b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 [NEW] 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完成了服务于推理模型三类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think-response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训练集</a:t>
                      </a:r>
                      <a:endParaRPr lang="en-US" altLang="zh-CN" sz="1800" b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 [NEW] 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针对之前提到的相较于</a:t>
                      </a:r>
                      <a:r>
                        <a:rPr lang="en-US" altLang="zh-CN" sz="1800" b="0" dirty="0" err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codeIO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与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Jung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我们数据量较少的问题，正在扩充数据集规模，目前已经扩展到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4500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，后续预期到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1w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条左右</a:t>
                      </a:r>
                      <a:endParaRPr lang="en-US" altLang="zh-CN" sz="1800" b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[NEW] 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对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Qwen-2.5-32B-Instruct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模型进行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lora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微调，对比结果发现提升幅度更小；</a:t>
                      </a:r>
                      <a:endParaRPr lang="zh-CN" altLang="en-US" sz="1800" b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[NEW] 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对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DeepSeek-R1-Distill-7B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和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14B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模型进行</a:t>
                      </a:r>
                      <a:r>
                        <a:rPr lang="en-US" altLang="zh-CN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lora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微调，整体表现</a:t>
                      </a:r>
                      <a:r>
                        <a:rPr lang="zh-CN" altLang="en-US" sz="18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不错</a:t>
                      </a:r>
                      <a:endParaRPr lang="zh-CN" altLang="en-US" sz="1800" b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240220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总结与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Todo</a:t>
                      </a:r>
                      <a:endParaRPr lang="en-US" altLang="zh-CN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训练集从不同维度都做了一系列的设计和完善：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生成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vs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剪枝模板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vs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剪枝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生成；不同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生成的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code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和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；非推理类数据集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vs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推理类有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think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标签数据集；普通规模训练集</a:t>
                      </a: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vs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超大规模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训练集</a:t>
                      </a:r>
                      <a:endParaRPr lang="zh-CN" altLang="en-US" sz="1800" b="0" dirty="0">
                        <a:solidFill>
                          <a:schemeClr val="tx1"/>
                        </a:solidFill>
                      </a:endParaRPr>
                    </a:p>
                    <a:p>
                      <a:pPr marL="457200" indent="-4572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上周布置的几个大实验正在跑和评估，还差全参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微调，稳步推进</a:t>
                      </a: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中</a:t>
                      </a:r>
                      <a:endParaRPr lang="zh-CN" altLang="en-US" sz="1800" b="0" dirty="0">
                        <a:solidFill>
                          <a:schemeClr val="tx1"/>
                        </a:solidFill>
                      </a:endParaRPr>
                    </a:p>
                    <a:p>
                      <a:pPr marL="457200" indent="-4572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认为实验结果也与调参有非常大的关系，对于普通情况的实验结果可能并不是哪里的逻辑错了，而是没调到合适的参数。</a:t>
                      </a:r>
                      <a:r>
                        <a:rPr lang="zh-CN" altLang="en-US" sz="1800" b="1" dirty="0">
                          <a:solidFill>
                            <a:schemeClr val="tx1"/>
                          </a:solidFill>
                        </a:rPr>
                        <a:t>认为后续可以确定实验模型</a:t>
                      </a:r>
                      <a:r>
                        <a:rPr lang="zh-CN" altLang="en-US" sz="1800" b="1" dirty="0">
                          <a:solidFill>
                            <a:schemeClr val="tx1"/>
                          </a:solidFill>
                        </a:rPr>
                        <a:t>且深耕几个实验进行多次调参</a:t>
                      </a:r>
                      <a:endParaRPr lang="zh-CN" altLang="en-US" sz="18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2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b="0" dirty="0">
                          <a:solidFill>
                            <a:schemeClr val="tx1"/>
                          </a:solidFill>
                        </a:rPr>
                        <a:t>评价</a:t>
                      </a:r>
                      <a:endParaRPr lang="zh-CN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0" indent="-4572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en-US" altLang="zh-CN" sz="1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zh-CN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44805" y="302895"/>
            <a:ext cx="105009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1"/>
                </a:solidFill>
              </a:rPr>
              <a:t>进展二：</a:t>
            </a:r>
            <a:r>
              <a:rPr lang="en-US" sz="2400" dirty="0">
                <a:solidFill>
                  <a:schemeClr val="tx1"/>
                </a:solidFill>
                <a:sym typeface="+mn-ea"/>
              </a:rPr>
              <a:t>Claude</a:t>
            </a:r>
            <a:r>
              <a:rPr lang="zh-CN" altLang="en-US" sz="2400" dirty="0">
                <a:solidFill>
                  <a:schemeClr val="tx1"/>
                </a:solidFill>
                <a:sym typeface="+mn-ea"/>
              </a:rPr>
              <a:t>数据集</a:t>
            </a:r>
            <a:r>
              <a:rPr lang="zh-CN" altLang="en-US" sz="2400" dirty="0">
                <a:solidFill>
                  <a:schemeClr val="tx1"/>
                </a:solidFill>
                <a:sym typeface="+mn-ea"/>
              </a:rPr>
              <a:t>生产</a:t>
            </a:r>
            <a:endParaRPr lang="zh-CN" altLang="en-US" sz="240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4805" y="1140460"/>
            <a:ext cx="11587480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/>
              <a:t>背景：评估后认为效果不好的可能原因是训练集代码质量一般。猜测</a:t>
            </a:r>
            <a:r>
              <a:rPr lang="en-US" altLang="zh-CN" sz="2200"/>
              <a:t>claude</a:t>
            </a:r>
            <a:r>
              <a:rPr lang="zh-CN" altLang="en-US" sz="2200"/>
              <a:t>生产的</a:t>
            </a:r>
            <a:r>
              <a:rPr lang="en-US" altLang="zh-CN" sz="2200"/>
              <a:t>code</a:t>
            </a:r>
            <a:r>
              <a:rPr lang="zh-CN" altLang="en-US" sz="2200"/>
              <a:t>数据和</a:t>
            </a:r>
            <a:r>
              <a:rPr lang="en-US" altLang="zh-CN" sz="2200"/>
              <a:t>cot</a:t>
            </a:r>
            <a:r>
              <a:rPr lang="zh-CN" altLang="en-US" sz="2200"/>
              <a:t>数据会更好。尝试生产一批同规模做对比试验。</a:t>
            </a:r>
            <a:endParaRPr lang="zh-CN" altLang="en-US" sz="2200"/>
          </a:p>
          <a:p>
            <a:pPr>
              <a:lnSpc>
                <a:spcPct val="150000"/>
              </a:lnSpc>
            </a:pPr>
            <a:endParaRPr lang="zh-CN" altLang="en-US" sz="2200"/>
          </a:p>
          <a:p>
            <a:pPr>
              <a:lnSpc>
                <a:spcPct val="150000"/>
              </a:lnSpc>
            </a:pPr>
            <a:r>
              <a:rPr lang="zh-CN" altLang="en-US" sz="2200"/>
              <a:t>进展：已经全部生产完成，后续进行</a:t>
            </a:r>
            <a:r>
              <a:rPr lang="en-US" altLang="zh-CN" sz="2200"/>
              <a:t>10^3</a:t>
            </a:r>
            <a:r>
              <a:rPr lang="zh-CN" altLang="en-US" sz="2200"/>
              <a:t>数据量的评估</a:t>
            </a:r>
            <a:r>
              <a:rPr lang="zh-CN" altLang="en-US" sz="2200"/>
              <a:t>对比</a:t>
            </a:r>
            <a:endParaRPr lang="zh-CN" altLang="en-US" sz="2200"/>
          </a:p>
        </p:txBody>
      </p:sp>
      <p:sp>
        <p:nvSpPr>
          <p:cNvPr id="17" name="箭头: 右 16"/>
          <p:cNvSpPr/>
          <p:nvPr/>
        </p:nvSpPr>
        <p:spPr>
          <a:xfrm>
            <a:off x="344805" y="4262755"/>
            <a:ext cx="2300605" cy="1033780"/>
          </a:xfrm>
          <a:prstGeom prst="right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062605" y="3597275"/>
            <a:ext cx="6943090" cy="46037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 dirty="0">
                <a:sym typeface="+mn-ea"/>
              </a:rPr>
              <a:t>TreecEva_data_claude_simple_ai_cot</a:t>
            </a:r>
            <a:endParaRPr lang="en-US" altLang="zh-CN" sz="2400" dirty="0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062605" y="4262755"/>
            <a:ext cx="6943090" cy="46037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 dirty="0">
                <a:sym typeface="+mn-ea"/>
              </a:rPr>
              <a:t>TreecEva_data_claude_reduced_formated_cot</a:t>
            </a:r>
            <a:endParaRPr lang="en-US" altLang="zh-CN" sz="2400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062605" y="4928235"/>
            <a:ext cx="6943090" cy="46037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 dirty="0">
                <a:sym typeface="+mn-ea"/>
              </a:rPr>
              <a:t>TreecEva_data_claude_reduced_natural_cot</a:t>
            </a:r>
            <a:endParaRPr lang="en-US" altLang="zh-CN" sz="2400" dirty="0"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062605" y="5593715"/>
            <a:ext cx="6943090" cy="46037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>
                <a:sym typeface="+mn-ea"/>
              </a:rPr>
              <a:t>TreecEva_data_claude_before_reduced_natural_cot</a:t>
            </a:r>
            <a:endParaRPr lang="en-US" altLang="zh-CN" sz="2400" dirty="0"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44805" y="302895"/>
            <a:ext cx="105009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1"/>
                </a:solidFill>
              </a:rPr>
              <a:t>进展二：</a:t>
            </a:r>
            <a:r>
              <a:rPr lang="en-US" sz="2400" dirty="0">
                <a:solidFill>
                  <a:schemeClr val="tx1"/>
                </a:solidFill>
                <a:sym typeface="+mn-ea"/>
              </a:rPr>
              <a:t>think</a:t>
            </a:r>
            <a:r>
              <a:rPr lang="zh-CN" altLang="en-US" sz="2400" dirty="0">
                <a:solidFill>
                  <a:schemeClr val="tx1"/>
                </a:solidFill>
                <a:sym typeface="+mn-ea"/>
              </a:rPr>
              <a:t>标签数据集</a:t>
            </a:r>
            <a:r>
              <a:rPr lang="zh-CN" altLang="en-US" sz="2400" dirty="0">
                <a:solidFill>
                  <a:schemeClr val="tx1"/>
                </a:solidFill>
                <a:sym typeface="+mn-ea"/>
              </a:rPr>
              <a:t>生产</a:t>
            </a:r>
            <a:endParaRPr lang="zh-CN" altLang="en-US" sz="240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4805" y="1233170"/>
            <a:ext cx="11587480" cy="2630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/>
              <a:t>背景：认为之前的问答对设计不太合理，希望产生一批针对于推理模型带</a:t>
            </a:r>
            <a:r>
              <a:rPr lang="en-US" altLang="zh-CN" sz="2200"/>
              <a:t>think</a:t>
            </a:r>
            <a:r>
              <a:rPr lang="zh-CN" altLang="en-US" sz="2200"/>
              <a:t>的</a:t>
            </a:r>
            <a:r>
              <a:rPr lang="zh-CN" altLang="en-US" sz="2200"/>
              <a:t>问答对。</a:t>
            </a:r>
            <a:endParaRPr lang="zh-CN" altLang="en-US" sz="2200"/>
          </a:p>
          <a:p>
            <a:pPr>
              <a:lnSpc>
                <a:spcPct val="150000"/>
              </a:lnSpc>
            </a:pPr>
            <a:r>
              <a:rPr lang="zh-CN" altLang="en-US" sz="2200"/>
              <a:t>方法：做了三类【</a:t>
            </a:r>
            <a:r>
              <a:rPr lang="en-US" altLang="zh-CN" sz="2200"/>
              <a:t>reduced_fomated</a:t>
            </a:r>
            <a:r>
              <a:rPr lang="zh-CN" altLang="en-US" sz="2200"/>
              <a:t>做</a:t>
            </a:r>
            <a:r>
              <a:rPr lang="en-US" altLang="zh-CN" sz="2200"/>
              <a:t>think</a:t>
            </a:r>
            <a:r>
              <a:rPr lang="zh-CN" altLang="en-US" sz="2200"/>
              <a:t>，</a:t>
            </a:r>
            <a:r>
              <a:rPr lang="en-US" altLang="zh-CN" sz="2200"/>
              <a:t>reduced_natural</a:t>
            </a:r>
            <a:r>
              <a:rPr lang="zh-CN" altLang="en-US" sz="2200"/>
              <a:t>做</a:t>
            </a:r>
            <a:r>
              <a:rPr lang="en-US" altLang="zh-CN" sz="2200"/>
              <a:t>response</a:t>
            </a:r>
            <a:r>
              <a:rPr lang="zh-CN" altLang="en-US" sz="2200"/>
              <a:t>】、【</a:t>
            </a:r>
            <a:r>
              <a:rPr lang="en-US" altLang="zh-CN" sz="2200"/>
              <a:t>reduced_formated</a:t>
            </a:r>
            <a:r>
              <a:rPr lang="zh-CN" altLang="en-US" sz="2200"/>
              <a:t>做</a:t>
            </a:r>
            <a:r>
              <a:rPr lang="en-US" altLang="zh-CN" sz="2200"/>
              <a:t>think</a:t>
            </a:r>
            <a:r>
              <a:rPr lang="zh-CN" altLang="en-US" sz="2200"/>
              <a:t>，</a:t>
            </a:r>
            <a:r>
              <a:rPr lang="en-US" altLang="zh-CN" sz="2200"/>
              <a:t>ai</a:t>
            </a:r>
            <a:r>
              <a:rPr lang="zh-CN" altLang="en-US" sz="2200"/>
              <a:t>依据此做</a:t>
            </a:r>
            <a:r>
              <a:rPr lang="en-US" altLang="zh-CN" sz="2200"/>
              <a:t>response</a:t>
            </a:r>
            <a:r>
              <a:rPr lang="zh-CN" altLang="en-US" sz="2200"/>
              <a:t>】、【</a:t>
            </a:r>
            <a:r>
              <a:rPr lang="en-US" altLang="zh-CN" sz="2200"/>
              <a:t>reduced_natural</a:t>
            </a:r>
            <a:r>
              <a:rPr lang="zh-CN" altLang="en-US" sz="2200"/>
              <a:t>做</a:t>
            </a:r>
            <a:r>
              <a:rPr lang="en-US" altLang="zh-CN" sz="2200"/>
              <a:t>think</a:t>
            </a:r>
            <a:r>
              <a:rPr lang="zh-CN" altLang="en-US" sz="2200"/>
              <a:t>，</a:t>
            </a:r>
            <a:r>
              <a:rPr lang="en-US" altLang="zh-CN" sz="2200"/>
              <a:t>ai</a:t>
            </a:r>
            <a:r>
              <a:rPr lang="zh-CN" altLang="en-US" sz="2200"/>
              <a:t>依据此做</a:t>
            </a:r>
            <a:r>
              <a:rPr lang="en-US" altLang="zh-CN" sz="2200"/>
              <a:t>response</a:t>
            </a:r>
            <a:r>
              <a:rPr lang="zh-CN" altLang="en-US" sz="2200"/>
              <a:t>】</a:t>
            </a:r>
            <a:endParaRPr lang="zh-CN" altLang="en-US" sz="2200"/>
          </a:p>
          <a:p>
            <a:pPr>
              <a:lnSpc>
                <a:spcPct val="150000"/>
              </a:lnSpc>
            </a:pPr>
            <a:r>
              <a:rPr lang="zh-CN" altLang="en-US" sz="2200"/>
              <a:t>进展：已经全部生产完成</a:t>
            </a:r>
            <a:r>
              <a:rPr lang="zh-CN" sz="2200"/>
              <a:t>，投入实验</a:t>
            </a:r>
            <a:r>
              <a:rPr lang="zh-CN" sz="2200"/>
              <a:t>中</a:t>
            </a:r>
            <a:endParaRPr lang="zh-CN" sz="2200"/>
          </a:p>
        </p:txBody>
      </p:sp>
      <p:sp>
        <p:nvSpPr>
          <p:cNvPr id="17" name="箭头: 右 16"/>
          <p:cNvSpPr/>
          <p:nvPr/>
        </p:nvSpPr>
        <p:spPr>
          <a:xfrm>
            <a:off x="344805" y="4651375"/>
            <a:ext cx="1738630" cy="1033780"/>
          </a:xfrm>
          <a:prstGeom prst="right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2286635" y="5664835"/>
            <a:ext cx="9500870" cy="46037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 dirty="0">
                <a:sym typeface="+mn-ea"/>
              </a:rPr>
              <a:t>Think_deepseek_TreecEva_data_reduced_natural_aigenerate_cot</a:t>
            </a:r>
            <a:endParaRPr lang="en-US" altLang="zh-CN" sz="2400" dirty="0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286635" y="4333875"/>
            <a:ext cx="9500870" cy="46037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 dirty="0">
                <a:sym typeface="+mn-ea"/>
              </a:rPr>
              <a:t>Think_deepseek_TreecEva_data_reduced_formated_natural_merge_cot</a:t>
            </a:r>
            <a:endParaRPr lang="en-US" altLang="zh-CN" sz="2400" dirty="0"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286000" y="4999355"/>
            <a:ext cx="9502140" cy="46037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2400" dirty="0">
                <a:sym typeface="+mn-ea"/>
              </a:rPr>
              <a:t>Think_deepseek_TreecEva_data_reduced_fomated_aigenerate_cot</a:t>
            </a:r>
            <a:endParaRPr lang="en-US" altLang="zh-CN" sz="2400" dirty="0"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44805" y="302895"/>
            <a:ext cx="105009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1"/>
                </a:solidFill>
              </a:rPr>
              <a:t>进展三：训练集</a:t>
            </a:r>
            <a:r>
              <a:rPr lang="zh-CN" altLang="en-US" sz="2400" dirty="0">
                <a:solidFill>
                  <a:schemeClr val="tx1"/>
                </a:solidFill>
              </a:rPr>
              <a:t>扩量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4805" y="1233170"/>
            <a:ext cx="11587480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/>
              <a:t>背景：相较于</a:t>
            </a:r>
            <a:r>
              <a:rPr lang="en-US" altLang="zh-CN" sz="2200"/>
              <a:t>codeIO</a:t>
            </a:r>
            <a:r>
              <a:rPr lang="zh-CN" altLang="en-US" sz="2200"/>
              <a:t>与</a:t>
            </a:r>
            <a:r>
              <a:rPr lang="en-US" altLang="zh-CN" sz="2200"/>
              <a:t>Jung</a:t>
            </a:r>
            <a:r>
              <a:rPr lang="zh-CN" altLang="en-US" sz="2200"/>
              <a:t>我们数据量较少，他们一个</a:t>
            </a:r>
            <a:r>
              <a:rPr lang="en-US" altLang="zh-CN" sz="2200"/>
              <a:t>350w</a:t>
            </a:r>
            <a:r>
              <a:rPr lang="zh-CN" altLang="en-US" sz="2200"/>
              <a:t>一个</a:t>
            </a:r>
            <a:r>
              <a:rPr lang="en-US" altLang="zh-CN" sz="2200"/>
              <a:t>1w</a:t>
            </a:r>
            <a:r>
              <a:rPr lang="zh-CN" altLang="en-US" sz="2200"/>
              <a:t>多。认为我们也可以尝试扩量，扩到约</a:t>
            </a:r>
            <a:r>
              <a:rPr lang="en-US" altLang="zh-CN" sz="2200"/>
              <a:t>1-2w</a:t>
            </a:r>
            <a:endParaRPr lang="en-US" altLang="zh-CN" sz="2200"/>
          </a:p>
          <a:p>
            <a:pPr>
              <a:lnSpc>
                <a:spcPct val="150000"/>
              </a:lnSpc>
            </a:pPr>
            <a:endParaRPr lang="zh-CN" altLang="en-US" sz="2200"/>
          </a:p>
          <a:p>
            <a:pPr>
              <a:lnSpc>
                <a:spcPct val="150000"/>
              </a:lnSpc>
            </a:pPr>
            <a:r>
              <a:rPr lang="zh-CN" altLang="en-US" sz="2200"/>
              <a:t>进展：已经扩到</a:t>
            </a:r>
            <a:r>
              <a:rPr lang="en-US" altLang="zh-CN" sz="2200"/>
              <a:t>4k5</a:t>
            </a:r>
            <a:r>
              <a:rPr lang="zh-CN" altLang="en-US" sz="2200"/>
              <a:t>，正在持续扩量</a:t>
            </a:r>
            <a:r>
              <a:rPr lang="zh-CN" altLang="en-US" sz="2200"/>
              <a:t>中</a:t>
            </a:r>
            <a:endParaRPr lang="zh-CN" altLang="en-US" sz="2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44805" y="302895"/>
            <a:ext cx="105009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1"/>
                </a:solidFill>
              </a:rPr>
              <a:t>训练集</a:t>
            </a:r>
            <a:r>
              <a:rPr lang="zh-CN" altLang="en-US" sz="2400" dirty="0">
                <a:solidFill>
                  <a:schemeClr val="tx1"/>
                </a:solidFill>
              </a:rPr>
              <a:t>总览</a:t>
            </a:r>
            <a:endParaRPr lang="zh-CN" altLang="en-US" sz="2400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1219835" y="1465580"/>
            <a:ext cx="1831975" cy="315658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606165" y="1465580"/>
            <a:ext cx="1831975" cy="315658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749425" y="2259330"/>
            <a:ext cx="66294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/>
              <a:t>方法</a:t>
            </a:r>
            <a:endParaRPr lang="zh-CN" altLang="en-US" sz="4800"/>
          </a:p>
        </p:txBody>
      </p:sp>
      <p:sp>
        <p:nvSpPr>
          <p:cNvPr id="7" name="文本框 6"/>
          <p:cNvSpPr txBox="1"/>
          <p:nvPr/>
        </p:nvSpPr>
        <p:spPr>
          <a:xfrm>
            <a:off x="4053840" y="2444115"/>
            <a:ext cx="93726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60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endParaRPr lang="en-US" altLang="zh-CN" sz="3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zh-CN" sz="3600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endParaRPr lang="en-US" altLang="zh-CN" sz="3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102985" y="1465580"/>
            <a:ext cx="1831975" cy="315658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6631940" y="2259330"/>
            <a:ext cx="66294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/>
              <a:t>推理</a:t>
            </a:r>
            <a:endParaRPr lang="zh-CN" altLang="en-US" sz="4800"/>
          </a:p>
        </p:txBody>
      </p:sp>
      <p:sp>
        <p:nvSpPr>
          <p:cNvPr id="10" name="矩形 9"/>
          <p:cNvSpPr/>
          <p:nvPr/>
        </p:nvSpPr>
        <p:spPr>
          <a:xfrm>
            <a:off x="8489315" y="1465580"/>
            <a:ext cx="1831975" cy="315658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046845" y="2259330"/>
            <a:ext cx="66294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/>
              <a:t>规模</a:t>
            </a:r>
            <a:endParaRPr lang="zh-CN" altLang="en-US" sz="4800"/>
          </a:p>
        </p:txBody>
      </p:sp>
      <p:sp>
        <p:nvSpPr>
          <p:cNvPr id="12" name="文本框 11"/>
          <p:cNvSpPr txBox="1"/>
          <p:nvPr/>
        </p:nvSpPr>
        <p:spPr>
          <a:xfrm>
            <a:off x="766445" y="4854575"/>
            <a:ext cx="406400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1. simple AI</a:t>
            </a:r>
            <a:endParaRPr lang="en-US" altLang="zh-CN" sz="2400"/>
          </a:p>
          <a:p>
            <a:r>
              <a:rPr lang="en-US" altLang="zh-CN" sz="2400"/>
              <a:t>2. trace natural</a:t>
            </a:r>
            <a:endParaRPr lang="en-US" altLang="zh-CN" sz="2400"/>
          </a:p>
          <a:p>
            <a:r>
              <a:rPr lang="en-US" altLang="zh-CN" sz="2400"/>
              <a:t>3. reduced fomated</a:t>
            </a:r>
            <a:endParaRPr lang="en-US" altLang="zh-CN" sz="2400"/>
          </a:p>
          <a:p>
            <a:r>
              <a:rPr lang="en-US" altLang="zh-CN" sz="2400"/>
              <a:t>4. reduced natural</a:t>
            </a:r>
            <a:endParaRPr lang="en-US" altLang="zh-CN" sz="2400"/>
          </a:p>
        </p:txBody>
      </p:sp>
      <p:sp>
        <p:nvSpPr>
          <p:cNvPr id="13" name="文本框 12"/>
          <p:cNvSpPr txBox="1"/>
          <p:nvPr/>
        </p:nvSpPr>
        <p:spPr>
          <a:xfrm>
            <a:off x="3606165" y="4940300"/>
            <a:ext cx="21101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deepseek </a:t>
            </a:r>
            <a:r>
              <a:rPr lang="en-US" altLang="zh-CN" sz="2400"/>
              <a:t>V3.2</a:t>
            </a:r>
            <a:endParaRPr lang="en-US" altLang="zh-CN" sz="2400"/>
          </a:p>
          <a:p>
            <a:r>
              <a:rPr lang="en-US" altLang="zh-CN" sz="2400"/>
              <a:t>claude V3.7</a:t>
            </a:r>
            <a:endParaRPr lang="en-US" altLang="zh-CN" sz="2400"/>
          </a:p>
        </p:txBody>
      </p:sp>
      <p:sp>
        <p:nvSpPr>
          <p:cNvPr id="14" name="文本框 13"/>
          <p:cNvSpPr txBox="1"/>
          <p:nvPr/>
        </p:nvSpPr>
        <p:spPr>
          <a:xfrm>
            <a:off x="5963920" y="4940300"/>
            <a:ext cx="21101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带</a:t>
            </a:r>
            <a:r>
              <a:rPr lang="en-US" altLang="zh-CN" sz="2400"/>
              <a:t>think</a:t>
            </a:r>
            <a:r>
              <a:rPr lang="zh-CN" altLang="en-US" sz="2400"/>
              <a:t>标签</a:t>
            </a:r>
            <a:endParaRPr lang="zh-CN" altLang="en-US" sz="2400"/>
          </a:p>
          <a:p>
            <a:r>
              <a:rPr lang="zh-CN" altLang="en-US" sz="2400"/>
              <a:t>不带</a:t>
            </a:r>
            <a:r>
              <a:rPr lang="en-US" altLang="zh-CN" sz="2400"/>
              <a:t>think</a:t>
            </a:r>
            <a:r>
              <a:rPr lang="zh-CN" altLang="en-US" sz="2400"/>
              <a:t>标签</a:t>
            </a:r>
            <a:endParaRPr lang="zh-CN" altLang="en-US" sz="2400"/>
          </a:p>
        </p:txBody>
      </p:sp>
      <p:sp>
        <p:nvSpPr>
          <p:cNvPr id="15" name="文本框 14"/>
          <p:cNvSpPr txBox="1"/>
          <p:nvPr/>
        </p:nvSpPr>
        <p:spPr>
          <a:xfrm>
            <a:off x="8431530" y="4940300"/>
            <a:ext cx="27444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/>
              <a:t>1000</a:t>
            </a:r>
            <a:r>
              <a:rPr lang="zh-CN" altLang="en-US" sz="2400"/>
              <a:t>数据量</a:t>
            </a:r>
            <a:r>
              <a:rPr lang="zh-CN" altLang="en-US" sz="2400"/>
              <a:t>规模</a:t>
            </a:r>
            <a:endParaRPr lang="zh-CN" altLang="en-US" sz="2400"/>
          </a:p>
          <a:p>
            <a:r>
              <a:rPr lang="en-US" altLang="zh-CN" sz="2400"/>
              <a:t>10000</a:t>
            </a:r>
            <a:r>
              <a:rPr lang="zh-CN" altLang="en-US" sz="2400"/>
              <a:t>数据量</a:t>
            </a:r>
            <a:r>
              <a:rPr lang="zh-CN" altLang="en-US" sz="2400"/>
              <a:t>规模</a:t>
            </a:r>
            <a:endParaRPr lang="zh-CN" altLang="en-US"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44805" y="302895"/>
            <a:ext cx="102584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进展分享四：对</a:t>
            </a:r>
            <a:r>
              <a:rPr lang="en-US" altLang="zh-CN" sz="2400" dirty="0"/>
              <a:t>qwen3</a:t>
            </a:r>
            <a:r>
              <a:rPr lang="zh-CN" altLang="en-US" sz="2400" dirty="0"/>
              <a:t>、</a:t>
            </a:r>
            <a:r>
              <a:rPr lang="en-US" altLang="zh-CN" sz="2400" dirty="0"/>
              <a:t>7</a:t>
            </a:r>
            <a:r>
              <a:rPr lang="zh-CN" altLang="en-US" sz="2400" dirty="0"/>
              <a:t>、</a:t>
            </a:r>
            <a:r>
              <a:rPr lang="en-US" altLang="zh-CN" sz="2400" dirty="0"/>
              <a:t>32B</a:t>
            </a:r>
            <a:r>
              <a:rPr lang="zh-CN" altLang="en-US" sz="2400" dirty="0"/>
              <a:t>模型进行</a:t>
            </a:r>
            <a:r>
              <a:rPr lang="en-US" altLang="zh-CN" sz="2400" dirty="0"/>
              <a:t>lora</a:t>
            </a:r>
            <a:r>
              <a:rPr lang="zh-CN" altLang="en-US" sz="2400" dirty="0"/>
              <a:t>微调</a:t>
            </a:r>
            <a:endParaRPr lang="zh-CN" altLang="en-US" sz="2400" dirty="0"/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custDataLst>
              <p:tags r:id="rId1"/>
            </p:custDataLst>
          </p:nvPr>
        </p:nvGraphicFramePr>
        <p:xfrm>
          <a:off x="554355" y="2522855"/>
          <a:ext cx="11366500" cy="394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300"/>
                <a:gridCol w="2273300"/>
                <a:gridCol w="2273300"/>
                <a:gridCol w="2273300"/>
                <a:gridCol w="2273300"/>
              </a:tblGrid>
              <a:tr h="105473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>
                          <a:latin typeface="Times New Roman" panose="02020603050405020304" charset="0"/>
                          <a:cs typeface="Times New Roman" panose="02020603050405020304" charset="0"/>
                        </a:rPr>
                        <a:t>MODEL</a:t>
                      </a:r>
                      <a:endParaRPr lang="en-US" altLang="zh-CN" sz="20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>
                          <a:latin typeface="Times New Roman" panose="02020603050405020304" charset="0"/>
                          <a:cs typeface="Times New Roman" panose="02020603050405020304" charset="0"/>
                        </a:rPr>
                        <a:t>simple_ai_cot</a:t>
                      </a:r>
                      <a:endParaRPr lang="en-US" altLang="zh-CN" sz="20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>
                          <a:latin typeface="Times New Roman" panose="02020603050405020304" charset="0"/>
                          <a:cs typeface="Times New Roman" panose="02020603050405020304" charset="0"/>
                        </a:rPr>
                        <a:t>reduced_formated_cot</a:t>
                      </a:r>
                      <a:endParaRPr lang="en-US" altLang="zh-CN" sz="20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>
                          <a:latin typeface="Times New Roman" panose="02020603050405020304" charset="0"/>
                          <a:cs typeface="Times New Roman" panose="02020603050405020304" charset="0"/>
                        </a:rPr>
                        <a:t>before_reduced_natural_cot</a:t>
                      </a:r>
                      <a:endParaRPr lang="en-US" altLang="zh-CN" sz="20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000">
                          <a:latin typeface="Times New Roman" panose="02020603050405020304" charset="0"/>
                          <a:cs typeface="Times New Roman" panose="02020603050405020304" charset="0"/>
                        </a:rPr>
                        <a:t>reduced_natural_cot</a:t>
                      </a:r>
                      <a:endParaRPr lang="en-US" altLang="zh-CN" sz="20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</a:tr>
              <a:tr h="93599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Qwen2.5-3B-Instruct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842" marR="9842" marT="9842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+2.3</a:t>
                      </a:r>
                      <a:endParaRPr lang="en-US" altLang="zh-CN"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0">
                          <a:latin typeface="Times New Roman" panose="02020603050405020304" charset="0"/>
                          <a:cs typeface="Times New Roman" panose="02020603050405020304" charset="0"/>
                        </a:rPr>
                        <a:t>+2.45</a:t>
                      </a:r>
                      <a:endParaRPr lang="en-US" altLang="zh-CN" sz="2400" b="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>
                          <a:latin typeface="Times New Roman" panose="02020603050405020304" charset="0"/>
                          <a:cs typeface="Times New Roman" panose="02020603050405020304" charset="0"/>
                        </a:rPr>
                        <a:t>+3.2</a:t>
                      </a:r>
                      <a:endParaRPr lang="en-US" altLang="zh-CN" sz="2400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+2.35</a:t>
                      </a:r>
                      <a:endParaRPr lang="en-US" altLang="zh-CN"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</a:tr>
              <a:tr h="935990">
                <a:tc>
                  <a:txBody>
                    <a:bodyPr/>
                    <a:p>
                      <a:pPr algn="ctr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Qwen2.5-7B-Instruct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842" marR="9842" marT="9842" marB="0"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+1.3</a:t>
                      </a:r>
                      <a:endParaRPr lang="en-US" altLang="zh-CN"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+1</a:t>
                      </a:r>
                      <a:endParaRPr lang="en-US" altLang="zh-CN"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400" b="1">
                          <a:latin typeface="Times New Roman" panose="02020603050405020304" charset="0"/>
                          <a:cs typeface="Times New Roman" panose="02020603050405020304" charset="0"/>
                        </a:rPr>
                        <a:t>+2.25</a:t>
                      </a:r>
                      <a:endParaRPr lang="en-US" altLang="zh-CN" sz="2400" b="1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2400">
                          <a:latin typeface="Times New Roman" panose="02020603050405020304" charset="0"/>
                          <a:cs typeface="Times New Roman" panose="02020603050405020304" charset="0"/>
                        </a:rPr>
                        <a:t>+1.9</a:t>
                      </a:r>
                      <a:endParaRPr lang="en-US" altLang="zh-CN" sz="2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anchor="ctr"/>
                </a:tc>
              </a:tr>
              <a:tr h="101409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200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  <a:sym typeface="+mn-ea"/>
                        </a:rPr>
                        <a:t>Qwen2.5-32B-Instruct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  <a:sym typeface="+mn-ea"/>
                      </a:endParaRPr>
                    </a:p>
                  </a:txBody>
                  <a:tcPr marL="9842" marR="9842" marT="9842" marB="0" anchor="ctr"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400" b="1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+1.35</a:t>
                      </a:r>
                      <a:endParaRPr lang="en-US" altLang="zh-CN" sz="2400" b="1">
                        <a:solidFill>
                          <a:schemeClr val="tx1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+0.25</a:t>
                      </a:r>
                      <a:endParaRPr lang="en-US" altLang="zh-CN" sz="2400" b="0">
                        <a:solidFill>
                          <a:schemeClr val="tx1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+0.35</a:t>
                      </a:r>
                      <a:endParaRPr lang="en-US" altLang="zh-CN" sz="2400" b="0">
                        <a:solidFill>
                          <a:schemeClr val="tx1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4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+0.4</a:t>
                      </a:r>
                      <a:endParaRPr lang="en-US" altLang="zh-CN" sz="2400" b="0">
                        <a:solidFill>
                          <a:schemeClr val="tx1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54355" y="1228090"/>
            <a:ext cx="11177905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2400"/>
              <a:t>随着模型参数的提升，相同数据集对模型的提升反而没那么大</a:t>
            </a:r>
            <a:r>
              <a:rPr lang="en-US" altLang="zh-CN" sz="2400"/>
              <a:t>(</a:t>
            </a:r>
            <a:r>
              <a:rPr lang="zh-CN" altLang="en-US" sz="2400"/>
              <a:t>可能是数据量不够，达不到大幅改变模型的程度</a:t>
            </a:r>
            <a:r>
              <a:rPr lang="en-US" altLang="zh-CN" sz="2400"/>
              <a:t>)</a:t>
            </a:r>
            <a:endParaRPr lang="en-US" altLang="zh-CN" sz="2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44805" y="302895"/>
            <a:ext cx="102584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进展分享</a:t>
            </a:r>
            <a:r>
              <a:rPr lang="zh-CN" altLang="en-US" sz="2400" dirty="0"/>
              <a:t>五：对</a:t>
            </a:r>
            <a:r>
              <a:rPr lang="en-US" altLang="zh-CN" sz="2400" dirty="0"/>
              <a:t>DeepSeek-R1-Distill-7B</a:t>
            </a:r>
            <a:r>
              <a:rPr lang="zh-CN" altLang="en-US" sz="2400" dirty="0"/>
              <a:t>和</a:t>
            </a:r>
            <a:r>
              <a:rPr lang="en-US" altLang="zh-CN" sz="2400" dirty="0"/>
              <a:t>14B</a:t>
            </a:r>
            <a:r>
              <a:rPr lang="zh-CN" altLang="en-US" sz="2400" dirty="0"/>
              <a:t>模型进行</a:t>
            </a:r>
            <a:r>
              <a:rPr lang="en-US" altLang="zh-CN" sz="2400" dirty="0"/>
              <a:t>lora</a:t>
            </a:r>
            <a:r>
              <a:rPr lang="zh-CN" altLang="en-US" sz="2400" dirty="0"/>
              <a:t>微调</a:t>
            </a:r>
            <a:endParaRPr lang="zh-CN" altLang="en-US" sz="2400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68630" y="2493645"/>
          <a:ext cx="10797540" cy="3655060"/>
        </p:xfrm>
        <a:graphic>
          <a:graphicData uri="http://schemas.openxmlformats.org/drawingml/2006/table">
            <a:tbl>
              <a:tblPr firstRow="1" bandRow="1">
                <a:effectLst/>
                <a:tableStyleId>{5940675A-B579-460E-94D1-54222C63F5DA}</a:tableStyleId>
              </a:tblPr>
              <a:tblGrid>
                <a:gridCol w="2699385"/>
                <a:gridCol w="2699385"/>
                <a:gridCol w="2699385"/>
                <a:gridCol w="2699385"/>
              </a:tblGrid>
              <a:tr h="13163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>
                          <a:solidFill>
                            <a:sysClr val="window" lastClr="FFFFFF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MODEL</a:t>
                      </a:r>
                      <a:endParaRPr lang="en-US" altLang="zh-CN" sz="2400" b="1">
                        <a:solidFill>
                          <a:sysClr val="window" lastClr="FFFFFF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>
                          <a:solidFill>
                            <a:sysClr val="window" lastClr="FFFFFF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reduced_fomated</a:t>
                      </a:r>
                      <a:endParaRPr lang="en-US" altLang="zh-CN" sz="2400" b="1">
                        <a:solidFill>
                          <a:sysClr val="window" lastClr="FFFFFF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2400" b="1">
                          <a:solidFill>
                            <a:sysClr val="window" lastClr="FFFFFF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+ai generate</a:t>
                      </a:r>
                      <a:endParaRPr lang="en-US" altLang="zh-CN" sz="2400" b="1">
                        <a:solidFill>
                          <a:sysClr val="window" lastClr="FFFFFF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>
                          <a:solidFill>
                            <a:sysClr val="window" lastClr="FFFFFF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  <a:sym typeface="+mn-ea"/>
                        </a:rPr>
                        <a:t>reduced_formated+natural</a:t>
                      </a:r>
                      <a:endParaRPr lang="en-US" altLang="zh-CN" sz="2400" b="1">
                        <a:solidFill>
                          <a:sysClr val="window" lastClr="FFFFFF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b="1">
                          <a:solidFill>
                            <a:sysClr val="window" lastClr="FFFFFF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reduced_natural</a:t>
                      </a:r>
                      <a:endParaRPr lang="en-US" altLang="zh-CN" sz="2400" b="1">
                        <a:solidFill>
                          <a:sysClr val="window" lastClr="FFFFFF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2400" b="1">
                          <a:solidFill>
                            <a:sysClr val="window" lastClr="FFFFFF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+ai generate</a:t>
                      </a:r>
                      <a:endParaRPr lang="en-US" altLang="zh-CN" sz="2400" b="1">
                        <a:solidFill>
                          <a:sysClr val="window" lastClr="FFFFFF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solidFill>
                      <a:srgbClr val="156082"/>
                    </a:solidFill>
                  </a:tcPr>
                </a:tc>
              </a:tr>
              <a:tr h="116967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24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DeepSeek-R1-Distill-Qwen-7B</a:t>
                      </a:r>
                      <a:endParaRPr lang="en-US" altLang="zh-CN" sz="24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842" marR="9842" marT="9842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>
                          <a:solidFill>
                            <a:srgbClr val="FF000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+1.9/+2.4</a:t>
                      </a:r>
                      <a:endParaRPr lang="en-US" altLang="zh-CN" sz="2800">
                        <a:solidFill>
                          <a:srgbClr val="FF0000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>
                          <a:solidFill>
                            <a:srgbClr val="FF000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+0.9/+2.4</a:t>
                      </a:r>
                      <a:endParaRPr lang="en-US" altLang="zh-CN" sz="2800">
                        <a:solidFill>
                          <a:srgbClr val="FF0000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>
                          <a:solidFill>
                            <a:srgbClr val="FF000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+0.55/+1.6</a:t>
                      </a:r>
                      <a:endParaRPr lang="en-US" altLang="zh-CN" sz="2800">
                        <a:solidFill>
                          <a:srgbClr val="FF0000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40000"/>
                      </a:srgbClr>
                    </a:solidFill>
                  </a:tcPr>
                </a:tc>
              </a:tr>
              <a:tr h="116903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24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DeepSeek-R1-Distill-Qwen-14B</a:t>
                      </a:r>
                      <a:endParaRPr lang="en-US" altLang="zh-CN" sz="24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9842" marR="9842" marT="9842" marB="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>
                          <a:solidFill>
                            <a:srgbClr val="00B0F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-0.85/-0.15</a:t>
                      </a:r>
                      <a:endParaRPr lang="en-US" altLang="zh-CN" sz="2800">
                        <a:solidFill>
                          <a:srgbClr val="00B0F0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 b="0">
                          <a:solidFill>
                            <a:srgbClr val="00B0F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-0.2</a:t>
                      </a:r>
                      <a:r>
                        <a:rPr lang="en-US" altLang="zh-CN" sz="2800" b="0">
                          <a:solidFill>
                            <a:sysClr val="windowText" lastClr="00000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/</a:t>
                      </a:r>
                      <a:r>
                        <a:rPr lang="en-US" altLang="zh-CN" sz="2800" b="0">
                          <a:solidFill>
                            <a:srgbClr val="FF000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+0.4</a:t>
                      </a:r>
                      <a:endParaRPr lang="en-US" altLang="zh-CN" sz="2800" b="0">
                        <a:solidFill>
                          <a:srgbClr val="FF0000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800">
                          <a:solidFill>
                            <a:srgbClr val="FF0000"/>
                          </a:solidFill>
                          <a:latin typeface="Times New Roman" panose="02020603050405020304" charset="0"/>
                          <a:ea typeface="等线" panose="02010600030101010101" charset="-122"/>
                          <a:cs typeface="Times New Roman" panose="02020603050405020304" charset="0"/>
                        </a:rPr>
                        <a:t>+0.65/+0.6</a:t>
                      </a:r>
                      <a:endParaRPr lang="en-US" altLang="zh-CN" sz="2800">
                        <a:solidFill>
                          <a:srgbClr val="FF0000"/>
                        </a:solidFill>
                        <a:latin typeface="Times New Roman" panose="02020603050405020304" charset="0"/>
                        <a:ea typeface="等线" panose="02010600030101010101" charset="-122"/>
                        <a:cs typeface="Times New Roman" panose="02020603050405020304" charset="0"/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solidFill>
                      <a:srgbClr val="156082">
                        <a:tint val="2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394335" y="1278255"/>
            <a:ext cx="11177905" cy="829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2400"/>
              <a:t>针对</a:t>
            </a:r>
            <a:r>
              <a:rPr lang="en-US" altLang="zh-CN" sz="2400"/>
              <a:t>CruxEval</a:t>
            </a:r>
            <a:r>
              <a:rPr lang="zh-CN" altLang="en-US" sz="2400"/>
              <a:t>的输入输出预测都做了评估，发现在输入方面有所下降，但是输出是提升的（</a:t>
            </a:r>
            <a:r>
              <a:rPr lang="en-US" altLang="zh-CN" sz="2400"/>
              <a:t>input/output</a:t>
            </a:r>
            <a:r>
              <a:rPr lang="zh-CN" altLang="en-US" sz="2400"/>
              <a:t>）</a:t>
            </a:r>
            <a:endParaRPr lang="zh-CN" altLang="en-US"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5895" y="82550"/>
            <a:ext cx="102584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附录：详细</a:t>
            </a:r>
            <a:r>
              <a:rPr lang="zh-CN" altLang="en-US" sz="2400" dirty="0"/>
              <a:t>数据</a:t>
            </a:r>
            <a:endParaRPr lang="zh-CN" altLang="en-US" sz="2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280" y="3843020"/>
            <a:ext cx="11776075" cy="287528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95" y="642620"/>
            <a:ext cx="11808460" cy="3050540"/>
          </a:xfrm>
          <a:prstGeom prst="rect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5895" y="82550"/>
            <a:ext cx="102584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附录：详细</a:t>
            </a:r>
            <a:r>
              <a:rPr lang="zh-CN" altLang="en-US" sz="2400" dirty="0"/>
              <a:t>数据</a:t>
            </a:r>
            <a:endParaRPr lang="zh-CN" altLang="en-US" sz="2400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t="17720"/>
          <a:stretch>
            <a:fillRect/>
          </a:stretch>
        </p:blipFill>
        <p:spPr>
          <a:xfrm>
            <a:off x="2906395" y="2337435"/>
            <a:ext cx="8404860" cy="2129790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rcRect t="18401"/>
          <a:stretch>
            <a:fillRect/>
          </a:stretch>
        </p:blipFill>
        <p:spPr>
          <a:xfrm>
            <a:off x="2906395" y="4552315"/>
            <a:ext cx="8404225" cy="2306320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6395" y="79375"/>
            <a:ext cx="8378190" cy="2163445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929*476"/>
  <p:tag name="TABLE_ENDDRAG_RECT" val="15*52*929*476"/>
</p:tagLst>
</file>

<file path=ppt/tags/tag2.xml><?xml version="1.0" encoding="utf-8"?>
<p:tagLst xmlns:p="http://schemas.openxmlformats.org/presentationml/2006/main">
  <p:tag name="TABLE_ENDDRAG_ORIGIN_RECT" val="869*321"/>
  <p:tag name="TABLE_ENDDRAG_RECT" val="44*151*869*321"/>
</p:tagLst>
</file>

<file path=ppt/tags/tag3.xml><?xml version="1.0" encoding="utf-8"?>
<p:tagLst xmlns:p="http://schemas.openxmlformats.org/presentationml/2006/main">
  <p:tag name="TABLE_ENDDRAG_ORIGIN_RECT" val="850*287"/>
  <p:tag name="TABLE_ENDDRAG_RECT" val="55*95*850*287"/>
</p:tagLst>
</file>

<file path=ppt/tags/tag4.xml><?xml version="1.0" encoding="utf-8"?>
<p:tagLst xmlns:p="http://schemas.openxmlformats.org/presentationml/2006/main">
  <p:tag name="RESOURCE_RECORD_KEY" val="{&quot;10&quot;:[20179637,20211662,50039266,21564682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2588</Words>
  <Application>WPS 演示</Application>
  <PresentationFormat>宽屏</PresentationFormat>
  <Paragraphs>173</Paragraphs>
  <Slides>11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宋体</vt:lpstr>
      <vt:lpstr>Wingdings</vt:lpstr>
      <vt:lpstr>Times New Roman</vt:lpstr>
      <vt:lpstr>等线</vt:lpstr>
      <vt:lpstr>微软雅黑</vt:lpstr>
      <vt:lpstr>Arial Unicode MS</vt:lpstr>
      <vt:lpstr>等线 Light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caoye541@gmail.com</dc:creator>
  <cp:lastModifiedBy>曹烨(2021012167)</cp:lastModifiedBy>
  <cp:revision>134</cp:revision>
  <dcterms:created xsi:type="dcterms:W3CDTF">2025-10-01T20:32:00Z</dcterms:created>
  <dcterms:modified xsi:type="dcterms:W3CDTF">2025-12-15T07:11:32Z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A9D8EE090709422594ECCEF0F366ED29_13</vt:lpwstr>
  </property>
  <property fmtid="{D5CDD505-2E9C-101B-9397-08002B2CF9AE}" pid="3" name="KSOProductBuildVer">
    <vt:lpwstr>2052-12.1.0.23542</vt:lpwstr>
  </property>
</Properties>
</file>