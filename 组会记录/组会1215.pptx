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97" r:id="rId3"/>
    <p:sldId id="327" r:id="rId4"/>
    <p:sldId id="368" r:id="rId6"/>
    <p:sldId id="405" r:id="rId7"/>
    <p:sldId id="399" r:id="rId8"/>
    <p:sldId id="398" r:id="rId9"/>
    <p:sldId id="400" r:id="rId10"/>
    <p:sldId id="401" r:id="rId11"/>
    <p:sldId id="402" r:id="rId12"/>
    <p:sldId id="403" r:id="rId13"/>
    <p:sldId id="404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5F6"/>
    <a:srgbClr val="FFFFFF"/>
    <a:srgbClr val="FBE3D6"/>
    <a:srgbClr val="F2CFEE"/>
    <a:srgbClr val="FF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7087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上周会议纪要：</a:t>
            </a:r>
            <a:r>
              <a:rPr lang="zh-CN" altLang="en-US" sz="3200" dirty="0">
                <a:sym typeface="+mn-ea"/>
              </a:rPr>
              <a:t>2025</a:t>
            </a:r>
            <a:r>
              <a:rPr lang="en-US" altLang="zh-CN" sz="3200" dirty="0">
                <a:sym typeface="+mn-ea"/>
              </a:rPr>
              <a:t>1210</a:t>
            </a:r>
            <a:r>
              <a:rPr lang="zh-CN" altLang="en-US" sz="3200" dirty="0">
                <a:sym typeface="+mn-ea"/>
              </a:rPr>
              <a:t> 会议纪要 </a:t>
            </a:r>
            <a:r>
              <a:rPr lang="en-US" altLang="zh-CN" sz="3200" dirty="0">
                <a:sym typeface="+mn-ea"/>
              </a:rPr>
              <a:t>11</a:t>
            </a:r>
            <a:endParaRPr lang="en-US" altLang="zh-CN" sz="3200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6690" y="1167130"/>
            <a:ext cx="11818620" cy="3277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1. 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完成</a:t>
            </a:r>
            <a:r>
              <a:rPr lang="en-US" altLang="zh-CN" sz="2000" dirty="0" err="1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claude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生产了一批同规模的四类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cot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数据集；完成了服务于推理模型三类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think-response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训练集；扩充数据集规模，目前已经扩展到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4500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，后续预期到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1-2w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条左右是</a:t>
            </a:r>
            <a:endParaRPr lang="zh-CN" altLang="en-US" sz="2000" dirty="0">
              <a:solidFill>
                <a:schemeClr val="tx2">
                  <a:lumMod val="75000"/>
                  <a:lumOff val="25000"/>
                </a:schemeClr>
              </a:solidFill>
              <a:sym typeface="+mn-ea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2. 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对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Qwen-2.5-32B-Instruct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模型进行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lora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微调和评估，对比结果发现提升幅度更小</a:t>
            </a:r>
            <a:endParaRPr lang="zh-CN" altLang="en-US" sz="2000" dirty="0">
              <a:solidFill>
                <a:schemeClr val="tx2">
                  <a:lumMod val="75000"/>
                  <a:lumOff val="25000"/>
                </a:schemeClr>
              </a:solidFill>
              <a:sym typeface="+mn-ea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3. 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对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DeepSeek-R1-Distill-7B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和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14B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模型进行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lora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微调和评估，整体表现不错</a:t>
            </a:r>
            <a:endParaRPr lang="zh-CN" altLang="en-US" sz="2000" dirty="0">
              <a:solidFill>
                <a:schemeClr val="tx2">
                  <a:lumMod val="75000"/>
                  <a:lumOff val="25000"/>
                </a:schemeClr>
              </a:solidFill>
              <a:sym typeface="+mn-ea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ym typeface="+mn-ea"/>
              </a:rPr>
              <a:t>4. [</a:t>
            </a:r>
            <a:r>
              <a:rPr lang="en-US" altLang="zh-CN" sz="2000" dirty="0" err="1">
                <a:sym typeface="+mn-ea"/>
              </a:rPr>
              <a:t>todo</a:t>
            </a:r>
            <a:r>
              <a:rPr lang="en-US" altLang="zh-CN" sz="2000" dirty="0">
                <a:sym typeface="+mn-ea"/>
              </a:rPr>
              <a:t>] </a:t>
            </a:r>
            <a:r>
              <a:rPr lang="zh-CN" altLang="en-US" sz="2000" dirty="0">
                <a:sym typeface="+mn-ea"/>
              </a:rPr>
              <a:t>调研业界最新的论文是调哪个模型，确定模型类型（推理</a:t>
            </a:r>
            <a:r>
              <a:rPr lang="en-US" altLang="zh-CN" sz="2000" dirty="0">
                <a:sym typeface="+mn-ea"/>
              </a:rPr>
              <a:t>/</a:t>
            </a:r>
            <a:r>
              <a:rPr lang="zh-CN" altLang="en-US" sz="2000" dirty="0">
                <a:sym typeface="+mn-ea"/>
              </a:rPr>
              <a:t>非推理）与模型参数</a:t>
            </a:r>
            <a:endParaRPr lang="zh-CN" altLang="en-US" sz="2000" dirty="0">
              <a:sym typeface="+mn-ea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ym typeface="+mn-ea"/>
              </a:rPr>
              <a:t>5. [</a:t>
            </a:r>
            <a:r>
              <a:rPr lang="en-US" altLang="zh-CN" sz="2000" dirty="0" err="1">
                <a:sym typeface="+mn-ea"/>
              </a:rPr>
              <a:t>todo</a:t>
            </a:r>
            <a:r>
              <a:rPr lang="en-US" altLang="zh-CN" sz="2000" dirty="0">
                <a:sym typeface="+mn-ea"/>
              </a:rPr>
              <a:t>] </a:t>
            </a:r>
            <a:r>
              <a:rPr lang="zh-CN" altLang="en-US" sz="2000" dirty="0">
                <a:sym typeface="+mn-ea"/>
              </a:rPr>
              <a:t>分析</a:t>
            </a:r>
            <a:r>
              <a:rPr lang="en-US" altLang="zh-CN" sz="2000" dirty="0">
                <a:sym typeface="+mn-ea"/>
              </a:rPr>
              <a:t>【qwq-32B</a:t>
            </a:r>
            <a:r>
              <a:rPr lang="zh-CN" altLang="en-US" sz="2000" dirty="0">
                <a:sym typeface="+mn-ea"/>
              </a:rPr>
              <a:t>提升高</a:t>
            </a:r>
            <a:r>
              <a:rPr lang="en-US" altLang="zh-CN" sz="2000" dirty="0">
                <a:sym typeface="+mn-ea"/>
              </a:rPr>
              <a:t>】</a:t>
            </a:r>
            <a:r>
              <a:rPr lang="zh-CN" altLang="en-US" sz="2000" dirty="0">
                <a:sym typeface="+mn-ea"/>
              </a:rPr>
              <a:t>与</a:t>
            </a:r>
            <a:r>
              <a:rPr lang="en-US" altLang="zh-CN" sz="2000" dirty="0">
                <a:sym typeface="+mn-ea"/>
              </a:rPr>
              <a:t>【</a:t>
            </a:r>
            <a:r>
              <a:rPr lang="zh-CN" altLang="en-US" sz="2000" dirty="0">
                <a:sym typeface="+mn-ea"/>
              </a:rPr>
              <a:t>目前提升低</a:t>
            </a:r>
            <a:r>
              <a:rPr lang="en-US" altLang="zh-CN" sz="2000" dirty="0">
                <a:sym typeface="+mn-ea"/>
              </a:rPr>
              <a:t>】</a:t>
            </a:r>
            <a:r>
              <a:rPr lang="zh-CN" altLang="en-US" sz="2000" dirty="0">
                <a:sym typeface="+mn-ea"/>
              </a:rPr>
              <a:t>的差异原因 </a:t>
            </a:r>
            <a:r>
              <a:rPr lang="en-US" altLang="zh-CN" sz="2000" dirty="0">
                <a:sym typeface="+mn-ea"/>
              </a:rPr>
              <a:t>--- P0 ---</a:t>
            </a:r>
            <a:endParaRPr lang="en-US" altLang="zh-CN" sz="2000" dirty="0">
              <a:sym typeface="+mn-ea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ym typeface="+mn-ea"/>
              </a:rPr>
              <a:t>6. [</a:t>
            </a:r>
            <a:r>
              <a:rPr lang="en-US" altLang="zh-CN" sz="2000" dirty="0" err="1">
                <a:sym typeface="+mn-ea"/>
              </a:rPr>
              <a:t>todo</a:t>
            </a:r>
            <a:r>
              <a:rPr lang="en-US" altLang="zh-CN" sz="2000" dirty="0">
                <a:sym typeface="+mn-ea"/>
              </a:rPr>
              <a:t>] </a:t>
            </a:r>
            <a:r>
              <a:rPr lang="zh-CN" altLang="en-US" sz="2000" dirty="0">
                <a:sym typeface="+mn-ea"/>
              </a:rPr>
              <a:t>分析</a:t>
            </a:r>
            <a:r>
              <a:rPr lang="en-US" altLang="zh-CN" sz="2000" dirty="0">
                <a:sym typeface="+mn-ea"/>
              </a:rPr>
              <a:t>Jung</a:t>
            </a:r>
            <a:r>
              <a:rPr lang="zh-CN" altLang="en-US" sz="2000" dirty="0">
                <a:sym typeface="+mn-ea"/>
              </a:rPr>
              <a:t>他们的工作细节，看有没有对我们有帮助的地方</a:t>
            </a:r>
            <a:endParaRPr lang="zh-CN" altLang="en-US" sz="20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7640" y="8362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本周内容总结</a:t>
            </a:r>
            <a:endParaRPr lang="zh-CN" altLang="en-US" sz="32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96850" y="668655"/>
          <a:ext cx="11798300" cy="5889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10310"/>
                <a:gridCol w="10587990"/>
              </a:tblGrid>
              <a:tr h="145351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细节进展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[NEW]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调研了四篇相关性很强的最新工作，均与后训练微调代码推理有关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[NEW] </a:t>
                      </a: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重新运行了之前两个数据在</a:t>
                      </a:r>
                      <a:r>
                        <a:rPr lang="en-US" altLang="zh-CN" sz="1800" b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QwQ-32B</a:t>
                      </a: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上的结果，实验结论和之前的相差不大，在我们的四类数据集上也有提升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1978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总结与</a:t>
                      </a:r>
                      <a:r>
                        <a:rPr lang="en-US" altLang="zh-CN" sz="1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Todo</a:t>
                      </a:r>
                      <a:endParaRPr lang="en-US" altLang="zh-CN" sz="1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共涉及的训练模型有：</a:t>
                      </a: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Qwen2.5-Coder-Instruct  7B</a:t>
                      </a:r>
                      <a:r>
                        <a:rPr lang="zh-CN" altLang="en-US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Qwen2.5-Coder-Instruct  14B</a:t>
                      </a:r>
                      <a:r>
                        <a:rPr lang="zh-CN" altLang="en-US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Qwen3-4B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Qwen3-8B</a:t>
                      </a:r>
                      <a:r>
                        <a:rPr lang="zh-CN" altLang="en-US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800" b="0" i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Qwen</a:t>
                      </a: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2.5 7B Coder</a:t>
                      </a:r>
                      <a:r>
                        <a:rPr lang="zh-CN" altLang="en-US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800" b="0" i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Deepseek</a:t>
                      </a: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v2 Lite Coder</a:t>
                      </a:r>
                      <a:r>
                        <a:rPr lang="zh-CN" altLang="en-US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LLaMA 3.1 8B</a:t>
                      </a:r>
                      <a:r>
                        <a:rPr lang="zh-CN" altLang="en-US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Gemma 2 27B</a:t>
                      </a:r>
                      <a:r>
                        <a:rPr lang="zh-CN" altLang="en-US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800" b="0" i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DeepSeekCoder</a:t>
                      </a: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7B </a:t>
                      </a:r>
                      <a:r>
                        <a:rPr lang="zh-CN" altLang="en-US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。总结为均为</a:t>
                      </a: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6-8B</a:t>
                      </a:r>
                      <a:r>
                        <a:rPr lang="zh-CN" altLang="en-US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的非推理类模型</a:t>
                      </a:r>
                      <a:endParaRPr lang="zh-CN" altLang="en-US" sz="1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57200" indent="-457200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之前实验结果猜测原因是：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Qwen2.5-7B-Instruct在预训练阶段很可能已经见过大量类似的代码理解任务，微调让它接近自身在该任务上的极限。</a:t>
                      </a:r>
                      <a:endParaRPr lang="en-US" altLang="zh-CN" sz="1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57200" indent="-457200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认为是之前的数据集难度极高，</a:t>
                      </a: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32B</a:t>
                      </a:r>
                      <a:r>
                        <a:rPr lang="zh-CN" altLang="en-US" sz="1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模型能够学到的更多</a:t>
                      </a:r>
                      <a:endParaRPr lang="zh-CN" altLang="en-US" sz="1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2383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评价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[todo]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讨论后续发展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方向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4805" y="302895"/>
            <a:ext cx="1050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</a:rPr>
              <a:t>进展一：</a:t>
            </a:r>
            <a:r>
              <a:rPr lang="zh-CN" altLang="en-US" sz="2400" dirty="0">
                <a:sym typeface="+mn-ea"/>
              </a:rPr>
              <a:t>后训练微调代码推理类的最新论文的实验评估方案汇总</a:t>
            </a:r>
            <a:endParaRPr lang="en-US" altLang="zh-CN" sz="2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4805" y="1062855"/>
            <a:ext cx="12228195" cy="246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Tx/>
              <a:buAutoNum type="arabicPeriod"/>
            </a:pP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CodeReasoner: Enhancing the Code Reasoning Ability with Reinforcement Learning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 2025.07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Execution as Grounded Supervision for LLM Reasoning  </a:t>
            </a:r>
            <a:r>
              <a:rPr lang="en-US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EMNLP 2025.06</a:t>
            </a:r>
            <a:endParaRPr lang="en-US" altLang="zh-C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Tx/>
              <a:buAutoNum type="arabicPeriod"/>
            </a:pPr>
            <a:r>
              <a:rPr lang="en-US" altLang="zh-CN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CodeI/O: Condensing Reasoning Patterns via Code Input-Output Prediction </a:t>
            </a:r>
            <a:r>
              <a:rPr lang="en-US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ICML 2025.02</a:t>
            </a:r>
            <a:endParaRPr lang="en-US" altLang="zh-C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Tx/>
              <a:buAutoNum type="arabicPeriod"/>
            </a:pPr>
            <a:r>
              <a:rPr lang="en-US" altLang="zh-CN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Semcoder: Training code language models with comprehensive semantics reasoning</a:t>
            </a:r>
            <a:r>
              <a:rPr lang="en-US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NeurIPS 2024</a:t>
            </a:r>
            <a:endParaRPr lang="en-US" altLang="zh-C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44805" y="3716584"/>
            <a:ext cx="12228195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训练模型总结：</a:t>
            </a:r>
            <a:endParaRPr lang="en-US" altLang="zh-C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255191" y="3847308"/>
            <a:ext cx="8548064" cy="299974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Qwen2.5-Coder-Instruct  7B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Qwen2.5-Coder-Instruct  14B</a:t>
            </a:r>
            <a:endParaRPr lang="en-US" altLang="zh-C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Qwen3-4B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Qwen3-8B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altLang="zh-C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2.5 7B Coder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altLang="zh-C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v2 Lite Coder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LLaMA 3.1 8B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Gemma 2 27B</a:t>
            </a:r>
            <a:endParaRPr lang="en-US" altLang="zh-C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altLang="zh-C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DeepSeekCoder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7B </a:t>
            </a:r>
            <a:endParaRPr lang="en-US" altLang="zh-C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6055" y="119380"/>
            <a:ext cx="1050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</a:rPr>
              <a:t>进展二：</a:t>
            </a:r>
            <a:r>
              <a:rPr lang="zh-CN" altLang="en-US" sz="2400" dirty="0">
                <a:sym typeface="+mn-ea"/>
              </a:rPr>
              <a:t>实验</a:t>
            </a:r>
            <a:endParaRPr lang="zh-CN" altLang="en-US" sz="2400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6055" y="622935"/>
            <a:ext cx="1176274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重新运行了之前两个数据在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QwQ-32B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上的结果，实验结论和之前的相差不大，在我们的四类数据集上也有提升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QwQ-32B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预训练阶段强化了数学和逻辑推理，但在代码推理特定任务上，原生的指令遵循能力较弱，但是它有强大的潜在推理能力，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微调能够教会它一步步跟踪执行路径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，因此激活了他的推理能力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Qwen2.5-7B-Instruct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在预训练阶段很可能已经见过大量类似的代码理解任务，微调让它接近自身在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该任务上的极限。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认为是之前的数据集难度极高，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32B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模型能够学到的更多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365" y="2350135"/>
            <a:ext cx="8065135" cy="14947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25" y="4018915"/>
            <a:ext cx="8004810" cy="28428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554720" y="3711575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数据集任务</a:t>
            </a:r>
            <a:endParaRPr lang="zh-CN" altLang="en-US"/>
          </a:p>
          <a:p>
            <a:r>
              <a:rPr lang="zh-CN" altLang="en-US"/>
              <a:t>训练任务</a:t>
            </a:r>
            <a:endParaRPr lang="zh-CN" altLang="en-US"/>
          </a:p>
          <a:p>
            <a:r>
              <a:rPr lang="en-US" altLang="zh-CN"/>
              <a:t>1. Qwen3-8B</a:t>
            </a:r>
            <a:r>
              <a:rPr lang="zh-CN" altLang="en-US"/>
              <a:t>（</a:t>
            </a:r>
            <a:r>
              <a:rPr lang="en-US" altLang="zh-CN"/>
              <a:t>code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2. 235-1</a:t>
            </a:r>
            <a:r>
              <a:rPr lang="zh-CN" altLang="en-US"/>
              <a:t>、</a:t>
            </a:r>
            <a:r>
              <a:rPr lang="en-US" altLang="zh-CN"/>
              <a:t>235-2</a:t>
            </a:r>
            <a:endParaRPr lang="en-US" altLang="zh-CN"/>
          </a:p>
          <a:p>
            <a:r>
              <a:rPr lang="en-US" altLang="zh-CN"/>
              <a:t>3. claude-1000-format</a:t>
            </a:r>
            <a:endParaRPr lang="en-US" altLang="zh-CN"/>
          </a:p>
          <a:p>
            <a:r>
              <a:rPr lang="en-US" altLang="zh-CN"/>
              <a:t>4. claude-1000-natural</a:t>
            </a:r>
            <a:endParaRPr lang="zh-CN" altLang="en-US"/>
          </a:p>
          <a:p>
            <a:r>
              <a:rPr lang="zh-CN" altLang="en-US"/>
              <a:t>评估任务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1. Qwen3-8B </a:t>
            </a:r>
            <a:r>
              <a:rPr lang="zh-CN" altLang="en-US"/>
              <a:t>的四个</a:t>
            </a:r>
            <a:r>
              <a:rPr lang="zh-CN" altLang="en-US"/>
              <a:t>训练模型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同类工作的</a:t>
            </a:r>
            <a:r>
              <a:rPr lang="zh-CN" altLang="en-US"/>
              <a:t>四个模型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573" y="189385"/>
            <a:ext cx="11655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CodeReasoner: Enhancing the Code Reasoning Ability with Reinforcement Learning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 2025.07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6573" y="808918"/>
            <a:ext cx="11655907" cy="10772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方法论：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数据集构建和两阶段训练。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1.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首先，引入了一种构建数据集的方法，该方法专注于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Python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程序的核心执行逻辑。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其次，应用指令调优来注入从强大的教师模型中提取的执行特定知识。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3.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然后，在微调后的模型之上，通过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GRPO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强化学习来增强推理和泛化能力。</a:t>
            </a:r>
            <a:endParaRPr lang="zh-CN" altLang="en-US" sz="16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6573" y="2110877"/>
            <a:ext cx="11655907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/>
              <a:t>训练集：生成逻辑满足简洁性、全面性、可控性、难度多样性四大核心特征</a:t>
            </a:r>
            <a:endParaRPr lang="en-US" altLang="zh-CN" sz="1600" dirty="0"/>
          </a:p>
          <a:p>
            <a:r>
              <a:rPr lang="en-US" altLang="zh-CN" sz="1600" dirty="0"/>
              <a:t>	</a:t>
            </a:r>
            <a:r>
              <a:rPr lang="zh-CN" altLang="en-US" sz="1600" dirty="0"/>
              <a:t>阶段</a:t>
            </a:r>
            <a:r>
              <a:rPr lang="en-US" altLang="zh-CN" sz="1600" dirty="0"/>
              <a:t>1</a:t>
            </a:r>
            <a:r>
              <a:rPr lang="zh-CN" altLang="en-US" sz="1600" dirty="0"/>
              <a:t>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</a:rPr>
              <a:t>遍历 </a:t>
            </a:r>
            <a:r>
              <a:rPr lang="en-US" altLang="zh-CN" sz="1600" b="0" i="0" dirty="0">
                <a:solidFill>
                  <a:srgbClr val="000000"/>
                </a:solidFill>
                <a:effectLst/>
              </a:rPr>
              <a:t>Python </a:t>
            </a:r>
            <a:r>
              <a:rPr lang="zh-CN" altLang="en-US" sz="1600" b="0" i="0" dirty="0">
                <a:solidFill>
                  <a:srgbClr val="000000"/>
                </a:solidFill>
                <a:effectLst/>
              </a:rPr>
              <a:t>所有内置类型及关联方法，</a:t>
            </a:r>
            <a:r>
              <a:rPr lang="zh-CN" altLang="en-US" sz="1600" b="0" i="0" dirty="0">
                <a:effectLst/>
              </a:rPr>
              <a:t>实现生成过程的精细化控制，提升数据集多样性与难度层次。</a:t>
            </a:r>
            <a:endParaRPr lang="en-US" altLang="zh-CN" sz="1600" b="0" i="0" dirty="0">
              <a:effectLst/>
            </a:endParaRPr>
          </a:p>
          <a:p>
            <a:r>
              <a:rPr lang="en-US" altLang="zh-CN" sz="1600" dirty="0">
                <a:solidFill>
                  <a:srgbClr val="000000"/>
                </a:solidFill>
              </a:rPr>
              <a:t>	</a:t>
            </a:r>
            <a:r>
              <a:rPr lang="zh-CN" altLang="en-US" sz="1600" dirty="0">
                <a:solidFill>
                  <a:srgbClr val="000000"/>
                </a:solidFill>
              </a:rPr>
              <a:t>阶段</a:t>
            </a:r>
            <a:r>
              <a:rPr lang="en-US" altLang="zh-CN" sz="1600" dirty="0">
                <a:solidFill>
                  <a:srgbClr val="000000"/>
                </a:solidFill>
              </a:rPr>
              <a:t>2</a:t>
            </a:r>
            <a:r>
              <a:rPr lang="zh-CN" altLang="en-US" sz="1600" dirty="0">
                <a:solidFill>
                  <a:srgbClr val="000000"/>
                </a:solidFill>
              </a:rPr>
              <a:t>：</a:t>
            </a:r>
            <a:r>
              <a:rPr lang="zh-CN" altLang="en-US" sz="1600" b="0" i="0" dirty="0">
                <a:effectLst/>
                <a:latin typeface="Inter"/>
              </a:rPr>
              <a:t>执行所有生成的测试用例，舍弃存在运行时错误或输出过长</a:t>
            </a:r>
            <a:endParaRPr lang="zh-CN" altLang="en-US" sz="16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6573" y="3166615"/>
            <a:ext cx="11655907" cy="3385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/>
              <a:t>测试集：</a:t>
            </a:r>
            <a:r>
              <a:rPr lang="en-US" altLang="zh-CN" sz="1600" dirty="0"/>
              <a:t>CRUXEval-O</a:t>
            </a:r>
            <a:r>
              <a:rPr lang="zh-CN" altLang="en-US" sz="1600" dirty="0"/>
              <a:t>、</a:t>
            </a:r>
            <a:r>
              <a:rPr lang="en-US" altLang="zh-CN" sz="1600" dirty="0"/>
              <a:t>CRUXEval-I</a:t>
            </a:r>
            <a:r>
              <a:rPr lang="zh-CN" altLang="en-US" sz="1600" dirty="0"/>
              <a:t>、</a:t>
            </a:r>
            <a:r>
              <a:rPr lang="en-US" altLang="zh-CN" sz="1600" dirty="0"/>
              <a:t>LiveCodeBench  [ pass @ 1 ]</a:t>
            </a:r>
            <a:endParaRPr lang="zh-CN" altLang="en-US" sz="16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6573" y="3729910"/>
            <a:ext cx="11655907" cy="18158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训练情况：</a:t>
            </a:r>
            <a:r>
              <a:rPr lang="en-US" altLang="zh-CN" sz="1600" dirty="0">
                <a:latin typeface="+mn-ea"/>
              </a:rPr>
              <a:t>1.</a:t>
            </a:r>
            <a:r>
              <a:rPr lang="zh-CN" altLang="en-US" sz="1600" dirty="0">
                <a:latin typeface="+mn-ea"/>
              </a:rPr>
              <a:t> 教师模型为 </a:t>
            </a:r>
            <a:r>
              <a:rPr lang="en-US" altLang="zh-CN" sz="1600" b="0" i="0" dirty="0">
                <a:effectLst/>
                <a:latin typeface="+mn-ea"/>
              </a:rPr>
              <a:t>QwQ 32b</a:t>
            </a:r>
            <a:r>
              <a:rPr lang="zh-CN" altLang="en-US" sz="1600" b="0" i="0" dirty="0">
                <a:effectLst/>
                <a:latin typeface="+mn-ea"/>
              </a:rPr>
              <a:t>，对代码与推理路径进行合成</a:t>
            </a:r>
            <a:endParaRPr lang="en-US" altLang="zh-CN" sz="1600" b="0" i="0" dirty="0"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2.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为监督微调与强化学习各生成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20,000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个样本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	  3. </a:t>
            </a:r>
            <a:r>
              <a:rPr lang="zh-CN" altLang="en-US" sz="1600" b="0" i="0" dirty="0">
                <a:effectLst/>
                <a:latin typeface="+mn-ea"/>
              </a:rPr>
              <a:t> </a:t>
            </a:r>
            <a:r>
              <a:rPr lang="en-US" altLang="zh-CN" sz="1600" b="0" i="0" dirty="0">
                <a:effectLst/>
                <a:latin typeface="+mn-ea"/>
              </a:rPr>
              <a:t>8 </a:t>
            </a:r>
            <a:r>
              <a:rPr lang="zh-CN" altLang="en-US" sz="1600" b="0" i="0" dirty="0">
                <a:effectLst/>
                <a:latin typeface="+mn-ea"/>
              </a:rPr>
              <a:t>块 </a:t>
            </a:r>
            <a:r>
              <a:rPr lang="en-US" altLang="zh-CN" sz="1600" b="0" i="0" dirty="0">
                <a:effectLst/>
                <a:latin typeface="+mn-ea"/>
              </a:rPr>
              <a:t>NVIDIA Tesla A800 GPU</a:t>
            </a:r>
            <a:r>
              <a:rPr lang="zh-CN" altLang="en-US" sz="1600" b="0" i="0" dirty="0">
                <a:effectLst/>
                <a:latin typeface="+mn-ea"/>
              </a:rPr>
              <a:t>（单卡显存 </a:t>
            </a:r>
            <a:r>
              <a:rPr lang="en-US" altLang="zh-CN" sz="1600" b="0" i="0" dirty="0">
                <a:effectLst/>
                <a:latin typeface="+mn-ea"/>
              </a:rPr>
              <a:t>80GB</a:t>
            </a:r>
            <a:r>
              <a:rPr lang="zh-CN" altLang="en-US" sz="1600" b="0" i="0" dirty="0">
                <a:effectLst/>
                <a:latin typeface="+mn-ea"/>
              </a:rPr>
              <a:t>）</a:t>
            </a:r>
            <a:endParaRPr lang="en-US" altLang="zh-CN" sz="1600" b="0" i="0" dirty="0"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4.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基座模型为</a:t>
            </a:r>
            <a:r>
              <a:rPr lang="en-US" altLang="zh-CN" sz="1600" b="0" i="0" dirty="0">
                <a:effectLst/>
                <a:latin typeface="+mn-ea"/>
              </a:rPr>
              <a:t> Qwen2.5-Coder-Instruct  7B/14B</a:t>
            </a:r>
            <a:r>
              <a:rPr lang="zh-CN" altLang="en-US" sz="1600" b="0" i="0" dirty="0">
                <a:effectLst/>
                <a:latin typeface="+mn-ea"/>
              </a:rPr>
              <a:t>（额外引入</a:t>
            </a:r>
            <a:r>
              <a:rPr lang="en-US" altLang="zh-CN" sz="1600" b="0" i="0" dirty="0">
                <a:effectLst/>
                <a:latin typeface="+mn-ea"/>
              </a:rPr>
              <a:t> Llama3-Instruct-8B</a:t>
            </a:r>
            <a:r>
              <a:rPr lang="zh-CN" altLang="en-US" sz="1600" b="0" i="0" dirty="0">
                <a:effectLst/>
                <a:latin typeface="+mn-ea"/>
              </a:rPr>
              <a:t>）</a:t>
            </a:r>
            <a:endParaRPr lang="en-US" altLang="zh-CN" sz="1600" b="0" i="0" dirty="0"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5.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指令微调参数情况：</a:t>
            </a:r>
            <a:r>
              <a:rPr lang="zh-CN" altLang="en-US" sz="1600" b="0" i="0" dirty="0">
                <a:effectLst/>
                <a:latin typeface="+mn-ea"/>
              </a:rPr>
              <a:t>基于 </a:t>
            </a:r>
            <a:r>
              <a:rPr lang="en-US" altLang="zh-CN" sz="1600" b="0" i="0" dirty="0">
                <a:effectLst/>
                <a:latin typeface="+mn-ea"/>
              </a:rPr>
              <a:t>LLaMA-Factory </a:t>
            </a:r>
            <a:r>
              <a:rPr lang="zh-CN" altLang="en-US" sz="1600" b="0" i="0" dirty="0">
                <a:effectLst/>
                <a:latin typeface="+mn-ea"/>
              </a:rPr>
              <a:t>框架、采用 </a:t>
            </a:r>
            <a:r>
              <a:rPr lang="en-US" altLang="zh-CN" sz="1600" b="0" i="0" dirty="0">
                <a:effectLst/>
                <a:latin typeface="+mn-ea"/>
              </a:rPr>
              <a:t>1e-5 </a:t>
            </a:r>
            <a:r>
              <a:rPr lang="zh-CN" altLang="en-US" sz="1600" b="0" i="0" dirty="0">
                <a:effectLst/>
                <a:latin typeface="+mn-ea"/>
              </a:rPr>
              <a:t>的学习率训练 </a:t>
            </a:r>
            <a:r>
              <a:rPr lang="en-US" altLang="zh-CN" sz="1600" b="0" i="0" dirty="0">
                <a:effectLst/>
                <a:latin typeface="+mn-ea"/>
              </a:rPr>
              <a:t>3 </a:t>
            </a:r>
            <a:r>
              <a:rPr lang="zh-CN" altLang="en-US" sz="1600" b="0" i="0" dirty="0">
                <a:effectLst/>
                <a:latin typeface="+mn-ea"/>
              </a:rPr>
              <a:t>个 </a:t>
            </a:r>
            <a:r>
              <a:rPr lang="en-US" altLang="zh-CN" sz="1600" b="0" i="0" dirty="0">
                <a:effectLst/>
                <a:latin typeface="+mn-ea"/>
              </a:rPr>
              <a:t>epoch</a:t>
            </a:r>
            <a:endParaRPr lang="en-US" altLang="zh-CN" sz="1600" b="0" i="0" dirty="0"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6.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强化学习阶段：通过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verl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框架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实现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GRPO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算法 ，设置学习率为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1e-6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，每个提示生成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5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个候选响应，最大响应长度限制为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4,096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个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token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，训练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2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个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epoch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573" y="5770534"/>
            <a:ext cx="11655907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对比工作训练情况设置：</a:t>
            </a:r>
            <a:endParaRPr lang="en-US" altLang="zh-CN" sz="1600" dirty="0">
              <a:latin typeface="+mn-ea"/>
            </a:endParaRPr>
          </a:p>
          <a:p>
            <a:pPr marL="342900" indent="-342900">
              <a:buAutoNum type="arabicPeriod"/>
            </a:pPr>
            <a:r>
              <a:rPr lang="en-US" altLang="zh-CN" sz="1600" b="0" i="0" dirty="0">
                <a:effectLst/>
                <a:latin typeface="+mn-ea"/>
              </a:rPr>
              <a:t>SEMCODER</a:t>
            </a:r>
            <a:r>
              <a:rPr lang="zh-CN" altLang="en-US" sz="1600" b="0" i="0" dirty="0">
                <a:effectLst/>
                <a:latin typeface="+mn-ea"/>
              </a:rPr>
              <a:t>基于 </a:t>
            </a:r>
            <a:r>
              <a:rPr lang="en-US" altLang="zh-CN" sz="1600" b="0" i="0" dirty="0">
                <a:effectLst/>
                <a:latin typeface="+mn-ea"/>
              </a:rPr>
              <a:t>DeepSeekCoder-6.7B </a:t>
            </a:r>
            <a:r>
              <a:rPr lang="zh-CN" altLang="en-US" sz="1600" b="0" i="0" dirty="0">
                <a:effectLst/>
                <a:latin typeface="+mn-ea"/>
              </a:rPr>
              <a:t>，在约 </a:t>
            </a:r>
            <a:r>
              <a:rPr lang="en-US" altLang="zh-CN" sz="1600" b="0" i="0" dirty="0">
                <a:effectLst/>
                <a:latin typeface="+mn-ea"/>
              </a:rPr>
              <a:t>23,000 </a:t>
            </a:r>
            <a:r>
              <a:rPr lang="zh-CN" altLang="en-US" sz="1600" b="0" i="0" dirty="0">
                <a:effectLst/>
                <a:latin typeface="+mn-ea"/>
              </a:rPr>
              <a:t>个样本上完成微调</a:t>
            </a:r>
            <a:endParaRPr lang="en-US" altLang="zh-CN" sz="1600" b="0" i="0" dirty="0">
              <a:effectLst/>
              <a:latin typeface="+mn-ea"/>
            </a:endParaRPr>
          </a:p>
          <a:p>
            <a:pPr marL="342900" indent="-342900">
              <a:buAutoNum type="arabicPeriod"/>
            </a:pPr>
            <a:r>
              <a:rPr lang="en-US" altLang="zh-CN" sz="1600" b="0" i="0" dirty="0">
                <a:effectLst/>
                <a:latin typeface="+mn-ea"/>
              </a:rPr>
              <a:t>CODEI/O </a:t>
            </a:r>
            <a:r>
              <a:rPr lang="zh-CN" altLang="en-US" sz="1600" b="0" i="0" dirty="0">
                <a:effectLst/>
                <a:latin typeface="+mn-ea"/>
              </a:rPr>
              <a:t>则基于多个 </a:t>
            </a:r>
            <a:r>
              <a:rPr lang="en-US" altLang="zh-CN" sz="1600" b="0" i="0" dirty="0">
                <a:effectLst/>
                <a:latin typeface="+mn-ea"/>
              </a:rPr>
              <a:t>LLM </a:t>
            </a:r>
            <a:r>
              <a:rPr lang="zh-CN" altLang="en-US" sz="1600" b="0" i="0" dirty="0">
                <a:effectLst/>
                <a:latin typeface="+mn-ea"/>
              </a:rPr>
              <a:t>构建，其基础模型在规模更大（约 </a:t>
            </a:r>
            <a:r>
              <a:rPr lang="en-US" altLang="zh-CN" sz="1600" b="0" i="0" dirty="0">
                <a:effectLst/>
                <a:latin typeface="+mn-ea"/>
              </a:rPr>
              <a:t>350 </a:t>
            </a:r>
            <a:r>
              <a:rPr lang="zh-CN" altLang="en-US" sz="1600" b="0" i="0" dirty="0">
                <a:effectLst/>
                <a:latin typeface="+mn-ea"/>
              </a:rPr>
              <a:t>万个样本）的数据集上进行微调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573" y="189385"/>
            <a:ext cx="11655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CodeReasoner: Enhancing the Code Reasoning Ability with Reinforcement Learning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 2025.07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6573" y="808918"/>
            <a:ext cx="11655907" cy="10772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/>
              <a:t>方法论：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数据集构建和两阶段训练。</a:t>
            </a:r>
            <a:endParaRPr lang="en-US" altLang="zh-CN" sz="1600" b="0" i="0" dirty="0">
              <a:solidFill>
                <a:srgbClr val="000000"/>
              </a:solidFill>
              <a:effectLst/>
              <a:latin typeface="Lucida Grande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Lucida Grande"/>
              </a:rPr>
              <a:t>	1.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首先，引入了一种构建数据集的方法，该方法专注于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Lucida Grande"/>
              </a:rPr>
              <a:t>Python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程序的核心执行逻辑。</a:t>
            </a:r>
            <a:endParaRPr lang="en-US" altLang="zh-CN" sz="1600" b="0" i="0" dirty="0">
              <a:solidFill>
                <a:srgbClr val="000000"/>
              </a:solidFill>
              <a:effectLst/>
              <a:latin typeface="Lucida Grande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Lucida Grande"/>
              </a:rPr>
              <a:t>	2.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其次，应用指令调优来注入从强大的教师模型中提取的执行特定知识。</a:t>
            </a:r>
            <a:endParaRPr lang="en-US" altLang="zh-CN" sz="1600" b="0" i="0" dirty="0">
              <a:solidFill>
                <a:srgbClr val="000000"/>
              </a:solidFill>
              <a:effectLst/>
              <a:latin typeface="Lucida Grande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Lucida Grande"/>
              </a:rPr>
              <a:t>	3.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然后，在微调后的模型之上，通过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Lucida Grande"/>
              </a:rPr>
              <a:t>GRPO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强化学习来增强推理和泛化能力。</a:t>
            </a:r>
            <a:endParaRPr lang="zh-CN" altLang="en-US" sz="1600" dirty="0"/>
          </a:p>
        </p:txBody>
      </p:sp>
      <p:sp>
        <p:nvSpPr>
          <p:cNvPr id="6" name="文本框 5"/>
          <p:cNvSpPr txBox="1"/>
          <p:nvPr/>
        </p:nvSpPr>
        <p:spPr>
          <a:xfrm>
            <a:off x="176573" y="1936282"/>
            <a:ext cx="11655907" cy="3385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/>
              <a:t>测试集：</a:t>
            </a:r>
            <a:r>
              <a:rPr lang="en-US" altLang="zh-CN" sz="1600" dirty="0"/>
              <a:t>CRUXEval-O</a:t>
            </a:r>
            <a:r>
              <a:rPr lang="zh-CN" altLang="en-US" sz="1600" dirty="0"/>
              <a:t>、</a:t>
            </a:r>
            <a:r>
              <a:rPr lang="en-US" altLang="zh-CN" sz="1600" dirty="0"/>
              <a:t>CRUXEval-I</a:t>
            </a:r>
            <a:r>
              <a:rPr lang="zh-CN" altLang="en-US" sz="1600" dirty="0"/>
              <a:t>、</a:t>
            </a:r>
            <a:r>
              <a:rPr lang="en-US" altLang="zh-CN" sz="1600" dirty="0"/>
              <a:t>LiveCodeBench  [ pass @ 1 ]</a:t>
            </a:r>
            <a:endParaRPr lang="zh-CN" altLang="en-US" sz="16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6573" y="2387489"/>
            <a:ext cx="11655907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训练情况：</a:t>
            </a:r>
            <a:r>
              <a:rPr lang="en-US" altLang="zh-CN" sz="1600" dirty="0">
                <a:latin typeface="+mn-ea"/>
              </a:rPr>
              <a:t>1.</a:t>
            </a:r>
            <a:r>
              <a:rPr lang="zh-CN" altLang="en-US" sz="1600" dirty="0">
                <a:latin typeface="+mn-ea"/>
              </a:rPr>
              <a:t> 教师模型为 </a:t>
            </a:r>
            <a:r>
              <a:rPr lang="en-US" altLang="zh-CN" sz="1600" b="0" i="0" dirty="0">
                <a:effectLst/>
                <a:latin typeface="+mn-ea"/>
              </a:rPr>
              <a:t>QwQ 32b</a:t>
            </a:r>
            <a:r>
              <a:rPr lang="zh-CN" altLang="en-US" sz="1600" b="0" i="0" dirty="0">
                <a:effectLst/>
                <a:latin typeface="+mn-ea"/>
              </a:rPr>
              <a:t>，对代码与推理路径进行合成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2.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基座模型为</a:t>
            </a:r>
            <a:r>
              <a:rPr lang="en-US" altLang="zh-CN" sz="1600" b="0" i="0" dirty="0">
                <a:effectLst/>
                <a:latin typeface="+mn-ea"/>
              </a:rPr>
              <a:t> Qwen2.5-Coder-Instruct  7B/14B</a:t>
            </a:r>
            <a:r>
              <a:rPr lang="zh-CN" altLang="en-US" sz="1600" b="0" i="0" dirty="0">
                <a:effectLst/>
                <a:latin typeface="+mn-ea"/>
              </a:rPr>
              <a:t>（额外引入</a:t>
            </a:r>
            <a:r>
              <a:rPr lang="en-US" altLang="zh-CN" sz="1600" b="0" i="0" dirty="0">
                <a:effectLst/>
                <a:latin typeface="+mn-ea"/>
              </a:rPr>
              <a:t> Llama3-Instruct-8B</a:t>
            </a:r>
            <a:r>
              <a:rPr lang="zh-CN" altLang="en-US" sz="1600" b="0" i="0" dirty="0">
                <a:effectLst/>
                <a:latin typeface="+mn-ea"/>
              </a:rPr>
              <a:t>）</a:t>
            </a:r>
            <a:endParaRPr lang="en-US" altLang="zh-CN" sz="1600" b="0" i="0" dirty="0"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3.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指令微调参数情况：</a:t>
            </a:r>
            <a:r>
              <a:rPr lang="zh-CN" altLang="en-US" sz="1600" b="0" i="0" dirty="0">
                <a:effectLst/>
                <a:latin typeface="+mn-ea"/>
              </a:rPr>
              <a:t>基于 </a:t>
            </a:r>
            <a:r>
              <a:rPr lang="en-US" altLang="zh-CN" sz="1600" b="0" i="0" dirty="0">
                <a:effectLst/>
                <a:latin typeface="+mn-ea"/>
              </a:rPr>
              <a:t>LLaMA-Factory </a:t>
            </a:r>
            <a:r>
              <a:rPr lang="zh-CN" altLang="en-US" sz="1600" b="0" i="0" dirty="0">
                <a:effectLst/>
                <a:latin typeface="+mn-ea"/>
              </a:rPr>
              <a:t>框架、采用 </a:t>
            </a:r>
            <a:r>
              <a:rPr lang="en-US" altLang="zh-CN" sz="1600" b="0" i="0" dirty="0">
                <a:effectLst/>
                <a:latin typeface="+mn-ea"/>
              </a:rPr>
              <a:t>1e-5 </a:t>
            </a:r>
            <a:r>
              <a:rPr lang="zh-CN" altLang="en-US" sz="1600" b="0" i="0" dirty="0">
                <a:effectLst/>
                <a:latin typeface="+mn-ea"/>
              </a:rPr>
              <a:t>的学习率训练 </a:t>
            </a:r>
            <a:r>
              <a:rPr lang="en-US" altLang="zh-CN" sz="1600" b="0" i="0" dirty="0">
                <a:effectLst/>
                <a:latin typeface="+mn-ea"/>
              </a:rPr>
              <a:t>3 </a:t>
            </a:r>
            <a:r>
              <a:rPr lang="zh-CN" altLang="en-US" sz="1600" b="0" i="0" dirty="0">
                <a:effectLst/>
                <a:latin typeface="+mn-ea"/>
              </a:rPr>
              <a:t>个 </a:t>
            </a:r>
            <a:r>
              <a:rPr lang="en-US" altLang="zh-CN" sz="1600" b="0" i="0" dirty="0">
                <a:effectLst/>
                <a:latin typeface="+mn-ea"/>
              </a:rPr>
              <a:t>epoch</a:t>
            </a:r>
            <a:endParaRPr lang="en-US" altLang="zh-CN" sz="1600" b="0" i="0" dirty="0">
              <a:effectLst/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8" y="3353281"/>
            <a:ext cx="7371957" cy="349836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76573" y="3429000"/>
            <a:ext cx="60949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</a:rPr>
              <a:t>实验评估：</a:t>
            </a:r>
            <a:endParaRPr lang="zh-CN" altLang="en-US" sz="1600" dirty="0"/>
          </a:p>
        </p:txBody>
      </p:sp>
      <p:sp>
        <p:nvSpPr>
          <p:cNvPr id="8" name="文本框 7"/>
          <p:cNvSpPr txBox="1"/>
          <p:nvPr/>
        </p:nvSpPr>
        <p:spPr>
          <a:xfrm>
            <a:off x="6096000" y="188595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https://github.com/lingxiaotang/CodeReasoner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573" y="189385"/>
            <a:ext cx="11655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Code Execution as Grounded Supervision for LLM Reasoning  </a:t>
            </a:r>
            <a:r>
              <a:rPr lang="en-US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EMNLP 2025.06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6572" y="808918"/>
            <a:ext cx="11655907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方法论：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数据集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cot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构建和微调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1.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利用程序执行的确定性调用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Lucida Grande"/>
              </a:rPr>
              <a:t>AI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来生成高质量的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Lucida Grande"/>
              </a:rPr>
              <a:t>CoT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Lucida Grande"/>
              </a:rPr>
              <a:t>监督数据集</a:t>
            </a:r>
            <a:endParaRPr lang="en-US" altLang="zh-CN" sz="1600" b="0" i="0" dirty="0">
              <a:solidFill>
                <a:srgbClr val="000000"/>
              </a:solidFill>
              <a:effectLst/>
              <a:latin typeface="Lucida Grande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普通微调</a:t>
            </a:r>
            <a:endParaRPr lang="zh-CN" altLang="en-US" sz="16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6572" y="1812899"/>
            <a:ext cx="11655907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训练集：  </a:t>
            </a:r>
            <a:r>
              <a:rPr lang="en-US" altLang="zh-CN" sz="1600" dirty="0">
                <a:latin typeface="+mn-ea"/>
              </a:rPr>
              <a:t>1. </a:t>
            </a:r>
            <a:r>
              <a:rPr lang="en-US" altLang="zh-CN" sz="1600" b="0" i="0" dirty="0">
                <a:effectLst/>
                <a:latin typeface="+mn-ea"/>
              </a:rPr>
              <a:t>PyEdu-R</a:t>
            </a:r>
            <a:r>
              <a:rPr lang="zh-CN" altLang="en-US" sz="1600" b="0" i="0" dirty="0">
                <a:effectLst/>
                <a:latin typeface="+mn-ea"/>
              </a:rPr>
              <a:t>数据集作为原始训练数据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	2. </a:t>
            </a:r>
            <a:r>
              <a:rPr lang="zh-CN" altLang="en-US" sz="1600" dirty="0">
                <a:latin typeface="+mn-ea"/>
              </a:rPr>
              <a:t>利用名为</a:t>
            </a:r>
            <a:r>
              <a:rPr lang="en-US" altLang="zh-CN" sz="1600" dirty="0">
                <a:latin typeface="+mn-ea"/>
              </a:rPr>
              <a:t>snoop</a:t>
            </a:r>
            <a:r>
              <a:rPr lang="zh-CN" altLang="en-US" sz="1600" dirty="0">
                <a:latin typeface="+mn-ea"/>
              </a:rPr>
              <a:t>的</a:t>
            </a:r>
            <a:r>
              <a:rPr lang="en-US" altLang="zh-CN" sz="1600" dirty="0">
                <a:latin typeface="+mn-ea"/>
              </a:rPr>
              <a:t>python</a:t>
            </a:r>
            <a:r>
              <a:rPr lang="zh-CN" altLang="en-US" sz="1600" dirty="0">
                <a:latin typeface="+mn-ea"/>
              </a:rPr>
              <a:t>调试工具作为执行轨迹捕获，返回：已执行代码及局部变量值的更新情况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3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调用大模型（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Qwen3-32B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）模拟人类解题过程生产逐步推理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cot</a:t>
            </a:r>
            <a:endParaRPr lang="zh-CN" altLang="en-US" sz="1600" b="0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6572" y="2816880"/>
            <a:ext cx="11655907" cy="3371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测试集：</a:t>
            </a:r>
            <a:r>
              <a:rPr lang="en-US" altLang="zh-CN" sz="1600" dirty="0">
                <a:latin typeface="+mn-ea"/>
              </a:rPr>
              <a:t>LiveBench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 MATH500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 BBH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 </a:t>
            </a:r>
            <a:r>
              <a:rPr lang="en-US" altLang="zh-CN" sz="1600" b="0" i="0" dirty="0" err="1">
                <a:effectLst/>
                <a:latin typeface="+mn-ea"/>
              </a:rPr>
              <a:t>AGIEval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 GPQA</a:t>
            </a:r>
            <a:endParaRPr lang="zh-CN" altLang="en-US" sz="1600" b="0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6572" y="3328418"/>
            <a:ext cx="11655907" cy="3385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训练情况：对两个模型进行有监督微调（</a:t>
            </a:r>
            <a:r>
              <a:rPr lang="en-US" altLang="zh-CN" sz="1600" dirty="0">
                <a:latin typeface="+mn-ea"/>
              </a:rPr>
              <a:t>SFT</a:t>
            </a:r>
            <a:r>
              <a:rPr lang="zh-CN" altLang="en-US" sz="1600" dirty="0">
                <a:latin typeface="+mn-ea"/>
              </a:rPr>
              <a:t>）：</a:t>
            </a:r>
            <a:r>
              <a:rPr lang="en-US" altLang="zh-CN" sz="1600" dirty="0">
                <a:latin typeface="+mn-ea"/>
              </a:rPr>
              <a:t>Qwen3-4B </a:t>
            </a:r>
            <a:r>
              <a:rPr lang="zh-CN" altLang="en-US" sz="1600" dirty="0">
                <a:latin typeface="+mn-ea"/>
              </a:rPr>
              <a:t>和 </a:t>
            </a:r>
            <a:r>
              <a:rPr lang="en-US" altLang="zh-CN" sz="1600" dirty="0">
                <a:latin typeface="+mn-ea"/>
              </a:rPr>
              <a:t>Qwen3-8B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6572" y="3839956"/>
            <a:ext cx="60949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</a:rPr>
              <a:t>实验评估：</a:t>
            </a:r>
            <a:endParaRPr lang="zh-CN" alt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9098" y="4117286"/>
            <a:ext cx="6520618" cy="187649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193927"/>
            <a:ext cx="6194797" cy="1784441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384276" y="6049082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latin typeface="+mn-ea"/>
              </a:rPr>
              <a:t>Qwen3-</a:t>
            </a:r>
            <a:r>
              <a:rPr lang="en-US" altLang="zh-CN" dirty="0"/>
              <a:t>4B</a:t>
            </a:r>
            <a:endParaRPr lang="en-US" altLang="zh-CN" dirty="0"/>
          </a:p>
        </p:txBody>
      </p:sp>
      <p:sp>
        <p:nvSpPr>
          <p:cNvPr id="15" name="文本框 14"/>
          <p:cNvSpPr txBox="1"/>
          <p:nvPr/>
        </p:nvSpPr>
        <p:spPr>
          <a:xfrm>
            <a:off x="9088825" y="6049082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latin typeface="+mn-ea"/>
              </a:rPr>
              <a:t>Qwen3-</a:t>
            </a:r>
            <a:r>
              <a:rPr lang="en-US" altLang="zh-CN" dirty="0"/>
              <a:t>8B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573" y="189385"/>
            <a:ext cx="11655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CN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CodeI/O: Condensing Reasoning Patterns via Code Input-Output Prediction </a:t>
            </a:r>
            <a:r>
              <a:rPr lang="en-US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ICML 2025.02</a:t>
            </a:r>
            <a:endParaRPr lang="en-US" altLang="zh-C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6573" y="1237740"/>
            <a:ext cx="11655907" cy="11628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方法论：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数据集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构建与多轮修正的思维链构建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1.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从多个平台收集代码数据，再由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转换成统一格式；通过执行代码生成输入输出对；再用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生产预测任务的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COT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 </a:t>
            </a:r>
            <a:r>
              <a:rPr lang="zh-CN" altLang="en-US" sz="1600" b="0" i="0" dirty="0">
                <a:effectLst/>
                <a:latin typeface="+mn-ea"/>
              </a:rPr>
              <a:t>对每个预测结果进行验证，并通过多轮修正进一步优化思维链</a:t>
            </a:r>
            <a:endParaRPr lang="zh-CN" altLang="en-US" sz="16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6575" y="2698784"/>
            <a:ext cx="11655907" cy="7934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训练集：  </a:t>
            </a:r>
            <a:r>
              <a:rPr lang="en-US" altLang="zh-CN" sz="1600" dirty="0">
                <a:latin typeface="+mn-ea"/>
              </a:rPr>
              <a:t>1.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从多个平台收集代码数据，再由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转换成统一格式；通过执行代码生成输入输出对；再用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AI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生产预测任务的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COT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主要为函数类片段，一共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350w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条数据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6574" y="3790496"/>
            <a:ext cx="11655907" cy="4241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测试集：</a:t>
            </a:r>
            <a:r>
              <a:rPr lang="en-US" altLang="zh-CN" sz="1600" b="0" i="0" dirty="0">
                <a:effectLst/>
                <a:latin typeface="+mn-ea"/>
              </a:rPr>
              <a:t>DROP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 err="1">
                <a:effectLst/>
                <a:latin typeface="+mn-ea"/>
              </a:rPr>
              <a:t>WinoGrande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GSM8K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MATH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MMLU-STEM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BBH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GPQA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 err="1">
                <a:effectLst/>
                <a:latin typeface="+mn-ea"/>
              </a:rPr>
              <a:t>CruxEval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 err="1">
                <a:effectLst/>
                <a:latin typeface="+mn-ea"/>
              </a:rPr>
              <a:t>ZebraGrid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 err="1">
                <a:effectLst/>
                <a:latin typeface="+mn-ea"/>
              </a:rPr>
              <a:t>LiveBench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 err="1">
                <a:effectLst/>
                <a:latin typeface="+mn-ea"/>
              </a:rPr>
              <a:t>KorBench</a:t>
            </a:r>
            <a:endParaRPr lang="zh-CN" altLang="en-US" sz="1600" b="0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6574" y="4512875"/>
            <a:ext cx="11655907" cy="11628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训练情况：</a:t>
            </a:r>
            <a:r>
              <a:rPr lang="en-US" altLang="zh-CN" sz="1600" dirty="0">
                <a:latin typeface="+mn-ea"/>
              </a:rPr>
              <a:t>1. </a:t>
            </a:r>
            <a:r>
              <a:rPr lang="zh-CN" altLang="en-US" sz="1600" dirty="0">
                <a:latin typeface="+mn-ea"/>
              </a:rPr>
              <a:t>对</a:t>
            </a:r>
            <a:r>
              <a:rPr lang="en-US" altLang="zh-CN" sz="1600" b="0" i="0" dirty="0" err="1">
                <a:effectLst/>
                <a:latin typeface="+mn-ea"/>
              </a:rPr>
              <a:t>Qwen</a:t>
            </a:r>
            <a:r>
              <a:rPr lang="en-US" altLang="zh-CN" sz="1600" b="0" i="0" dirty="0">
                <a:effectLst/>
                <a:latin typeface="+mn-ea"/>
              </a:rPr>
              <a:t> 2.5 7B Coder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 err="1">
                <a:effectLst/>
                <a:latin typeface="+mn-ea"/>
              </a:rPr>
              <a:t>Deepseek</a:t>
            </a:r>
            <a:r>
              <a:rPr lang="en-US" altLang="zh-CN" sz="1600" b="0" i="0" dirty="0">
                <a:effectLst/>
                <a:latin typeface="+mn-ea"/>
              </a:rPr>
              <a:t> v2 Lite Coder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LLaMA 3.1 8B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Gemma 2 27B</a:t>
            </a:r>
            <a:r>
              <a:rPr lang="zh-CN" altLang="en-US" sz="1600" dirty="0">
                <a:latin typeface="+mn-ea"/>
              </a:rPr>
              <a:t>进行微调训练</a:t>
            </a: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2.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单独“</a:t>
            </a:r>
            <a:r>
              <a:rPr lang="zh-CN" altLang="en-US" sz="1600" b="0" i="0" dirty="0">
                <a:effectLst/>
                <a:latin typeface="+mn-ea"/>
              </a:rPr>
              <a:t>内部指令微调数据集”，约 </a:t>
            </a:r>
            <a:r>
              <a:rPr lang="en-US" altLang="zh-CN" sz="1600" b="0" i="0" dirty="0">
                <a:effectLst/>
                <a:latin typeface="+mn-ea"/>
              </a:rPr>
              <a:t>118 </a:t>
            </a:r>
            <a:r>
              <a:rPr lang="zh-CN" altLang="en-US" sz="1600" b="0" i="0" dirty="0">
                <a:effectLst/>
                <a:latin typeface="+mn-ea"/>
              </a:rPr>
              <a:t>万个样本，覆盖多个领域。可使模型有效遵循各类指令，来适应下游任务。</a:t>
            </a:r>
            <a:endParaRPr lang="en-US" altLang="zh-CN" sz="1600" b="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3. </a:t>
            </a:r>
            <a:r>
              <a:rPr lang="zh-CN" altLang="en-US" sz="1600" b="0" i="0" dirty="0">
                <a:effectLst/>
                <a:latin typeface="+mn-ea"/>
              </a:rPr>
              <a:t>两阶段训练策略：第一阶段基于 </a:t>
            </a:r>
            <a:r>
              <a:rPr lang="en-US" altLang="zh-CN" sz="1600" b="0" i="0" dirty="0">
                <a:effectLst/>
                <a:latin typeface="+mn-ea"/>
              </a:rPr>
              <a:t>CODEI/O </a:t>
            </a:r>
            <a:r>
              <a:rPr lang="zh-CN" altLang="en-US" sz="1600" b="0" i="0" dirty="0">
                <a:effectLst/>
                <a:latin typeface="+mn-ea"/>
              </a:rPr>
              <a:t>或 </a:t>
            </a:r>
            <a:r>
              <a:rPr lang="en-US" altLang="zh-CN" sz="1600" b="0" i="0" dirty="0">
                <a:effectLst/>
                <a:latin typeface="+mn-ea"/>
              </a:rPr>
              <a:t>CODEI/O++ </a:t>
            </a:r>
            <a:r>
              <a:rPr lang="zh-CN" altLang="en-US" sz="1600" b="0" i="0" dirty="0">
                <a:effectLst/>
                <a:latin typeface="+mn-ea"/>
              </a:rPr>
              <a:t>数据集进行训练，第二阶段进行通用指令微调。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573" y="189385"/>
            <a:ext cx="11655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CN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CodeI/O: Condensing Reasoning Patterns via Code Input-Output Prediction </a:t>
            </a:r>
            <a:r>
              <a:rPr lang="en-US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ICML 2025.02</a:t>
            </a:r>
            <a:endParaRPr lang="en-US" altLang="zh-C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4946" y="777386"/>
            <a:ext cx="1122506" cy="4241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实验评估：</a:t>
            </a:r>
            <a:endParaRPr lang="zh-CN" altLang="en-US" sz="1600" dirty="0">
              <a:latin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4190" y="777240"/>
            <a:ext cx="5976620" cy="58153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573" y="189385"/>
            <a:ext cx="11655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zh-CN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Semcoder: Training code language models with comprehensive semantics reasoning</a:t>
            </a:r>
            <a:r>
              <a:rPr lang="en-US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NeurIPS 2024</a:t>
            </a:r>
            <a:endParaRPr lang="en-US" altLang="zh-C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6570" y="911905"/>
            <a:ext cx="11761078" cy="11628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方法论：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+mn-ea"/>
              </a:rPr>
              <a:t>数据集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+mn-ea"/>
              </a:rPr>
              <a:t>PYX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构建和训练方案</a:t>
            </a:r>
            <a:endParaRPr lang="en-US" altLang="zh-CN" sz="1600" b="0" i="0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1. </a:t>
            </a:r>
            <a:r>
              <a:rPr lang="zh-CN" altLang="en-US" sz="1600" b="0" i="0" dirty="0">
                <a:effectLst/>
                <a:latin typeface="+mn-ea"/>
              </a:rPr>
              <a:t>仅使用可执行数据进行训练；先将代码解析为抽象语法树，再采样子树作为可解析的种子启发大模型生产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 </a:t>
            </a:r>
            <a:r>
              <a:rPr lang="zh-CN" altLang="en-US" sz="1600" b="0" i="0" dirty="0">
                <a:effectLst/>
                <a:latin typeface="+mn-ea"/>
              </a:rPr>
              <a:t>“自然语言到代码样本 </a:t>
            </a:r>
            <a:r>
              <a:rPr lang="en-US" altLang="zh-CN" sz="1600" b="0" i="0" dirty="0">
                <a:effectLst/>
                <a:latin typeface="+mn-ea"/>
              </a:rPr>
              <a:t>+ </a:t>
            </a:r>
            <a:r>
              <a:rPr lang="zh-CN" altLang="en-US" sz="1600" b="0" i="0" dirty="0">
                <a:effectLst/>
                <a:latin typeface="+mn-ea"/>
              </a:rPr>
              <a:t>正向独白 </a:t>
            </a:r>
            <a:r>
              <a:rPr lang="en-US" altLang="zh-CN" sz="1600" b="0" i="0" dirty="0">
                <a:effectLst/>
                <a:latin typeface="+mn-ea"/>
              </a:rPr>
              <a:t>+ </a:t>
            </a:r>
            <a:r>
              <a:rPr lang="zh-CN" altLang="en-US" sz="1600" b="0" i="0" dirty="0">
                <a:effectLst/>
                <a:latin typeface="+mn-ea"/>
              </a:rPr>
              <a:t>反向独白” 的联合数据集训练，损失通过代码和独白 </a:t>
            </a:r>
            <a:r>
              <a:rPr lang="en-US" altLang="zh-CN" sz="1600" b="0" i="0" dirty="0">
                <a:effectLst/>
                <a:latin typeface="+mn-ea"/>
              </a:rPr>
              <a:t>token </a:t>
            </a:r>
            <a:r>
              <a:rPr lang="zh-CN" altLang="en-US" sz="1600" b="0" i="0" dirty="0">
                <a:effectLst/>
                <a:latin typeface="+mn-ea"/>
              </a:rPr>
              <a:t>的交叉熵损失累积计算</a:t>
            </a:r>
            <a:endParaRPr lang="zh-CN" altLang="en-US" sz="16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6572" y="2393632"/>
            <a:ext cx="11761078" cy="79335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训练集：  </a:t>
            </a:r>
            <a:r>
              <a:rPr lang="en-US" altLang="zh-CN" sz="1600" dirty="0">
                <a:latin typeface="+mn-ea"/>
              </a:rPr>
              <a:t>1.</a:t>
            </a:r>
            <a:r>
              <a:rPr lang="zh-CN" altLang="en-US" sz="1600" b="0" i="0" dirty="0">
                <a:effectLst/>
                <a:latin typeface="+mn-ea"/>
              </a:rPr>
              <a:t>仅使用可执行数据进行训练；</a:t>
            </a:r>
            <a:endParaRPr lang="en-US" altLang="zh-CN" sz="1600" b="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2.</a:t>
            </a:r>
            <a:r>
              <a:rPr lang="zh-CN" altLang="en-US" sz="1600" b="0" i="0" dirty="0">
                <a:effectLst/>
                <a:latin typeface="+mn-ea"/>
              </a:rPr>
              <a:t>先将真实的代码解析为抽象语法树，再采样子树作为可解析的种子启发大模型生产（</a:t>
            </a:r>
            <a:r>
              <a:rPr lang="en-US" altLang="zh-CN" sz="1600" b="0" i="0" dirty="0">
                <a:effectLst/>
                <a:latin typeface="+mn-ea"/>
              </a:rPr>
              <a:t>GPT-3.5-turbo </a:t>
            </a:r>
            <a:r>
              <a:rPr lang="zh-CN" altLang="en-US" sz="1600" b="0" i="0" dirty="0">
                <a:effectLst/>
                <a:latin typeface="+mn-ea"/>
              </a:rPr>
              <a:t>）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6571" y="3505899"/>
            <a:ext cx="11761078" cy="4241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测试集：</a:t>
            </a:r>
            <a:r>
              <a:rPr lang="en-US" altLang="zh-CN" sz="1600" b="0" i="0" dirty="0">
                <a:effectLst/>
                <a:latin typeface="+mn-ea"/>
              </a:rPr>
              <a:t> </a:t>
            </a:r>
            <a:r>
              <a:rPr lang="en-US" altLang="zh-CN" sz="1600" b="0" i="0" dirty="0" err="1">
                <a:effectLst/>
                <a:latin typeface="+mn-ea"/>
              </a:rPr>
              <a:t>EvalPlus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 LiveCodeBench-Lite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 CRUXEval 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 LiveCodeBench -Exec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dirty="0">
                <a:latin typeface="+mn-ea"/>
              </a:rPr>
              <a:t>MBPP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 err="1">
                <a:latin typeface="+mn-ea"/>
              </a:rPr>
              <a:t>HEval</a:t>
            </a:r>
            <a:endParaRPr lang="zh-CN" altLang="en-US" sz="1600" b="0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6570" y="4248962"/>
            <a:ext cx="11761078" cy="7934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训练情况：</a:t>
            </a:r>
            <a:r>
              <a:rPr lang="en-US" altLang="zh-CN" sz="1600" dirty="0">
                <a:latin typeface="+mn-ea"/>
              </a:rPr>
              <a:t>1. </a:t>
            </a:r>
            <a:r>
              <a:rPr lang="zh-CN" altLang="en-US" sz="1600" dirty="0">
                <a:latin typeface="+mn-ea"/>
              </a:rPr>
              <a:t>对</a:t>
            </a:r>
            <a:r>
              <a:rPr lang="en-US" altLang="zh-CN" sz="1600" b="0" i="0" dirty="0" err="1">
                <a:effectLst/>
                <a:latin typeface="+mn-ea"/>
              </a:rPr>
              <a:t>DeepSeekCoder</a:t>
            </a:r>
            <a:r>
              <a:rPr lang="en-US" altLang="zh-CN" sz="1600" b="0" i="0" dirty="0">
                <a:effectLst/>
                <a:latin typeface="+mn-ea"/>
              </a:rPr>
              <a:t> </a:t>
            </a:r>
            <a:r>
              <a:rPr lang="zh-CN" altLang="en-US" sz="1600" b="0" i="0" dirty="0">
                <a:effectLst/>
                <a:latin typeface="+mn-ea"/>
              </a:rPr>
              <a:t> </a:t>
            </a:r>
            <a:r>
              <a:rPr lang="en-US" altLang="zh-CN" sz="1600" b="0" i="0" dirty="0">
                <a:effectLst/>
                <a:latin typeface="+mn-ea"/>
              </a:rPr>
              <a:t>6</a:t>
            </a:r>
            <a:r>
              <a:rPr lang="en-US" altLang="zh-CN" sz="1600" dirty="0">
                <a:latin typeface="+mn-ea"/>
              </a:rPr>
              <a:t>.</a:t>
            </a:r>
            <a:r>
              <a:rPr lang="en-US" altLang="zh-CN" sz="1600" b="0" i="0" dirty="0">
                <a:effectLst/>
                <a:latin typeface="+mn-ea"/>
              </a:rPr>
              <a:t>7B </a:t>
            </a:r>
            <a:r>
              <a:rPr lang="zh-CN" altLang="en-US" sz="1600" b="0" i="0" dirty="0">
                <a:effectLst/>
                <a:latin typeface="+mn-ea"/>
              </a:rPr>
              <a:t>进行训练</a:t>
            </a:r>
            <a:endParaRPr lang="en-US" altLang="zh-CN" sz="1600" b="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	  2. </a:t>
            </a:r>
            <a:r>
              <a:rPr lang="zh-CN" altLang="en-US" sz="1600" b="0" i="0" dirty="0">
                <a:effectLst/>
                <a:latin typeface="+mn-ea"/>
              </a:rPr>
              <a:t> </a:t>
            </a:r>
            <a:r>
              <a:rPr lang="en-US" altLang="zh-CN" sz="1600" b="0" i="0" dirty="0">
                <a:effectLst/>
                <a:latin typeface="+mn-ea"/>
              </a:rPr>
              <a:t>8 </a:t>
            </a:r>
            <a:r>
              <a:rPr lang="zh-CN" altLang="en-US" sz="1600" b="0" i="0" dirty="0">
                <a:effectLst/>
                <a:latin typeface="+mn-ea"/>
              </a:rPr>
              <a:t>张 </a:t>
            </a:r>
            <a:r>
              <a:rPr lang="en-US" altLang="zh-CN" sz="1600" b="0" i="0" dirty="0">
                <a:effectLst/>
                <a:latin typeface="+mn-ea"/>
              </a:rPr>
              <a:t>NVIDIA RTX A6000 GPU</a:t>
            </a:r>
            <a:r>
              <a:rPr lang="zh-CN" altLang="en-US" sz="1600" b="0" i="0" dirty="0">
                <a:effectLst/>
                <a:latin typeface="+mn-ea"/>
              </a:rPr>
              <a:t>、训练 </a:t>
            </a:r>
            <a:r>
              <a:rPr lang="en-US" altLang="zh-CN" sz="1600" b="0" i="0" dirty="0">
                <a:effectLst/>
                <a:latin typeface="+mn-ea"/>
              </a:rPr>
              <a:t>2 </a:t>
            </a:r>
            <a:r>
              <a:rPr lang="zh-CN" altLang="en-US" sz="1600" b="0" i="0" dirty="0">
                <a:effectLst/>
                <a:latin typeface="+mn-ea"/>
              </a:rPr>
              <a:t>个 </a:t>
            </a:r>
            <a:r>
              <a:rPr lang="en-US" altLang="zh-CN" sz="1600" b="0" i="0" dirty="0">
                <a:effectLst/>
                <a:latin typeface="+mn-ea"/>
              </a:rPr>
              <a:t>epoch</a:t>
            </a:r>
            <a:r>
              <a:rPr lang="zh-CN" altLang="en-US" sz="1600" b="0" i="0" dirty="0">
                <a:effectLst/>
                <a:latin typeface="+mn-ea"/>
              </a:rPr>
              <a:t>、</a:t>
            </a:r>
            <a:r>
              <a:rPr lang="en-US" altLang="zh-CN" sz="1600" b="0" i="0" dirty="0">
                <a:effectLst/>
                <a:latin typeface="+mn-ea"/>
              </a:rPr>
              <a:t>5e-5 </a:t>
            </a:r>
            <a:r>
              <a:rPr lang="zh-CN" altLang="en-US" sz="1600" b="0" i="0" dirty="0">
                <a:effectLst/>
                <a:latin typeface="+mn-ea"/>
              </a:rPr>
              <a:t>的初始学习率</a:t>
            </a:r>
            <a:r>
              <a:rPr lang="zh-CN" altLang="en-US" sz="1600" dirty="0">
                <a:latin typeface="+mn-ea"/>
              </a:rPr>
              <a:t>、</a:t>
            </a:r>
            <a:r>
              <a:rPr lang="zh-CN" altLang="en-US" sz="1600" b="0" i="0" dirty="0">
                <a:effectLst/>
                <a:latin typeface="+mn-ea"/>
              </a:rPr>
              <a:t>余弦衰减策略降至 </a:t>
            </a:r>
            <a:r>
              <a:rPr lang="en-US" altLang="zh-CN" sz="1600" b="0" i="0" dirty="0">
                <a:effectLst/>
                <a:latin typeface="+mn-ea"/>
              </a:rPr>
              <a:t>5e-6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573" y="189385"/>
            <a:ext cx="11655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zh-CN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Semcoder: Training code language models with comprehensive semantics reasoning</a:t>
            </a:r>
            <a:r>
              <a:rPr lang="en-US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NeurIPS 2024</a:t>
            </a:r>
            <a:endParaRPr lang="en-US" altLang="zh-C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6570" y="911905"/>
            <a:ext cx="11761078" cy="4241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实验评估：</a:t>
            </a:r>
            <a:endParaRPr lang="zh-CN" altLang="en-US" sz="1600" dirty="0">
              <a:latin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365" y="911905"/>
            <a:ext cx="9092755" cy="50828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29*505"/>
  <p:tag name="TABLE_ENDDRAG_RECT" val="21*141*929*505"/>
</p:tagLst>
</file>

<file path=ppt/tags/tag2.xml><?xml version="1.0" encoding="utf-8"?>
<p:tagLst xmlns:p="http://schemas.openxmlformats.org/presentationml/2006/main">
  <p:tag name="RESOURCE_RECORD_KEY" val="{&quot;10&quot;:[20179637,20211662,50039266,2156468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4569</Words>
  <Application>WPS 演示</Application>
  <PresentationFormat>宽屏</PresentationFormat>
  <Paragraphs>160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Times New Roman</vt:lpstr>
      <vt:lpstr>Inter</vt:lpstr>
      <vt:lpstr>Segoe Print</vt:lpstr>
      <vt:lpstr>Lucida Grande</vt:lpstr>
      <vt:lpstr>等线</vt:lpstr>
      <vt:lpstr>微软雅黑</vt:lpstr>
      <vt:lpstr>Arial Unicode MS</vt:lpstr>
      <vt:lpstr>等线 Light</vt:lpstr>
      <vt:lpstr>Calibri</vt:lpstr>
      <vt:lpstr>Ink Free</vt:lpstr>
      <vt:lpstr>Lucida Casual Regular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caoye541@gmail.com</dc:creator>
  <cp:lastModifiedBy>曹烨(2021012167)</cp:lastModifiedBy>
  <cp:revision>125</cp:revision>
  <dcterms:created xsi:type="dcterms:W3CDTF">2025-10-01T20:32:00Z</dcterms:created>
  <dcterms:modified xsi:type="dcterms:W3CDTF">2025-12-15T07:36:30Z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A9D8EE090709422594ECCEF0F366ED29_13</vt:lpwstr>
  </property>
  <property fmtid="{D5CDD505-2E9C-101B-9397-08002B2CF9AE}" pid="3" name="KSOProductBuildVer">
    <vt:lpwstr>2052-12.1.0.23542</vt:lpwstr>
  </property>
</Properties>
</file>