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397" r:id="rId2"/>
    <p:sldId id="327" r:id="rId3"/>
    <p:sldId id="368" r:id="rId4"/>
    <p:sldId id="399" r:id="rId5"/>
    <p:sldId id="398" r:id="rId6"/>
    <p:sldId id="400" r:id="rId7"/>
    <p:sldId id="401" r:id="rId8"/>
    <p:sldId id="402" r:id="rId9"/>
    <p:sldId id="403" r:id="rId10"/>
    <p:sldId id="404" r:id="rId11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E5F6"/>
    <a:srgbClr val="FFFFFF"/>
    <a:srgbClr val="FBE3D6"/>
    <a:srgbClr val="F2CFEE"/>
    <a:srgbClr val="FFB7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523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840E2-13A5-46A9-A265-C77FF1EECC77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70871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/>
              <a:t>上周会议纪要：</a:t>
            </a:r>
            <a:r>
              <a:rPr lang="zh-CN" altLang="en-US" sz="3200" dirty="0">
                <a:sym typeface="+mn-ea"/>
              </a:rPr>
              <a:t>2025</a:t>
            </a:r>
            <a:r>
              <a:rPr lang="en-US" altLang="zh-CN" sz="3200" dirty="0">
                <a:sym typeface="+mn-ea"/>
              </a:rPr>
              <a:t>1210</a:t>
            </a:r>
            <a:r>
              <a:rPr lang="zh-CN" altLang="en-US" sz="3200" dirty="0">
                <a:sym typeface="+mn-ea"/>
              </a:rPr>
              <a:t> 会议纪要 </a:t>
            </a:r>
            <a:r>
              <a:rPr lang="en-US" altLang="zh-CN" sz="3200" dirty="0">
                <a:sym typeface="+mn-ea"/>
              </a:rPr>
              <a:t>11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186690" y="1167130"/>
            <a:ext cx="11818620" cy="32771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1. 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完成</a:t>
            </a:r>
            <a:r>
              <a:rPr lang="en-US" altLang="zh-CN" sz="2000" dirty="0" err="1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claude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生产了一批同规模的四类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cot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数据集；完成了服务于推理模型三类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think-response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训练集；扩充数据集规模，目前已经扩展到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4500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，后续预期到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1-2w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条左右是</a:t>
            </a: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2. 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对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Qwen-2.5-32B-Instruct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模型进行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lora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微调和评估，对比结果发现提升幅度更小</a:t>
            </a: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3. 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对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DeepSeek-R1-Distill-7B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和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14B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模型进行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lora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微调和评估，整体表现不错</a:t>
            </a: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ym typeface="+mn-ea"/>
              </a:rPr>
              <a:t>4. [</a:t>
            </a:r>
            <a:r>
              <a:rPr lang="en-US" altLang="zh-CN" sz="2000" dirty="0" err="1">
                <a:sym typeface="+mn-ea"/>
              </a:rPr>
              <a:t>todo</a:t>
            </a:r>
            <a:r>
              <a:rPr lang="en-US" altLang="zh-CN" sz="2000" dirty="0">
                <a:sym typeface="+mn-ea"/>
              </a:rPr>
              <a:t>] </a:t>
            </a:r>
            <a:r>
              <a:rPr lang="zh-CN" altLang="en-US" sz="2000" dirty="0">
                <a:sym typeface="+mn-ea"/>
              </a:rPr>
              <a:t>调研业界最新的论文是调哪个模型，确定模型类型（推理</a:t>
            </a:r>
            <a:r>
              <a:rPr lang="en-US" altLang="zh-CN" sz="2000" dirty="0">
                <a:sym typeface="+mn-ea"/>
              </a:rPr>
              <a:t>/</a:t>
            </a:r>
            <a:r>
              <a:rPr lang="zh-CN" altLang="en-US" sz="2000" dirty="0">
                <a:sym typeface="+mn-ea"/>
              </a:rPr>
              <a:t>非推理）与模型参数</a:t>
            </a: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ym typeface="+mn-ea"/>
              </a:rPr>
              <a:t>5. [</a:t>
            </a:r>
            <a:r>
              <a:rPr lang="en-US" altLang="zh-CN" sz="2000" dirty="0" err="1">
                <a:sym typeface="+mn-ea"/>
              </a:rPr>
              <a:t>todo</a:t>
            </a:r>
            <a:r>
              <a:rPr lang="en-US" altLang="zh-CN" sz="2000" dirty="0">
                <a:sym typeface="+mn-ea"/>
              </a:rPr>
              <a:t>] </a:t>
            </a:r>
            <a:r>
              <a:rPr lang="zh-CN" altLang="en-US" sz="2000" dirty="0">
                <a:sym typeface="+mn-ea"/>
              </a:rPr>
              <a:t>分析</a:t>
            </a:r>
            <a:r>
              <a:rPr lang="en-US" altLang="zh-CN" sz="2000" dirty="0">
                <a:sym typeface="+mn-ea"/>
              </a:rPr>
              <a:t>【qwq-32B</a:t>
            </a:r>
            <a:r>
              <a:rPr lang="zh-CN" altLang="en-US" sz="2000" dirty="0">
                <a:sym typeface="+mn-ea"/>
              </a:rPr>
              <a:t>提升高</a:t>
            </a:r>
            <a:r>
              <a:rPr lang="en-US" altLang="zh-CN" sz="2000" dirty="0">
                <a:sym typeface="+mn-ea"/>
              </a:rPr>
              <a:t>】</a:t>
            </a:r>
            <a:r>
              <a:rPr lang="zh-CN" altLang="en-US" sz="2000" dirty="0">
                <a:sym typeface="+mn-ea"/>
              </a:rPr>
              <a:t>与</a:t>
            </a:r>
            <a:r>
              <a:rPr lang="en-US" altLang="zh-CN" sz="2000" dirty="0">
                <a:sym typeface="+mn-ea"/>
              </a:rPr>
              <a:t>【</a:t>
            </a:r>
            <a:r>
              <a:rPr lang="zh-CN" altLang="en-US" sz="2000" dirty="0">
                <a:sym typeface="+mn-ea"/>
              </a:rPr>
              <a:t>目前提升低</a:t>
            </a:r>
            <a:r>
              <a:rPr lang="en-US" altLang="zh-CN" sz="2000" dirty="0">
                <a:sym typeface="+mn-ea"/>
              </a:rPr>
              <a:t>】</a:t>
            </a:r>
            <a:r>
              <a:rPr lang="zh-CN" altLang="en-US" sz="2000" dirty="0">
                <a:sym typeface="+mn-ea"/>
              </a:rPr>
              <a:t>的差异原因 </a:t>
            </a:r>
            <a:r>
              <a:rPr lang="en-US" altLang="zh-CN" sz="2000" dirty="0">
                <a:sym typeface="+mn-ea"/>
              </a:rPr>
              <a:t>--- P0 ---</a:t>
            </a: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ym typeface="+mn-ea"/>
              </a:rPr>
              <a:t>6. [</a:t>
            </a:r>
            <a:r>
              <a:rPr lang="en-US" altLang="zh-CN" sz="2000" dirty="0" err="1">
                <a:sym typeface="+mn-ea"/>
              </a:rPr>
              <a:t>todo</a:t>
            </a:r>
            <a:r>
              <a:rPr lang="en-US" altLang="zh-CN" sz="2000" dirty="0">
                <a:sym typeface="+mn-ea"/>
              </a:rPr>
              <a:t>] </a:t>
            </a:r>
            <a:r>
              <a:rPr lang="zh-CN" altLang="en-US" sz="2000" dirty="0">
                <a:sym typeface="+mn-ea"/>
              </a:rPr>
              <a:t>分析</a:t>
            </a:r>
            <a:r>
              <a:rPr lang="en-US" altLang="zh-CN" sz="2000" dirty="0">
                <a:sym typeface="+mn-ea"/>
              </a:rPr>
              <a:t>Jung</a:t>
            </a:r>
            <a:r>
              <a:rPr lang="zh-CN" altLang="en-US" sz="2000" dirty="0">
                <a:sym typeface="+mn-ea"/>
              </a:rPr>
              <a:t>他们的工作细节，看有没有对我们有帮助的地方</a:t>
            </a:r>
            <a:endParaRPr lang="zh-CN" altLang="en-US" sz="2000" b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427640" y="83622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/>
              <a:t>本周内容总结</a:t>
            </a:r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97177020"/>
              </p:ext>
            </p:extLst>
          </p:nvPr>
        </p:nvGraphicFramePr>
        <p:xfrm>
          <a:off x="196850" y="668655"/>
          <a:ext cx="11798300" cy="58898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10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87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5351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细节进展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sym typeface="+mn-ea"/>
                        </a:rPr>
                        <a:t>[NEW] 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sym typeface="+mn-ea"/>
                        </a:rPr>
                        <a:t>调研了四篇相关性很强的最新工作，均与后训练微调代码推理有关</a:t>
                      </a:r>
                      <a:endParaRPr lang="en-US" altLang="zh-CN" sz="1800" b="0" dirty="0">
                        <a:solidFill>
                          <a:schemeClr val="tx1"/>
                        </a:solidFill>
                        <a:latin typeface="+mn-ea"/>
                        <a:ea typeface="+mn-ea"/>
                        <a:sym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788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总结与</a:t>
                      </a:r>
                      <a:r>
                        <a:rPr lang="en-US" altLang="zh-CN" sz="18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Todo</a:t>
                      </a:r>
                      <a:endParaRPr lang="en-US" altLang="zh-CN" sz="1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0" indent="-457200">
                        <a:lnSpc>
                          <a:spcPct val="150000"/>
                        </a:lnSpc>
                        <a:buAutoNum type="arabicPeriod"/>
                      </a:pPr>
                      <a:r>
                        <a:rPr lang="zh-CN" altLang="en-US" sz="1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共涉及的训练模型有：</a:t>
                      </a:r>
                      <a:r>
                        <a:rPr lang="en-US" altLang="zh-CN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Qwen2.5-Coder-Instruct  7B</a:t>
                      </a:r>
                      <a:r>
                        <a:rPr lang="zh-CN" altLang="en-US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Qwen2.5-Coder-Instruct  14B</a:t>
                      </a:r>
                      <a:r>
                        <a:rPr lang="zh-CN" altLang="en-US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dirty="0"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Qwen3-4B</a:t>
                      </a:r>
                      <a:r>
                        <a:rPr lang="zh-CN" altLang="en-US" sz="1800" dirty="0"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dirty="0"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Qwen3-8B</a:t>
                      </a:r>
                      <a:r>
                        <a:rPr lang="zh-CN" altLang="en-US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b="0" i="0" dirty="0" err="1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Qwen</a:t>
                      </a:r>
                      <a:r>
                        <a:rPr lang="en-US" altLang="zh-CN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 2.5 7B Coder</a:t>
                      </a:r>
                      <a:r>
                        <a:rPr lang="zh-CN" altLang="en-US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b="0" i="0" dirty="0" err="1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Deepseek</a:t>
                      </a:r>
                      <a:r>
                        <a:rPr lang="en-US" altLang="zh-CN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 v2 Lite Coder</a:t>
                      </a:r>
                      <a:r>
                        <a:rPr lang="zh-CN" altLang="en-US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LLaMA 3.1 8B</a:t>
                      </a:r>
                      <a:r>
                        <a:rPr lang="zh-CN" altLang="en-US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Gemma 2 27B</a:t>
                      </a:r>
                      <a:r>
                        <a:rPr lang="zh-CN" altLang="en-US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b="0" i="0" dirty="0" err="1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DeepSeekCoder</a:t>
                      </a:r>
                      <a:r>
                        <a:rPr lang="en-US" altLang="zh-CN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CN" altLang="en-US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6</a:t>
                      </a:r>
                      <a:r>
                        <a:rPr lang="en-US" altLang="zh-CN" sz="1800" dirty="0"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  <a:r>
                        <a:rPr lang="en-US" altLang="zh-CN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7B </a:t>
                      </a:r>
                    </a:p>
                    <a:p>
                      <a:pPr marL="457200" indent="-457200">
                        <a:lnSpc>
                          <a:spcPct val="150000"/>
                        </a:lnSpc>
                        <a:buAutoNum type="arabicPeriod"/>
                      </a:pPr>
                      <a:r>
                        <a:rPr lang="zh-CN" altLang="en-US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总结为均为</a:t>
                      </a:r>
                      <a:r>
                        <a:rPr lang="en-US" altLang="zh-CN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6-8B</a:t>
                      </a:r>
                      <a:r>
                        <a:rPr lang="zh-CN" altLang="en-US" sz="1800" b="0" i="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的非推理类模型</a:t>
                      </a:r>
                      <a:endParaRPr lang="en-US" altLang="zh-CN" sz="1800" b="0" i="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marL="457200" indent="-457200" algn="l">
                        <a:lnSpc>
                          <a:spcPct val="150000"/>
                        </a:lnSpc>
                        <a:buAutoNum type="arabicPeriod"/>
                      </a:pPr>
                      <a:endParaRPr lang="zh-CN" altLang="en-US" sz="1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839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评价</a:t>
                      </a:r>
                      <a:endParaRPr lang="zh-CN" altLang="en-US" sz="1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0" indent="-4572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endParaRPr lang="zh-CN" altLang="en-US" sz="1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44805" y="302895"/>
            <a:ext cx="105009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400" dirty="0">
                <a:solidFill>
                  <a:schemeClr val="tx1"/>
                </a:solidFill>
              </a:rPr>
              <a:t>进展一：</a:t>
            </a:r>
            <a:r>
              <a:rPr lang="zh-CN" altLang="en-US" sz="2400" dirty="0">
                <a:sym typeface="+mn-ea"/>
              </a:rPr>
              <a:t>后训练微调代码推理类的最新论文的实验评估方案汇总</a:t>
            </a:r>
            <a:endParaRPr lang="en-US" altLang="zh-CN" sz="2400" dirty="0">
              <a:solidFill>
                <a:schemeClr val="tx1"/>
              </a:solidFill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4805" y="1062855"/>
            <a:ext cx="12228195" cy="246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200000"/>
              </a:lnSpc>
              <a:buFontTx/>
              <a:buAutoNum type="arabicPeriod"/>
            </a:pPr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CodeReasoner: Enhancing the Code Reasoning Ability with Reinforcement Learning 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arXiv 2025.07</a:t>
            </a:r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 Execution as Grounded Supervision for LLM Reasoning  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EMNLP 2025.06</a:t>
            </a:r>
          </a:p>
          <a:p>
            <a:pPr marL="457200" indent="-457200">
              <a:lnSpc>
                <a:spcPct val="200000"/>
              </a:lnSpc>
              <a:buFontTx/>
              <a:buAutoNum type="arabicPeriod"/>
            </a:pPr>
            <a:r>
              <a:rPr lang="en-US" altLang="zh-CN" sz="20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CodeI/O: Condensing Reasoning Patterns via Code Input-Output Prediction 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ICML 2025.02</a:t>
            </a:r>
          </a:p>
          <a:p>
            <a:pPr marL="457200" indent="-457200">
              <a:lnSpc>
                <a:spcPct val="200000"/>
              </a:lnSpc>
              <a:buFontTx/>
              <a:buAutoNum type="arabicPeriod"/>
            </a:pPr>
            <a:r>
              <a:rPr lang="en-US" altLang="zh-CN" sz="20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Semcoder: Training code language models with comprehensive semantics reasoning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NeurIPS 2024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65681A-948D-B056-0496-D0F80CCDA0D4}"/>
              </a:ext>
            </a:extLst>
          </p:cNvPr>
          <p:cNvSpPr txBox="1"/>
          <p:nvPr/>
        </p:nvSpPr>
        <p:spPr>
          <a:xfrm>
            <a:off x="344805" y="3716584"/>
            <a:ext cx="12228195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训练模型总结：</a:t>
            </a:r>
            <a:endParaRPr lang="en-US" altLang="zh-C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843100-A42F-2FAF-0873-1DA7978D62CC}"/>
              </a:ext>
            </a:extLst>
          </p:cNvPr>
          <p:cNvSpPr txBox="1"/>
          <p:nvPr/>
        </p:nvSpPr>
        <p:spPr>
          <a:xfrm>
            <a:off x="2297736" y="3823178"/>
            <a:ext cx="8548064" cy="2834430"/>
          </a:xfrm>
          <a:prstGeom prst="rect">
            <a:avLst/>
          </a:prstGeom>
          <a:noFill/>
        </p:spPr>
        <p:txBody>
          <a:bodyPr wrap="square" numCol="2">
            <a:sp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Qwen2.5-Coder-Instruct  7B</a:t>
            </a:r>
          </a:p>
          <a:p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lang="en-US" altLang="zh-CN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Qwen2.5-Coder-Instruct  14B</a:t>
            </a:r>
          </a:p>
          <a:p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Qwen3-4B</a:t>
            </a:r>
          </a:p>
          <a:p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Qwen3-8B</a:t>
            </a:r>
          </a:p>
          <a:p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lang="en-US" altLang="zh-CN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Qwen</a:t>
            </a:r>
            <a:r>
              <a:rPr lang="en-US" altLang="zh-CN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2.5 7B Coder</a:t>
            </a:r>
          </a:p>
          <a:p>
            <a:pPr marL="457200" indent="-457200">
              <a:lnSpc>
                <a:spcPct val="150000"/>
              </a:lnSpc>
              <a:buFontTx/>
              <a:buAutoNum type="arabicPeriod"/>
            </a:pP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lang="en-US" altLang="zh-CN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Deepseek</a:t>
            </a:r>
            <a:r>
              <a:rPr lang="en-US" altLang="zh-CN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v2 Lite Coder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lang="en-US" altLang="zh-CN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LLaMA 3.1 8B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lang="en-US" altLang="zh-CN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Gemma 2 27B</a:t>
            </a:r>
          </a:p>
          <a:p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lang="en-US" altLang="zh-CN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DeepSeekCoder</a:t>
            </a:r>
            <a:r>
              <a:rPr lang="en-US" altLang="zh-CN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CN" altLang="en-US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7B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76573" y="189385"/>
            <a:ext cx="116559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CodeReasoner: Enhancing the Code Reasoning Ability with Reinforcement Learning 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arXiv 2025.07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0601AF6-3E80-4649-81BF-575887790C77}"/>
              </a:ext>
            </a:extLst>
          </p:cNvPr>
          <p:cNvSpPr txBox="1"/>
          <p:nvPr/>
        </p:nvSpPr>
        <p:spPr>
          <a:xfrm>
            <a:off x="176573" y="808918"/>
            <a:ext cx="11655907" cy="107721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方法论：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数据集构建和两阶段训练。</a:t>
            </a:r>
            <a:endParaRPr lang="en-US" altLang="zh-CN" sz="1600" b="0" i="0" dirty="0">
              <a:solidFill>
                <a:srgbClr val="000000"/>
              </a:solidFill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1.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首先，引入了一种构建数据集的方法，该方法专注于 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Python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程序的核心执行逻辑。</a:t>
            </a:r>
            <a:endParaRPr lang="en-US" altLang="zh-CN" sz="1600" b="0" i="0" dirty="0">
              <a:solidFill>
                <a:srgbClr val="000000"/>
              </a:solidFill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2.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其次，应用指令调优来注入从强大的教师模型中提取的执行特定知识。</a:t>
            </a:r>
            <a:endParaRPr lang="en-US" altLang="zh-CN" sz="1600" b="0" i="0" dirty="0">
              <a:solidFill>
                <a:srgbClr val="000000"/>
              </a:solidFill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3.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然后，在微调后的模型之上，通过 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GRPO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强化学习来增强推理和泛化能力。</a:t>
            </a:r>
            <a:endParaRPr lang="zh-CN" altLang="en-US" sz="16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8AB8FE1-0173-4F85-8A04-B7CC1FCFD550}"/>
              </a:ext>
            </a:extLst>
          </p:cNvPr>
          <p:cNvSpPr txBox="1"/>
          <p:nvPr/>
        </p:nvSpPr>
        <p:spPr>
          <a:xfrm>
            <a:off x="176573" y="2110877"/>
            <a:ext cx="11655907" cy="83099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/>
              <a:t>训练集：生成逻辑满足简洁性、全面性、可控性、难度多样性四大核心特征</a:t>
            </a:r>
            <a:endParaRPr lang="en-US" altLang="zh-CN" sz="1600" dirty="0"/>
          </a:p>
          <a:p>
            <a:r>
              <a:rPr lang="en-US" altLang="zh-CN" sz="1600" dirty="0"/>
              <a:t>	</a:t>
            </a:r>
            <a:r>
              <a:rPr lang="zh-CN" altLang="en-US" sz="1600" dirty="0"/>
              <a:t>阶段</a:t>
            </a:r>
            <a:r>
              <a:rPr lang="en-US" altLang="zh-CN" sz="1600" dirty="0"/>
              <a:t>1</a:t>
            </a:r>
            <a:r>
              <a:rPr lang="zh-CN" altLang="en-US" sz="1600" dirty="0"/>
              <a:t>：</a:t>
            </a:r>
            <a:r>
              <a:rPr lang="zh-CN" altLang="en-US" sz="1600" b="0" i="0" dirty="0">
                <a:solidFill>
                  <a:srgbClr val="000000"/>
                </a:solidFill>
                <a:effectLst/>
              </a:rPr>
              <a:t>遍历 </a:t>
            </a:r>
            <a:r>
              <a:rPr lang="en-US" altLang="zh-CN" sz="1600" b="0" i="0" dirty="0">
                <a:solidFill>
                  <a:srgbClr val="000000"/>
                </a:solidFill>
                <a:effectLst/>
              </a:rPr>
              <a:t>Python </a:t>
            </a:r>
            <a:r>
              <a:rPr lang="zh-CN" altLang="en-US" sz="1600" b="0" i="0" dirty="0">
                <a:solidFill>
                  <a:srgbClr val="000000"/>
                </a:solidFill>
                <a:effectLst/>
              </a:rPr>
              <a:t>所有内置类型及关联方法，</a:t>
            </a:r>
            <a:r>
              <a:rPr lang="zh-CN" altLang="en-US" sz="1600" b="0" i="0" dirty="0">
                <a:effectLst/>
              </a:rPr>
              <a:t>实现生成过程的精细化控制，提升数据集多样性与难度层次。</a:t>
            </a:r>
            <a:endParaRPr lang="en-US" altLang="zh-CN" sz="1600" b="0" i="0" dirty="0">
              <a:effectLst/>
            </a:endParaRPr>
          </a:p>
          <a:p>
            <a:r>
              <a:rPr lang="en-US" altLang="zh-CN" sz="1600" dirty="0">
                <a:solidFill>
                  <a:srgbClr val="000000"/>
                </a:solidFill>
              </a:rPr>
              <a:t>	</a:t>
            </a:r>
            <a:r>
              <a:rPr lang="zh-CN" altLang="en-US" sz="1600" dirty="0">
                <a:solidFill>
                  <a:srgbClr val="000000"/>
                </a:solidFill>
              </a:rPr>
              <a:t>阶段</a:t>
            </a:r>
            <a:r>
              <a:rPr lang="en-US" altLang="zh-CN" sz="1600" dirty="0">
                <a:solidFill>
                  <a:srgbClr val="000000"/>
                </a:solidFill>
              </a:rPr>
              <a:t>2</a:t>
            </a:r>
            <a:r>
              <a:rPr lang="zh-CN" altLang="en-US" sz="1600" dirty="0">
                <a:solidFill>
                  <a:srgbClr val="000000"/>
                </a:solidFill>
              </a:rPr>
              <a:t>：</a:t>
            </a:r>
            <a:r>
              <a:rPr lang="zh-CN" altLang="en-US" sz="1600" b="0" i="0" dirty="0">
                <a:effectLst/>
                <a:latin typeface="Inter"/>
              </a:rPr>
              <a:t>执行所有生成的测试用例，舍弃存在运行时错误或输出过长</a:t>
            </a:r>
            <a:endParaRPr lang="zh-CN" altLang="en-US" sz="1600" b="0" i="0" dirty="0">
              <a:solidFill>
                <a:srgbClr val="000000"/>
              </a:solidFill>
              <a:effectLst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67962E-81EF-C6C3-D3C4-C4D03F3EC38E}"/>
              </a:ext>
            </a:extLst>
          </p:cNvPr>
          <p:cNvSpPr txBox="1"/>
          <p:nvPr/>
        </p:nvSpPr>
        <p:spPr>
          <a:xfrm>
            <a:off x="176573" y="3166615"/>
            <a:ext cx="11655907" cy="33855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/>
              <a:t>测试集：</a:t>
            </a:r>
            <a:r>
              <a:rPr lang="en-US" altLang="zh-CN" sz="1600" dirty="0"/>
              <a:t>CRUXEval-O</a:t>
            </a:r>
            <a:r>
              <a:rPr lang="zh-CN" altLang="en-US" sz="1600" dirty="0"/>
              <a:t>、</a:t>
            </a:r>
            <a:r>
              <a:rPr lang="en-US" altLang="zh-CN" sz="1600" dirty="0"/>
              <a:t>CRUXEval-I</a:t>
            </a:r>
            <a:r>
              <a:rPr lang="zh-CN" altLang="en-US" sz="1600" dirty="0"/>
              <a:t>、</a:t>
            </a:r>
            <a:r>
              <a:rPr lang="en-US" altLang="zh-CN" sz="1600" dirty="0"/>
              <a:t>LiveCodeBench  [ pass @ 1 ]</a:t>
            </a:r>
            <a:endParaRPr lang="zh-CN" altLang="en-US" sz="1600" b="0" i="0" dirty="0">
              <a:solidFill>
                <a:srgbClr val="000000"/>
              </a:solidFill>
              <a:effectLst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1153AE-6582-D8D8-3108-AB146F758002}"/>
              </a:ext>
            </a:extLst>
          </p:cNvPr>
          <p:cNvSpPr txBox="1"/>
          <p:nvPr/>
        </p:nvSpPr>
        <p:spPr>
          <a:xfrm>
            <a:off x="176573" y="3729910"/>
            <a:ext cx="11655907" cy="181588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训练情况：</a:t>
            </a:r>
            <a:r>
              <a:rPr lang="en-US" altLang="zh-CN" sz="1600" dirty="0">
                <a:latin typeface="+mn-ea"/>
              </a:rPr>
              <a:t>1.</a:t>
            </a:r>
            <a:r>
              <a:rPr lang="zh-CN" altLang="en-US" sz="1600" dirty="0">
                <a:latin typeface="+mn-ea"/>
              </a:rPr>
              <a:t> 教师模型为 </a:t>
            </a:r>
            <a:r>
              <a:rPr lang="en-US" altLang="zh-CN" sz="1600" b="0" i="0" dirty="0">
                <a:effectLst/>
                <a:latin typeface="+mn-ea"/>
              </a:rPr>
              <a:t>QwQ 32b</a:t>
            </a:r>
            <a:r>
              <a:rPr lang="zh-CN" altLang="en-US" sz="1600" b="0" i="0" dirty="0">
                <a:effectLst/>
                <a:latin typeface="+mn-ea"/>
              </a:rPr>
              <a:t>，对代码与推理路径进行合成</a:t>
            </a:r>
            <a:endParaRPr lang="en-US" altLang="zh-CN" sz="1600" b="0" i="0" dirty="0"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2.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为监督微调与强化学习各生成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20,000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个样本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  <a:p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	  3. </a:t>
            </a:r>
            <a:r>
              <a:rPr lang="zh-CN" altLang="en-US" sz="1600" b="0" i="0" dirty="0">
                <a:effectLst/>
                <a:latin typeface="+mn-ea"/>
              </a:rPr>
              <a:t> </a:t>
            </a:r>
            <a:r>
              <a:rPr lang="en-US" altLang="zh-CN" sz="1600" b="0" i="0" dirty="0">
                <a:effectLst/>
                <a:latin typeface="+mn-ea"/>
              </a:rPr>
              <a:t>8 </a:t>
            </a:r>
            <a:r>
              <a:rPr lang="zh-CN" altLang="en-US" sz="1600" b="0" i="0" dirty="0">
                <a:effectLst/>
                <a:latin typeface="+mn-ea"/>
              </a:rPr>
              <a:t>块 </a:t>
            </a:r>
            <a:r>
              <a:rPr lang="en-US" altLang="zh-CN" sz="1600" b="0" i="0" dirty="0">
                <a:effectLst/>
                <a:latin typeface="+mn-ea"/>
              </a:rPr>
              <a:t>NVIDIA Tesla A800 GPU</a:t>
            </a:r>
            <a:r>
              <a:rPr lang="zh-CN" altLang="en-US" sz="1600" b="0" i="0" dirty="0">
                <a:effectLst/>
                <a:latin typeface="+mn-ea"/>
              </a:rPr>
              <a:t>（单卡显存 </a:t>
            </a:r>
            <a:r>
              <a:rPr lang="en-US" altLang="zh-CN" sz="1600" b="0" i="0" dirty="0">
                <a:effectLst/>
                <a:latin typeface="+mn-ea"/>
              </a:rPr>
              <a:t>80GB</a:t>
            </a:r>
            <a:r>
              <a:rPr lang="zh-CN" altLang="en-US" sz="1600" b="0" i="0" dirty="0">
                <a:effectLst/>
                <a:latin typeface="+mn-ea"/>
              </a:rPr>
              <a:t>）</a:t>
            </a:r>
            <a:endParaRPr lang="en-US" altLang="zh-CN" sz="1600" b="0" i="0" dirty="0"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4.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基座模型为</a:t>
            </a:r>
            <a:r>
              <a:rPr lang="en-US" altLang="zh-CN" sz="1600" b="0" i="0" dirty="0">
                <a:effectLst/>
                <a:latin typeface="+mn-ea"/>
              </a:rPr>
              <a:t> Qwen2.5-Coder-Instruct  7B/14B</a:t>
            </a:r>
            <a:r>
              <a:rPr lang="zh-CN" altLang="en-US" sz="1600" b="0" i="0" dirty="0">
                <a:effectLst/>
                <a:latin typeface="+mn-ea"/>
              </a:rPr>
              <a:t>（额外引入</a:t>
            </a:r>
            <a:r>
              <a:rPr lang="en-US" altLang="zh-CN" sz="1600" b="0" i="0" dirty="0">
                <a:effectLst/>
                <a:latin typeface="+mn-ea"/>
              </a:rPr>
              <a:t> Llama3-Instruct-8B</a:t>
            </a:r>
            <a:r>
              <a:rPr lang="zh-CN" altLang="en-US" sz="1600" b="0" i="0" dirty="0">
                <a:effectLst/>
                <a:latin typeface="+mn-ea"/>
              </a:rPr>
              <a:t>）</a:t>
            </a:r>
            <a:endParaRPr lang="en-US" altLang="zh-CN" sz="1600" b="0" i="0" dirty="0"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5.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指令微调参数情况：</a:t>
            </a:r>
            <a:r>
              <a:rPr lang="zh-CN" altLang="en-US" sz="1600" b="0" i="0" dirty="0">
                <a:effectLst/>
                <a:latin typeface="+mn-ea"/>
              </a:rPr>
              <a:t>基于 </a:t>
            </a:r>
            <a:r>
              <a:rPr lang="en-US" altLang="zh-CN" sz="1600" b="0" i="0" dirty="0">
                <a:effectLst/>
                <a:latin typeface="+mn-ea"/>
              </a:rPr>
              <a:t>LLaMA-Factory </a:t>
            </a:r>
            <a:r>
              <a:rPr lang="zh-CN" altLang="en-US" sz="1600" b="0" i="0" dirty="0">
                <a:effectLst/>
                <a:latin typeface="+mn-ea"/>
              </a:rPr>
              <a:t>框架、采用 </a:t>
            </a:r>
            <a:r>
              <a:rPr lang="en-US" altLang="zh-CN" sz="1600" b="0" i="0" dirty="0">
                <a:effectLst/>
                <a:latin typeface="+mn-ea"/>
              </a:rPr>
              <a:t>1e-5 </a:t>
            </a:r>
            <a:r>
              <a:rPr lang="zh-CN" altLang="en-US" sz="1600" b="0" i="0" dirty="0">
                <a:effectLst/>
                <a:latin typeface="+mn-ea"/>
              </a:rPr>
              <a:t>的学习率训练 </a:t>
            </a:r>
            <a:r>
              <a:rPr lang="en-US" altLang="zh-CN" sz="1600" b="0" i="0" dirty="0">
                <a:effectLst/>
                <a:latin typeface="+mn-ea"/>
              </a:rPr>
              <a:t>3 </a:t>
            </a:r>
            <a:r>
              <a:rPr lang="zh-CN" altLang="en-US" sz="1600" b="0" i="0" dirty="0">
                <a:effectLst/>
                <a:latin typeface="+mn-ea"/>
              </a:rPr>
              <a:t>个 </a:t>
            </a:r>
            <a:r>
              <a:rPr lang="en-US" altLang="zh-CN" sz="1600" b="0" i="0" dirty="0">
                <a:effectLst/>
                <a:latin typeface="+mn-ea"/>
              </a:rPr>
              <a:t>epoch</a:t>
            </a: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6.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强化学习阶段：通过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verl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框架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实现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GRPO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算法 ，设置学习率为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1e-6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，每个提示生成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5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个候选响应，最大响应长度限制为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4,096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个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token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，训练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2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个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epoch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1146D7A-9CAB-04E8-E96C-7E9A37907DE1}"/>
              </a:ext>
            </a:extLst>
          </p:cNvPr>
          <p:cNvSpPr txBox="1"/>
          <p:nvPr/>
        </p:nvSpPr>
        <p:spPr>
          <a:xfrm>
            <a:off x="176573" y="5770534"/>
            <a:ext cx="11655907" cy="83099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对比工作训练情况设置：</a:t>
            </a:r>
            <a:endParaRPr lang="en-US" altLang="zh-CN" sz="1600" dirty="0">
              <a:latin typeface="+mn-ea"/>
            </a:endParaRPr>
          </a:p>
          <a:p>
            <a:pPr marL="342900" indent="-342900">
              <a:buAutoNum type="arabicPeriod"/>
            </a:pPr>
            <a:r>
              <a:rPr lang="en-US" altLang="zh-CN" sz="1600" b="0" i="0" dirty="0">
                <a:effectLst/>
                <a:latin typeface="+mn-ea"/>
              </a:rPr>
              <a:t>SEMCODER</a:t>
            </a:r>
            <a:r>
              <a:rPr lang="zh-CN" altLang="en-US" sz="1600" b="0" i="0" dirty="0">
                <a:effectLst/>
                <a:latin typeface="+mn-ea"/>
              </a:rPr>
              <a:t>基于 </a:t>
            </a:r>
            <a:r>
              <a:rPr lang="en-US" altLang="zh-CN" sz="1600" b="0" i="0" dirty="0">
                <a:effectLst/>
                <a:latin typeface="+mn-ea"/>
              </a:rPr>
              <a:t>DeepSeekCoder-6.7B </a:t>
            </a:r>
            <a:r>
              <a:rPr lang="zh-CN" altLang="en-US" sz="1600" b="0" i="0" dirty="0">
                <a:effectLst/>
                <a:latin typeface="+mn-ea"/>
              </a:rPr>
              <a:t>，在约 </a:t>
            </a:r>
            <a:r>
              <a:rPr lang="en-US" altLang="zh-CN" sz="1600" b="0" i="0" dirty="0">
                <a:effectLst/>
                <a:latin typeface="+mn-ea"/>
              </a:rPr>
              <a:t>23,000 </a:t>
            </a:r>
            <a:r>
              <a:rPr lang="zh-CN" altLang="en-US" sz="1600" b="0" i="0" dirty="0">
                <a:effectLst/>
                <a:latin typeface="+mn-ea"/>
              </a:rPr>
              <a:t>个样本上完成微调</a:t>
            </a:r>
            <a:endParaRPr lang="en-US" altLang="zh-CN" sz="1600" b="0" i="0" dirty="0">
              <a:effectLst/>
              <a:latin typeface="+mn-ea"/>
            </a:endParaRPr>
          </a:p>
          <a:p>
            <a:pPr marL="342900" indent="-342900">
              <a:buAutoNum type="arabicPeriod"/>
            </a:pPr>
            <a:r>
              <a:rPr lang="en-US" altLang="zh-CN" sz="1600" b="0" i="0" dirty="0">
                <a:effectLst/>
                <a:latin typeface="+mn-ea"/>
              </a:rPr>
              <a:t>CODEI/O </a:t>
            </a:r>
            <a:r>
              <a:rPr lang="zh-CN" altLang="en-US" sz="1600" b="0" i="0" dirty="0">
                <a:effectLst/>
                <a:latin typeface="+mn-ea"/>
              </a:rPr>
              <a:t>则基于多个 </a:t>
            </a:r>
            <a:r>
              <a:rPr lang="en-US" altLang="zh-CN" sz="1600" b="0" i="0" dirty="0">
                <a:effectLst/>
                <a:latin typeface="+mn-ea"/>
              </a:rPr>
              <a:t>LLM </a:t>
            </a:r>
            <a:r>
              <a:rPr lang="zh-CN" altLang="en-US" sz="1600" b="0" i="0" dirty="0">
                <a:effectLst/>
                <a:latin typeface="+mn-ea"/>
              </a:rPr>
              <a:t>构建，其基础模型在规模更大（约 </a:t>
            </a:r>
            <a:r>
              <a:rPr lang="en-US" altLang="zh-CN" sz="1600" b="0" i="0" dirty="0">
                <a:effectLst/>
                <a:latin typeface="+mn-ea"/>
              </a:rPr>
              <a:t>350 </a:t>
            </a:r>
            <a:r>
              <a:rPr lang="zh-CN" altLang="en-US" sz="1600" b="0" i="0" dirty="0">
                <a:effectLst/>
                <a:latin typeface="+mn-ea"/>
              </a:rPr>
              <a:t>万个样本）的数据集上进行微调</a:t>
            </a:r>
            <a:endParaRPr lang="en-US" altLang="zh-CN" sz="1600" b="0" i="0" dirty="0">
              <a:solidFill>
                <a:srgbClr val="000000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59871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76573" y="189385"/>
            <a:ext cx="116559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CodeReasoner: Enhancing the Code Reasoning Ability with Reinforcement Learning 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arXiv 2025.07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0601AF6-3E80-4649-81BF-575887790C77}"/>
              </a:ext>
            </a:extLst>
          </p:cNvPr>
          <p:cNvSpPr txBox="1"/>
          <p:nvPr/>
        </p:nvSpPr>
        <p:spPr>
          <a:xfrm>
            <a:off x="176573" y="808918"/>
            <a:ext cx="11655907" cy="107721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/>
              <a:t>方法论：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数据集构建和两阶段训练。</a:t>
            </a:r>
            <a:endParaRPr lang="en-US" altLang="zh-CN" sz="1600" b="0" i="0" dirty="0">
              <a:solidFill>
                <a:srgbClr val="000000"/>
              </a:solidFill>
              <a:effectLst/>
              <a:latin typeface="Lucida Grande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Lucida Grande"/>
              </a:rPr>
              <a:t>	1.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首先，引入了一种构建数据集的方法，该方法专注于 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Lucida Grande"/>
              </a:rPr>
              <a:t>Python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程序的核心执行逻辑。</a:t>
            </a:r>
            <a:endParaRPr lang="en-US" altLang="zh-CN" sz="1600" b="0" i="0" dirty="0">
              <a:solidFill>
                <a:srgbClr val="000000"/>
              </a:solidFill>
              <a:effectLst/>
              <a:latin typeface="Lucida Grande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Lucida Grande"/>
              </a:rPr>
              <a:t>	2.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其次，应用指令调优来注入从强大的教师模型中提取的执行特定知识。</a:t>
            </a:r>
            <a:endParaRPr lang="en-US" altLang="zh-CN" sz="1600" b="0" i="0" dirty="0">
              <a:solidFill>
                <a:srgbClr val="000000"/>
              </a:solidFill>
              <a:effectLst/>
              <a:latin typeface="Lucida Grande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Lucida Grande"/>
              </a:rPr>
              <a:t>	3.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然后，在微调后的模型之上，通过 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Lucida Grande"/>
              </a:rPr>
              <a:t>GRPO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强化学习来增强推理和泛化能力。</a:t>
            </a:r>
            <a:endParaRPr lang="zh-CN" altLang="en-US" sz="16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67962E-81EF-C6C3-D3C4-C4D03F3EC38E}"/>
              </a:ext>
            </a:extLst>
          </p:cNvPr>
          <p:cNvSpPr txBox="1"/>
          <p:nvPr/>
        </p:nvSpPr>
        <p:spPr>
          <a:xfrm>
            <a:off x="176573" y="1936282"/>
            <a:ext cx="11655907" cy="33855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/>
              <a:t>测试集：</a:t>
            </a:r>
            <a:r>
              <a:rPr lang="en-US" altLang="zh-CN" sz="1600" dirty="0"/>
              <a:t>CRUXEval-O</a:t>
            </a:r>
            <a:r>
              <a:rPr lang="zh-CN" altLang="en-US" sz="1600" dirty="0"/>
              <a:t>、</a:t>
            </a:r>
            <a:r>
              <a:rPr lang="en-US" altLang="zh-CN" sz="1600" dirty="0"/>
              <a:t>CRUXEval-I</a:t>
            </a:r>
            <a:r>
              <a:rPr lang="zh-CN" altLang="en-US" sz="1600" dirty="0"/>
              <a:t>、</a:t>
            </a:r>
            <a:r>
              <a:rPr lang="en-US" altLang="zh-CN" sz="1600" dirty="0"/>
              <a:t>LiveCodeBench  [ pass @ 1 ]</a:t>
            </a:r>
            <a:endParaRPr lang="zh-CN" altLang="en-US" sz="1600" b="0" i="0" dirty="0">
              <a:solidFill>
                <a:srgbClr val="000000"/>
              </a:solidFill>
              <a:effectLst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1153AE-6582-D8D8-3108-AB146F758002}"/>
              </a:ext>
            </a:extLst>
          </p:cNvPr>
          <p:cNvSpPr txBox="1"/>
          <p:nvPr/>
        </p:nvSpPr>
        <p:spPr>
          <a:xfrm>
            <a:off x="176573" y="2387489"/>
            <a:ext cx="11655907" cy="83099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训练情况：</a:t>
            </a:r>
            <a:r>
              <a:rPr lang="en-US" altLang="zh-CN" sz="1600" dirty="0">
                <a:latin typeface="+mn-ea"/>
              </a:rPr>
              <a:t>1.</a:t>
            </a:r>
            <a:r>
              <a:rPr lang="zh-CN" altLang="en-US" sz="1600" dirty="0">
                <a:latin typeface="+mn-ea"/>
              </a:rPr>
              <a:t> 教师模型为 </a:t>
            </a:r>
            <a:r>
              <a:rPr lang="en-US" altLang="zh-CN" sz="1600" b="0" i="0" dirty="0">
                <a:effectLst/>
                <a:latin typeface="+mn-ea"/>
              </a:rPr>
              <a:t>QwQ 32b</a:t>
            </a:r>
            <a:r>
              <a:rPr lang="zh-CN" altLang="en-US" sz="1600" b="0" i="0" dirty="0">
                <a:effectLst/>
                <a:latin typeface="+mn-ea"/>
              </a:rPr>
              <a:t>，对代码与推理路径进行合成</a:t>
            </a:r>
            <a:endParaRPr lang="en-US" altLang="zh-CN" sz="1600" dirty="0"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2.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基座模型为</a:t>
            </a:r>
            <a:r>
              <a:rPr lang="en-US" altLang="zh-CN" sz="1600" b="0" i="0" dirty="0">
                <a:effectLst/>
                <a:latin typeface="+mn-ea"/>
              </a:rPr>
              <a:t> Qwen2.5-Coder-Instruct  7B/14B</a:t>
            </a:r>
            <a:r>
              <a:rPr lang="zh-CN" altLang="en-US" sz="1600" b="0" i="0" dirty="0">
                <a:effectLst/>
                <a:latin typeface="+mn-ea"/>
              </a:rPr>
              <a:t>（额外引入</a:t>
            </a:r>
            <a:r>
              <a:rPr lang="en-US" altLang="zh-CN" sz="1600" b="0" i="0" dirty="0">
                <a:effectLst/>
                <a:latin typeface="+mn-ea"/>
              </a:rPr>
              <a:t> Llama3-Instruct-8B</a:t>
            </a:r>
            <a:r>
              <a:rPr lang="zh-CN" altLang="en-US" sz="1600" b="0" i="0" dirty="0">
                <a:effectLst/>
                <a:latin typeface="+mn-ea"/>
              </a:rPr>
              <a:t>）</a:t>
            </a:r>
            <a:endParaRPr lang="en-US" altLang="zh-CN" sz="1600" b="0" i="0" dirty="0"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3.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指令微调参数情况：</a:t>
            </a:r>
            <a:r>
              <a:rPr lang="zh-CN" altLang="en-US" sz="1600" b="0" i="0" dirty="0">
                <a:effectLst/>
                <a:latin typeface="+mn-ea"/>
              </a:rPr>
              <a:t>基于 </a:t>
            </a:r>
            <a:r>
              <a:rPr lang="en-US" altLang="zh-CN" sz="1600" b="0" i="0" dirty="0">
                <a:effectLst/>
                <a:latin typeface="+mn-ea"/>
              </a:rPr>
              <a:t>LLaMA-Factory </a:t>
            </a:r>
            <a:r>
              <a:rPr lang="zh-CN" altLang="en-US" sz="1600" b="0" i="0" dirty="0">
                <a:effectLst/>
                <a:latin typeface="+mn-ea"/>
              </a:rPr>
              <a:t>框架、采用 </a:t>
            </a:r>
            <a:r>
              <a:rPr lang="en-US" altLang="zh-CN" sz="1600" b="0" i="0" dirty="0">
                <a:effectLst/>
                <a:latin typeface="+mn-ea"/>
              </a:rPr>
              <a:t>1e-5 </a:t>
            </a:r>
            <a:r>
              <a:rPr lang="zh-CN" altLang="en-US" sz="1600" b="0" i="0" dirty="0">
                <a:effectLst/>
                <a:latin typeface="+mn-ea"/>
              </a:rPr>
              <a:t>的学习率训练 </a:t>
            </a:r>
            <a:r>
              <a:rPr lang="en-US" altLang="zh-CN" sz="1600" b="0" i="0" dirty="0">
                <a:effectLst/>
                <a:latin typeface="+mn-ea"/>
              </a:rPr>
              <a:t>3 </a:t>
            </a:r>
            <a:r>
              <a:rPr lang="zh-CN" altLang="en-US" sz="1600" b="0" i="0" dirty="0">
                <a:effectLst/>
                <a:latin typeface="+mn-ea"/>
              </a:rPr>
              <a:t>个 </a:t>
            </a:r>
            <a:r>
              <a:rPr lang="en-US" altLang="zh-CN" sz="1600" b="0" i="0" dirty="0">
                <a:effectLst/>
                <a:latin typeface="+mn-ea"/>
              </a:rPr>
              <a:t>epoch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A8446B76-8F10-CEB6-1323-A13877F07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608" y="3359631"/>
            <a:ext cx="7371957" cy="3498369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7ECD7519-01A3-DBF7-BF2D-1C8A1324C852}"/>
              </a:ext>
            </a:extLst>
          </p:cNvPr>
          <p:cNvSpPr txBox="1"/>
          <p:nvPr/>
        </p:nvSpPr>
        <p:spPr>
          <a:xfrm>
            <a:off x="176573" y="3429000"/>
            <a:ext cx="60949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>
                <a:latin typeface="+mn-ea"/>
              </a:rPr>
              <a:t>实验评估：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86617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76573" y="189385"/>
            <a:ext cx="116559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Code Execution as Grounded Supervision for LLM Reasoning  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EMNLP 2025.06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0601AF6-3E80-4649-81BF-575887790C77}"/>
              </a:ext>
            </a:extLst>
          </p:cNvPr>
          <p:cNvSpPr txBox="1"/>
          <p:nvPr/>
        </p:nvSpPr>
        <p:spPr>
          <a:xfrm>
            <a:off x="176572" y="808918"/>
            <a:ext cx="11655907" cy="83099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方法论：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数据集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cot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构建和微调</a:t>
            </a:r>
            <a:endParaRPr lang="en-US" altLang="zh-CN" sz="1600" b="0" i="0" dirty="0">
              <a:solidFill>
                <a:srgbClr val="000000"/>
              </a:solidFill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1.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利用程序执行的确定性调用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Lucida Grande"/>
              </a:rPr>
              <a:t>AI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来生成高质量的 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Lucida Grande"/>
              </a:rPr>
              <a:t>CoT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监督数据集</a:t>
            </a:r>
            <a:endParaRPr lang="en-US" altLang="zh-CN" sz="1600" b="0" i="0" dirty="0">
              <a:solidFill>
                <a:srgbClr val="000000"/>
              </a:solidFill>
              <a:effectLst/>
              <a:latin typeface="Lucida Grande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2.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普通微调</a:t>
            </a:r>
            <a:endParaRPr lang="zh-CN" altLang="en-US" sz="16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8AB8FE1-0173-4F85-8A04-B7CC1FCFD550}"/>
              </a:ext>
            </a:extLst>
          </p:cNvPr>
          <p:cNvSpPr txBox="1"/>
          <p:nvPr/>
        </p:nvSpPr>
        <p:spPr>
          <a:xfrm>
            <a:off x="176572" y="1812899"/>
            <a:ext cx="11655907" cy="83099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训练集：  </a:t>
            </a:r>
            <a:r>
              <a:rPr lang="en-US" altLang="zh-CN" sz="1600" dirty="0">
                <a:latin typeface="+mn-ea"/>
              </a:rPr>
              <a:t>1. </a:t>
            </a:r>
            <a:r>
              <a:rPr lang="en-US" altLang="zh-CN" sz="1600" b="0" i="0" dirty="0">
                <a:effectLst/>
                <a:latin typeface="+mn-ea"/>
              </a:rPr>
              <a:t>PyEdu-R</a:t>
            </a:r>
            <a:r>
              <a:rPr lang="zh-CN" altLang="en-US" sz="1600" b="0" i="0" dirty="0">
                <a:effectLst/>
                <a:latin typeface="+mn-ea"/>
              </a:rPr>
              <a:t>数据集作为原始训练数据</a:t>
            </a:r>
            <a:endParaRPr lang="en-US" altLang="zh-CN" sz="1600" dirty="0">
              <a:latin typeface="+mn-ea"/>
            </a:endParaRPr>
          </a:p>
          <a:p>
            <a:r>
              <a:rPr lang="en-US" altLang="zh-CN" sz="1600" dirty="0">
                <a:latin typeface="+mn-ea"/>
              </a:rPr>
              <a:t>	2. </a:t>
            </a:r>
            <a:r>
              <a:rPr lang="zh-CN" altLang="en-US" sz="1600" dirty="0">
                <a:latin typeface="+mn-ea"/>
              </a:rPr>
              <a:t>利用名为</a:t>
            </a:r>
            <a:r>
              <a:rPr lang="en-US" altLang="zh-CN" sz="1600" dirty="0">
                <a:latin typeface="+mn-ea"/>
              </a:rPr>
              <a:t>snoop</a:t>
            </a:r>
            <a:r>
              <a:rPr lang="zh-CN" altLang="en-US" sz="1600" dirty="0">
                <a:latin typeface="+mn-ea"/>
              </a:rPr>
              <a:t>的</a:t>
            </a:r>
            <a:r>
              <a:rPr lang="en-US" altLang="zh-CN" sz="1600" dirty="0">
                <a:latin typeface="+mn-ea"/>
              </a:rPr>
              <a:t>python</a:t>
            </a:r>
            <a:r>
              <a:rPr lang="zh-CN" altLang="en-US" sz="1600" dirty="0">
                <a:latin typeface="+mn-ea"/>
              </a:rPr>
              <a:t>调试工具作为执行轨迹捕获，返回：已执行代码及局部变量值的更新情况</a:t>
            </a:r>
            <a:endParaRPr lang="en-US" altLang="zh-CN" sz="1600" dirty="0">
              <a:latin typeface="+mn-ea"/>
            </a:endParaRPr>
          </a:p>
          <a:p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	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3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调用大模型（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Qwen3-32B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）模拟人类解题过程生产逐步推理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cot</a:t>
            </a:r>
            <a:endParaRPr lang="zh-CN" altLang="en-US" sz="1600" b="0" i="0" dirty="0">
              <a:solidFill>
                <a:srgbClr val="000000"/>
              </a:solidFill>
              <a:effectLst/>
              <a:latin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67962E-81EF-C6C3-D3C4-C4D03F3EC38E}"/>
              </a:ext>
            </a:extLst>
          </p:cNvPr>
          <p:cNvSpPr txBox="1"/>
          <p:nvPr/>
        </p:nvSpPr>
        <p:spPr>
          <a:xfrm>
            <a:off x="176572" y="2816880"/>
            <a:ext cx="11655907" cy="33855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测试集：</a:t>
            </a:r>
            <a:r>
              <a:rPr lang="en-US" altLang="zh-CN" sz="1600" dirty="0">
                <a:latin typeface="+mn-ea"/>
              </a:rPr>
              <a:t>LiveCodeBench</a:t>
            </a:r>
            <a:r>
              <a:rPr lang="zh-CN" altLang="en-US" sz="1600" dirty="0"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 MATH500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 BBH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 </a:t>
            </a:r>
            <a:r>
              <a:rPr lang="en-US" altLang="zh-CN" sz="1600" b="0" i="0" dirty="0" err="1">
                <a:effectLst/>
                <a:latin typeface="+mn-ea"/>
              </a:rPr>
              <a:t>AGIEval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 GPQA</a:t>
            </a:r>
            <a:endParaRPr lang="zh-CN" altLang="en-US" sz="1600" b="0" i="0" dirty="0">
              <a:solidFill>
                <a:srgbClr val="000000"/>
              </a:solidFill>
              <a:effectLst/>
              <a:latin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1153AE-6582-D8D8-3108-AB146F758002}"/>
              </a:ext>
            </a:extLst>
          </p:cNvPr>
          <p:cNvSpPr txBox="1"/>
          <p:nvPr/>
        </p:nvSpPr>
        <p:spPr>
          <a:xfrm>
            <a:off x="176572" y="3328418"/>
            <a:ext cx="11655907" cy="33855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训练情况：对两个模型进行有监督微调（</a:t>
            </a:r>
            <a:r>
              <a:rPr lang="en-US" altLang="zh-CN" sz="1600" dirty="0">
                <a:latin typeface="+mn-ea"/>
              </a:rPr>
              <a:t>SFT</a:t>
            </a:r>
            <a:r>
              <a:rPr lang="zh-CN" altLang="en-US" sz="1600" dirty="0">
                <a:latin typeface="+mn-ea"/>
              </a:rPr>
              <a:t>）：</a:t>
            </a:r>
            <a:r>
              <a:rPr lang="en-US" altLang="zh-CN" sz="1600" dirty="0">
                <a:latin typeface="+mn-ea"/>
              </a:rPr>
              <a:t>Qwen3-4B </a:t>
            </a:r>
            <a:r>
              <a:rPr lang="zh-CN" altLang="en-US" sz="1600" dirty="0">
                <a:latin typeface="+mn-ea"/>
              </a:rPr>
              <a:t>和 </a:t>
            </a:r>
            <a:r>
              <a:rPr lang="en-US" altLang="zh-CN" sz="1600" dirty="0">
                <a:latin typeface="+mn-ea"/>
              </a:rPr>
              <a:t>Qwen3-8B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10B8DD0-A392-1D80-6295-69FDA5332C29}"/>
              </a:ext>
            </a:extLst>
          </p:cNvPr>
          <p:cNvSpPr txBox="1"/>
          <p:nvPr/>
        </p:nvSpPr>
        <p:spPr>
          <a:xfrm>
            <a:off x="176572" y="3839956"/>
            <a:ext cx="60949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>
                <a:latin typeface="+mn-ea"/>
              </a:rPr>
              <a:t>实验评估：</a:t>
            </a:r>
            <a:endParaRPr lang="zh-CN" altLang="en-US" sz="1600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778DC543-9192-981B-D0CB-25C49F575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9098" y="4117286"/>
            <a:ext cx="6520618" cy="1876499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EC63F787-796F-AB4E-06F8-C931750B82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193927"/>
            <a:ext cx="6194797" cy="1784441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A9B77D07-56AD-1B86-E3FD-10CBEB6A64CE}"/>
              </a:ext>
            </a:extLst>
          </p:cNvPr>
          <p:cNvSpPr txBox="1"/>
          <p:nvPr/>
        </p:nvSpPr>
        <p:spPr>
          <a:xfrm>
            <a:off x="2384276" y="6049082"/>
            <a:ext cx="1253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800" dirty="0">
                <a:latin typeface="+mn-ea"/>
              </a:rPr>
              <a:t>Qwen3-</a:t>
            </a:r>
            <a:r>
              <a:rPr lang="en-US" altLang="zh-CN" dirty="0"/>
              <a:t>4B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97FF399-AD10-8DD3-80EC-BD84389C9BE2}"/>
              </a:ext>
            </a:extLst>
          </p:cNvPr>
          <p:cNvSpPr txBox="1"/>
          <p:nvPr/>
        </p:nvSpPr>
        <p:spPr>
          <a:xfrm>
            <a:off x="9088825" y="6049082"/>
            <a:ext cx="1253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800" dirty="0">
                <a:latin typeface="+mn-ea"/>
              </a:rPr>
              <a:t>Qwen3-</a:t>
            </a:r>
            <a:r>
              <a:rPr lang="en-US" altLang="zh-CN" dirty="0"/>
              <a:t>8B</a:t>
            </a:r>
          </a:p>
        </p:txBody>
      </p:sp>
    </p:spTree>
    <p:extLst>
      <p:ext uri="{BB962C8B-B14F-4D97-AF65-F5344CB8AC3E}">
        <p14:creationId xmlns:p14="http://schemas.microsoft.com/office/powerpoint/2010/main" val="7456355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76573" y="189385"/>
            <a:ext cx="116559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CN" sz="20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CodeI/O: Condensing Reasoning Patterns via Code Input-Output Prediction 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ICML 2025.02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0601AF6-3E80-4649-81BF-575887790C77}"/>
              </a:ext>
            </a:extLst>
          </p:cNvPr>
          <p:cNvSpPr txBox="1"/>
          <p:nvPr/>
        </p:nvSpPr>
        <p:spPr>
          <a:xfrm>
            <a:off x="176573" y="1237740"/>
            <a:ext cx="11655907" cy="116281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方法论：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数据集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构建与多轮修正的思维链构建</a:t>
            </a:r>
            <a:endParaRPr lang="en-US" altLang="zh-CN" sz="1600" b="0" i="0" dirty="0">
              <a:solidFill>
                <a:srgbClr val="000000"/>
              </a:solidFill>
              <a:effectLst/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1.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从多个平台收集代码数据，再由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AI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转换成统一格式；通过执行代码生成输入输出对；再用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AI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生产预测任务的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COT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2. </a:t>
            </a:r>
            <a:r>
              <a:rPr lang="zh-CN" altLang="en-US" sz="1600" b="0" i="0" dirty="0">
                <a:effectLst/>
                <a:latin typeface="+mn-ea"/>
              </a:rPr>
              <a:t>对每个预测结果进行验证，并通过多轮修正进一步优化思维链</a:t>
            </a:r>
            <a:endParaRPr lang="zh-CN" altLang="en-US" sz="16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8AB8FE1-0173-4F85-8A04-B7CC1FCFD550}"/>
              </a:ext>
            </a:extLst>
          </p:cNvPr>
          <p:cNvSpPr txBox="1"/>
          <p:nvPr/>
        </p:nvSpPr>
        <p:spPr>
          <a:xfrm>
            <a:off x="176575" y="2698784"/>
            <a:ext cx="11655907" cy="7934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训练集：  </a:t>
            </a:r>
            <a:r>
              <a:rPr lang="en-US" altLang="zh-CN" sz="1600" dirty="0">
                <a:latin typeface="+mn-ea"/>
              </a:rPr>
              <a:t>1.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从多个平台收集代码数据，再由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AI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转换成统一格式；通过执行代码生成输入输出对；再用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AI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生产预测任务的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COT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2.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主要为函数类片段，一共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350w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条数据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67962E-81EF-C6C3-D3C4-C4D03F3EC38E}"/>
              </a:ext>
            </a:extLst>
          </p:cNvPr>
          <p:cNvSpPr txBox="1"/>
          <p:nvPr/>
        </p:nvSpPr>
        <p:spPr>
          <a:xfrm>
            <a:off x="176574" y="3790496"/>
            <a:ext cx="11655907" cy="42415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测试集：</a:t>
            </a:r>
            <a:r>
              <a:rPr lang="en-US" altLang="zh-CN" sz="1600" b="0" i="0" dirty="0">
                <a:effectLst/>
                <a:latin typeface="+mn-ea"/>
              </a:rPr>
              <a:t>DROP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 err="1">
                <a:effectLst/>
                <a:latin typeface="+mn-ea"/>
              </a:rPr>
              <a:t>WinoGrande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GSM8K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MATH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MMLU-STEM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BBH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GPQA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 err="1">
                <a:effectLst/>
                <a:latin typeface="+mn-ea"/>
              </a:rPr>
              <a:t>CruxEval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 err="1">
                <a:effectLst/>
                <a:latin typeface="+mn-ea"/>
              </a:rPr>
              <a:t>ZebraGrid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 err="1">
                <a:effectLst/>
                <a:latin typeface="+mn-ea"/>
              </a:rPr>
              <a:t>LiveBench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 err="1">
                <a:effectLst/>
                <a:latin typeface="+mn-ea"/>
              </a:rPr>
              <a:t>KorBench</a:t>
            </a:r>
            <a:endParaRPr lang="zh-CN" altLang="en-US" sz="1600" b="0" i="0" dirty="0">
              <a:solidFill>
                <a:srgbClr val="000000"/>
              </a:solidFill>
              <a:effectLst/>
              <a:latin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1153AE-6582-D8D8-3108-AB146F758002}"/>
              </a:ext>
            </a:extLst>
          </p:cNvPr>
          <p:cNvSpPr txBox="1"/>
          <p:nvPr/>
        </p:nvSpPr>
        <p:spPr>
          <a:xfrm>
            <a:off x="176574" y="4512875"/>
            <a:ext cx="11655907" cy="116281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训练情况：</a:t>
            </a:r>
            <a:r>
              <a:rPr lang="en-US" altLang="zh-CN" sz="1600" dirty="0">
                <a:latin typeface="+mn-ea"/>
              </a:rPr>
              <a:t>1. </a:t>
            </a:r>
            <a:r>
              <a:rPr lang="zh-CN" altLang="en-US" sz="1600" dirty="0">
                <a:latin typeface="+mn-ea"/>
              </a:rPr>
              <a:t>对</a:t>
            </a:r>
            <a:r>
              <a:rPr lang="en-US" altLang="zh-CN" sz="1600" b="0" i="0" dirty="0" err="1">
                <a:effectLst/>
                <a:latin typeface="+mn-ea"/>
              </a:rPr>
              <a:t>Qwen</a:t>
            </a:r>
            <a:r>
              <a:rPr lang="en-US" altLang="zh-CN" sz="1600" b="0" i="0" dirty="0">
                <a:effectLst/>
                <a:latin typeface="+mn-ea"/>
              </a:rPr>
              <a:t> 2.5 7B Coder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 err="1">
                <a:effectLst/>
                <a:latin typeface="+mn-ea"/>
              </a:rPr>
              <a:t>Deepseek</a:t>
            </a:r>
            <a:r>
              <a:rPr lang="en-US" altLang="zh-CN" sz="1600" b="0" i="0" dirty="0">
                <a:effectLst/>
                <a:latin typeface="+mn-ea"/>
              </a:rPr>
              <a:t> v2 Lite Coder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LLaMA 3.1 8B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Gemma 2 27B</a:t>
            </a:r>
            <a:r>
              <a:rPr lang="zh-CN" altLang="en-US" sz="1600" dirty="0">
                <a:latin typeface="+mn-ea"/>
              </a:rPr>
              <a:t>进行微调训练</a:t>
            </a:r>
            <a:endParaRPr lang="en-US" altLang="zh-CN" sz="1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2.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单独“</a:t>
            </a:r>
            <a:r>
              <a:rPr lang="zh-CN" altLang="en-US" sz="1600" b="0" i="0" dirty="0">
                <a:effectLst/>
                <a:latin typeface="+mn-ea"/>
              </a:rPr>
              <a:t>内部指令微调数据集”，约 </a:t>
            </a:r>
            <a:r>
              <a:rPr lang="en-US" altLang="zh-CN" sz="1600" b="0" i="0" dirty="0">
                <a:effectLst/>
                <a:latin typeface="+mn-ea"/>
              </a:rPr>
              <a:t>118 </a:t>
            </a:r>
            <a:r>
              <a:rPr lang="zh-CN" altLang="en-US" sz="1600" b="0" i="0" dirty="0">
                <a:effectLst/>
                <a:latin typeface="+mn-ea"/>
              </a:rPr>
              <a:t>万个样本，覆盖多个领域。可使模型有效遵循各类指令，来适应下游任务。</a:t>
            </a:r>
            <a:endParaRPr lang="en-US" altLang="zh-CN" sz="1600" b="0" i="0" dirty="0">
              <a:effectLst/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3. </a:t>
            </a:r>
            <a:r>
              <a:rPr lang="zh-CN" altLang="en-US" sz="1600" b="0" i="0" dirty="0">
                <a:effectLst/>
                <a:latin typeface="+mn-ea"/>
              </a:rPr>
              <a:t>两阶段训练策略：第一阶段基于 </a:t>
            </a:r>
            <a:r>
              <a:rPr lang="en-US" altLang="zh-CN" sz="1600" b="0" i="0" dirty="0">
                <a:effectLst/>
                <a:latin typeface="+mn-ea"/>
              </a:rPr>
              <a:t>CODEI/O </a:t>
            </a:r>
            <a:r>
              <a:rPr lang="zh-CN" altLang="en-US" sz="1600" b="0" i="0" dirty="0">
                <a:effectLst/>
                <a:latin typeface="+mn-ea"/>
              </a:rPr>
              <a:t>或 </a:t>
            </a:r>
            <a:r>
              <a:rPr lang="en-US" altLang="zh-CN" sz="1600" b="0" i="0" dirty="0">
                <a:effectLst/>
                <a:latin typeface="+mn-ea"/>
              </a:rPr>
              <a:t>CODEI/O++ </a:t>
            </a:r>
            <a:r>
              <a:rPr lang="zh-CN" altLang="en-US" sz="1600" b="0" i="0" dirty="0">
                <a:effectLst/>
                <a:latin typeface="+mn-ea"/>
              </a:rPr>
              <a:t>数据集进行训练，第二阶段进行通用指令微调。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938728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76573" y="189385"/>
            <a:ext cx="116559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CN" sz="20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CodeI/O: Condensing Reasoning Patterns via Code Input-Output Prediction 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ICML 2025.02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0601AF6-3E80-4649-81BF-575887790C77}"/>
              </a:ext>
            </a:extLst>
          </p:cNvPr>
          <p:cNvSpPr txBox="1"/>
          <p:nvPr/>
        </p:nvSpPr>
        <p:spPr>
          <a:xfrm>
            <a:off x="554946" y="777386"/>
            <a:ext cx="1122506" cy="42415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实验评估：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B8708C9A-6B3D-E4F7-1894-4B90F63A6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291" y="785456"/>
            <a:ext cx="6161165" cy="593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402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76573" y="189385"/>
            <a:ext cx="116559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altLang="zh-CN" sz="20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Semcoder: Training code language models with comprehensive semantics reasoning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NeurIPS 2024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0601AF6-3E80-4649-81BF-575887790C77}"/>
              </a:ext>
            </a:extLst>
          </p:cNvPr>
          <p:cNvSpPr txBox="1"/>
          <p:nvPr/>
        </p:nvSpPr>
        <p:spPr>
          <a:xfrm>
            <a:off x="176570" y="911905"/>
            <a:ext cx="11761078" cy="116281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方法论：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数据集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PYX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构建和训练方案</a:t>
            </a:r>
            <a:endParaRPr lang="en-US" altLang="zh-CN" sz="1600" b="0" i="0" dirty="0">
              <a:solidFill>
                <a:srgbClr val="000000"/>
              </a:solidFill>
              <a:effectLst/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1. </a:t>
            </a:r>
            <a:r>
              <a:rPr lang="zh-CN" altLang="en-US" sz="1600" b="0" i="0" dirty="0">
                <a:effectLst/>
                <a:latin typeface="+mn-ea"/>
              </a:rPr>
              <a:t>仅使用可执行数据进行训练；先将代码解析为抽象语法树，再采样子树作为可解析的种子启发大模型生产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2. </a:t>
            </a:r>
            <a:r>
              <a:rPr lang="zh-CN" altLang="en-US" sz="1600" b="0" i="0" dirty="0">
                <a:effectLst/>
                <a:latin typeface="+mn-ea"/>
              </a:rPr>
              <a:t>“自然语言到代码样本 </a:t>
            </a:r>
            <a:r>
              <a:rPr lang="en-US" altLang="zh-CN" sz="1600" b="0" i="0" dirty="0">
                <a:effectLst/>
                <a:latin typeface="+mn-ea"/>
              </a:rPr>
              <a:t>+ </a:t>
            </a:r>
            <a:r>
              <a:rPr lang="zh-CN" altLang="en-US" sz="1600" b="0" i="0" dirty="0">
                <a:effectLst/>
                <a:latin typeface="+mn-ea"/>
              </a:rPr>
              <a:t>正向独白 </a:t>
            </a:r>
            <a:r>
              <a:rPr lang="en-US" altLang="zh-CN" sz="1600" b="0" i="0" dirty="0">
                <a:effectLst/>
                <a:latin typeface="+mn-ea"/>
              </a:rPr>
              <a:t>+ </a:t>
            </a:r>
            <a:r>
              <a:rPr lang="zh-CN" altLang="en-US" sz="1600" b="0" i="0" dirty="0">
                <a:effectLst/>
                <a:latin typeface="+mn-ea"/>
              </a:rPr>
              <a:t>反向独白” 的联合数据集训练，损失通过代码和独白 </a:t>
            </a:r>
            <a:r>
              <a:rPr lang="en-US" altLang="zh-CN" sz="1600" b="0" i="0" dirty="0">
                <a:effectLst/>
                <a:latin typeface="+mn-ea"/>
              </a:rPr>
              <a:t>token </a:t>
            </a:r>
            <a:r>
              <a:rPr lang="zh-CN" altLang="en-US" sz="1600" b="0" i="0" dirty="0">
                <a:effectLst/>
                <a:latin typeface="+mn-ea"/>
              </a:rPr>
              <a:t>的交叉熵损失累积计算</a:t>
            </a:r>
            <a:endParaRPr lang="zh-CN" altLang="en-US" sz="16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8AB8FE1-0173-4F85-8A04-B7CC1FCFD550}"/>
              </a:ext>
            </a:extLst>
          </p:cNvPr>
          <p:cNvSpPr txBox="1"/>
          <p:nvPr/>
        </p:nvSpPr>
        <p:spPr>
          <a:xfrm>
            <a:off x="176572" y="2393632"/>
            <a:ext cx="11761078" cy="79335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训练集：  </a:t>
            </a:r>
            <a:r>
              <a:rPr lang="en-US" altLang="zh-CN" sz="1600" dirty="0">
                <a:latin typeface="+mn-ea"/>
              </a:rPr>
              <a:t>1.</a:t>
            </a:r>
            <a:r>
              <a:rPr lang="zh-CN" altLang="en-US" sz="1600" b="0" i="0" dirty="0">
                <a:effectLst/>
                <a:latin typeface="+mn-ea"/>
              </a:rPr>
              <a:t>仅使用可执行数据进行训练；</a:t>
            </a:r>
            <a:endParaRPr lang="en-US" altLang="zh-CN" sz="1600" b="0" i="0" dirty="0">
              <a:effectLst/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2.</a:t>
            </a:r>
            <a:r>
              <a:rPr lang="zh-CN" altLang="en-US" sz="1600" b="0" i="0" dirty="0">
                <a:effectLst/>
                <a:latin typeface="+mn-ea"/>
              </a:rPr>
              <a:t>先将真实的代码解析为抽象语法树，再采样子树作为可解析的种子启发大模型生产（</a:t>
            </a:r>
            <a:r>
              <a:rPr lang="en-US" altLang="zh-CN" sz="1600" b="0" i="0" dirty="0">
                <a:effectLst/>
                <a:latin typeface="+mn-ea"/>
              </a:rPr>
              <a:t>GPT-3.5-turbo </a:t>
            </a:r>
            <a:r>
              <a:rPr lang="zh-CN" altLang="en-US" sz="1600" b="0" i="0" dirty="0">
                <a:effectLst/>
                <a:latin typeface="+mn-ea"/>
              </a:rPr>
              <a:t>）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67962E-81EF-C6C3-D3C4-C4D03F3EC38E}"/>
              </a:ext>
            </a:extLst>
          </p:cNvPr>
          <p:cNvSpPr txBox="1"/>
          <p:nvPr/>
        </p:nvSpPr>
        <p:spPr>
          <a:xfrm>
            <a:off x="176571" y="3505899"/>
            <a:ext cx="11761078" cy="42415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测试集：</a:t>
            </a:r>
            <a:r>
              <a:rPr lang="en-US" altLang="zh-CN" sz="1600" b="0" i="0" dirty="0">
                <a:effectLst/>
                <a:latin typeface="+mn-ea"/>
              </a:rPr>
              <a:t> </a:t>
            </a:r>
            <a:r>
              <a:rPr lang="en-US" altLang="zh-CN" sz="1600" b="0" i="0" dirty="0" err="1">
                <a:effectLst/>
                <a:latin typeface="+mn-ea"/>
              </a:rPr>
              <a:t>EvalPlus</a:t>
            </a:r>
            <a:r>
              <a:rPr lang="zh-CN" altLang="en-US" sz="1600" dirty="0"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 LiveCodeBench-Lite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 CRUXEval 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 LiveCodeBench -Exec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dirty="0">
                <a:latin typeface="+mn-ea"/>
              </a:rPr>
              <a:t>MBPP</a:t>
            </a:r>
            <a:r>
              <a:rPr lang="zh-CN" altLang="en-US" sz="1600" dirty="0">
                <a:latin typeface="+mn-ea"/>
              </a:rPr>
              <a:t>、</a:t>
            </a:r>
            <a:r>
              <a:rPr lang="en-US" altLang="zh-CN" sz="1600" dirty="0" err="1">
                <a:latin typeface="+mn-ea"/>
              </a:rPr>
              <a:t>HEval</a:t>
            </a:r>
            <a:endParaRPr lang="zh-CN" altLang="en-US" sz="1600" b="0" i="0" dirty="0">
              <a:solidFill>
                <a:srgbClr val="000000"/>
              </a:solidFill>
              <a:effectLst/>
              <a:latin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1153AE-6582-D8D8-3108-AB146F758002}"/>
              </a:ext>
            </a:extLst>
          </p:cNvPr>
          <p:cNvSpPr txBox="1"/>
          <p:nvPr/>
        </p:nvSpPr>
        <p:spPr>
          <a:xfrm>
            <a:off x="176570" y="4248962"/>
            <a:ext cx="11761078" cy="7934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训练情况：</a:t>
            </a:r>
            <a:r>
              <a:rPr lang="en-US" altLang="zh-CN" sz="1600" dirty="0">
                <a:latin typeface="+mn-ea"/>
              </a:rPr>
              <a:t>1. </a:t>
            </a:r>
            <a:r>
              <a:rPr lang="zh-CN" altLang="en-US" sz="1600" dirty="0">
                <a:latin typeface="+mn-ea"/>
              </a:rPr>
              <a:t>对</a:t>
            </a:r>
            <a:r>
              <a:rPr lang="en-US" altLang="zh-CN" sz="1600" b="0" i="0" dirty="0" err="1">
                <a:effectLst/>
                <a:latin typeface="+mn-ea"/>
              </a:rPr>
              <a:t>DeepSeekCoder</a:t>
            </a:r>
            <a:r>
              <a:rPr lang="en-US" altLang="zh-CN" sz="1600" b="0" i="0" dirty="0">
                <a:effectLst/>
                <a:latin typeface="+mn-ea"/>
              </a:rPr>
              <a:t> </a:t>
            </a:r>
            <a:r>
              <a:rPr lang="zh-CN" altLang="en-US" sz="1600" b="0" i="0" dirty="0">
                <a:effectLst/>
                <a:latin typeface="+mn-ea"/>
              </a:rPr>
              <a:t> </a:t>
            </a:r>
            <a:r>
              <a:rPr lang="en-US" altLang="zh-CN" sz="1600" b="0" i="0" dirty="0">
                <a:effectLst/>
                <a:latin typeface="+mn-ea"/>
              </a:rPr>
              <a:t>6</a:t>
            </a:r>
            <a:r>
              <a:rPr lang="en-US" altLang="zh-CN" sz="1600" dirty="0">
                <a:latin typeface="+mn-ea"/>
              </a:rPr>
              <a:t>.</a:t>
            </a:r>
            <a:r>
              <a:rPr lang="en-US" altLang="zh-CN" sz="1600" b="0" i="0" dirty="0">
                <a:effectLst/>
                <a:latin typeface="+mn-ea"/>
              </a:rPr>
              <a:t>7B </a:t>
            </a:r>
            <a:r>
              <a:rPr lang="zh-CN" altLang="en-US" sz="1600" b="0" i="0" dirty="0">
                <a:effectLst/>
                <a:latin typeface="+mn-ea"/>
              </a:rPr>
              <a:t>进行训练</a:t>
            </a:r>
            <a:endParaRPr lang="en-US" altLang="zh-CN" sz="1600" b="0" i="0" dirty="0">
              <a:effectLst/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2. </a:t>
            </a:r>
            <a:r>
              <a:rPr lang="zh-CN" altLang="en-US" sz="1600" b="0" i="0" dirty="0">
                <a:effectLst/>
                <a:latin typeface="+mn-ea"/>
              </a:rPr>
              <a:t> </a:t>
            </a:r>
            <a:r>
              <a:rPr lang="en-US" altLang="zh-CN" sz="1600" b="0" i="0" dirty="0">
                <a:effectLst/>
                <a:latin typeface="+mn-ea"/>
              </a:rPr>
              <a:t>8 </a:t>
            </a:r>
            <a:r>
              <a:rPr lang="zh-CN" altLang="en-US" sz="1600" b="0" i="0" dirty="0">
                <a:effectLst/>
                <a:latin typeface="+mn-ea"/>
              </a:rPr>
              <a:t>张 </a:t>
            </a:r>
            <a:r>
              <a:rPr lang="en-US" altLang="zh-CN" sz="1600" b="0" i="0" dirty="0">
                <a:effectLst/>
                <a:latin typeface="+mn-ea"/>
              </a:rPr>
              <a:t>NVIDIA RTX A6000 GPU</a:t>
            </a:r>
            <a:r>
              <a:rPr lang="zh-CN" altLang="en-US" sz="1600" b="0" i="0" dirty="0">
                <a:effectLst/>
                <a:latin typeface="+mn-ea"/>
              </a:rPr>
              <a:t>、训练 </a:t>
            </a:r>
            <a:r>
              <a:rPr lang="en-US" altLang="zh-CN" sz="1600" b="0" i="0" dirty="0">
                <a:effectLst/>
                <a:latin typeface="+mn-ea"/>
              </a:rPr>
              <a:t>2 </a:t>
            </a:r>
            <a:r>
              <a:rPr lang="zh-CN" altLang="en-US" sz="1600" b="0" i="0" dirty="0">
                <a:effectLst/>
                <a:latin typeface="+mn-ea"/>
              </a:rPr>
              <a:t>个 </a:t>
            </a:r>
            <a:r>
              <a:rPr lang="en-US" altLang="zh-CN" sz="1600" b="0" i="0" dirty="0">
                <a:effectLst/>
                <a:latin typeface="+mn-ea"/>
              </a:rPr>
              <a:t>epoch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5e-5 </a:t>
            </a:r>
            <a:r>
              <a:rPr lang="zh-CN" altLang="en-US" sz="1600" b="0" i="0" dirty="0">
                <a:effectLst/>
                <a:latin typeface="+mn-ea"/>
              </a:rPr>
              <a:t>的初始学习率</a:t>
            </a:r>
            <a:r>
              <a:rPr lang="zh-CN" altLang="en-US" sz="1600" dirty="0">
                <a:latin typeface="+mn-ea"/>
              </a:rPr>
              <a:t>、</a:t>
            </a:r>
            <a:r>
              <a:rPr lang="zh-CN" altLang="en-US" sz="1600" b="0" i="0" dirty="0">
                <a:effectLst/>
                <a:latin typeface="+mn-ea"/>
              </a:rPr>
              <a:t>余弦衰减策略降至 </a:t>
            </a:r>
            <a:r>
              <a:rPr lang="en-US" altLang="zh-CN" sz="1600" b="0" i="0" dirty="0">
                <a:effectLst/>
                <a:latin typeface="+mn-ea"/>
              </a:rPr>
              <a:t>5e-6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29594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76573" y="189385"/>
            <a:ext cx="116559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altLang="zh-CN" sz="20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Semcoder: Training code language models with comprehensive semantics reasoning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NeurIPS 2024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0601AF6-3E80-4649-81BF-575887790C77}"/>
              </a:ext>
            </a:extLst>
          </p:cNvPr>
          <p:cNvSpPr txBox="1"/>
          <p:nvPr/>
        </p:nvSpPr>
        <p:spPr>
          <a:xfrm>
            <a:off x="176570" y="911905"/>
            <a:ext cx="11761078" cy="42415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实验评估：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4D2B453-1810-1EE6-AC0A-085C7E6EC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5365" y="911905"/>
            <a:ext cx="9092755" cy="5082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02165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0&quot;:[20179637,20211662,50039266,21564682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929*505"/>
  <p:tag name="TABLE_ENDDRAG_RECT" val="21*141*929*505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1445</Words>
  <Application>Microsoft Office PowerPoint</Application>
  <PresentationFormat>宽屏</PresentationFormat>
  <Paragraphs>94</Paragraphs>
  <Slides>10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Inter</vt:lpstr>
      <vt:lpstr>Lucida Grande</vt:lpstr>
      <vt:lpstr>等线</vt:lpstr>
      <vt:lpstr>等线 Light</vt:lpstr>
      <vt:lpstr>Arial</vt:lpstr>
      <vt:lpstr>Calibri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caoye541@gmail.com</dc:creator>
  <cp:lastModifiedBy>caoye541@gmail.com</cp:lastModifiedBy>
  <cp:revision>120</cp:revision>
  <dcterms:created xsi:type="dcterms:W3CDTF">2025-10-01T20:32:00Z</dcterms:created>
  <dcterms:modified xsi:type="dcterms:W3CDTF">2025-12-14T20:15:54Z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A9D8EE090709422594ECCEF0F366ED29_13</vt:lpwstr>
  </property>
  <property fmtid="{D5CDD505-2E9C-101B-9397-08002B2CF9AE}" pid="3" name="KSOProductBuildVer">
    <vt:lpwstr>2052-12.1.0.23542</vt:lpwstr>
  </property>
</Properties>
</file>