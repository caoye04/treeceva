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97" r:id="rId2"/>
    <p:sldId id="327" r:id="rId3"/>
    <p:sldId id="368" r:id="rId4"/>
    <p:sldId id="407" r:id="rId5"/>
    <p:sldId id="408" r:id="rId6"/>
    <p:sldId id="409" r:id="rId7"/>
    <p:sldId id="405" r:id="rId8"/>
    <p:sldId id="399" r:id="rId9"/>
    <p:sldId id="398" r:id="rId10"/>
    <p:sldId id="400" r:id="rId11"/>
    <p:sldId id="401" r:id="rId12"/>
    <p:sldId id="402" r:id="rId13"/>
    <p:sldId id="403" r:id="rId14"/>
    <p:sldId id="404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5F6"/>
    <a:srgbClr val="FFFFFF"/>
    <a:srgbClr val="FBE3D6"/>
    <a:srgbClr val="F2CFEE"/>
    <a:srgbClr val="FF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1320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7087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上周会议纪要：</a:t>
            </a:r>
            <a:r>
              <a:rPr lang="zh-CN" altLang="en-US" sz="3200" dirty="0">
                <a:sym typeface="+mn-ea"/>
              </a:rPr>
              <a:t>2025</a:t>
            </a:r>
            <a:r>
              <a:rPr lang="en-US" altLang="zh-CN" sz="3200" dirty="0">
                <a:sym typeface="+mn-ea"/>
              </a:rPr>
              <a:t>1210</a:t>
            </a:r>
            <a:r>
              <a:rPr lang="zh-CN" altLang="en-US" sz="3200" dirty="0">
                <a:sym typeface="+mn-ea"/>
              </a:rPr>
              <a:t> 会议纪要 </a:t>
            </a:r>
            <a:r>
              <a:rPr lang="en-US" altLang="zh-CN" sz="3200" dirty="0">
                <a:sym typeface="+mn-ea"/>
              </a:rPr>
              <a:t>11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6690" y="1167130"/>
            <a:ext cx="11818620" cy="4200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调研了四篇相关性很强的最新工作的方法论、训练集、测试集、训练情况、测试结果等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重新运行了之前两个数据在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QwQ-32B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上的结果，实验结论和之前的相差不大，在我们的四类数据集上也有提升</a:t>
            </a:r>
            <a:endParaRPr lang="en-US" altLang="zh-CN" sz="2000" b="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2000" dirty="0">
                <a:latin typeface="+mn-ea"/>
                <a:cs typeface="+mn-ea"/>
                <a:sym typeface="+mn-ea"/>
              </a:rPr>
              <a:t>[</a:t>
            </a:r>
            <a:r>
              <a:rPr lang="en-US" altLang="zh-CN" sz="2000" dirty="0" err="1">
                <a:latin typeface="+mn-ea"/>
                <a:cs typeface="+mn-ea"/>
                <a:sym typeface="+mn-ea"/>
              </a:rPr>
              <a:t>todo</a:t>
            </a:r>
            <a:r>
              <a:rPr lang="en-US" altLang="zh-CN" sz="2000" dirty="0">
                <a:latin typeface="+mn-ea"/>
                <a:cs typeface="+mn-ea"/>
                <a:sym typeface="+mn-ea"/>
              </a:rPr>
              <a:t>] </a:t>
            </a:r>
            <a:r>
              <a:rPr lang="zh-CN" altLang="en-US" sz="2000" dirty="0">
                <a:latin typeface="+mn-ea"/>
                <a:cs typeface="+mn-ea"/>
                <a:sym typeface="+mn-ea"/>
              </a:rPr>
              <a:t>讨论后续发展方向</a:t>
            </a:r>
            <a:endParaRPr lang="en-US" altLang="zh-CN" sz="2000" dirty="0">
              <a:latin typeface="+mn-ea"/>
              <a:cs typeface="+mn-ea"/>
              <a:sym typeface="+mn-ea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[</a:t>
            </a:r>
            <a:r>
              <a:rPr lang="en-US" altLang="zh-CN" sz="2000" b="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todo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] 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调研相关工作的详细方法论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[</a:t>
            </a:r>
            <a:r>
              <a:rPr lang="en-US" altLang="zh-CN" sz="2000" b="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todo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] 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调研静态分析训练集、</a:t>
            </a:r>
            <a:r>
              <a:rPr lang="zh-CN" altLang="en-US" sz="2000" dirty="0">
                <a:latin typeface="+mn-ea"/>
                <a:cs typeface="+mn-ea"/>
                <a:sym typeface="+mn-ea"/>
              </a:rPr>
              <a:t>以及静态分析在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推理阶段相关工作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[</a:t>
            </a:r>
            <a:r>
              <a:rPr lang="en-US" altLang="zh-CN" sz="2000" b="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todo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] 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四种同类工作在基座模型上的训练和评估</a:t>
            </a:r>
            <a:endParaRPr lang="en-US" altLang="zh-CN" sz="2000" b="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2000" dirty="0">
                <a:latin typeface="+mn-ea"/>
                <a:cs typeface="+mn-ea"/>
                <a:sym typeface="+mn-ea"/>
              </a:rPr>
              <a:t>[</a:t>
            </a:r>
            <a:r>
              <a:rPr lang="en-US" altLang="zh-CN" sz="2000" dirty="0" err="1">
                <a:latin typeface="+mn-ea"/>
                <a:cs typeface="+mn-ea"/>
                <a:sym typeface="+mn-ea"/>
              </a:rPr>
              <a:t>todo</a:t>
            </a:r>
            <a:r>
              <a:rPr lang="en-US" altLang="zh-CN" sz="2000" dirty="0">
                <a:latin typeface="+mn-ea"/>
                <a:cs typeface="+mn-ea"/>
                <a:sym typeface="+mn-ea"/>
              </a:rPr>
              <a:t>] 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四种同类工作在代码分析测试集</a:t>
            </a:r>
            <a:r>
              <a:rPr lang="en-US" altLang="zh-CN" sz="2000" b="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CoRe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上的表现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2000" dirty="0">
                <a:latin typeface="+mn-ea"/>
                <a:cs typeface="+mn-ea"/>
                <a:sym typeface="+mn-ea"/>
              </a:rPr>
              <a:t>[</a:t>
            </a:r>
            <a:r>
              <a:rPr lang="en-US" altLang="zh-CN" sz="2000" dirty="0" err="1">
                <a:latin typeface="+mn-ea"/>
                <a:cs typeface="+mn-ea"/>
                <a:sym typeface="+mn-ea"/>
              </a:rPr>
              <a:t>todo</a:t>
            </a:r>
            <a:r>
              <a:rPr lang="en-US" altLang="zh-CN" sz="2000" dirty="0">
                <a:latin typeface="+mn-ea"/>
                <a:cs typeface="+mn-ea"/>
                <a:sym typeface="+mn-ea"/>
              </a:rPr>
              <a:t>] 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尝试各种参数调整模型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7640" y="8362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本周内容总结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7971534"/>
              </p:ext>
            </p:extLst>
          </p:nvPr>
        </p:nvGraphicFramePr>
        <p:xfrm>
          <a:off x="196850" y="668655"/>
          <a:ext cx="11798300" cy="55138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0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7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1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细节进展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[NEW]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上周体会到对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Semcoder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和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CodeReasoner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的方法论其实有一定参考性，可以详细看看。做了具体的方法论分析。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[NEW]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调研静态分析训练集、以及静态分析在推理阶段相关工作</a:t>
                      </a:r>
                      <a:endParaRPr lang="en-US" altLang="zh-CN" sz="1800" b="0" dirty="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[NEW]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设计并确认了主实验，并稳步进行实验</a:t>
                      </a:r>
                      <a:endParaRPr lang="en-US" altLang="zh-CN" sz="1800" b="0" dirty="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[NEW]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多次调参试图提升模型表现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42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总结与</a:t>
                      </a:r>
                      <a:r>
                        <a:rPr lang="en-US" altLang="zh-CN" sz="1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Todo</a:t>
                      </a:r>
                      <a:endParaRPr lang="en-US" altLang="zh-CN" sz="1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AutoNum type="arabicPeriod"/>
                      </a:pPr>
                      <a:endParaRPr lang="zh-CN" altLang="en-US" sz="1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3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评价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4805" y="302895"/>
            <a:ext cx="1050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进展一：</a:t>
            </a:r>
            <a:r>
              <a:rPr lang="en-US" altLang="zh-CN" sz="24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CodeReasoner</a:t>
            </a:r>
            <a:r>
              <a:rPr lang="zh-CN" altLang="en-US" sz="2400" dirty="0">
                <a:latin typeface="+mn-ea"/>
                <a:cs typeface="+mn-ea"/>
                <a:sym typeface="+mn-ea"/>
              </a:rPr>
              <a:t>方法论细节分享</a:t>
            </a:r>
            <a:endParaRPr lang="en-US" altLang="zh-CN" sz="2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8BB5FD-FDCC-C7C2-3F38-76B463B37F5E}"/>
              </a:ext>
            </a:extLst>
          </p:cNvPr>
          <p:cNvSpPr txBox="1"/>
          <p:nvPr/>
        </p:nvSpPr>
        <p:spPr>
          <a:xfrm>
            <a:off x="344805" y="871981"/>
            <a:ext cx="11655907" cy="1077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数据集构建和两阶段训练。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首先，引入了一种构建数据集的方法，该方法专注于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Python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程序的核心执行逻辑。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其次，应用指令调优来注入从强大的教师模型中提取的执行特定知识。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3.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然后，在微调后的模型之上，通过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GRPO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强化学习来增强推理和泛化能力。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19B839-B2EF-9254-D9D6-CF559AA015AD}"/>
              </a:ext>
            </a:extLst>
          </p:cNvPr>
          <p:cNvSpPr txBox="1"/>
          <p:nvPr/>
        </p:nvSpPr>
        <p:spPr>
          <a:xfrm>
            <a:off x="344804" y="2057910"/>
            <a:ext cx="11655907" cy="3385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测试集：</a:t>
            </a:r>
            <a:r>
              <a:rPr lang="en-US" altLang="zh-CN" sz="1600" dirty="0"/>
              <a:t>CRUXEval-O</a:t>
            </a:r>
            <a:r>
              <a:rPr lang="zh-CN" altLang="en-US" sz="1600" dirty="0"/>
              <a:t>、</a:t>
            </a:r>
            <a:r>
              <a:rPr lang="en-US" altLang="zh-CN" sz="1600" dirty="0"/>
              <a:t>CRUXEval-I</a:t>
            </a:r>
            <a:r>
              <a:rPr lang="zh-CN" altLang="en-US" sz="1600" dirty="0"/>
              <a:t>、</a:t>
            </a:r>
            <a:r>
              <a:rPr lang="en-US" altLang="zh-CN" sz="1600" dirty="0"/>
              <a:t>LiveCodeBench  [ pass @ 1 ]</a:t>
            </a:r>
            <a:endParaRPr lang="zh-CN" altLang="en-US" sz="1600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29970E-5940-D072-939A-377DF38FA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846" y="2665904"/>
            <a:ext cx="5927968" cy="28131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59A1495-FEEE-5EFB-8F9D-656262C81930}"/>
              </a:ext>
            </a:extLst>
          </p:cNvPr>
          <p:cNvSpPr txBox="1"/>
          <p:nvPr/>
        </p:nvSpPr>
        <p:spPr>
          <a:xfrm>
            <a:off x="344804" y="2665904"/>
            <a:ext cx="60949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实验评估：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6F9E9C-4652-7935-6674-AD8366B7EF98}"/>
              </a:ext>
            </a:extLst>
          </p:cNvPr>
          <p:cNvSpPr txBox="1"/>
          <p:nvPr/>
        </p:nvSpPr>
        <p:spPr>
          <a:xfrm>
            <a:off x="8090864" y="3584798"/>
            <a:ext cx="3661740" cy="1901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值得一提的是。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虽然论文论文中提到的评估结果如此之高</a:t>
            </a:r>
            <a:r>
              <a:rPr lang="en-US" altLang="zh-CN" sz="1600" dirty="0"/>
              <a:t>-</a:t>
            </a:r>
            <a:r>
              <a:rPr lang="zh-CN" altLang="en-US" sz="1600" dirty="0"/>
              <a:t>正确率</a:t>
            </a:r>
            <a:r>
              <a:rPr lang="en-US" altLang="zh-CN" sz="1600" dirty="0"/>
              <a:t>0.9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但在我们实际下了论文配套模型测试的时候，</a:t>
            </a:r>
            <a:r>
              <a:rPr lang="zh-CN" altLang="en-US" sz="1600" b="1" dirty="0">
                <a:solidFill>
                  <a:srgbClr val="C00000"/>
                </a:solidFill>
              </a:rPr>
              <a:t>结果很一般：</a:t>
            </a:r>
            <a:r>
              <a:rPr lang="en-US" altLang="zh-CN" sz="1600" b="1" dirty="0">
                <a:solidFill>
                  <a:srgbClr val="C00000"/>
                </a:solidFill>
              </a:rPr>
              <a:t>0.5-0.6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F1C168D-BCE7-0525-357A-CA605F2FE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872" y="5874844"/>
            <a:ext cx="9256732" cy="523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4805" y="302895"/>
            <a:ext cx="1050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进展一：</a:t>
            </a:r>
            <a:r>
              <a:rPr lang="en-US" altLang="zh-CN" sz="24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CodeReasoner</a:t>
            </a:r>
            <a:r>
              <a:rPr lang="zh-CN" altLang="en-US" sz="2400" dirty="0">
                <a:latin typeface="+mn-ea"/>
                <a:cs typeface="+mn-ea"/>
                <a:sym typeface="+mn-ea"/>
              </a:rPr>
              <a:t>方法论细节分享</a:t>
            </a:r>
            <a:endParaRPr lang="en-US" altLang="zh-CN" sz="2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8BB5FD-FDCC-C7C2-3F38-76B463B37F5E}"/>
              </a:ext>
            </a:extLst>
          </p:cNvPr>
          <p:cNvSpPr txBox="1"/>
          <p:nvPr/>
        </p:nvSpPr>
        <p:spPr>
          <a:xfrm>
            <a:off x="344805" y="871981"/>
            <a:ext cx="11655907" cy="1077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数据集构建和两阶段训练。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首先，引入了一种构建数据集的方法，该方法专注于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Python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程序的核心执行逻辑。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其次，应用指令调优来注入从强大的教师模型中提取的执行特定知识。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3.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然后，在微调后的模型之上，通过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GRPO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强化学习来增强推理和泛化能力。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5A71E1-A395-6C55-34AE-9D28DC9D1C82}"/>
              </a:ext>
            </a:extLst>
          </p:cNvPr>
          <p:cNvSpPr txBox="1"/>
          <p:nvPr/>
        </p:nvSpPr>
        <p:spPr>
          <a:xfrm>
            <a:off x="344804" y="2184723"/>
            <a:ext cx="11655907" cy="22708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+mn-ea"/>
              </a:rPr>
              <a:t>步骤一：数据集构建</a:t>
            </a:r>
            <a:r>
              <a:rPr lang="en-US" altLang="zh-CN" sz="1600" dirty="0">
                <a:latin typeface="+mn-ea"/>
              </a:rPr>
              <a:t>-</a:t>
            </a:r>
            <a:r>
              <a:rPr lang="zh-CN" altLang="en-US" sz="1600" dirty="0"/>
              <a:t>系统化的约束生成</a:t>
            </a:r>
            <a:endParaRPr lang="en-US" altLang="zh-CN" sz="1600" dirty="0"/>
          </a:p>
          <a:p>
            <a:pPr lvl="1">
              <a:lnSpc>
                <a:spcPct val="150000"/>
              </a:lnSpc>
            </a:pPr>
            <a:r>
              <a:rPr lang="zh-CN" altLang="en-US" sz="1600" dirty="0"/>
              <a:t>通过迭代</a:t>
            </a:r>
            <a:r>
              <a:rPr lang="en-US" altLang="zh-CN" sz="1600" dirty="0"/>
              <a:t>Python</a:t>
            </a:r>
            <a:r>
              <a:rPr lang="zh-CN" altLang="en-US" sz="1600" dirty="0"/>
              <a:t>所有内置类型及其方法</a:t>
            </a:r>
            <a:r>
              <a:rPr lang="en-US" altLang="zh-CN" sz="1600" dirty="0"/>
              <a:t>,</a:t>
            </a:r>
            <a:r>
              <a:rPr lang="zh-CN" altLang="en-US" sz="1600" dirty="0"/>
              <a:t>利用</a:t>
            </a:r>
            <a:r>
              <a:rPr lang="en-US" altLang="zh-CN" sz="1600" dirty="0"/>
              <a:t>LLM</a:t>
            </a:r>
            <a:r>
              <a:rPr lang="zh-CN" altLang="en-US" sz="1600" dirty="0"/>
              <a:t>在约束条件下生成测试用例，构建了一个简洁、全面且难度可控的数据集。</a:t>
            </a:r>
            <a:endParaRPr lang="en-US" altLang="zh-CN" sz="1600" dirty="0"/>
          </a:p>
          <a:p>
            <a:pPr marL="800100" lvl="1" indent="-342900">
              <a:lnSpc>
                <a:spcPct val="150000"/>
              </a:lnSpc>
              <a:buAutoNum type="arabicParenBoth"/>
            </a:pPr>
            <a:r>
              <a:rPr lang="zh-CN" altLang="en-US" sz="1600" dirty="0"/>
              <a:t>方法调用约束：通过</a:t>
            </a:r>
            <a:r>
              <a:rPr lang="en-US" altLang="zh-CN" sz="1600" dirty="0" err="1"/>
              <a:t>useNestedCalls</a:t>
            </a:r>
            <a:r>
              <a:rPr lang="zh-CN" altLang="en-US" sz="1600" dirty="0"/>
              <a:t>和</a:t>
            </a:r>
            <a:r>
              <a:rPr lang="en-US" altLang="zh-CN" sz="1600" dirty="0" err="1"/>
              <a:t>useOtherMethods</a:t>
            </a:r>
            <a:r>
              <a:rPr lang="zh-CN" altLang="en-US" sz="1600" dirty="0"/>
              <a:t>参数控制嵌套调用和方法交互的复杂度</a:t>
            </a:r>
            <a:r>
              <a:rPr lang="en-US" altLang="zh-CN" sz="1600" dirty="0"/>
              <a:t>;</a:t>
            </a:r>
          </a:p>
          <a:p>
            <a:pPr marL="800100" lvl="1" indent="-342900">
              <a:lnSpc>
                <a:spcPct val="150000"/>
              </a:lnSpc>
              <a:buAutoNum type="arabicParenBoth"/>
            </a:pPr>
            <a:r>
              <a:rPr lang="zh-CN" altLang="en-US" sz="1600" dirty="0"/>
              <a:t>控制结构约束：随机生成嵌套深度 </a:t>
            </a:r>
            <a:r>
              <a:rPr lang="en-US" altLang="zh-CN" sz="1600" dirty="0"/>
              <a:t>V (0</a:t>
            </a:r>
            <a:r>
              <a:rPr lang="zh-CN" altLang="en-US" sz="1600" dirty="0"/>
              <a:t>到最大值 </a:t>
            </a:r>
            <a:r>
              <a:rPr lang="en-US" altLang="zh-CN" sz="1600" dirty="0"/>
              <a:t>N),</a:t>
            </a:r>
            <a:r>
              <a:rPr lang="zh-CN" altLang="en-US" sz="1600" dirty="0"/>
              <a:t>并从预定义列表</a:t>
            </a:r>
            <a:r>
              <a:rPr lang="en-US" altLang="zh-CN" sz="1600" dirty="0"/>
              <a:t>(</a:t>
            </a:r>
            <a:r>
              <a:rPr lang="zh-CN" altLang="en-US" sz="1600" dirty="0"/>
              <a:t>如</a:t>
            </a:r>
            <a:r>
              <a:rPr lang="en-US" altLang="zh-CN" sz="1600" dirty="0"/>
              <a:t>[if, while, for])</a:t>
            </a:r>
            <a:r>
              <a:rPr lang="zh-CN" altLang="en-US" sz="1600" dirty="0"/>
              <a:t>中选择控制类型序列</a:t>
            </a:r>
            <a:r>
              <a:rPr lang="en-US" altLang="zh-CN" sz="1600" dirty="0"/>
              <a:t>;</a:t>
            </a:r>
          </a:p>
          <a:p>
            <a:pPr marL="800100" lvl="1" indent="-342900">
              <a:lnSpc>
                <a:spcPct val="150000"/>
              </a:lnSpc>
              <a:buAutoNum type="arabicParenBoth"/>
            </a:pPr>
            <a:r>
              <a:rPr lang="zh-CN" altLang="en-US" sz="1600" dirty="0"/>
              <a:t>变异增强：对每个基础测试用例应用变异，对字符串输入生成</a:t>
            </a:r>
            <a:r>
              <a:rPr lang="en-US" altLang="zh-CN" sz="1600" dirty="0"/>
              <a:t>5-20</a:t>
            </a:r>
            <a:r>
              <a:rPr lang="zh-CN" altLang="en-US" sz="1600" dirty="0"/>
              <a:t>字符随机值</a:t>
            </a:r>
            <a:r>
              <a:rPr lang="en-US" altLang="zh-CN" sz="1600" dirty="0"/>
              <a:t>,</a:t>
            </a:r>
            <a:r>
              <a:rPr lang="zh-CN" altLang="en-US" sz="1600" dirty="0"/>
              <a:t>对整数输入在原值 </a:t>
            </a:r>
            <a:r>
              <a:rPr lang="en-US" altLang="zh-CN" sz="1600" dirty="0"/>
              <a:t>+-5 </a:t>
            </a:r>
            <a:r>
              <a:rPr lang="zh-CN" altLang="en-US" sz="1600" dirty="0"/>
              <a:t>范围内采样。</a:t>
            </a:r>
            <a:endParaRPr lang="en-US" altLang="zh-CN" sz="1600" dirty="0"/>
          </a:p>
          <a:p>
            <a:pPr marL="800100" lvl="1" indent="-342900">
              <a:lnSpc>
                <a:spcPct val="150000"/>
              </a:lnSpc>
              <a:buAutoNum type="arabicParenBoth"/>
            </a:pPr>
            <a:r>
              <a:rPr lang="zh-CN" altLang="en-US" sz="1600" dirty="0"/>
              <a:t>最终通过执行验证过滤掉运行时错误和输出超过</a:t>
            </a:r>
            <a:r>
              <a:rPr lang="en-US" altLang="zh-CN" sz="1600" dirty="0"/>
              <a:t>50</a:t>
            </a:r>
            <a:r>
              <a:rPr lang="zh-CN" altLang="en-US" sz="1600" dirty="0"/>
              <a:t>字符的用例，确保数据集聚焦于核心执行逻辑。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848D74-5639-804F-1A74-A6F2D084A72A}"/>
              </a:ext>
            </a:extLst>
          </p:cNvPr>
          <p:cNvSpPr txBox="1"/>
          <p:nvPr/>
        </p:nvSpPr>
        <p:spPr>
          <a:xfrm>
            <a:off x="485577" y="4714171"/>
            <a:ext cx="3935074" cy="11628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他对难度的把控仅依赖于嵌套深度，认为比较粗糙。指令</a:t>
            </a:r>
            <a:r>
              <a:rPr lang="en-US" altLang="zh-CN" sz="1600" dirty="0" err="1"/>
              <a:t>llm</a:t>
            </a:r>
            <a:r>
              <a:rPr lang="zh-CN" altLang="en-US" sz="1600" dirty="0"/>
              <a:t>生成需要的控制类代码，这对多样性的控制也较粗糙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AF0FD20-51F8-A449-2F29-D580A7F22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649" y="4714172"/>
            <a:ext cx="2556283" cy="10321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AA7CC19-E272-DB9B-BA0E-4E6EE481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649" y="5821072"/>
            <a:ext cx="2133768" cy="103692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C3F54A0-A4E2-7808-93FA-31BFB912D8DD}"/>
              </a:ext>
            </a:extLst>
          </p:cNvPr>
          <p:cNvSpPr txBox="1"/>
          <p:nvPr/>
        </p:nvSpPr>
        <p:spPr>
          <a:xfrm>
            <a:off x="7331848" y="4714170"/>
            <a:ext cx="3935074" cy="793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聚焦于函数问题（我们为可执行的代码）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聚焦于输入输出预测（我们为变量预测）</a:t>
            </a:r>
          </a:p>
        </p:txBody>
      </p:sp>
    </p:spTree>
    <p:extLst>
      <p:ext uri="{BB962C8B-B14F-4D97-AF65-F5344CB8AC3E}">
        <p14:creationId xmlns:p14="http://schemas.microsoft.com/office/powerpoint/2010/main" val="119606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4805" y="302895"/>
            <a:ext cx="1050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进展一：</a:t>
            </a:r>
            <a:r>
              <a:rPr lang="en-US" altLang="zh-CN" sz="24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CodeReasoner</a:t>
            </a:r>
            <a:r>
              <a:rPr lang="zh-CN" altLang="en-US" sz="2400" dirty="0">
                <a:latin typeface="+mn-ea"/>
                <a:cs typeface="+mn-ea"/>
                <a:sym typeface="+mn-ea"/>
              </a:rPr>
              <a:t>方法论细节分享</a:t>
            </a:r>
            <a:endParaRPr lang="en-US" altLang="zh-CN" sz="2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8BB5FD-FDCC-C7C2-3F38-76B463B37F5E}"/>
              </a:ext>
            </a:extLst>
          </p:cNvPr>
          <p:cNvSpPr txBox="1"/>
          <p:nvPr/>
        </p:nvSpPr>
        <p:spPr>
          <a:xfrm>
            <a:off x="344805" y="871981"/>
            <a:ext cx="11655907" cy="1077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数据集构建和两阶段训练。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首先，引入了一种构建数据集的方法，该方法专注于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Python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程序的核心执行逻辑。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其次，应用指令调优来注入从强大的教师模型中提取的执行特定知识。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3.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然后，在微调后的模型之上，通过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GRPO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强化学习来增强推理和泛化能力。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5A71E1-A395-6C55-34AE-9D28DC9D1C82}"/>
              </a:ext>
            </a:extLst>
          </p:cNvPr>
          <p:cNvSpPr txBox="1"/>
          <p:nvPr/>
        </p:nvSpPr>
        <p:spPr>
          <a:xfrm>
            <a:off x="344805" y="2184723"/>
            <a:ext cx="7579996" cy="22708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+mn-ea"/>
              </a:rPr>
              <a:t>步骤二：</a:t>
            </a:r>
            <a:r>
              <a:rPr lang="zh-CN" altLang="en-US" sz="1600" b="1" dirty="0"/>
              <a:t>指令微调 </a:t>
            </a:r>
            <a:r>
              <a:rPr lang="en-US" altLang="zh-CN" sz="1600" dirty="0"/>
              <a:t>- </a:t>
            </a:r>
            <a:r>
              <a:rPr lang="zh-CN" altLang="en-US" sz="1600" dirty="0"/>
              <a:t>注入推理模式</a:t>
            </a:r>
            <a:endParaRPr lang="en-US" altLang="zh-CN" sz="1600" dirty="0"/>
          </a:p>
          <a:p>
            <a:pPr marL="800100" lvl="1" indent="-342900">
              <a:lnSpc>
                <a:spcPct val="150000"/>
              </a:lnSpc>
              <a:buAutoNum type="arabicParenBoth"/>
            </a:pPr>
            <a:r>
              <a:rPr lang="zh-CN" altLang="en-US" sz="1600" dirty="0"/>
              <a:t>从强大的教师模型中提取推理知识</a:t>
            </a:r>
            <a:r>
              <a:rPr lang="en-US" altLang="zh-CN" sz="1600" dirty="0"/>
              <a:t>,</a:t>
            </a:r>
            <a:r>
              <a:rPr lang="zh-CN" altLang="en-US" sz="1600" dirty="0"/>
              <a:t>通过两个互补任务训练学生模型</a:t>
            </a:r>
            <a:endParaRPr lang="en-US" altLang="zh-CN" sz="1600" dirty="0"/>
          </a:p>
          <a:p>
            <a:pPr marL="800100" lvl="1" indent="-342900">
              <a:lnSpc>
                <a:spcPct val="150000"/>
              </a:lnSpc>
              <a:buAutoNum type="arabicParenBoth"/>
            </a:pPr>
            <a:r>
              <a:rPr lang="zh-CN" altLang="en-US" sz="1600" b="1" dirty="0"/>
              <a:t>前向推理</a:t>
            </a:r>
            <a:r>
              <a:rPr lang="en-US" altLang="zh-CN" sz="1600" dirty="0"/>
              <a:t>:</a:t>
            </a:r>
            <a:r>
              <a:rPr lang="zh-CN" altLang="en-US" sz="1600" dirty="0"/>
              <a:t>给定输入预测程序输出</a:t>
            </a:r>
            <a:r>
              <a:rPr lang="en-US" altLang="zh-CN" sz="1600" dirty="0"/>
              <a:t>,</a:t>
            </a:r>
            <a:r>
              <a:rPr lang="zh-CN" altLang="en-US" sz="1600" dirty="0"/>
              <a:t>学习逐步模拟代码执行</a:t>
            </a:r>
            <a:r>
              <a:rPr lang="en-US" altLang="zh-CN" sz="1600" dirty="0"/>
              <a:t>;</a:t>
            </a:r>
          </a:p>
          <a:p>
            <a:pPr marL="800100" lvl="1" indent="-342900">
              <a:lnSpc>
                <a:spcPct val="150000"/>
              </a:lnSpc>
              <a:buAutoNum type="arabicParenBoth"/>
            </a:pPr>
            <a:r>
              <a:rPr lang="zh-CN" altLang="en-US" sz="1600" b="1" dirty="0"/>
              <a:t>反向推理</a:t>
            </a:r>
            <a:r>
              <a:rPr lang="en-US" altLang="zh-CN" sz="1600" dirty="0"/>
              <a:t>:</a:t>
            </a:r>
            <a:r>
              <a:rPr lang="zh-CN" altLang="en-US" sz="1600" dirty="0"/>
              <a:t>给定输出推测可能的输入</a:t>
            </a:r>
            <a:r>
              <a:rPr lang="en-US" altLang="zh-CN" sz="1600" dirty="0"/>
              <a:t>,</a:t>
            </a:r>
            <a:r>
              <a:rPr lang="zh-CN" altLang="en-US" sz="1600" dirty="0"/>
              <a:t>强化逻辑推理能力。</a:t>
            </a:r>
            <a:endParaRPr lang="en-US" altLang="zh-CN" sz="1600" dirty="0"/>
          </a:p>
          <a:p>
            <a:pPr marL="800100" lvl="1" indent="-342900">
              <a:lnSpc>
                <a:spcPct val="150000"/>
              </a:lnSpc>
              <a:buAutoNum type="arabicParenBoth"/>
            </a:pPr>
            <a:r>
              <a:rPr lang="zh-CN" altLang="en-US" sz="1600" dirty="0"/>
              <a:t>采用拒绝采样</a:t>
            </a:r>
            <a:r>
              <a:rPr lang="en-US" altLang="zh-CN" sz="1600" dirty="0"/>
              <a:t>(rejection sampling)</a:t>
            </a:r>
            <a:r>
              <a:rPr lang="zh-CN" altLang="en-US" sz="1600" dirty="0"/>
              <a:t>保证思维链质量</a:t>
            </a:r>
            <a:r>
              <a:rPr lang="en-US" altLang="zh-CN" sz="1600" dirty="0"/>
              <a:t>——</a:t>
            </a:r>
            <a:r>
              <a:rPr lang="zh-CN" altLang="en-US" sz="1600" dirty="0"/>
              <a:t>仅当教师模型生成的推理链中嵌入的</a:t>
            </a:r>
            <a:r>
              <a:rPr lang="en-US" altLang="zh-CN" sz="1600" dirty="0"/>
              <a:t>Python</a:t>
            </a:r>
            <a:r>
              <a:rPr lang="zh-CN" altLang="en-US" sz="1600" dirty="0"/>
              <a:t>代码能无错执行时</a:t>
            </a:r>
            <a:r>
              <a:rPr lang="en-US" altLang="zh-CN" sz="1600" dirty="0"/>
              <a:t>,</a:t>
            </a:r>
            <a:r>
              <a:rPr lang="zh-CN" altLang="en-US" sz="1600" dirty="0"/>
              <a:t>才将其加入训练集。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3F54A0-A4E2-7808-93FA-31BFB912D8DD}"/>
              </a:ext>
            </a:extLst>
          </p:cNvPr>
          <p:cNvSpPr txBox="1"/>
          <p:nvPr/>
        </p:nvSpPr>
        <p:spPr>
          <a:xfrm>
            <a:off x="344805" y="4691061"/>
            <a:ext cx="3935074" cy="11628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用到了前向和反向的思路，但这高度绑定于他们训练集情况，由于是函数类可以做到预测输入输出。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3012D2-E395-7A1D-1874-790AE2403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109" y="1987568"/>
            <a:ext cx="3220813" cy="2554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920E4D2-FF1F-FBB3-D61A-2A22EF15420C}"/>
              </a:ext>
            </a:extLst>
          </p:cNvPr>
          <p:cNvSpPr txBox="1"/>
          <p:nvPr/>
        </p:nvSpPr>
        <p:spPr>
          <a:xfrm>
            <a:off x="4451985" y="4691061"/>
            <a:ext cx="2070735" cy="11628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用拒绝采样来保证</a:t>
            </a:r>
            <a:r>
              <a:rPr lang="en-US" altLang="zh-CN" sz="1600" dirty="0">
                <a:solidFill>
                  <a:schemeClr val="tx1"/>
                </a:solidFill>
              </a:rPr>
              <a:t>cot</a:t>
            </a:r>
            <a:r>
              <a:rPr lang="zh-CN" altLang="en-US" sz="1600" dirty="0">
                <a:solidFill>
                  <a:schemeClr val="tx1"/>
                </a:solidFill>
              </a:rPr>
              <a:t>的质量，感觉是一个可以参考的点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C61172-D778-D5AE-3321-06EF4906ACE6}"/>
              </a:ext>
            </a:extLst>
          </p:cNvPr>
          <p:cNvSpPr txBox="1"/>
          <p:nvPr/>
        </p:nvSpPr>
        <p:spPr>
          <a:xfrm>
            <a:off x="6694826" y="4691060"/>
            <a:ext cx="2502514" cy="11628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这种教师</a:t>
            </a:r>
            <a:r>
              <a:rPr lang="en-US" altLang="zh-CN" sz="1600" dirty="0">
                <a:solidFill>
                  <a:schemeClr val="tx1"/>
                </a:solidFill>
              </a:rPr>
              <a:t>-</a:t>
            </a:r>
            <a:r>
              <a:rPr lang="zh-CN" altLang="en-US" sz="1600" dirty="0">
                <a:solidFill>
                  <a:schemeClr val="tx1"/>
                </a:solidFill>
              </a:rPr>
              <a:t>学生微调类型的方案感觉很常见，这篇工作没对这个做太大创新</a:t>
            </a:r>
          </a:p>
        </p:txBody>
      </p:sp>
    </p:spTree>
    <p:extLst>
      <p:ext uri="{BB962C8B-B14F-4D97-AF65-F5344CB8AC3E}">
        <p14:creationId xmlns:p14="http://schemas.microsoft.com/office/powerpoint/2010/main" val="2700072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4805" y="302895"/>
            <a:ext cx="1050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进展一：</a:t>
            </a:r>
            <a:r>
              <a:rPr lang="en-US" altLang="zh-CN" sz="2400" b="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CodeReasoner</a:t>
            </a:r>
            <a:r>
              <a:rPr lang="zh-CN" altLang="en-US" sz="2400" dirty="0">
                <a:latin typeface="+mn-ea"/>
                <a:cs typeface="+mn-ea"/>
                <a:sym typeface="+mn-ea"/>
              </a:rPr>
              <a:t>方法论细节分享</a:t>
            </a:r>
            <a:endParaRPr lang="en-US" altLang="zh-CN" sz="2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8BB5FD-FDCC-C7C2-3F38-76B463B37F5E}"/>
              </a:ext>
            </a:extLst>
          </p:cNvPr>
          <p:cNvSpPr txBox="1"/>
          <p:nvPr/>
        </p:nvSpPr>
        <p:spPr>
          <a:xfrm>
            <a:off x="344805" y="871981"/>
            <a:ext cx="11655907" cy="1077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数据集构建和两阶段训练。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首先，引入了一种构建数据集的方法，该方法专注于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Python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程序的核心执行逻辑。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其次，应用指令调优来注入从强大的教师模型中提取的执行特定知识。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3.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然后，在微调后的模型之上，通过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GRPO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强化学习来增强推理和泛化能力。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5A71E1-A395-6C55-34AE-9D28DC9D1C82}"/>
              </a:ext>
            </a:extLst>
          </p:cNvPr>
          <p:cNvSpPr txBox="1"/>
          <p:nvPr/>
        </p:nvSpPr>
        <p:spPr>
          <a:xfrm>
            <a:off x="344805" y="2184723"/>
            <a:ext cx="10559416" cy="19014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+mn-ea"/>
              </a:rPr>
              <a:t>步骤三：</a:t>
            </a:r>
            <a:r>
              <a:rPr lang="zh-CN" altLang="en-US" sz="1600" b="1" dirty="0"/>
              <a:t>强化学习优化 </a:t>
            </a:r>
            <a:r>
              <a:rPr lang="en-US" altLang="zh-CN" sz="1600" dirty="0"/>
              <a:t>- </a:t>
            </a:r>
            <a:r>
              <a:rPr lang="zh-CN" altLang="en-US" sz="1600" dirty="0"/>
              <a:t>增强泛化与控制</a:t>
            </a:r>
            <a:endParaRPr lang="en-US" altLang="zh-CN" sz="1600" dirty="0"/>
          </a:p>
          <a:p>
            <a:pPr marL="800100" lvl="1" indent="-342900">
              <a:lnSpc>
                <a:spcPct val="150000"/>
              </a:lnSpc>
              <a:buAutoNum type="arabicParenBoth"/>
            </a:pPr>
            <a:r>
              <a:rPr lang="zh-CN" altLang="en-US" sz="1600" dirty="0"/>
              <a:t>采用</a:t>
            </a:r>
            <a:r>
              <a:rPr lang="en-US" altLang="zh-CN" sz="1600" dirty="0"/>
              <a:t>GRPO</a:t>
            </a:r>
            <a:r>
              <a:rPr lang="zh-CN" altLang="en-US" sz="1600" dirty="0"/>
              <a:t>算法解决指令微调的两大局限</a:t>
            </a:r>
            <a:r>
              <a:rPr lang="en-US" altLang="zh-CN" sz="1600" dirty="0"/>
              <a:t>:</a:t>
            </a:r>
            <a:r>
              <a:rPr lang="zh-CN" altLang="en-US" sz="1600" dirty="0"/>
              <a:t>泛化能力弱和过度思考。</a:t>
            </a:r>
            <a:endParaRPr lang="en-US" altLang="zh-CN" sz="1600" dirty="0"/>
          </a:p>
          <a:p>
            <a:pPr marL="800100" lvl="1" indent="-342900">
              <a:lnSpc>
                <a:spcPct val="150000"/>
              </a:lnSpc>
              <a:buAutoNum type="arabicParenBoth"/>
            </a:pPr>
            <a:r>
              <a:rPr lang="zh-CN" altLang="en-US" sz="1600" dirty="0"/>
              <a:t>核心机制包括：</a:t>
            </a:r>
            <a:r>
              <a:rPr lang="zh-CN" altLang="en-US" sz="1600" b="1" dirty="0"/>
              <a:t>群体相对优势估计</a:t>
            </a:r>
            <a:r>
              <a:rPr lang="zh-CN" altLang="en-US" sz="1600" dirty="0"/>
              <a:t>（通过归一化奖励引导模型优化）、</a:t>
            </a:r>
            <a:r>
              <a:rPr lang="zh-CN" altLang="en-US" sz="1600" b="1" dirty="0"/>
              <a:t>裁剪目标函数</a:t>
            </a:r>
            <a:r>
              <a:rPr lang="zh-CN" altLang="en-US" sz="1600" dirty="0"/>
              <a:t>（结合</a:t>
            </a:r>
            <a:r>
              <a:rPr lang="en-US" altLang="zh-CN" sz="1600" dirty="0"/>
              <a:t>KL</a:t>
            </a:r>
            <a:r>
              <a:rPr lang="zh-CN" altLang="en-US" sz="1600" dirty="0"/>
              <a:t>散度正则化平衡有效学习与策略稳定性）、</a:t>
            </a:r>
            <a:r>
              <a:rPr lang="zh-CN" altLang="en-US" sz="1600" b="1" dirty="0"/>
              <a:t>二元奖励机制</a:t>
            </a:r>
            <a:r>
              <a:rPr lang="zh-CN" altLang="en-US" sz="1600" dirty="0"/>
              <a:t>（仅当</a:t>
            </a:r>
            <a:r>
              <a:rPr lang="en-US" altLang="zh-CN" sz="1600" dirty="0"/>
              <a:t>&lt;Answer&gt;</a:t>
            </a:r>
            <a:r>
              <a:rPr lang="zh-CN" altLang="en-US" sz="1600" dirty="0"/>
              <a:t>标签内答案正确时给予</a:t>
            </a:r>
            <a:r>
              <a:rPr lang="en-US" altLang="zh-CN" sz="1600" dirty="0"/>
              <a:t>2.0</a:t>
            </a:r>
            <a:r>
              <a:rPr lang="zh-CN" altLang="en-US" sz="1600" dirty="0"/>
              <a:t>分</a:t>
            </a:r>
            <a:r>
              <a:rPr lang="en-US" altLang="zh-CN" sz="1600" dirty="0"/>
              <a:t>,</a:t>
            </a:r>
            <a:r>
              <a:rPr lang="zh-CN" altLang="en-US" sz="1600" dirty="0"/>
              <a:t>错误或超长答案给</a:t>
            </a:r>
            <a:r>
              <a:rPr lang="en-US" altLang="zh-CN" sz="1600" dirty="0"/>
              <a:t>0</a:t>
            </a:r>
            <a:r>
              <a:rPr lang="zh-CN" altLang="en-US" sz="1600" dirty="0"/>
              <a:t>分</a:t>
            </a:r>
            <a:r>
              <a:rPr lang="en-US" altLang="zh-CN" sz="1600" dirty="0"/>
              <a:t>,</a:t>
            </a:r>
            <a:r>
              <a:rPr lang="zh-CN" altLang="en-US" sz="1600" dirty="0"/>
              <a:t>隐式惩罚冗余输出）</a:t>
            </a:r>
            <a:endParaRPr lang="zh-CN" altLang="en-US" sz="1600" dirty="0"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F114D35-8AD9-F936-0D73-C5686E281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81" y="4321730"/>
            <a:ext cx="3729856" cy="93246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A4526B-68D8-E21B-16E5-597C0EE4B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57" y="4183724"/>
            <a:ext cx="5341810" cy="15007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64FA991-29EF-F6DC-0681-CFD32B178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3762" y="4321730"/>
            <a:ext cx="2716950" cy="7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88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6055" y="119380"/>
            <a:ext cx="1050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进展二：</a:t>
            </a:r>
            <a:r>
              <a:rPr lang="zh-CN" altLang="en-US" sz="2400" dirty="0">
                <a:sym typeface="+mn-ea"/>
              </a:rPr>
              <a:t>实验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6055" y="622935"/>
            <a:ext cx="117627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重新运行了之前两个数据在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QwQ-32B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上的结果，实验结论和之前的相差不大，在我们的四类数据集上也有提升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QwQ-32B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预训练阶段强化了数学和逻辑推理，但在代码推理特定任务上，原生的指令遵循能力较弱，但是它有强大的潜在推理能力，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微调能够教会它一步步跟踪执行路径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，因此激活了他的推理能力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Qwen2.5-7B-Instruct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在预训练阶段很可能已经见过大量类似的代码理解任务，微调让它接近自身在该任务上的极限。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认为是之前的数据集难度极高，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32B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模型能够学到的更多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" y="2350135"/>
            <a:ext cx="8065135" cy="14947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25" y="4018915"/>
            <a:ext cx="8004810" cy="28428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54720" y="3711575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数据集任务</a:t>
            </a:r>
          </a:p>
          <a:p>
            <a:r>
              <a:rPr lang="zh-CN" altLang="en-US"/>
              <a:t>训练任务</a:t>
            </a:r>
          </a:p>
          <a:p>
            <a:r>
              <a:rPr lang="en-US" altLang="zh-CN"/>
              <a:t>1. Qwen3-8B</a:t>
            </a:r>
            <a:r>
              <a:rPr lang="zh-CN" altLang="en-US"/>
              <a:t>（</a:t>
            </a:r>
            <a:r>
              <a:rPr lang="en-US" altLang="zh-CN"/>
              <a:t>code</a:t>
            </a:r>
            <a:r>
              <a:rPr lang="zh-CN" altLang="en-US"/>
              <a:t>）</a:t>
            </a:r>
          </a:p>
          <a:p>
            <a:r>
              <a:rPr lang="en-US" altLang="zh-CN"/>
              <a:t>2. 235-1</a:t>
            </a:r>
            <a:r>
              <a:rPr lang="zh-CN" altLang="en-US"/>
              <a:t>、</a:t>
            </a:r>
            <a:r>
              <a:rPr lang="en-US" altLang="zh-CN"/>
              <a:t>235-2</a:t>
            </a:r>
          </a:p>
          <a:p>
            <a:r>
              <a:rPr lang="en-US" altLang="zh-CN"/>
              <a:t>3. claude-1000-format</a:t>
            </a:r>
          </a:p>
          <a:p>
            <a:r>
              <a:rPr lang="en-US" altLang="zh-CN"/>
              <a:t>4. claude-1000-natural</a:t>
            </a:r>
            <a:endParaRPr lang="zh-CN" altLang="en-US"/>
          </a:p>
          <a:p>
            <a:r>
              <a:rPr lang="zh-CN" altLang="en-US"/>
              <a:t>评估任务</a:t>
            </a:r>
            <a:r>
              <a:rPr lang="en-US" altLang="zh-CN"/>
              <a:t> </a:t>
            </a:r>
          </a:p>
          <a:p>
            <a:r>
              <a:rPr lang="en-US" altLang="zh-CN"/>
              <a:t>1. Qwen3-8B </a:t>
            </a:r>
            <a:r>
              <a:rPr lang="zh-CN" altLang="en-US"/>
              <a:t>的四个训练模型</a:t>
            </a:r>
          </a:p>
          <a:p>
            <a:r>
              <a:rPr lang="en-US" altLang="zh-CN"/>
              <a:t>2. </a:t>
            </a:r>
            <a:r>
              <a:rPr lang="zh-CN" altLang="en-US"/>
              <a:t>同类工作的四个模型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CodeReasoner: Enhancing the Code Reasoning Ability with Reinforcement Learning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2025.07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6573" y="808918"/>
            <a:ext cx="11655907" cy="1077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数据集构建和两阶段训练。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首先，引入了一种构建数据集的方法，该方法专注于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Python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程序的核心执行逻辑。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其次，应用指令调优来注入从强大的教师模型中提取的执行特定知识。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3.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然后，在微调后的模型之上，通过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GRPO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强化学习来增强推理和泛化能力。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6573" y="2110877"/>
            <a:ext cx="11655907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训练集：生成逻辑满足简洁性、全面性、可控性、难度多样性四大核心特征</a:t>
            </a:r>
            <a:endParaRPr lang="en-US" altLang="zh-CN" sz="1600" dirty="0"/>
          </a:p>
          <a:p>
            <a:r>
              <a:rPr lang="en-US" altLang="zh-CN" sz="1600" dirty="0"/>
              <a:t>	</a:t>
            </a:r>
            <a:r>
              <a:rPr lang="zh-CN" altLang="en-US" sz="1600" dirty="0"/>
              <a:t>阶段</a:t>
            </a:r>
            <a:r>
              <a:rPr lang="en-US" altLang="zh-CN" sz="1600" dirty="0"/>
              <a:t>1</a:t>
            </a:r>
            <a:r>
              <a:rPr lang="zh-CN" altLang="en-US" sz="1600" dirty="0"/>
              <a:t>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</a:rPr>
              <a:t>遍历 </a:t>
            </a:r>
            <a:r>
              <a:rPr lang="en-US" altLang="zh-CN" sz="1600" b="0" i="0" dirty="0">
                <a:solidFill>
                  <a:srgbClr val="000000"/>
                </a:solidFill>
                <a:effectLst/>
              </a:rPr>
              <a:t>Python </a:t>
            </a:r>
            <a:r>
              <a:rPr lang="zh-CN" altLang="en-US" sz="1600" b="0" i="0" dirty="0">
                <a:solidFill>
                  <a:srgbClr val="000000"/>
                </a:solidFill>
                <a:effectLst/>
              </a:rPr>
              <a:t>所有内置类型及关联方法，</a:t>
            </a:r>
            <a:r>
              <a:rPr lang="zh-CN" altLang="en-US" sz="1600" b="0" i="0" dirty="0">
                <a:effectLst/>
              </a:rPr>
              <a:t>实现生成过程的精细化控制，提升数据集多样性与难度层次。</a:t>
            </a:r>
            <a:endParaRPr lang="en-US" altLang="zh-CN" sz="1600" b="0" i="0" dirty="0">
              <a:effectLst/>
            </a:endParaRPr>
          </a:p>
          <a:p>
            <a:r>
              <a:rPr lang="en-US" altLang="zh-CN" sz="1600" dirty="0">
                <a:solidFill>
                  <a:srgbClr val="000000"/>
                </a:solidFill>
              </a:rPr>
              <a:t>	</a:t>
            </a:r>
            <a:r>
              <a:rPr lang="zh-CN" altLang="en-US" sz="1600" dirty="0">
                <a:solidFill>
                  <a:srgbClr val="000000"/>
                </a:solidFill>
              </a:rPr>
              <a:t>阶段</a:t>
            </a:r>
            <a:r>
              <a:rPr lang="en-US" altLang="zh-CN" sz="1600" dirty="0">
                <a:solidFill>
                  <a:srgbClr val="000000"/>
                </a:solidFill>
              </a:rPr>
              <a:t>2</a:t>
            </a:r>
            <a:r>
              <a:rPr lang="zh-CN" altLang="en-US" sz="1600" dirty="0">
                <a:solidFill>
                  <a:srgbClr val="000000"/>
                </a:solidFill>
              </a:rPr>
              <a:t>：</a:t>
            </a:r>
            <a:r>
              <a:rPr lang="zh-CN" altLang="en-US" sz="1600" b="0" i="0" dirty="0">
                <a:effectLst/>
                <a:latin typeface="Inter"/>
              </a:rPr>
              <a:t>执行所有生成的测试用例，舍弃存在运行时错误或输出过长</a:t>
            </a:r>
            <a:endParaRPr lang="zh-CN" altLang="en-US" sz="16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6573" y="3166615"/>
            <a:ext cx="11655907" cy="3385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测试集：</a:t>
            </a:r>
            <a:r>
              <a:rPr lang="en-US" altLang="zh-CN" sz="1600" dirty="0"/>
              <a:t>CRUXEval-O</a:t>
            </a:r>
            <a:r>
              <a:rPr lang="zh-CN" altLang="en-US" sz="1600" dirty="0"/>
              <a:t>、</a:t>
            </a:r>
            <a:r>
              <a:rPr lang="en-US" altLang="zh-CN" sz="1600" dirty="0"/>
              <a:t>CRUXEval-I</a:t>
            </a:r>
            <a:r>
              <a:rPr lang="zh-CN" altLang="en-US" sz="1600" dirty="0"/>
              <a:t>、</a:t>
            </a:r>
            <a:r>
              <a:rPr lang="en-US" altLang="zh-CN" sz="1600" dirty="0"/>
              <a:t>LiveCodeBench  [ pass @ 1 ]</a:t>
            </a:r>
            <a:endParaRPr lang="zh-CN" altLang="en-US" sz="16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573" y="3729910"/>
            <a:ext cx="11655907" cy="18158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训练情况：</a:t>
            </a:r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dirty="0">
                <a:latin typeface="+mn-ea"/>
              </a:rPr>
              <a:t> 教师模型为 </a:t>
            </a:r>
            <a:r>
              <a:rPr lang="en-US" altLang="zh-CN" sz="1600" b="0" i="0" dirty="0">
                <a:effectLst/>
                <a:latin typeface="+mn-ea"/>
              </a:rPr>
              <a:t>QwQ 32b</a:t>
            </a:r>
            <a:r>
              <a:rPr lang="zh-CN" altLang="en-US" sz="1600" b="0" i="0" dirty="0">
                <a:effectLst/>
                <a:latin typeface="+mn-ea"/>
              </a:rPr>
              <a:t>，对代码与推理路径进行合成</a:t>
            </a:r>
            <a:endParaRPr lang="en-US" altLang="zh-CN" sz="1600" b="0" i="0" dirty="0"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2.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为监督微调与强化学习各生成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20,000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个样本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	  3. </a:t>
            </a:r>
            <a:r>
              <a:rPr lang="zh-CN" altLang="en-US" sz="1600" b="0" i="0" dirty="0">
                <a:effectLst/>
                <a:latin typeface="+mn-ea"/>
              </a:rPr>
              <a:t> </a:t>
            </a:r>
            <a:r>
              <a:rPr lang="en-US" altLang="zh-CN" sz="1600" b="0" i="0" dirty="0">
                <a:effectLst/>
                <a:latin typeface="+mn-ea"/>
              </a:rPr>
              <a:t>8 </a:t>
            </a:r>
            <a:r>
              <a:rPr lang="zh-CN" altLang="en-US" sz="1600" b="0" i="0" dirty="0">
                <a:effectLst/>
                <a:latin typeface="+mn-ea"/>
              </a:rPr>
              <a:t>块 </a:t>
            </a:r>
            <a:r>
              <a:rPr lang="en-US" altLang="zh-CN" sz="1600" b="0" i="0" dirty="0">
                <a:effectLst/>
                <a:latin typeface="+mn-ea"/>
              </a:rPr>
              <a:t>NVIDIA Tesla A800 GPU</a:t>
            </a:r>
            <a:r>
              <a:rPr lang="zh-CN" altLang="en-US" sz="1600" b="0" i="0" dirty="0">
                <a:effectLst/>
                <a:latin typeface="+mn-ea"/>
              </a:rPr>
              <a:t>（单卡显存 </a:t>
            </a:r>
            <a:r>
              <a:rPr lang="en-US" altLang="zh-CN" sz="1600" b="0" i="0" dirty="0">
                <a:effectLst/>
                <a:latin typeface="+mn-ea"/>
              </a:rPr>
              <a:t>80GB</a:t>
            </a:r>
            <a:r>
              <a:rPr lang="zh-CN" altLang="en-US" sz="1600" b="0" i="0" dirty="0">
                <a:effectLst/>
                <a:latin typeface="+mn-ea"/>
              </a:rPr>
              <a:t>）</a:t>
            </a:r>
            <a:endParaRPr lang="en-US" altLang="zh-CN" sz="1600" b="0" i="0" dirty="0"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4.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基座模型为</a:t>
            </a:r>
            <a:r>
              <a:rPr lang="en-US" altLang="zh-CN" sz="1600" b="0" i="0" dirty="0">
                <a:effectLst/>
                <a:latin typeface="+mn-ea"/>
              </a:rPr>
              <a:t> Qwen2.5-Coder-Instruct  7B/14B</a:t>
            </a:r>
            <a:r>
              <a:rPr lang="zh-CN" altLang="en-US" sz="1600" b="0" i="0" dirty="0">
                <a:effectLst/>
                <a:latin typeface="+mn-ea"/>
              </a:rPr>
              <a:t>（额外引入</a:t>
            </a:r>
            <a:r>
              <a:rPr lang="en-US" altLang="zh-CN" sz="1600" b="0" i="0" dirty="0">
                <a:effectLst/>
                <a:latin typeface="+mn-ea"/>
              </a:rPr>
              <a:t> Llama3-Instruct-8B</a:t>
            </a:r>
            <a:r>
              <a:rPr lang="zh-CN" altLang="en-US" sz="1600" b="0" i="0" dirty="0">
                <a:effectLst/>
                <a:latin typeface="+mn-ea"/>
              </a:rPr>
              <a:t>）</a:t>
            </a:r>
            <a:endParaRPr lang="en-US" altLang="zh-CN" sz="1600" b="0" i="0" dirty="0"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5.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指令微调参数情况：</a:t>
            </a:r>
            <a:r>
              <a:rPr lang="zh-CN" altLang="en-US" sz="1600" b="0" i="0" dirty="0">
                <a:effectLst/>
                <a:latin typeface="+mn-ea"/>
              </a:rPr>
              <a:t>基于 </a:t>
            </a:r>
            <a:r>
              <a:rPr lang="en-US" altLang="zh-CN" sz="1600" b="0" i="0" dirty="0">
                <a:effectLst/>
                <a:latin typeface="+mn-ea"/>
              </a:rPr>
              <a:t>LLaMA-Factory </a:t>
            </a:r>
            <a:r>
              <a:rPr lang="zh-CN" altLang="en-US" sz="1600" b="0" i="0" dirty="0">
                <a:effectLst/>
                <a:latin typeface="+mn-ea"/>
              </a:rPr>
              <a:t>框架、采用 </a:t>
            </a:r>
            <a:r>
              <a:rPr lang="en-US" altLang="zh-CN" sz="1600" b="0" i="0" dirty="0">
                <a:effectLst/>
                <a:latin typeface="+mn-ea"/>
              </a:rPr>
              <a:t>1e-5 </a:t>
            </a:r>
            <a:r>
              <a:rPr lang="zh-CN" altLang="en-US" sz="1600" b="0" i="0" dirty="0">
                <a:effectLst/>
                <a:latin typeface="+mn-ea"/>
              </a:rPr>
              <a:t>的学习率训练 </a:t>
            </a:r>
            <a:r>
              <a:rPr lang="en-US" altLang="zh-CN" sz="1600" b="0" i="0" dirty="0">
                <a:effectLst/>
                <a:latin typeface="+mn-ea"/>
              </a:rPr>
              <a:t>3 </a:t>
            </a:r>
            <a:r>
              <a:rPr lang="zh-CN" altLang="en-US" sz="1600" b="0" i="0" dirty="0">
                <a:effectLst/>
                <a:latin typeface="+mn-ea"/>
              </a:rPr>
              <a:t>个 </a:t>
            </a:r>
            <a:r>
              <a:rPr lang="en-US" altLang="zh-CN" sz="1600" b="0" i="0" dirty="0">
                <a:effectLst/>
                <a:latin typeface="+mn-ea"/>
              </a:rPr>
              <a:t>epoch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6.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强化学习阶段：通过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verl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框架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实现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GRPO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算法 ，设置学习率为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1e-6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，每个提示生成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5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个候选响应，最大响应长度限制为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4,096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个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token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，训练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2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个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epoch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6573" y="5770534"/>
            <a:ext cx="11655907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对比工作训练情况设置：</a:t>
            </a:r>
            <a:endParaRPr lang="en-US" altLang="zh-CN" sz="1600" dirty="0">
              <a:latin typeface="+mn-ea"/>
            </a:endParaRPr>
          </a:p>
          <a:p>
            <a:pPr marL="342900" indent="-342900">
              <a:buAutoNum type="arabicPeriod"/>
            </a:pPr>
            <a:r>
              <a:rPr lang="en-US" altLang="zh-CN" sz="1600" b="0" i="0" dirty="0">
                <a:effectLst/>
                <a:latin typeface="+mn-ea"/>
              </a:rPr>
              <a:t>SEMCODER</a:t>
            </a:r>
            <a:r>
              <a:rPr lang="zh-CN" altLang="en-US" sz="1600" b="0" i="0" dirty="0">
                <a:effectLst/>
                <a:latin typeface="+mn-ea"/>
              </a:rPr>
              <a:t>基于 </a:t>
            </a:r>
            <a:r>
              <a:rPr lang="en-US" altLang="zh-CN" sz="1600" b="0" i="0" dirty="0">
                <a:effectLst/>
                <a:latin typeface="+mn-ea"/>
              </a:rPr>
              <a:t>DeepSeekCoder-6.7B </a:t>
            </a:r>
            <a:r>
              <a:rPr lang="zh-CN" altLang="en-US" sz="1600" b="0" i="0" dirty="0">
                <a:effectLst/>
                <a:latin typeface="+mn-ea"/>
              </a:rPr>
              <a:t>，在约 </a:t>
            </a:r>
            <a:r>
              <a:rPr lang="en-US" altLang="zh-CN" sz="1600" b="0" i="0" dirty="0">
                <a:effectLst/>
                <a:latin typeface="+mn-ea"/>
              </a:rPr>
              <a:t>23,000 </a:t>
            </a:r>
            <a:r>
              <a:rPr lang="zh-CN" altLang="en-US" sz="1600" b="0" i="0" dirty="0">
                <a:effectLst/>
                <a:latin typeface="+mn-ea"/>
              </a:rPr>
              <a:t>个样本上完成微调</a:t>
            </a:r>
            <a:endParaRPr lang="en-US" altLang="zh-CN" sz="1600" b="0" i="0" dirty="0">
              <a:effectLst/>
              <a:latin typeface="+mn-ea"/>
            </a:endParaRPr>
          </a:p>
          <a:p>
            <a:pPr marL="342900" indent="-342900">
              <a:buAutoNum type="arabicPeriod"/>
            </a:pPr>
            <a:r>
              <a:rPr lang="en-US" altLang="zh-CN" sz="1600" b="0" i="0" dirty="0">
                <a:effectLst/>
                <a:latin typeface="+mn-ea"/>
              </a:rPr>
              <a:t>CODEI/O </a:t>
            </a:r>
            <a:r>
              <a:rPr lang="zh-CN" altLang="en-US" sz="1600" b="0" i="0" dirty="0">
                <a:effectLst/>
                <a:latin typeface="+mn-ea"/>
              </a:rPr>
              <a:t>则基于多个 </a:t>
            </a:r>
            <a:r>
              <a:rPr lang="en-US" altLang="zh-CN" sz="1600" b="0" i="0" dirty="0">
                <a:effectLst/>
                <a:latin typeface="+mn-ea"/>
              </a:rPr>
              <a:t>LLM </a:t>
            </a:r>
            <a:r>
              <a:rPr lang="zh-CN" altLang="en-US" sz="1600" b="0" i="0" dirty="0">
                <a:effectLst/>
                <a:latin typeface="+mn-ea"/>
              </a:rPr>
              <a:t>构建，其基础模型在规模更大（约 </a:t>
            </a:r>
            <a:r>
              <a:rPr lang="en-US" altLang="zh-CN" sz="1600" b="0" i="0" dirty="0">
                <a:effectLst/>
                <a:latin typeface="+mn-ea"/>
              </a:rPr>
              <a:t>350 </a:t>
            </a:r>
            <a:r>
              <a:rPr lang="zh-CN" altLang="en-US" sz="1600" b="0" i="0" dirty="0">
                <a:effectLst/>
                <a:latin typeface="+mn-ea"/>
              </a:rPr>
              <a:t>万个样本）的数据集上进行微调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CodeReasoner: Enhancing the Code Reasoning Ability with Reinforcement Learning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2025.07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6573" y="808918"/>
            <a:ext cx="11655907" cy="1077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数据集构建和两阶段训练。</a:t>
            </a:r>
            <a:endParaRPr lang="en-US" altLang="zh-CN" sz="1600" b="0" i="0" dirty="0">
              <a:solidFill>
                <a:srgbClr val="000000"/>
              </a:solidFill>
              <a:effectLst/>
              <a:latin typeface="Lucida Grande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Lucida Grande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首先，引入了一种构建数据集的方法，该方法专注于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Lucida Grande"/>
              </a:rPr>
              <a:t>Python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程序的核心执行逻辑。</a:t>
            </a:r>
            <a:endParaRPr lang="en-US" altLang="zh-CN" sz="1600" b="0" i="0" dirty="0">
              <a:solidFill>
                <a:srgbClr val="000000"/>
              </a:solidFill>
              <a:effectLst/>
              <a:latin typeface="Lucida Grande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Lucida Grande"/>
              </a:rPr>
              <a:t>	2.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其次，应用指令调优来注入从强大的教师模型中提取的执行特定知识。</a:t>
            </a:r>
            <a:endParaRPr lang="en-US" altLang="zh-CN" sz="1600" b="0" i="0" dirty="0">
              <a:solidFill>
                <a:srgbClr val="000000"/>
              </a:solidFill>
              <a:effectLst/>
              <a:latin typeface="Lucida Grande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Lucida Grande"/>
              </a:rPr>
              <a:t>	3.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然后，在微调后的模型之上，通过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Lucida Grande"/>
              </a:rPr>
              <a:t>GRPO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强化学习来增强推理和泛化能力。</a:t>
            </a:r>
            <a:endParaRPr lang="zh-CN" altLang="en-US" sz="1600" dirty="0"/>
          </a:p>
        </p:txBody>
      </p:sp>
      <p:sp>
        <p:nvSpPr>
          <p:cNvPr id="6" name="文本框 5"/>
          <p:cNvSpPr txBox="1"/>
          <p:nvPr/>
        </p:nvSpPr>
        <p:spPr>
          <a:xfrm>
            <a:off x="176573" y="1936282"/>
            <a:ext cx="11655907" cy="3385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测试集：</a:t>
            </a:r>
            <a:r>
              <a:rPr lang="en-US" altLang="zh-CN" sz="1600" dirty="0"/>
              <a:t>CRUXEval-O</a:t>
            </a:r>
            <a:r>
              <a:rPr lang="zh-CN" altLang="en-US" sz="1600" dirty="0"/>
              <a:t>、</a:t>
            </a:r>
            <a:r>
              <a:rPr lang="en-US" altLang="zh-CN" sz="1600" dirty="0"/>
              <a:t>CRUXEval-I</a:t>
            </a:r>
            <a:r>
              <a:rPr lang="zh-CN" altLang="en-US" sz="1600" dirty="0"/>
              <a:t>、</a:t>
            </a:r>
            <a:r>
              <a:rPr lang="en-US" altLang="zh-CN" sz="1600" dirty="0"/>
              <a:t>LiveCodeBench  [ pass @ 1 ]</a:t>
            </a:r>
            <a:endParaRPr lang="zh-CN" altLang="en-US" sz="16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573" y="2387489"/>
            <a:ext cx="11655907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训练情况：</a:t>
            </a:r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dirty="0">
                <a:latin typeface="+mn-ea"/>
              </a:rPr>
              <a:t> 教师模型为 </a:t>
            </a:r>
            <a:r>
              <a:rPr lang="en-US" altLang="zh-CN" sz="1600" b="0" i="0" dirty="0">
                <a:effectLst/>
                <a:latin typeface="+mn-ea"/>
              </a:rPr>
              <a:t>QwQ 32b</a:t>
            </a:r>
            <a:r>
              <a:rPr lang="zh-CN" altLang="en-US" sz="1600" b="0" i="0" dirty="0">
                <a:effectLst/>
                <a:latin typeface="+mn-ea"/>
              </a:rPr>
              <a:t>，对代码与推理路径进行合成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2.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基座模型为</a:t>
            </a:r>
            <a:r>
              <a:rPr lang="en-US" altLang="zh-CN" sz="1600" b="0" i="0" dirty="0">
                <a:effectLst/>
                <a:latin typeface="+mn-ea"/>
              </a:rPr>
              <a:t> Qwen2.5-Coder-Instruct  7B/14B</a:t>
            </a:r>
            <a:r>
              <a:rPr lang="zh-CN" altLang="en-US" sz="1600" b="0" i="0" dirty="0">
                <a:effectLst/>
                <a:latin typeface="+mn-ea"/>
              </a:rPr>
              <a:t>（额外引入</a:t>
            </a:r>
            <a:r>
              <a:rPr lang="en-US" altLang="zh-CN" sz="1600" b="0" i="0" dirty="0">
                <a:effectLst/>
                <a:latin typeface="+mn-ea"/>
              </a:rPr>
              <a:t> Llama3-Instruct-8B</a:t>
            </a:r>
            <a:r>
              <a:rPr lang="zh-CN" altLang="en-US" sz="1600" b="0" i="0" dirty="0">
                <a:effectLst/>
                <a:latin typeface="+mn-ea"/>
              </a:rPr>
              <a:t>）</a:t>
            </a:r>
            <a:endParaRPr lang="en-US" altLang="zh-CN" sz="1600" b="0" i="0" dirty="0"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3.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指令微调参数情况：</a:t>
            </a:r>
            <a:r>
              <a:rPr lang="zh-CN" altLang="en-US" sz="1600" b="0" i="0" dirty="0">
                <a:effectLst/>
                <a:latin typeface="+mn-ea"/>
              </a:rPr>
              <a:t>基于 </a:t>
            </a:r>
            <a:r>
              <a:rPr lang="en-US" altLang="zh-CN" sz="1600" b="0" i="0" dirty="0">
                <a:effectLst/>
                <a:latin typeface="+mn-ea"/>
              </a:rPr>
              <a:t>LLaMA-Factory </a:t>
            </a:r>
            <a:r>
              <a:rPr lang="zh-CN" altLang="en-US" sz="1600" b="0" i="0" dirty="0">
                <a:effectLst/>
                <a:latin typeface="+mn-ea"/>
              </a:rPr>
              <a:t>框架、采用 </a:t>
            </a:r>
            <a:r>
              <a:rPr lang="en-US" altLang="zh-CN" sz="1600" b="0" i="0" dirty="0">
                <a:effectLst/>
                <a:latin typeface="+mn-ea"/>
              </a:rPr>
              <a:t>1e-5 </a:t>
            </a:r>
            <a:r>
              <a:rPr lang="zh-CN" altLang="en-US" sz="1600" b="0" i="0" dirty="0">
                <a:effectLst/>
                <a:latin typeface="+mn-ea"/>
              </a:rPr>
              <a:t>的学习率训练 </a:t>
            </a:r>
            <a:r>
              <a:rPr lang="en-US" altLang="zh-CN" sz="1600" b="0" i="0" dirty="0">
                <a:effectLst/>
                <a:latin typeface="+mn-ea"/>
              </a:rPr>
              <a:t>3 </a:t>
            </a:r>
            <a:r>
              <a:rPr lang="zh-CN" altLang="en-US" sz="1600" b="0" i="0" dirty="0">
                <a:effectLst/>
                <a:latin typeface="+mn-ea"/>
              </a:rPr>
              <a:t>个 </a:t>
            </a:r>
            <a:r>
              <a:rPr lang="en-US" altLang="zh-CN" sz="1600" b="0" i="0" dirty="0">
                <a:effectLst/>
                <a:latin typeface="+mn-ea"/>
              </a:rPr>
              <a:t>epoch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678" y="3353281"/>
            <a:ext cx="7371957" cy="349836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76573" y="3429000"/>
            <a:ext cx="60949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实验评估：</a:t>
            </a:r>
            <a:endParaRPr lang="zh-CN" altLang="en-US" sz="1600" dirty="0"/>
          </a:p>
        </p:txBody>
      </p:sp>
      <p:sp>
        <p:nvSpPr>
          <p:cNvPr id="8" name="文本框 7"/>
          <p:cNvSpPr txBox="1"/>
          <p:nvPr/>
        </p:nvSpPr>
        <p:spPr>
          <a:xfrm>
            <a:off x="6096000" y="188595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ym typeface="+mn-ea"/>
              </a:rPr>
              <a:t>https://github.com/lingxiaotang/CodeReasoner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Code Execution as Grounded Supervision for LLM Reasoning  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EMNLP 2025.06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6572" y="808918"/>
            <a:ext cx="11655907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cot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构建和微调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利用程序执行的确定性调用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Lucida Grande"/>
              </a:rPr>
              <a:t>AI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来生成高质量的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Lucida Grande"/>
              </a:rPr>
              <a:t>CoT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监督数据集</a:t>
            </a:r>
            <a:endParaRPr lang="en-US" altLang="zh-CN" sz="1600" b="0" i="0" dirty="0">
              <a:solidFill>
                <a:srgbClr val="000000"/>
              </a:solidFill>
              <a:effectLst/>
              <a:latin typeface="Lucida Grande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普通微调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6572" y="1812899"/>
            <a:ext cx="11655907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训练集：  </a:t>
            </a:r>
            <a:r>
              <a:rPr lang="en-US" altLang="zh-CN" sz="1600" dirty="0">
                <a:latin typeface="+mn-ea"/>
              </a:rPr>
              <a:t>1. </a:t>
            </a:r>
            <a:r>
              <a:rPr lang="en-US" altLang="zh-CN" sz="1600" b="0" i="0" dirty="0">
                <a:effectLst/>
                <a:latin typeface="+mn-ea"/>
              </a:rPr>
              <a:t>PyEdu-R</a:t>
            </a:r>
            <a:r>
              <a:rPr lang="zh-CN" altLang="en-US" sz="1600" b="0" i="0" dirty="0">
                <a:effectLst/>
                <a:latin typeface="+mn-ea"/>
              </a:rPr>
              <a:t>数据集作为原始训练数据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	2. </a:t>
            </a:r>
            <a:r>
              <a:rPr lang="zh-CN" altLang="en-US" sz="1600" dirty="0">
                <a:latin typeface="+mn-ea"/>
              </a:rPr>
              <a:t>利用名为</a:t>
            </a:r>
            <a:r>
              <a:rPr lang="en-US" altLang="zh-CN" sz="1600" dirty="0">
                <a:latin typeface="+mn-ea"/>
              </a:rPr>
              <a:t>snoop</a:t>
            </a:r>
            <a:r>
              <a:rPr lang="zh-CN" altLang="en-US" sz="1600" dirty="0">
                <a:latin typeface="+mn-ea"/>
              </a:rPr>
              <a:t>的</a:t>
            </a:r>
            <a:r>
              <a:rPr lang="en-US" altLang="zh-CN" sz="1600" dirty="0">
                <a:latin typeface="+mn-ea"/>
              </a:rPr>
              <a:t>python</a:t>
            </a:r>
            <a:r>
              <a:rPr lang="zh-CN" altLang="en-US" sz="1600" dirty="0">
                <a:latin typeface="+mn-ea"/>
              </a:rPr>
              <a:t>调试工具作为执行轨迹捕获，返回：已执行代码及局部变量值的更新情况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3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调用大模型（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Qwen3-32B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）模拟人类解题过程生产逐步推理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cot</a:t>
            </a:r>
            <a:endParaRPr lang="zh-CN" altLang="en-US" sz="16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6572" y="2816880"/>
            <a:ext cx="11655907" cy="3371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测试集：</a:t>
            </a:r>
            <a:r>
              <a:rPr lang="en-US" altLang="zh-CN" sz="1600" dirty="0">
                <a:latin typeface="+mn-ea"/>
              </a:rPr>
              <a:t>LiveBench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MATH500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BBH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</a:t>
            </a:r>
            <a:r>
              <a:rPr lang="en-US" altLang="zh-CN" sz="1600" b="0" i="0" dirty="0" err="1">
                <a:effectLst/>
                <a:latin typeface="+mn-ea"/>
              </a:rPr>
              <a:t>AGIEval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GPQA</a:t>
            </a:r>
            <a:endParaRPr lang="zh-CN" altLang="en-US" sz="16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572" y="3328418"/>
            <a:ext cx="11655907" cy="3385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训练情况：对两个模型进行有监督微调（</a:t>
            </a:r>
            <a:r>
              <a:rPr lang="en-US" altLang="zh-CN" sz="1600" dirty="0">
                <a:latin typeface="+mn-ea"/>
              </a:rPr>
              <a:t>SFT</a:t>
            </a:r>
            <a:r>
              <a:rPr lang="zh-CN" altLang="en-US" sz="1600" dirty="0">
                <a:latin typeface="+mn-ea"/>
              </a:rPr>
              <a:t>）：</a:t>
            </a:r>
            <a:r>
              <a:rPr lang="en-US" altLang="zh-CN" sz="1600" dirty="0">
                <a:latin typeface="+mn-ea"/>
              </a:rPr>
              <a:t>Qwen3-4B </a:t>
            </a:r>
            <a:r>
              <a:rPr lang="zh-CN" altLang="en-US" sz="1600" dirty="0">
                <a:latin typeface="+mn-ea"/>
              </a:rPr>
              <a:t>和 </a:t>
            </a:r>
            <a:r>
              <a:rPr lang="en-US" altLang="zh-CN" sz="1600" dirty="0">
                <a:latin typeface="+mn-ea"/>
              </a:rPr>
              <a:t>Qwen3-8B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6572" y="3839956"/>
            <a:ext cx="60949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实验评估：</a:t>
            </a:r>
            <a:endParaRPr lang="zh-CN" alt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098" y="4117286"/>
            <a:ext cx="6520618" cy="187649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93927"/>
            <a:ext cx="6194797" cy="1784441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384276" y="6049082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latin typeface="+mn-ea"/>
              </a:rPr>
              <a:t>Qwen3-</a:t>
            </a:r>
            <a:r>
              <a:rPr lang="en-US" altLang="zh-CN" dirty="0"/>
              <a:t>4B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088825" y="6049082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latin typeface="+mn-ea"/>
              </a:rPr>
              <a:t>Qwen3-</a:t>
            </a:r>
            <a:r>
              <a:rPr lang="en-US" altLang="zh-CN" dirty="0"/>
              <a:t>8B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CodeI/O: Condensing Reasoning Patterns via Code Input-Output Prediction 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ICML 2025.02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6573" y="1237740"/>
            <a:ext cx="11655907" cy="11628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构建与多轮修正的思维链构建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从多个平台收集代码数据，再由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转换成统一格式；通过执行代码生成输入输出对；再用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生产预测任务的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COT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b="0" i="0" dirty="0">
                <a:effectLst/>
                <a:latin typeface="+mn-ea"/>
              </a:rPr>
              <a:t>对每个预测结果进行验证，并通过多轮修正进一步优化思维链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6575" y="2698784"/>
            <a:ext cx="11655907" cy="7934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训练集：  </a:t>
            </a:r>
            <a:r>
              <a:rPr lang="en-US" altLang="zh-CN" sz="1600" dirty="0">
                <a:latin typeface="+mn-ea"/>
              </a:rPr>
              <a:t>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从多个平台收集代码数据，再由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转换成统一格式；通过执行代码生成输入输出对；再用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生产预测任务的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COT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主要为函数类片段，一共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350w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条数据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6574" y="3790496"/>
            <a:ext cx="11655907" cy="4241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测试集：</a:t>
            </a:r>
            <a:r>
              <a:rPr lang="en-US" altLang="zh-CN" sz="1600" b="0" i="0" dirty="0">
                <a:effectLst/>
                <a:latin typeface="+mn-ea"/>
              </a:rPr>
              <a:t>DROP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WinoGrande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GSM8K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MATH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MMLU-STEM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BBH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GPQA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CruxEval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ZebraGrid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LiveBench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KorBench</a:t>
            </a:r>
            <a:endParaRPr lang="zh-CN" altLang="en-US" sz="16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574" y="4512875"/>
            <a:ext cx="11655907" cy="11628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训练情况：</a:t>
            </a:r>
            <a:r>
              <a:rPr lang="en-US" altLang="zh-CN" sz="1600" dirty="0">
                <a:latin typeface="+mn-ea"/>
              </a:rPr>
              <a:t>1. </a:t>
            </a:r>
            <a:r>
              <a:rPr lang="zh-CN" altLang="en-US" sz="1600" dirty="0">
                <a:latin typeface="+mn-ea"/>
              </a:rPr>
              <a:t>对</a:t>
            </a:r>
            <a:r>
              <a:rPr lang="en-US" altLang="zh-CN" sz="1600" b="0" i="0" dirty="0" err="1">
                <a:effectLst/>
                <a:latin typeface="+mn-ea"/>
              </a:rPr>
              <a:t>Qwen</a:t>
            </a:r>
            <a:r>
              <a:rPr lang="en-US" altLang="zh-CN" sz="1600" b="0" i="0" dirty="0">
                <a:effectLst/>
                <a:latin typeface="+mn-ea"/>
              </a:rPr>
              <a:t> 2.5 7B Coder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Deepseek</a:t>
            </a:r>
            <a:r>
              <a:rPr lang="en-US" altLang="zh-CN" sz="1600" b="0" i="0" dirty="0">
                <a:effectLst/>
                <a:latin typeface="+mn-ea"/>
              </a:rPr>
              <a:t> v2 Lite Coder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LLaMA 3.1 8B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Gemma 2 27B</a:t>
            </a:r>
            <a:r>
              <a:rPr lang="zh-CN" altLang="en-US" sz="1600" dirty="0">
                <a:latin typeface="+mn-ea"/>
              </a:rPr>
              <a:t>进行微调训练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2.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单独“</a:t>
            </a:r>
            <a:r>
              <a:rPr lang="zh-CN" altLang="en-US" sz="1600" b="0" i="0" dirty="0">
                <a:effectLst/>
                <a:latin typeface="+mn-ea"/>
              </a:rPr>
              <a:t>内部指令微调数据集”，约 </a:t>
            </a:r>
            <a:r>
              <a:rPr lang="en-US" altLang="zh-CN" sz="1600" b="0" i="0" dirty="0">
                <a:effectLst/>
                <a:latin typeface="+mn-ea"/>
              </a:rPr>
              <a:t>118 </a:t>
            </a:r>
            <a:r>
              <a:rPr lang="zh-CN" altLang="en-US" sz="1600" b="0" i="0" dirty="0">
                <a:effectLst/>
                <a:latin typeface="+mn-ea"/>
              </a:rPr>
              <a:t>万个样本，覆盖多个领域。可使模型有效遵循各类指令，来适应下游任务。</a:t>
            </a:r>
            <a:endParaRPr lang="en-US" altLang="zh-CN" sz="1600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3. </a:t>
            </a:r>
            <a:r>
              <a:rPr lang="zh-CN" altLang="en-US" sz="1600" b="0" i="0" dirty="0">
                <a:effectLst/>
                <a:latin typeface="+mn-ea"/>
              </a:rPr>
              <a:t>两阶段训练策略：第一阶段基于 </a:t>
            </a:r>
            <a:r>
              <a:rPr lang="en-US" altLang="zh-CN" sz="1600" b="0" i="0" dirty="0">
                <a:effectLst/>
                <a:latin typeface="+mn-ea"/>
              </a:rPr>
              <a:t>CODEI/O </a:t>
            </a:r>
            <a:r>
              <a:rPr lang="zh-CN" altLang="en-US" sz="1600" b="0" i="0" dirty="0">
                <a:effectLst/>
                <a:latin typeface="+mn-ea"/>
              </a:rPr>
              <a:t>或 </a:t>
            </a:r>
            <a:r>
              <a:rPr lang="en-US" altLang="zh-CN" sz="1600" b="0" i="0" dirty="0">
                <a:effectLst/>
                <a:latin typeface="+mn-ea"/>
              </a:rPr>
              <a:t>CODEI/O++ </a:t>
            </a:r>
            <a:r>
              <a:rPr lang="zh-CN" altLang="en-US" sz="1600" b="0" i="0" dirty="0">
                <a:effectLst/>
                <a:latin typeface="+mn-ea"/>
              </a:rPr>
              <a:t>数据集进行训练，第二阶段进行通用指令微调。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CodeI/O: Condensing Reasoning Patterns via Code Input-Output Prediction 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ICML 2025.02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4946" y="777386"/>
            <a:ext cx="1122506" cy="4241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实验评估：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90" y="777240"/>
            <a:ext cx="5976620" cy="58153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CN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Semcoder: Training code language models with comprehensive semantics reasoning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NeurIPS 2024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6570" y="911905"/>
            <a:ext cx="11761078" cy="11628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PYX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构建和训练方案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effectLst/>
                <a:latin typeface="+mn-ea"/>
              </a:rPr>
              <a:t>仅使用可执行数据进行训练；先将代码解析为抽象语法树，再采样子树作为可解析的种子启发大模型生产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b="0" i="0" dirty="0">
                <a:effectLst/>
                <a:latin typeface="+mn-ea"/>
              </a:rPr>
              <a:t>“自然语言到代码样本 </a:t>
            </a:r>
            <a:r>
              <a:rPr lang="en-US" altLang="zh-CN" sz="1600" b="0" i="0" dirty="0">
                <a:effectLst/>
                <a:latin typeface="+mn-ea"/>
              </a:rPr>
              <a:t>+ </a:t>
            </a:r>
            <a:r>
              <a:rPr lang="zh-CN" altLang="en-US" sz="1600" b="0" i="0" dirty="0">
                <a:effectLst/>
                <a:latin typeface="+mn-ea"/>
              </a:rPr>
              <a:t>正向独白 </a:t>
            </a:r>
            <a:r>
              <a:rPr lang="en-US" altLang="zh-CN" sz="1600" b="0" i="0" dirty="0">
                <a:effectLst/>
                <a:latin typeface="+mn-ea"/>
              </a:rPr>
              <a:t>+ </a:t>
            </a:r>
            <a:r>
              <a:rPr lang="zh-CN" altLang="en-US" sz="1600" b="0" i="0" dirty="0">
                <a:effectLst/>
                <a:latin typeface="+mn-ea"/>
              </a:rPr>
              <a:t>反向独白” 的联合数据集训练，损失通过代码和独白 </a:t>
            </a:r>
            <a:r>
              <a:rPr lang="en-US" altLang="zh-CN" sz="1600" b="0" i="0" dirty="0">
                <a:effectLst/>
                <a:latin typeface="+mn-ea"/>
              </a:rPr>
              <a:t>token </a:t>
            </a:r>
            <a:r>
              <a:rPr lang="zh-CN" altLang="en-US" sz="1600" b="0" i="0" dirty="0">
                <a:effectLst/>
                <a:latin typeface="+mn-ea"/>
              </a:rPr>
              <a:t>的交叉熵损失累积计算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6572" y="2393632"/>
            <a:ext cx="11761078" cy="79335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训练集：  </a:t>
            </a:r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b="0" i="0" dirty="0">
                <a:effectLst/>
                <a:latin typeface="+mn-ea"/>
              </a:rPr>
              <a:t>仅使用可执行数据进行训练；</a:t>
            </a:r>
            <a:endParaRPr lang="en-US" altLang="zh-CN" sz="1600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</a:t>
            </a:r>
            <a:r>
              <a:rPr lang="zh-CN" altLang="en-US" sz="1600" b="0" i="0" dirty="0">
                <a:effectLst/>
                <a:latin typeface="+mn-ea"/>
              </a:rPr>
              <a:t>先将真实的代码解析为抽象语法树，再采样子树作为可解析的种子启发大模型生产（</a:t>
            </a:r>
            <a:r>
              <a:rPr lang="en-US" altLang="zh-CN" sz="1600" b="0" i="0" dirty="0">
                <a:effectLst/>
                <a:latin typeface="+mn-ea"/>
              </a:rPr>
              <a:t>GPT-3.5-turbo </a:t>
            </a:r>
            <a:r>
              <a:rPr lang="zh-CN" altLang="en-US" sz="1600" b="0" i="0" dirty="0">
                <a:effectLst/>
                <a:latin typeface="+mn-ea"/>
              </a:rPr>
              <a:t>）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6571" y="3505899"/>
            <a:ext cx="11761078" cy="4241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测试集：</a:t>
            </a:r>
            <a:r>
              <a:rPr lang="en-US" altLang="zh-CN" sz="1600" b="0" i="0" dirty="0">
                <a:effectLst/>
                <a:latin typeface="+mn-ea"/>
              </a:rPr>
              <a:t> </a:t>
            </a:r>
            <a:r>
              <a:rPr lang="en-US" altLang="zh-CN" sz="1600" b="0" i="0" dirty="0" err="1">
                <a:effectLst/>
                <a:latin typeface="+mn-ea"/>
              </a:rPr>
              <a:t>EvalPlus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LiveCodeBench-Lite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CRUXEval 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LiveCodeBench -Exec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dirty="0">
                <a:latin typeface="+mn-ea"/>
              </a:rPr>
              <a:t>MBPP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 err="1">
                <a:latin typeface="+mn-ea"/>
              </a:rPr>
              <a:t>HEval</a:t>
            </a:r>
            <a:endParaRPr lang="zh-CN" altLang="en-US" sz="16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570" y="4248962"/>
            <a:ext cx="11761078" cy="7934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训练情况：</a:t>
            </a:r>
            <a:r>
              <a:rPr lang="en-US" altLang="zh-CN" sz="1600" dirty="0">
                <a:latin typeface="+mn-ea"/>
              </a:rPr>
              <a:t>1. </a:t>
            </a:r>
            <a:r>
              <a:rPr lang="zh-CN" altLang="en-US" sz="1600" dirty="0">
                <a:latin typeface="+mn-ea"/>
              </a:rPr>
              <a:t>对</a:t>
            </a:r>
            <a:r>
              <a:rPr lang="en-US" altLang="zh-CN" sz="1600" b="0" i="0" dirty="0" err="1">
                <a:effectLst/>
                <a:latin typeface="+mn-ea"/>
              </a:rPr>
              <a:t>DeepSeekCoder</a:t>
            </a:r>
            <a:r>
              <a:rPr lang="en-US" altLang="zh-CN" sz="1600" b="0" i="0" dirty="0">
                <a:effectLst/>
                <a:latin typeface="+mn-ea"/>
              </a:rPr>
              <a:t> </a:t>
            </a:r>
            <a:r>
              <a:rPr lang="zh-CN" altLang="en-US" sz="1600" b="0" i="0" dirty="0">
                <a:effectLst/>
                <a:latin typeface="+mn-ea"/>
              </a:rPr>
              <a:t> </a:t>
            </a:r>
            <a:r>
              <a:rPr lang="en-US" altLang="zh-CN" sz="1600" b="0" i="0" dirty="0">
                <a:effectLst/>
                <a:latin typeface="+mn-ea"/>
              </a:rPr>
              <a:t>6</a:t>
            </a:r>
            <a:r>
              <a:rPr lang="en-US" altLang="zh-CN" sz="1600" dirty="0">
                <a:latin typeface="+mn-ea"/>
              </a:rPr>
              <a:t>.</a:t>
            </a:r>
            <a:r>
              <a:rPr lang="en-US" altLang="zh-CN" sz="1600" b="0" i="0" dirty="0">
                <a:effectLst/>
                <a:latin typeface="+mn-ea"/>
              </a:rPr>
              <a:t>7B </a:t>
            </a:r>
            <a:r>
              <a:rPr lang="zh-CN" altLang="en-US" sz="1600" b="0" i="0" dirty="0">
                <a:effectLst/>
                <a:latin typeface="+mn-ea"/>
              </a:rPr>
              <a:t>进行训练</a:t>
            </a:r>
            <a:endParaRPr lang="en-US" altLang="zh-CN" sz="1600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2. </a:t>
            </a:r>
            <a:r>
              <a:rPr lang="zh-CN" altLang="en-US" sz="1600" b="0" i="0" dirty="0">
                <a:effectLst/>
                <a:latin typeface="+mn-ea"/>
              </a:rPr>
              <a:t> </a:t>
            </a:r>
            <a:r>
              <a:rPr lang="en-US" altLang="zh-CN" sz="1600" b="0" i="0" dirty="0">
                <a:effectLst/>
                <a:latin typeface="+mn-ea"/>
              </a:rPr>
              <a:t>8 </a:t>
            </a:r>
            <a:r>
              <a:rPr lang="zh-CN" altLang="en-US" sz="1600" b="0" i="0" dirty="0">
                <a:effectLst/>
                <a:latin typeface="+mn-ea"/>
              </a:rPr>
              <a:t>张 </a:t>
            </a:r>
            <a:r>
              <a:rPr lang="en-US" altLang="zh-CN" sz="1600" b="0" i="0" dirty="0">
                <a:effectLst/>
                <a:latin typeface="+mn-ea"/>
              </a:rPr>
              <a:t>NVIDIA RTX A6000 GPU</a:t>
            </a:r>
            <a:r>
              <a:rPr lang="zh-CN" altLang="en-US" sz="1600" b="0" i="0" dirty="0">
                <a:effectLst/>
                <a:latin typeface="+mn-ea"/>
              </a:rPr>
              <a:t>、训练 </a:t>
            </a:r>
            <a:r>
              <a:rPr lang="en-US" altLang="zh-CN" sz="1600" b="0" i="0" dirty="0">
                <a:effectLst/>
                <a:latin typeface="+mn-ea"/>
              </a:rPr>
              <a:t>2 </a:t>
            </a:r>
            <a:r>
              <a:rPr lang="zh-CN" altLang="en-US" sz="1600" b="0" i="0" dirty="0">
                <a:effectLst/>
                <a:latin typeface="+mn-ea"/>
              </a:rPr>
              <a:t>个 </a:t>
            </a:r>
            <a:r>
              <a:rPr lang="en-US" altLang="zh-CN" sz="1600" b="0" i="0" dirty="0">
                <a:effectLst/>
                <a:latin typeface="+mn-ea"/>
              </a:rPr>
              <a:t>epoch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5e-5 </a:t>
            </a:r>
            <a:r>
              <a:rPr lang="zh-CN" altLang="en-US" sz="1600" b="0" i="0" dirty="0">
                <a:effectLst/>
                <a:latin typeface="+mn-ea"/>
              </a:rPr>
              <a:t>的初始学习率</a:t>
            </a:r>
            <a:r>
              <a:rPr lang="zh-CN" altLang="en-US" sz="1600" dirty="0">
                <a:latin typeface="+mn-ea"/>
              </a:rPr>
              <a:t>、</a:t>
            </a:r>
            <a:r>
              <a:rPr lang="zh-CN" altLang="en-US" sz="1600" b="0" i="0" dirty="0">
                <a:effectLst/>
                <a:latin typeface="+mn-ea"/>
              </a:rPr>
              <a:t>余弦衰减策略降至 </a:t>
            </a:r>
            <a:r>
              <a:rPr lang="en-US" altLang="zh-CN" sz="1600" b="0" i="0" dirty="0">
                <a:effectLst/>
                <a:latin typeface="+mn-ea"/>
              </a:rPr>
              <a:t>5e-6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CN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Semcoder: Training code language models with comprehensive semantics reasoning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NeurIPS 2024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6570" y="911905"/>
            <a:ext cx="11761078" cy="4241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实验评估：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365" y="911905"/>
            <a:ext cx="9092755" cy="50828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0179637,20211662,50039266,2156468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29*505"/>
  <p:tag name="TABLE_ENDDRAG_RECT" val="21*141*929*50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2386</Words>
  <Application>Microsoft Office PowerPoint</Application>
  <PresentationFormat>宽屏</PresentationFormat>
  <Paragraphs>141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Inter</vt:lpstr>
      <vt:lpstr>Lucida Grande</vt:lpstr>
      <vt:lpstr>等线</vt:lpstr>
      <vt:lpstr>等线 Light</vt:lpstr>
      <vt:lpstr>宋体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caoye541@gmail.com</cp:lastModifiedBy>
  <cp:revision>126</cp:revision>
  <dcterms:created xsi:type="dcterms:W3CDTF">2025-10-01T20:32:00Z</dcterms:created>
  <dcterms:modified xsi:type="dcterms:W3CDTF">2025-12-24T18:27:05Z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A9D8EE090709422594ECCEF0F366ED29_13</vt:lpwstr>
  </property>
  <property fmtid="{D5CDD505-2E9C-101B-9397-08002B2CF9AE}" pid="3" name="KSOProductBuildVer">
    <vt:lpwstr>2052-12.1.0.23542</vt:lpwstr>
  </property>
</Properties>
</file>